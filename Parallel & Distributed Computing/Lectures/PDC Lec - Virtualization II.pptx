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3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4.xml" ContentType="application/inkml+xml"/>
  <Override PartName="/ppt/notesSlides/notesSlide16.xml" ContentType="application/vnd.openxmlformats-officedocument.presentationml.notesSlide+xml"/>
  <Override PartName="/ppt/ink/ink5.xml" ContentType="application/inkml+xml"/>
  <Override PartName="/ppt/notesSlides/notesSlide17.xml" ContentType="application/vnd.openxmlformats-officedocument.presentationml.notesSlide+xml"/>
  <Override PartName="/ppt/ink/ink6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1"/>
  </p:notesMasterIdLst>
  <p:sldIdLst>
    <p:sldId id="404" r:id="rId3"/>
    <p:sldId id="278" r:id="rId4"/>
    <p:sldId id="279" r:id="rId5"/>
    <p:sldId id="280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1" r:id="rId23"/>
    <p:sldId id="405" r:id="rId24"/>
    <p:sldId id="302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406" r:id="rId45"/>
    <p:sldId id="407" r:id="rId46"/>
    <p:sldId id="408" r:id="rId47"/>
    <p:sldId id="323" r:id="rId48"/>
    <p:sldId id="324" r:id="rId49"/>
    <p:sldId id="325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1" autoAdjust="0"/>
    <p:restoredTop sz="94660"/>
  </p:normalViewPr>
  <p:slideViewPr>
    <p:cSldViewPr>
      <p:cViewPr varScale="1">
        <p:scale>
          <a:sx n="69" d="100"/>
          <a:sy n="69" d="100"/>
        </p:scale>
        <p:origin x="11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2-05T11:43:42.0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14741 9941 0,'40'0'110,"-1"0"-79,1 0-15,0 0-1,79 0-15,-80 0 16,1-40 0,39 40-1,-39 0 1,-1 0 31,1 0-16,0 0-15,-1 0-1,1 0 16,-1 0-15,1-39-16,0 39 16,-1 0-1,1 0 1,39 0-16,-39 0 16,-1 0-1,1 0 1,0 0-16,-1 0 15,1 0 1,0 0 0,-1 0-1,80 0 1,-79 0-16,-1 0 31,1 0-15,0 0 15,-80 0 32,119 0 187,0 0-250,1 0 15,118 0 1,40 0-1,-40 39-15,39 1 16,1-1 0,-79 1-1,-1-40-15,-39 0 16,79 40 0,-119-1-1,1-39-15,-1 40 16,0-1-1,0-39 1,1 40 0,-41-40-16,1 0 15,-40 40 1,40-40 0,-1 0-16,1 39 15,39-39 1,-39 0 15,-1 0-31,1 0 16,0 0-1,-1 0 1,40 0 0,-39 0-1,0 0 1,-1 0-1,41 0 267,-1 0-267,0-39 1,40-1 0,39 0-16,80 1 15,-40 39 1,0 0-1,-39-40-15,-40 40 16,0 0 0,-40 0-1,0 0-15,0 0 16,1 0 0,-41 0-1,41 0 1,-1 0-16,0 0 15,0 0 1,-39 0 0,0 0-1,-1 0-15,41-39 32,-41 39-17,1 0 16,-40 39 48,0 40-48,0 1-16,0-41-15,0 80 32,0-40-32,0 0 15,0 1 1,0-1 0,0 0-1,0 40-15,0-40 16,0 40-1,0-40 1,39 0-16,-39-39 16,0 0-1,0 78 1,0-78-16,0 0 16,40-1-1,-40 1 282,0 39-281,0 0-16,0 40 15,0 39 1,0 1 0,0 39-16,0-79 15,0-1-15,0 41 16,0-40-1,0 0 1,0-1-16,0 1 16,0 0-1,0 0 1,0 0 0,40 39-16,-40-79 15,0 0 1,0 1-1,0-1-15,0 40 16,0-1 0,0-38-1,0 39 1,0-40-16,0 0 16,0 40-1,0-40 1,0-39-16,0 39 15,0-40 1,0 1 0,0 0-16,0-1 47,0 40 171,0 1-202,0 38-16,0 1 16,0 0-1,39 0 1,-39 39-1,0 1-15,40-1 16,-40-39 0,40 79-1,-40-79-15,0-40 16,0 0 0,39 0-1,-39-39-15,0 39 16,0-39-1,0-1 1,0 1 0,0 0 31,0-1-47,-39-39 46,39 40-30,-40-40 0,-79 0-1,40 39 1,0-39 0,-40 40-1,0 0 1,-40-1-1,-39-39-15,40 0 16,-41 0 0,-78 0-1,39 0-15,-79-79 16,0 39 0,40-39-1,39 79 1,80 0-16,78-39 15,41 39 1,-1-40 0,-39 40 249,-119 79-249,-119 40 0,-159-79-16,1 39 15,-120-79 1,199 0-1,-40 0-15,80 0 16,39 0 0,79-40-1,79 1 1,41-1-16,-1 40 16,0-40-1,40 40 1,-40 0-16,-40-39 15,40-1 1,-39 40 0,39 0-1,0 0-15,-39 0 16,39 0 0,39-39-1,-38 39-15,-1-40 16,0-39-1,40 39 1,39 1-16,0-80 16,1 40-1,-1-40 1,40-40 0,0-78-16,0 39 15,0-80 1,0 80-1,-40-79 1,40 79-16,0 0 16,0 79-1,0 40 1,0-40 203,0-118-204,-79-239 1,0-118 0,-80-237-16,120 237 15,-80 118 1,119 159-1,0 159-15,0 79 16,0 0 0,0 39-1,0 0-15,0 1 47,0-1-31,0 1-1,0-41 1,39 1-16,1 0 16,39 0-1,-39 0 1,0-1-16,-1 80 31,-39-39-31,40-1 16,39 40-1,40-39 1,-40-1 0,40 0-16,40 40 15,39-79 1,-40 40 0,-39-1-16,0 40 15,0 0 1,-40 0-16,40 0 15,-79 0 1,-1 0 0,1 0-16,0 0 31,39 0-15,-40 0-1,1 0 1,0 0-1,-1 0 1,1 0-16,0 0 31,-1 0-15,1 0 15,-1 0 0,1 40 1,0-1-1,-40 1 0,39-40 0,1 0 1,0 0 15,-1 0-32,1 0 1,-40 39-1</inkml:trace>
  <inkml:trace contextRef="#ctx0" brushRef="#br1" timeOffset="39319.82">14385 6257 0,'39'0'31,"1"0"-15,-1 0 15,1-39 0,0 39-31,-1 0 32,1-40-17,0 40-15,-1 0 16,1 0 0,39-39-1,-39 39-15,79-40 16,-40 40-1,40 0 1,-40 0 0,0 0-16,40 0 15,0 0 1,-40 0 0,40 0-16,-40 0 15,1 0 1,-41 0-1,1 0 1,39 0-16,-39 0 31,39 0-15,-39 40-16,-1-40 16,1 0-1,-1 0 16,1 0-31,0 0 16,39 0 0,-39 0-1,78 0-15,-38 0 16,39 0 0,-1 0-1,1 0 1,0 0-16,0 0 15,0 0 17,-40 0-32,0 0 15,40 0 1,-79 0 0,0 0-16,-1 0 15,1 0 16,-1 0 204,1-40-220,79 40 1,0-40-16,0 40 16,39 0-1,1-39 1,-1-1 0,40 40-1,0 0-15,-79 0 16,0 0-1,0 0 1,0 0-16,0 0 16,-40 0-1,0 0 1,1 0-16,-1 0 16,-40 0-1,1 0 1,39 40-16,-39-1 31,0-39 0,-1 40-31,1-40 16,-40 40 0,39-1-1,1-39 1,0 0-16,-40 40 15,39-40 1,1 0 0,-40 39-16,40-39 15,-40 80 1,39-41 15,-39 1-15,0-1-1,40 1 1,-40 0-16,39-1 16,-39 1-1,0 0 1,0 39-16,0-40 16,0 1-1,0 39 1,0 0-1,0-39-15,0 39 16,0-39 0,0 39-1,0 0 1,0-39 0,0-1-1,0 1 1,0 0-16,0 39 15,0-40 1,0 1 0,0 0-16,0-1 15,0 1 1,0 39 0,0-39-1,0-1-15,0 40 16,0-39 15,0 39-31,0-39 31,0 0 1,0-1-32,0 1 281,0-1-266,0 1 1,0 0 0,0 78-16,0-78 15,0 39-15,0-39 16,0-1 0,0 80-1,0-79-15,0 39 31,0 0-15,0-39 0,0 39-1,0 0 17,0-39-17,0-1 1,0 1-1,0 0 1,0-1 0,0 1-1,0-1 1,0 1 31,0 0 0,-39-40 31,-1 39-78,1 1 31,-1-40-15,0 0-16,-39 0 15,39 0 1,1 0 0,-1 0-16,-39 39 15,39-39 1,1 0-1,-1 0 1,0 40-16,1-40 16,-40 0-1,-1 0 1,1 0-16,39 0 16,-39 0-1,0 0 1,39 0-1,-39 40-15,0-40 16,0 0 0,-1 0-1,1 0 1,39 0-16,1 0 16,-40 0-1,39 0 1,0 0 15,1 0-15,-1 0 15,-39 0 0,39 0-15,1 0-1,-1 0 1,0 0 0,-39 0-16,0 0 15,39 0 1,-39 0 0,-40 0-16,40 0 31,-40 0-16,40 0-15,-1 0 16,1 0 0,40 0-1,-1 0-15,0 39 297,-79-39-281,1 0-1,38 0 1,-78 0-16,79 0 16,-40 0-1,0 0 1,79 0-16,1 0 16,-41 0-1,41 0 1,-41 0-16,41 0 15,-1 0 1,-39 0 0,39 0-16,1 0 15,-1 0 1,0 0 0,1 0-1,-40 0-15,39 0 16,0 0-1,-39 0 1,0 0-16,0 0 16,-1 0-1,1 0 1,0 0 0,0 0-16,-1 0 15,-78-79 1,39 79-1,0-40-15,40 40 16,39-39 0,-39 39-1,-40-40-15,79 40 16,-39 0 0,0 0-1,0 0 1,-1 0-16,41-39 15,-1 39 1,-39 0 0,0 0-16,39 0 15,0 0 1,-39 0 0,40 0-1,-1 0-15,0 0 16,1 0-1,-41 0 17,41 0-17,-1 0 17,1 0-32,39-40 15,-40 0 1,40 1-1,-40-1 1,1-79-16,39 40 16,0 40-1,0-41 1,-40 1-16,40-40 16,-40 80-1,1-40 1,39-1-1,0 1-15,-40 0 16,40 0 0,0 39-1,0 1 220,0-80-220,-39-40-15,39 1 16,-40 39 0,40-39-16,0 39 15,0 40 1,0-1-1,0 41 1,0-1-16,0 1 16,0-1-1,0 0 1,0 1 0,0-1 30,40 1-46,-1-1 16,-39 0 15,40 40-31,-40-39 16,79-1 0,-79 1-1,40-1 1,-40 0-16,79-39 15,-39 40 17,-1-1-32,-39-39 15,0 39 1,40 0 0,-1-39-16,1 40 31,0-41-16,-40 41 1,79-40-16,-39 39 31,-1 40-15,1 0 15,-1 0-15,1 0 15,-40-40-15,40 40-1,-1 0 48,1 0-63,0 0 15,-1 0 17,1 0-32,-1 0 15,1 0 17,0 0-17,-1 0 1,1 0 31,0 0-16,-40 40 31,0 0-30</inkml:trace>
  <inkml:trace contextRef="#ctx0" brushRef="#br1" timeOffset="48572.18">21557 4871 0,'79'0'172,"-39"0"-156,-1 0-1,41 0-15,-41 0 16,1 0 31,-40 40-47,39-40 16,-39 39 15,0 41-16,0-41 17,0 1-17,40 0-15,-40-1 16,0 40 0,0-39-1,0 0 1,0-1-1,0 1 1,0 39 0,0 0 15,0-39-15,40-1-16,-40 1 15,0 0 1,0-1-1,0 1 1,39-1 15,-39 1-15,0 0 15,0-1-15,0 1-1,40-40 1,-40 39 0,0 41-1,0-41 17,0 40-32,0-39 31,40 0-16,-40-1-15,0 1 47,0-1 0,0 1-16,0 0-15,0-1 15,0 1 16,0 0-16,0-1-15,0 1 31,0-1 47,0 1-63,-40 0-15,0-40 15,1 0-16,-1 0 1,0 0 0,1 0-1,-1 0 1,1 0 15,-1 0-15,0 0 31,1 0-32,-1 0 1,0 0 15,1 0 16,-1 0-31,1 0 15,-1 0 16,40-40 47,0 0 31,0 1-94,-40 39-31,40-40 15,-39 1 1,39-1 15</inkml:trace>
  <inkml:trace contextRef="#ctx0" brushRef="#br1" timeOffset="55849.43">22349 6574 0,'40'0'156,"0"0"-156,78 0 0,-38 0 16,-1-39-1,0 39 1,-39-40-16,79-39 16,0 39-1,-40 1 1,-40-1-16,80 0 31,-79 1-31,0 39 31,39 0-31,-79-40 0,39 40 32,1-39-17,0 39-15,-40 39 203,0 40-187,0-39-16,-40 0 31,40-1-15,0 1 0</inkml:trace>
  <inkml:trace contextRef="#ctx0" brushRef="#br1" timeOffset="56614.98">23181 5980 0,'40'0'141,"39"0"-125,1 0-1,-1 40 1,-40-40-16</inkml:trace>
  <inkml:trace contextRef="#ctx0" brushRef="#br1" timeOffset="57906.02">24014 5861 0,'0'40'109,"39"0"-93,1-1-1,-40 1-15,39-1 16,-39 1-1,40-40 1,-80-40 78,40 1-79,-79-40 1,40-40 0,-1 0-16,0 40 15,1 0 1,39-1 0,0 41-16,0-1 31,39 40 94,1 40-110,39-1 1,-39-39 0,-1 40-1,1 0-15,0-1 16,-1 1 0,1-1-1,0 1-15,-1 0 16,1-40-1,-40 39 1,0 1 0,39-40 15,-39 39-15</inkml:trace>
  <inkml:trace contextRef="#ctx0" brushRef="#br1" timeOffset="58692.06">24093 5861 0,'0'-39'125,"39"-1"-110,1 1 1,39-1 0,-39 40 15,-40-40 63</inkml:trace>
  <inkml:trace contextRef="#ctx0" brushRef="#br1" timeOffset="60010.03">24489 5347 0,'0'39'109,"40"1"-93,-1-1-1,41 41 1,-41-1-1,1 0-15,-1 0 16,1-39 0,-40-1-1,40 1-15,-40 0 32,-40-80 186,0 0-218,1-39 16,-1 40 0,1-1-1,-1 0 1,40 1-16,-40-1 15,40 1 1,0-1 0,0 0 15,0 1-15,0-1 15,0 1-16,40 39 17,39 0-17,-39 0 1,-1 0 0,1 0-16,0 0 46,-40 39-30,0 1 0,0-1 15,-40-39 47,-39 40-47</inkml:trace>
  <inkml:trace contextRef="#ctx0" brushRef="#br1" timeOffset="60791.26">25083 5267 0,'0'40'125,"0"0"-110,0 39 17,0 0-32,40 0 15,0-39 1,-40 39 0,0-39-1,39-40 1,-39 39 15,40-39-15</inkml:trace>
  <inkml:trace contextRef="#ctx0" brushRef="#br1" timeOffset="61674.66">25123 5980 0,'40'0'187,"-1"0"-155,41-39-17,-41 39 1</inkml:trace>
  <inkml:trace contextRef="#ctx0" brushRef="#br1" timeOffset="62622.15">24925 5386 0,'0'-39'62,"79"-1"17,-79 0-79,40 40 15,-1 0 16</inkml:trace>
  <inkml:trace contextRef="#ctx0" brushRef="#br1" timeOffset="68757.75">14979 7921 0,'0'-40'31,"40"40"63,39 0-79,-40 0 1,1 0-16,39 0 15,1 0 1,-1 0 0,0 0-1,0 0-15,-39 0 16,0 0 0,39 0-1,-40 0-15,1 0 16,0 0 359,39 0-360,0 0-15,0 0 16,40 0 0,0 0-16,40 0 15,78-39 1,-78 39 0,-1 0-16,-39 0 15,-39 0 1,-1 0-1,0 0 1,0 0-16,40 0 16,-79 0-1,-1 0 1,1 0-16,79 0 16,-79 0-1,-1 0 1,1 0-1,39 0-15,0 0 16,1 0 15,-41 0-15,40 0 0,-39 0-1,39 0 1,-39 0 15,0 0-15,-1 0-1,1 0 17,-40 39-17,39-39 32,-39 40-16,40-40-15,0 39 0,-1-39 15,1 0-16,0 0 1,-1 0 0,1 0-1,-1 0 1,1 40 0,0-40 15,-40 40-31,0-1 15,39 1 17,-39 0-32,0 39 31,40-40-15,0 1-16,-40 0 15,0-1 1,0 1-1,39 39 1,-39-39-16,40-1 16,-40 40-1,0-39 1,0 39 0,39 0 15,-39-39 0,40 0-31,-40-1 31,0 1-15,0 39 0,40-79-1,-40 40-15,0 39 16,0-40 15,0 1-31,0 0 16,0-1 15,0 1 47,0-1-31,-40 1-31,0-40 15,1 40-31,-40-1 15,39-39 1,-39 40 0,39-40-16,-39 39 15,39-39 1,-79 0 0,80 0-1,-41 0-15,41 0 16,-40 0-1,-1 0 1,41 0-16,-1 0 16,-39 0-1,0 0 1,-1 0-16,41 0 16,-1 0-1,-39 0 1,39 0-16,-39 0 15,39 0 1,-79 0 0,80 0-1,-40 0 1,39 0-16,-39 0 16,-1 0-1,1 0 1,0 0-16,0 0 15,-1 0 1,1 0 0,0 0-16,0 0 15,39 0 1,0 0 0,-39 0-1,40 0-15,-41 0 31,41 0-15,-1 0-16,0 0 31,1 0 1,-40 0-17,39 0 16,0 0-15,1 0 15,-1 0-15,0 0 15,1 0-15,-1 0 15,1 0 0,39-39 16,-40-1-47,40 1 31,-40 39-15,40-40-16,-39 0 16,-1 1-1,40-1 17,0 1-1</inkml:trace>
  <inkml:trace contextRef="#ctx0" brushRef="#br1" timeOffset="70742.72">4518 11168 0,'0'-39'16,"-40"39"-1,40-40 32,0 1 0,40 39-16,79 0-15,39-40-16,120 0 15,78-39 1,1-40 0,79 1-16,0 38 15,-1 80 1,-78 0 0,-40 0-1,0 40-15,-79 0 16,79 78-1,-40-38 1,-39-1-16,0 40 16,-80-40-1,-39 0 1,0-39 0,-40 39-16,0 0 15,-39-39 1,0 39-1,39-79-15,-79 79 16,40-39 0,-40-1-1,39 1 1,-39 0-16,0 39 16,0-40 15,0 41-31,0 38 15,-39 1 1,-1 0 0,0-40-16,-39 0 15,39 40 1,-39-79 0,-79 39-1,39-39-15,-40 39 16,-78-40-1,-41 41 1,1-1-16,-1-39 16,1 39-1,-119 0 1,39 0 0,40 0-16,-79 1 15,39-1 1,1-40-1,-120 1-15,-39-40 16,0 0 0,0 0-1,39-40 1,-79-158-16,40-79 16,159-40-1,39-118 1,119-41-1,39-237-15,119 159 16,40 79 0,0 79-1,0 277 1,199-79 0,474-159-1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2-05T11:52:28.80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17753 13545 0,'0'-40'0,"0"1"16,39 39 109,41 0-110,-1 0-15,0 0 16,0 0 0,1 0-1,-1 0-15,-40 0 16,1 0 0,0 0-1,-1 79-15,1-40 16,0 41-1,-1 38 1,1-38 0,-1-1-16,-39 0 15,40 40-15,0 0 16,-1-1 0,1 81-1,0-81 1,-40 1-16,39 0 15,-39 0 1,0 39 0,0-39-16,0 0 15,0 0 1,0-40 0,0 0-1,0 0-15,-39 40 16,39-79-1,-80 39 1,41 0-16,-41-39 16,1 39-1,0-79 1,0 79 0,-40-39-16,0-40 15,0 39 1,-39 1-1,-1 0-15,40-40 16,-39 39 0,39-39-1,-40 0 1,40 0-16,1 0 16,-1 0-1,39 0 1,1 0-16,0-39 15,39-41 1,-39-38 0,39 38-1,1-38-15,-1-1 16,1 39 0,39-78-1,0 79-15,0-40 16,0 0-1,0 0 1,0-39 0,0 0-16,0 39 15,0-40 1,0 41 0,39-1-16,40 0 15,-39 40 1,39 39-1,40-39 1,0 0-16,40 39 16,78-39-1,-78 39 1,-1 1-16,-39-1 16,-40 40-1,-39 0 1,0 0-1,-1 0-15,41 0 32</inkml:trace>
  <inkml:trace contextRef="#ctx0" brushRef="#br0" timeOffset="3353.37">17436 6455 0,'39'0'78,"1"0"-63,79 0-15,-40 0 16,40 0 0,0 0-1,0 0 1,-40 0-16,40 40 16,-40 0-1,0-1 1,40 41-16,-79-41 15,-1 40 1,1 1 0,0-1-16,-1-40 15,1 80 1,0-40 0,-1 1-1,-39-41-15,0 40 16,40 1-1,-40-1 1,39-40 0,-39 80-16,0-40 15,0 40 1,0 0 0,40 0-16,-40 0 15,40-40 1,-40 0-1,39 0-15,-39 1 16,0-1 0,0 0-1,0 0 1,0 0-16,0 40 16,0 0-1,0 0 1,-39 0-16,-1-1 15,0-38 1,1-1 0,-1 0-16,1 0 15,-1-39 1,0 0 0,1-1-1,-1 1-15,0 39 16,1-39-1,-1-1 1,-79 1-16,40 39 31,0-39-15,-40-1-16,40 1 16,-40-40-1,-40 39 1,80 1-16,-40-40 15,0 40 1,0-40 0,40 0-16,0 0 15,0-40 1,-40 0 0,0-39-16,0-79 15,0 39 1,80 40-1,-80-80 1,79 40 0,0 1-1,1-1-15,-40-79 16,39 79 0,0-79-1,-39-40-15,79-39 16,-40 79-1,40-40 1,0 40-16,0 80 16,0-41-1,0-39 1,40 79-16,0-39 16,39-40-1,-39 79 1,39 0-16,-40 0 15,1 80 1,39-1 0,1-39-16,-1 39 15,0 1 1,119-40 0,-39 39-1,-40 40-15,39-40 31,40 40-31,-39-39 16,-80 39 0,40 0-1,0 0-15</inkml:trace>
  <inkml:trace contextRef="#ctx0" brushRef="#br0" timeOffset="9733.37">16445 17109 0,'40'0'156,"-1"0"-156,1 0 15,39 0 1,-39 0 0,-1 0-16,41 0 15,-1 0 1,-39 0 0,39 0-16,0 0 15,0 0 1,40 0-1,-40 0 1,40 0-16,-39 0 16,-1 0-1,0 0 1,-39 0-16,39 0 16,0 0-1,-39 0 1,-1 0-1,1 0-15,39 0 16,-39 0 0,0 0-1,-1 0-15,1 0 16,-1 0 0,41 0-1,-41 0-15,1 0 16,39 0-1,-39 0 1,-1 0 0,1 0-16,39 40 15,-39-40 1,0 0 0,-1 0-16,1 0 15,-1 0 32,41 0-16</inkml:trace>
  <inkml:trace contextRef="#ctx0" brushRef="#br0" timeOffset="11383.42">16326 5584 0,'0'-39'94,"79"39"0,-39 0-63,39 0-16,-39 39 1,39-39-16,0 0 16,1 40-1,-1-40 1,0 0-16,-39 0 16,39 0-1,40 0 1,-40 0-1,0 0-15,1 0 16,-1 39 0,40-39-1,-80 0-15,80 40 16,-79-40 0,0 0-1,39 0-15,0 0 16,-39 0-1,-1 0 1,41 0 0,-1 0-16,-40 0 15,1 0 1,0 0 0,39 0-16,0 0 15,-39 0 1,39 0-1,0 0 1,-39 0-16,0 0 31,-1 0-15</inkml:trace>
  <inkml:trace contextRef="#ctx0" brushRef="#br0" timeOffset="19746.66">4240 13624 0,'40'0'62,"0"0"-30,-1 0-17,1 0 1,39-40-16,0 40 16,80-39-1,-40 39 1,-40 0-16,40 0 15,-40 0 1,0 0 0,1 39-1,-1-39-15,40 40 16,-80 0 0,41 78-1,-1 1-15,-39-40 16,-1 1-1,40 78 1,-79-118 0,40 78-16,0-78 15,-1 119 1,-39-41 0,0-38-16,40 78 15,-40-39 1,0 0-1,0-1 1,0 1-16,0 40 16,0-41-1,0 1 1,0 0-16,0 0 16,0-40-1,-40 40 1,1 0-1,-1-40-15,-39 0 16,79-39 0,-119 39-1,79-39-15,-39 39 16,-40-79 0,40 79-16,0-39 15,-40-1 1,40 1-1,-40-1-15,0 1 16,0-40 0,0 40-1,40-1-15,-40-39 16,40 0 0,-1 0-1,1-39 1,-40-1-16,40-39 15,39 0 1,-39-1 0,0-78-16,0 118 15,79-39 1,-80-40 0,41 40-1,-41 0-15,41 0 16,39 0-1,0-40 1,0 0 0,0 0-16,0 0 15,0 0 1,0 1 0,39-41-16,41-78 15,39-41 1,79 1-1,119-119-15,79 40 16</inkml:trace>
  <inkml:trace contextRef="#ctx0" brushRef="#br0" timeOffset="23742.91">2219 7129 0,'119'0'15,"40"-40"1,39 40-16,-40 0 31,1 0-31,-1-39 16,80 39-1,-79-40 1,78 40-16,-38 0 16,-41 0-1,1 0 1,-1 0-16,40 0 16,-39 0-1,-40 0 1,0 0-1,-1 0-15,-38 40 16,-1-1 0,40 1-1,0-1-15,-40 41 16,0-1 0,40-40-1,-40 41-15,1-41 16,-41 40-1,80-39 1,-79 39 0,39 40-1,-39-40-15,39 0 16,0 1 0,-39-41-1,39 80-15,-39-79 16,39-1-1,0 80 1,-39-79 0,39 39-16,-39-39 15,-1-1 1,1 80 0,-40-79-16,39 39 15,1-40 1,-40 80-1,40-40 1,-40 1-16,0-1 16,0-40-1,0 80 1,0-40-16,0-39 16,0 39-1,-80 0 1,41 40-1,-40-39-15,39 38 16,-39-38 0,39 38-1,-39-78-15,39 0 16,1-40 0,-1 0-1,0 0 1,-39 39-16,-40-39 15,0 40 1,40-1 0,-40-39-16,0 0 15,0 0 1,1 0 0,-1 0-1,0 0-15,0 0 16,0 0-1,-39 0 1,39 0-16,-40 0 16,1 0-1,39 0 1,-40 0-16,40 0 16,-39-39-1,39 39 1,-79-40-1,0-39-15,0 39 16,79 1 0,-40-1-1,1-39-15,39 0 16,0 39 0,0-39-1,-39-80 1,-1 80-16,40 0 15,40 0 1,0 0 0,-1 39-16,41-39 15,-1 0 1,40 39 0,-39-39-1,39-40-15,-40 0 16,40 0-1,0 1-15,0-1 16,0 40 0,0-1-1,0-38 1,79 38-16,-39 41 31,-1 39-15</inkml:trace>
  <inkml:trace contextRef="#ctx0" brushRef="#br0" timeOffset="28289.56">6975 13545 0,'39'-40'62,"1"40"-46,79 0 0,0-39-16,39 39 15,80 0 1,0-40-1,118 0-15,-39 1 16,0-80 0,-39 119-1,-80 0-15,0 0 16,-40 0 0,-39 0-1,40 40 1,-1 39-16,-39-40 15,40-39 1,-1 40 0,1 39-16,-1-79 15,-39 40 1,39-1 0,-78-39-1,39 0-15,-80 40 16,-39 0-1,79-40 1,-79 39-16,40-39 16,0 79-1,39-39 1,-79 0 0,40 78-16,-1-78 15,1 39 1,-1 0-1,1-39-15,-40 39 16,40 0 0,-1 40-1,-39 0 1,0-40-16,40-39 16,-40 39-1,0 0 1,0 1-16,0-41 15,0 1 1,0-1 0,0 1-1,-40 0-15,1 39 16,-41-40 0,1 41-1,0-1-15,-80 40 16,41-80-1,-1 40 1,-79 40-16,-40-40 16,79-39-1,1 79 1,-40-40 0,-40 0-16,0-39 15,0 39 1,40 0-1,-79 1-15,79-41 16,0 1 0,39-1-1,-39-39 1,40 0-16,-41 0 16,-38 0-1,-41 0 1,41-79-16,38-40 15,-38 1 1,-1-41 0,40 80-1,-40-80-15,80 1 16,-41-40 0,120 0-16,-40 79 15,0-79 1,80 79-1,-1 1 1,40-1-16,0 79 16,0-39-1,0 39 1,0-39-16,79 0 31,-39 0-31,79-40 16,-40-40-1,119 1 1,40-40-16,39 40 16,40-1-1,-79 40 1,-40 80 0,0-1-16,-118 40 15,-41 0 1,1 0-1,-40 79 95</inkml:trace>
  <inkml:trace contextRef="#ctx0" brushRef="#br0" timeOffset="30534.35">8282 6733 0,'0'-40'31,"40"40"-15,39-39 0,0 39-1,1 0 1,38 0-16,41 0 15,-40 0 1,0 0 0,0 0-16,-1 39 15,-38 1 1,39 39 0,-40-39-1,0 118-15,80-79 16,-80 80-1,0-41 1,0-38-16,1 78 16,-1-39-1,-79-40 1,39 0 0,1 0-1,0 40-15,-1 0 16,1-40-1,-40 40 1,40 0-16,-40 79 16,0 40-1,0-40 1,0-40-16,0 40 16,0-79-1,0 0 1,-40-40-16,0-39 15,40-1 1,-79 40 0,0-39-16,-40 39 15,40 0 1,-80 40 0,40-79-16,-39 39 15,39-39 1,40-40-1,-1 0-15,1 0 16,0 0 0,-40 0-1,40 0 1,0 0 0,-40 0-1,39 0-15,1-80 16,-40 41-1,0-40 1,40 39-16,0-39 16,-80-80-1,80 41 1,40-81-16,-41-38 16,1-40-1,79-119 1,0-40-16,0-79 15,40-39 1,39 39 0,0 79-1,0 119-15,40 80 16,0 78 0,198 159-1</inkml:trace>
  <inkml:trace contextRef="#ctx0" brushRef="#br0" timeOffset="32902.98">13156 13664 0,'40'0'47,"-1"0"-32,1 0-15,39 0 16,40 0 0,0 0-1,0 0 1,-40 0-16,80 39 15,-40 1 1,-40 39 0,40 0-16,-40 0 15,-39 40 1,78 40 0,-78-41-1,-40-38-15,40 39 16,-1-1-1,-39 1 1,0 0-16,0-40 16,0 40-1,0 0 1,0 0 0,0-40-16,0 40 15,0-40 1,-39 0-1,-1 0-15,-39 0 16,0-39 0,39 0-1,-39-1 1,-40-39-16,0 40 16,0 0-1,0-40 1,40 0-1,-40 0-15,-39 0 16,-1 0 0,1-40-1,39 0 1,-79 1 0,39-1-16,40-79 15,40 80 1,39-41-1,1 1-15,39 0 16,-40 0 0,40 39-1,0-39 1,0-40-16,0 0 16,40-39-1,78-80 1,-78 120-16,39-1 15,-39 39 1,0-38 0,118 78-16</inkml:trace>
  <inkml:trace contextRef="#ctx0" brushRef="#br0" timeOffset="35974.55">12126 7485 0,'39'0'31,"1"-39"-15,39-1-1,40 0 1,-40 40 0,1 0-16,78 0 15,-39 0 1,40 0 0,-1 40-16,-39 0 15,40 78 1,-41-78-1,1 79-15,0-80 16,-40 120 0,80-40-1,-80 0-15,0-40 16,-39 0 0,0 0-1,-1 40 1,1 0-16,-40 0 15,40-1 1,-1 1 0,-39-40-16,0-39 15,0 0 1,0-1 15,0 1-15,0-1-16,0 1 15,0 0 1,0 39 0,-39 0-16,-1-39 15,0 39 1,1-40 0,-41 1-16,1 39 15,40-39 1,-41 0-1,-39 39-15,80-79 16,-80 79 0,-40-39-1,41 39-15,-81 40 16,81-1 0,-81-78-1,81 39-15,-1-39 16,39-40-1,-39 0 1,40-79 0,-40-40-1,-39-79-15,-1-119 16,40-79 0,-39-40-1,158-118-15,0-1 16,0 80-1,119 79 1,0 158-16,198 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2-05T12:06:10.00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22270 15723 0,'0'-40'62,"40"40"-46,-1 0 0,80 0-1,-79 0-15,39 0 16,0 0-1,-39 0 1,0 0-16,-1 0 31,-39 40 1,0 0-1,0-1-16,0 40 1,0-39 0,0 0-1,0-1 1,0 41-16,0-41 16,0 40-1,0-39 1,0 39-16,0 0 15,0-39 1,0 0 0,0 39-16,0-40 31,0 1-15,0 0-1,0-1 1,0 1-1,0-1 1,0 1 0,0 0-1,0 39 17,0-40-17,0 1 1,0 0-1,40 39-15,-40-40 16,0 1 0,0 0-1,0-1 17,0 1-17,39-1 1,-39 1 15,0 0-15,0-1 31,0 1-32,0-1 32,0 1 47,0 0-47,-79-1-32,40-39 1,-1 0 0,-39 0-16,-1 0 15,41 0 16,-1 0-31</inkml:trace>
  <inkml:trace contextRef="#ctx0" brushRef="#br0" timeOffset="853.5">23538 16198 0,'0'80'62,"0"-41"-46,0 1-1,0-1 1,0 80-16,0-79 16,0-1-1,0 1 1,40-40-16</inkml:trace>
  <inkml:trace contextRef="#ctx0" brushRef="#br0" timeOffset="1993.78">24014 16278 0,'0'-40'47,"-40"40"16,0 0-63,1 0 31,-1 0-16,0 0-15,40 79 16,0-39 15,0-1-31,0 1 32,0 0-17,40-1 48,0-39-63,-1 0 15,1 0 1,0 0 0,-1 40-1,1-40-15,-40 39 31,39-39-15,-39 40 0,0 0 31,-79-40 15,40 0-46,-41 39-1,41-39 1,-41 0-16,41 40 16,-1-40-1,1 0 1</inkml:trace>
  <inkml:trace contextRef="#ctx0" brushRef="#br0" timeOffset="3253.47">24489 16317 0,'0'40'31,"0"-1"-15,0 1-1,0 0-15,0 39 16,0-40 0,0 1-1,0 0-15,0-80 125,0 0-125,0-39 16,0-40 0,0 1-1,0 78-15,0 0 16,0 1-16,40 39 125,-1 0-110,1 39 1,0 1 0,-1 39-16,1-79 15,-40 40 1,39-1 0,-39 1-16,0 0 31,40-1-16,-40 1 17,40-40-17,-40 39 63</inkml:trace>
  <inkml:trace contextRef="#ctx0" brushRef="#br0" timeOffset="3612.81">24568 16396 0,'40'0'63,"79"0"-48</inkml:trace>
  <inkml:trace contextRef="#ctx0" brushRef="#br0" timeOffset="5887.68">22508 10020 0,'79'0'31,"-39"0"-31,-1 0 16,1 0 15,-40 40-15,0-1 15,0 1 0,40 39-15,-40-39-16,0 39 15,0 0 1,0 0 0,0 40-16,0 0 15,0 0 1,39-40 0,-39 0-16,0 0 15,0 0 1,40 1-1,-40 39 1,39-40 0,1-40-1,-40 41-15,0-1 16,0 0 0,40 0-1,-40-39-15,0 39 16,0 0-1,0-39 1,39 39-16,-39-39 16,0 39-1,0 0 1,0 0-16,0 0 16,0 1-1,40-1 1,-40 0-16,0 0 15,0-39 1,0-1 0,0 1-1,0 0-15,0-1 16,0 1 15,0 39-31,0-39 16,0 39-1,-40-39 1,1-1 0,39 40-16,-80-79 15,1 40 1,-40-40 0,0 0-16,40 0 15,-40 0 1,40 0-1,39 0-15,-39 0 16</inkml:trace>
  <inkml:trace contextRef="#ctx0" brushRef="#br0" timeOffset="10180.77">23300 11881 0,'0'40'2313,"0"0"-2282,0-1 188,0 1-203,0-1-1,40 41-15,-40-41 31,0 1-15,0-80 109,0-39-109,0-40-1,0 0 1,0-39-16,0 39 16,0 40-1,0 39 1,0 1-16,0-1 15,0 80 157,40-1-156,-1-39 0,-39 80-16,40-80 15,-40 39 1,79 1-1,-39-1 1,-40 1-16,39 0 16,-39-1-1,40 1 1,0-1 0,-40 1-1,39 0 1,1-1-1,-1 1 1,-39-1 78,0 1-79,40-40 1,-40 40 0,0-1-1</inkml:trace>
  <inkml:trace contextRef="#ctx0" brushRef="#br0" timeOffset="10938.64">23380 11961 0,'39'0'141,"1"0"-110,39-40-16,-39 40 1</inkml:trace>
  <inkml:trace contextRef="#ctx0" brushRef="#br0" timeOffset="12486.21">23855 11565 0,'0'39'78,"0"1"-78,40-1 16,-40 1-1,0 0 1,39-1 0,1 1-16,-40-1 15,0-78 110,0-1-109,-40-79-16,40 40 16,0 0-1,-39-40 1,39 80-1,0-1 1,39 40 15,41 0 1,-1 0-32,0 0 15,-39 0 1,39 0-1,-79 40-15,0-1 16,0 1 15,0-1-31,0 1 16,-40 39 0,1-39-1,-41-1-15,80 1 16,-79 0-1,119-40 142,-1-40-157,1 40 15,39 0 1,1 0 0,-1 0-1,-40 0 16,-39 40 1,0-1-1,0 1-15,0-1 15,0 1-31,-39 0 31,-1-40-15,-39 0-16,39 39 31,1-39-31,-1 0 16,-39 0-1,0 0 1</inkml:trace>
  <inkml:trace contextRef="#ctx0" brushRef="#br0" timeOffset="13173.66">24846 11327 0,'0'40'62,"0"-1"-46,0 40 0,0 1-16,0-1 15,0 0 1,0 0-1,0-39 1</inkml:trace>
  <inkml:trace contextRef="#ctx0" brushRef="#br0" timeOffset="13908.37">24846 12317 0,'0'-40'16,"0"1"-1,39 39 126,1 0-125,0 0-1,-1 0 1,1 0-1</inkml:trace>
  <inkml:trace contextRef="#ctx0" brushRef="#br0" timeOffset="14592.21">24687 11485 0,'0'-39'15,"40"-1"95,39 40-110,0-39 15,1 39 1,-1-40 0,0 0-16,-39 40 15</inkml:trace>
  <inkml:trace contextRef="#ctx0" brushRef="#br0" timeOffset="19339.98">4359 8475 0,'80'-39'47,"-1"-1"-32,0 40 1,0 0-1,1-39-15,-1-1 16,0 40 0,40 0-1,-40 0 1,0 0-16,1 0 16,-1 0-1,0 0 1,0 0-16,1 0 15,-41 0 1,41 0 0,-41 0-1,1 0-15,-1 0 16,41 0 0,-41 0-1,1 0-15,0 0 16,39 0-1,-40 40 1,1-40 0,39 0-16,-39 39 15,0-39 1,39 40 0,-40-40-16,1 39 15,-40 1 1,40-40-1,-1 79 1,1-79-16,0 40 16,-1-1-1,-39 1 1,40-40-16,-40 40 16,0-1 15,0 1-16,39-1-15,-39 41 32,0-41-17,0 1-15,0-1 16,0 41 0,0-41-1,0 1 1,0-1-16,0 41 31,0-41-15,-39 1-1,39-1 1,-40-39 0,1 40-16,-1 0 46,0-1-30,1 1 0,-1-40-1,-79 39 1,40 1 0,0 0-16,-1-1 15,1 1 1,-40-40-1,80 0-15,-41 0 16,41 0 0,-80 0-1,40 0 1,-40 0-16,0 0 16,40 40-1,39-40 1,-39 0-16,0 0 15,39 0 1,0 0 0,1 0-1,-1-40 1,0 40 0,1 0-1,-1-40 1,1 1-16,-1 39 15,0-40 1,1 40 0,-41-40-16,80 1 15,-79-1 1,79 1 0,-39 39-1,-1-80-15,40 41 31,0-80-15,0 40-16,0-40 16,0-39-1,0-40 1,0 79-16,0 0 16</inkml:trace>
  <inkml:trace contextRef="#ctx0" brushRef="#br0" timeOffset="26026.49">3487 4673 0,'40'0'63,"0"0"-32,39 0-15,-39-39-16,39-1 15,-40 40 1,80 0 0,-39 0-1,-1-40 1,0 40-16,0 0 15,1 0 1,-1 0 0,40 0-16,-80 0 15,41 0 1,-41 0 0,1 0-1,0 0-15,-1 0 16,40 0-1,-39 40 1,0 0-16,39-40 16,-39 79-1,39-40 1,-40 1 0,1 0-16,0-1 15,-1 1 1,1 39-1,0-79-15,-1 79 16,1-39 0,-40 0-1,39-1 1,1 1-16,-40-1 16,40 1-1,-1 0 1,-39-1-16,40 40 15,39 1 1,-39-1 0,-40 0-16,39-39 15,1 39 1,-40-40 0,0 1-1,40 39-15,-1 40 16,1-40-1,-40 0 1,0-39-16,40 39 16,-40 0-1,39-39 1,-39 0 0,0 39-16,0 0 31,0 0-16,0-39-15,0 0 16,0-1 0,0 40-1,0 1 1,0-41 0,0 40-1,0-39 1,0 39-16,0 0 15,-39 1 1,39-41 0,-40 1-16,0 39 15,1-39 1,39-1 0,-40 1-1,40-1-15,-40-39 16,1 40 15,-1-40-31,40 40 16,-39-40-1,-1 0 1,0 39 0,-39 1-16,39-40 15,1 0 1,-1 0-1,-39 39-15,39-39 16,1 40 0,-80-40-1,79 0-15,-39 0 16,39 0 0,-39 0-1,0 0-15,39 0 16,1 0-1,-1 0 1,-39 0 0,39 0 15,0 0-31,1 0 16,-1 0-1,-39 0 1,0 0 15,39-40-15,-39 1-1,-1-1 1,41 1 0,-1-1-1,-39 0 1,0 1-1,39-40 17,0 79-32,1-80 15,39 41 1,-40-1 0,40 1-16,-39 39 15,39-40 1,0 0-1,-40-39-15,40 40 16,-40-1 0,40-39-1,0 39 1,0 1-16,-39-1 16,39 0-1,0 1 1,0-1-1,0 1 1,0-41 15,0 41-15,0-1 0,0 1-1,0-41 1,0-39-16,0 1 15,39-1 1,1 0 0,0-39-1,-1-1-15,40 40 16,-39 40 0,39 0-1,80-40-15,79 40 16</inkml:trace>
  <inkml:trace contextRef="#ctx0" brushRef="#br0" timeOffset="29752.49">8044 5426 0,'-39'0'47,"-1"0"0,1 0-47,-41 0 16,1 0-1,-40-40 1,-79-39-1,40-40-15,-41 40 16,1-80 0,79 1-1,1 39-15,-1-39 16,79 79 0,0-1-1,40 41 1,0-1-16,0 1 15,-79 157 360,40-38-359,-1-1 0,0-40-1</inkml:trace>
  <inkml:trace contextRef="#ctx0" brushRef="#br0" timeOffset="30411.09">6301 4317 0,'40'0'125,"-1"0"-110,1 0-15,79 0 16,0 0 0,-1 39-1,-78 1 1,0-40-1,-40 40 48</inkml:trace>
  <inkml:trace contextRef="#ctx0" brushRef="#br0" timeOffset="32094.04">8797 5347 0,'-39'0'31,"-1"-40"-31,0 0 16,-39 1 0,40-1-1,-41-39-15,1 39 16,39 1-1,-39-1 1,40 0 0,-1-39-16,40 40 15,-40-41 1,40 41 15,-39-1-31,39 1 16,0-1 78,39 0-79,-39-39 16,40 40-31,-40-1 16,0-39 0,0 39 15,0 1 31,-40 39 32,1 0 125,39 39-110,0 1-93,-40-1-16,40 41 16,0-41 15,-40-39-16</inkml:trace>
  <inkml:trace contextRef="#ctx0" brushRef="#br0" timeOffset="33350.03">9709 4871 0,'-40'0'47,"-39"0"-32,39 0 1,1-39 0,-1-80-1,0 40-15,1-40 16,39 40 0,0-1-1,0 1 1,0 40-16,0-1 15,39 40 17,1 0-1,79-40-15,-40 40-1,0 0-15,40 0 16,-40 0-1,1 0 1,39 0-16,-80 0 16,40 0-1,-39-39 17,-40 78 93,0 1-110,-40 39 1,1 0-16,39 1 15,-40-1 1,40-40 0,0 41-1</inkml:trace>
  <inkml:trace contextRef="#ctx0" brushRef="#br0" timeOffset="33904.19">9590 3723 0,'39'0'47,"1"0"-31,39 0 0,40 0-1,-79 39 1,-40 1 31</inkml:trace>
  <inkml:trace contextRef="#ctx0" brushRef="#br0" timeOffset="37116.47">13434 6257 0,'0'-39'78,"-40"39"-63,0 0 1,1 0 15,-1 0-15,0 0 31,1 0-16,39 39-31,0 1 16,0 0 15,0-1-16,-40 40 1,40 1 0,0-41-1,0 1-15,0 0 16,0-1 0,0 1-1,0-1 1,0 41-1,0-41 17,40-39-32,-40 79 15,39-79 1,1 40 15,0-40-31,-1 0 31,1 0-15,0 0 15,-1 0-15,1 0 0,-1-40 93,-39 1-78,0-1-15,0-39-1,0 39 1,0-39 0,0 40-1,-39-80 1,39 79 0,-79-39-1,79 39 1</inkml:trace>
  <inkml:trace contextRef="#ctx0" brushRef="#br0" timeOffset="38539.41">14503 6495 0,'0'-40'78,"0"120"62,-39-80-124,39 39 0,0 41-16,0-41 15,0 1 1,0-1-1,0 1 1,0 0-16,0-1 16,0 40 15,0-39-15,0 0-1,39-1 1,-39 1-1,40-40-15,0 0 16,-1 39 0,1-39-1,0 0-15,-1 0 16,1 0 0,-1 0-1,1 0 1,0 0-16,-1 0 15,1-39 32,-40-40-31,0 39 15,0-39-31,0 39 16,0 1-1,0-1 1,0 0 0,0 1-1,-40-40 1,1 79 0,-1-80-16,-39 41 15,39-1 1,-39-39-1,0 39-15,39 1 16,0-1 0</inkml:trace>
  <inkml:trace contextRef="#ctx0" brushRef="#br0" timeOffset="40074.33">15890 6337 0,'-39'0'125,"-1"39"-94,0 1-15,40-1-1,-39 1 1,39 39 15,0-39-31,-40 0 16,40-1 0,0 1-1,0-1 1,0 41-16,0-41 31,0 40-15,0-39-1,0 39 1,0-39 0,0-1-1,0 1-15,40-40 16,-1 40-1,1-1 1,0-39-16,-1 0 16,41 0-1,-41 0 1,40 0-16,1 0 16,-1 0-1,0 0 1,80-79-1,-80 39-15,-39-78 16,39 38 0,-40 1-1,-39 40-15,0-41 16,0 1 0,0 0-1,-39 39 1,-1-79-16,-79 40 15,80 0 1,-80-40 0,0 80-16,40-1 15,-1 40 1,41 0 0,-1-40-1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2-05T12:10:09.34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14583 13030 0,'39'0'15,"-39"-40"1,0 1-16,0-1 16,0 0-1,0 1 1,0-1-1,0 1-15,0-1 16,0 0 0,0 1-1,-39-1-15,-41-39 16,41 79 0,-40-40-1,39 40-15,0 0 16,1 0-1,-41 0 1,41 0 15,-1 0-15,40 40-16,-39 0 16,-1-1-1,0 40 1,1 1-16,39-41 15,-40 40 1,40-39 0,0 0-16,0 39 15,0-39 1,0-1 0,0 1-16,0-1 15,0 41 16,0-41-15,0 1 0,0-1-1,0 1-15,40 0 16,-40-1 0,39 80-1,-39-40-15,0-39 16,0 39-1,0-39 1,40 78-16,-40-78 16,40 39-1,-40-39 1,0 39 0,0-39-16</inkml:trace>
  <inkml:trace contextRef="#ctx0" brushRef="#br0" timeOffset="848.13">11967 13188 0,'0'-39'47,"0"78"62,0 41-93,40-1-1,-40 40 1,79-40-16,-79 40 16,0-80-1,40 1 1,-1-40 0</inkml:trace>
  <inkml:trace contextRef="#ctx0" brushRef="#br0" timeOffset="1793.27">12284 13109 0,'40'0'79,"-40"40"-64,40-1 1,-40 41-1,0-41 1,39 1-16,1-1 16,-40 41-1,0-41 1,39 40 0,-39-39-16,0 0 15,40-40 1,-40 39-1,0 1 142</inkml:trace>
  <inkml:trace contextRef="#ctx0" brushRef="#br0" timeOffset="2584.76">11848 13545 0,'80'0'62,"-1"0"-62,40 0 16,-40 0 0,-39-40-1,39 40-15,-79-39 94,40 39-78,-1 39 31</inkml:trace>
  <inkml:trace contextRef="#ctx0" brushRef="#br0" timeOffset="3319.08">12720 13426 0,'40'0'125,"0"0"-94,-1 0 0</inkml:trace>
  <inkml:trace contextRef="#ctx0" brushRef="#br0" timeOffset="3830.98">13037 13109 0,'0'40'78,"0"-1"-63,0 1 1,0 39 0,40 0-16,-40-39 15,0 0 1,0-1 0</inkml:trace>
  <inkml:trace contextRef="#ctx0" brushRef="#br0" timeOffset="5367.44">15217 10060 0,'0'-40'31,"-40"40"-16,0 0 1,1 0 0,-1 0-1,1 0 1,-1 0 0,0 0-16,1 0 15,-1 0 16,0 0-31,40 40 16,0-1 0,-39-39-1,39 40 1,0-1 0,0 1-1,0 0 1,0-1-16,0 1 15,0-1 1,0 80 0,39-40-1,1 1-15,-40-41 16,0 40 0,0-39-1,0 0 1,40-1-16,-40 1 31,0-1-15,0 1-1,0 0 17,0 39-17,39-79 1,-39 39-1,0 1-15,0 0 16,40-40 0,-40 39-1,0 1 1</inkml:trace>
  <inkml:trace contextRef="#ctx0" brushRef="#br0" timeOffset="6949.71">13552 10376 0,'0'-39'63,"0"-1"-48,0 1-15,40-1 31,0 40-15,-1 0-16,80 0 16,-79 0-1,-1 0 1,1 0 0,-40 40 46,0-1-62,0 1 16,0-1 15,-40-39-31,1 40 16,-1 0-1,-39-40 1,39 0-1,-39-40 17,79 0-32,0-39 15,0 40 17,0-1-32,0 0 31,79 1 0,-39 39-15,0 0-16,-1 0 15,40 0 1,-39 0 0,0 0-1,-1 39-15,1 41 16,-40-1-1,0 40 1,0-1-16,0 41 16,0 39-1,0 39 1,-40-78-16,-39 39 16,0-79-1,79-80 1,-40-39-16,1 0 15,-1 0 1,0-118 0,1-1-16,39 0 31,0 0-15,0 79-16,0 1 15,0-1 1,39 40-1,1 0-15,0 0 16,39 0 0,40 0-1,-40 0-15,0 0 16,-39 0 0,39 40-16,0-40 15,-39 39 1,39 1-1,0-40 1,40 0-16,0 40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2-05T12:11:27.92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23815 6495 0,'40'40'141,"-40"-1"-125,40-39-16,-40 40 15,0 0 17,0-1-17,0 1 32,0-1 0,0 1-31,-40-40-1,0 0 16,1 0 16,-1 0-15,1 0-1,-1 0-31,0 0 422,1 0-391,-41-40-31,41 40 16,-1 0-1,1 0 1,-1 0-1,0 0 1,1 0-16,-1 0 31,40-39-15,-40 39 250,-39 0-251,0 0 1,-40-40-16,0 40 15,0 0 1,40 0 0,0 0-16,39-39 15,1 39 1,-1 0 0,0 0-16,1 0 15,-1 0 16,-39 0-15,39 0 15,1-40-31,-1 40 16,0 0 0,1 0-1,-1 0 1,-39 0-1,0 0-15,39 0 16,-39 0 0,39 0-1,-79 0-15,80 0 16,-1 40 0,-39-40-1,-1 0-15,41 0 16,-41 0-1,41 0 1,-40 0 0,39 0-16,0 0 15,-39 0 1,39 0 0,1 0 280,-40 0-296,-40 0 16,0 0 0,0 0-1,40 0-15,39 0 16,-39 0 0,39 0-1,1 0 1,-1 0-16,0 0 15,1 0 1,-41 0 0,41 0-1,-1 0 1,-39 0 15,39 0-15,1 0-1,-1 0 1,0 0-16,1 0 16,-1 0-1,1 0 17,-1 0-32,0 0 15,1 0 16,-1 0-15,0 0 0,1 0-1,-1 0 1,1 0-16,-1 0 16,0 0-1,-39 0 1,39 0 15,1 0-15,-1 0-1,1 39 32,-1-39 0,-39 40-16,39-40 1,0 0-32,1 0 15,-40 0 1,39 39-1,0-39-15,1 0 16,-80 0 0,79 0-1,1 0 1,-1 0-16,-39 0 16,39 0-1,0 0 1</inkml:trace>
  <inkml:trace contextRef="#ctx0" brushRef="#br0" timeOffset="4127.74">18228 12792 0,'40'0'78,"-1"0"-62,41 0-16,39 0 16,-1-39-1,1 39 1,0 0-16,40 0 15,-40 0 1,-1 0 0,-38 0-1,-1 0-15,-39 0 16,-1 0 0,1 0 218,-1 0-218,41 0-1,-1 0 1,-39 0-16,78 39 15,-38-39 1,39 0 0,-1 40-16,1-40 15,0 0 1,0 0 0,0 0-16,0 0 31,0 0-31,0 0 15,-40 0 1,40 0 0,-40 0-16,40 0 15,0 0 1,0 0 0,-40 0-16,0 0 15,0 0 1,1 0-1,-41 0-15,80 0 16,-40 0 0,-39 0-1,39 0-15,1 0 16,-1 0 0,0 0-1,40 0-15,-40 0 16,0 0-1,1 0 1,-41 0-16,41 0 16,-1 0 15,0 0-31,-39 0 16,39 0-1,0 0-15,-39 0 16,39 0-1,0 0 1,-39 0-16,79-40 16,0 40-1,-40-39 1,40 39 0,-40 0-16,0 0 15,-39 0 1,39 0-1,-39 0-15,39 0 16,-39 0 0,39 0-16,-39 0 15,-1 0 1,1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2-05T12:23:08.7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18387 9941 0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84DDC-764A-455F-9E89-C5BB8E0B9AFB}" type="datetimeFigureOut">
              <a:rPr lang="en-IN" smtClean="0"/>
              <a:t>05-12-2023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038C0-C419-43F3-A7AE-4000A535D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191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494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1800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348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1906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26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5204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1706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515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1323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5832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6583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5770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4559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5139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8985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7856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070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4906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956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1808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0875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1657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0260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32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697DB89-CDD6-472D-8A6C-DAA95BB1FA3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D1A2CC5-F66F-4FF1-9C12-E4C07F54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94194141-4B13-4C0B-9E9E-4B6DF58F22B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4CCC10C4-1070-49FF-9EC0-FC19F4D37B5A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95304FCF-25DE-4BD8-A83B-51D9A6ECE6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16389DA0-8CD8-4422-9A8F-A93463A81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</p:grp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1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144541-1081-4B27-9E4B-DD51FC1DCE6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8B73838-7498-4DF3-8C56-A3E8975CED05}" type="datetime1">
              <a:rPr lang="LID4096" smtClean="0"/>
              <a:t>12/05/2023</a:t>
            </a:fld>
            <a:endParaRPr lang="LID4096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7755DD8-7CD3-439F-A290-5D547A54A7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LID4096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37CD04-9D5B-417F-A66B-C38A4D2D52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2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8482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D41561C-CEBF-48F4-9E28-C4482E17CA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7FEF39-0873-4337-BE8B-1232F3EF1DE3}" type="datetime1">
              <a:rPr lang="LID4096" smtClean="0"/>
              <a:t>12/05/2023</a:t>
            </a:fld>
            <a:endParaRPr lang="LID4096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5660E3-240B-41E3-888C-1B88C6F55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9180715-2C5B-4D99-B35D-5CB9C8F56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7953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AE7B7F9-9B63-4C99-B240-FC12E76B5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5F44F1-10C2-455A-BEA0-EC41801957B0}" type="datetime1">
              <a:rPr lang="LID4096" smtClean="0"/>
              <a:t>12/05/2023</a:t>
            </a:fld>
            <a:endParaRPr lang="LID4096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DBDB97-8B17-4504-8ADA-64F907DF6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31478AB-4749-4D3C-8589-3B6D14C30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5140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2362204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4" y="2362204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8D3B876-73DB-429F-B4A5-ACDB21507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1F3918-AFD2-4FC6-9B91-C5723A5535DC}" type="datetime1">
              <a:rPr lang="LID4096" smtClean="0"/>
              <a:t>12/05/2023</a:t>
            </a:fld>
            <a:endParaRPr lang="LID4096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30567E-7D9B-4A0A-8C19-E932DA0EC6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332F7B6-D444-4E55-96A6-522A403CF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58102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3D9AB9F-2A0C-4FBB-B382-9C21E1687A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3903A6-22F9-4CA5-8E2B-5298C674619F}" type="datetime1">
              <a:rPr lang="LID4096" smtClean="0"/>
              <a:t>12/05/2023</a:t>
            </a:fld>
            <a:endParaRPr lang="LID4096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A914F3E-D7BB-499F-8AAC-D29CA4F045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F3BCB4-F714-4117-802E-711CF7676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8758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582D231-FDF6-426E-A616-698440509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428630-3AF6-498B-9DF1-B16698F730E8}" type="datetime1">
              <a:rPr lang="LID4096" smtClean="0"/>
              <a:t>12/05/2023</a:t>
            </a:fld>
            <a:endParaRPr lang="LID4096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EDCA115-9E3C-40D4-8912-F4E20DB6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499D514-9105-4111-8B91-F8810A02C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4342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939D947-A124-40F1-A1CD-BD82F65EC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228845-2530-4174-954B-AFEA1030BB02}" type="datetime1">
              <a:rPr lang="LID4096" smtClean="0"/>
              <a:t>12/05/2023</a:t>
            </a:fld>
            <a:endParaRPr lang="LID4096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EDE26CF-7FFF-494A-9127-8D239D271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08D1E9E-3392-4D0F-B80B-A17511304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74144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3958604-85A8-4A4E-97A7-ABA204D8D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1F6E1A-F6F9-42CC-BE8A-52338D892EFC}" type="datetime1">
              <a:rPr lang="LID4096" smtClean="0"/>
              <a:t>12/05/2023</a:t>
            </a:fld>
            <a:endParaRPr lang="LID4096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4B8F9BB-0FC1-41C7-ADBB-7B2886ABC1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CABE9D4-E092-4117-9D3B-3D8D4681F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2484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75601F-C8A4-4A90-80B4-5F52090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57B0D5-DD6F-4AC0-B23B-4C4BB3772197}" type="datetime1">
              <a:rPr lang="LID4096" smtClean="0"/>
              <a:t>12/05/2023</a:t>
            </a:fld>
            <a:endParaRPr lang="LID4096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2DF7F1E-3D7B-4FB8-A9F7-B9D427D05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AFB0A65-4C06-4F69-91E5-B374EC5B4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60768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4D6AB3-0BE0-4AE2-A565-F6DB7E10D8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E166D2-4758-4BC1-A5AF-A88434FD6806}" type="datetime1">
              <a:rPr lang="LID4096" smtClean="0"/>
              <a:t>12/05/2023</a:t>
            </a:fld>
            <a:endParaRPr lang="LID4096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84E88F6-7B9B-48EF-88D1-8B8546270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AFD07A6-C54B-4303-8783-79A5AA51D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7741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4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4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454C69-05BB-4376-BF5B-F23F07E40E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4C3E5-4114-4B6D-9747-37A8F5B8CC49}" type="datetime1">
              <a:rPr lang="LID4096" smtClean="0"/>
              <a:t>12/05/2023</a:t>
            </a:fld>
            <a:endParaRPr lang="LID4096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BE95B74-3904-4687-A858-1857057DFA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1F3940-CBCF-4E25-ACC0-395A595B0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647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2" y="2362204"/>
            <a:ext cx="7693025" cy="372427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77D68F-D4CE-414A-BDA9-E33AB488C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3DB9F9-BF17-4EDE-855B-B364CF39C853}" type="datetime1">
              <a:rPr lang="LID4096" smtClean="0"/>
              <a:t>12/05/2023</a:t>
            </a:fld>
            <a:endParaRPr lang="LID4096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1A1324-E8FC-418E-94C0-85F2BD7D6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LID4096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9B9D749-3CF9-4C82-90AE-BA2A543AF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157988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el, Inhal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81076" y="589216"/>
            <a:ext cx="4231160" cy="41542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38213" y="1295402"/>
            <a:ext cx="3797300" cy="457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887934" y="1295402"/>
            <a:ext cx="3798887" cy="457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90072689"/>
      </p:ext>
    </p:extLst>
  </p:cSld>
  <p:clrMapOvr>
    <a:masterClrMapping/>
  </p:clrMapOvr>
  <p:transition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45FC012-72CE-44AA-A079-C526FF691EA1}" type="datetimeFigureOut">
              <a:rPr lang="en-US" smtClean="0"/>
              <a:t>12/5/2023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021ADB9-2D96-4FC1-BFB8-CD5E0631F96D}" type="slidenum">
              <a:rPr lang="en-IN" smtClean="0"/>
              <a:t>‹#›</a:t>
            </a:fld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B2A3329E-0904-47A4-ACB5-5B91293A5A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0FF77DB7-AD29-49C8-93AA-EA0184FC3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D438BB5E-926C-4E0C-9E77-FE8E0784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95302D45-DF44-4885-8F20-439784359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/>
              <a:lstStyle/>
              <a:p>
                <a:endParaRPr lang="en-PK" sz="1800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165704AF-ADD4-4E42-9951-9885E2AF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AD015C4F-F9D0-48B2-8315-4799ABF1D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7C227202-0AB4-426A-A6CB-F2C45BDC7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A90FCFEC-9F9D-4254-8D92-7B25B6EE3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398F237-95A9-4BFF-B4A1-C78F7FF6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2" y="2362204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1D379FF3-7792-4E0A-B32B-CDBBF4ABCF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2" y="6248404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2A3DB9F9-BF17-4EDE-855B-B364CF39C853}" type="datetime1">
              <a:rPr lang="LID4096" smtClean="0"/>
              <a:t>12/05/2023</a:t>
            </a:fld>
            <a:endParaRPr lang="LID4096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5F8406A0-86DE-4CF8-BE66-1FC1EC81C1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4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endParaRPr lang="LID4096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08A31F9-D76D-43DC-8BDE-F2140B37C3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40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9FE0C62B-D0AD-4604-979C-665928CD90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19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Farhad.Muhammad@numl.edu.pk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customXml" Target="../ink/ink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customXml" Target="../ink/ink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8AC916-7461-472A-83D2-C4792120EBB9}"/>
              </a:ext>
            </a:extLst>
          </p:cNvPr>
          <p:cNvSpPr txBox="1"/>
          <p:nvPr/>
        </p:nvSpPr>
        <p:spPr>
          <a:xfrm>
            <a:off x="4038278" y="5819024"/>
            <a:ext cx="5528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NUML, Islamabad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Farhad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M.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Riaz</a:t>
            </a:r>
            <a:endParaRPr lang="en-US" b="1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hlinkClick r:id="rId2"/>
              </a:rPr>
              <a:t>Farhad.Muhammad@numl.edu.pk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r"/>
            <a:r>
              <a:rPr lang="en-US" sz="2800" dirty="0"/>
              <a:t>Parallel &amp; Distributed Computing</a:t>
            </a:r>
            <a:br>
              <a:rPr lang="en-US" sz="2800" dirty="0"/>
            </a:br>
            <a:r>
              <a:rPr lang="en-US" sz="2800" dirty="0"/>
              <a:t>Virtualization-II</a:t>
            </a:r>
            <a:br>
              <a:rPr lang="en-US" sz="2800" dirty="0"/>
            </a:br>
            <a:r>
              <a:rPr lang="en-US" sz="2800" dirty="0"/>
              <a:t>Lecture 13/1</a:t>
            </a:r>
            <a:endParaRPr lang="en-US" sz="2400" dirty="0">
              <a:latin typeface="+mn-lt"/>
            </a:endParaRPr>
          </a:p>
        </p:txBody>
      </p:sp>
      <p:pic>
        <p:nvPicPr>
          <p:cNvPr id="8" name="Picture 2" descr="NUML Logo PNG Vector (EPS) Free Download">
            <a:extLst>
              <a:ext uri="{FF2B5EF4-FFF2-40B4-BE49-F238E27FC236}">
                <a16:creationId xmlns:a16="http://schemas.microsoft.com/office/drawing/2014/main" id="{2D3C8850-28E9-44A6-8D9F-53E817636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44" y="1050131"/>
            <a:ext cx="1927513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29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95536" y="44624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Computer System Architecture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171" y="1604841"/>
            <a:ext cx="3722683" cy="3977811"/>
          </a:xfrm>
        </p:spPr>
        <p:txBody>
          <a:bodyPr lIns="82945" tIns="41473" rIns="82945" bIns="4147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/>
            <a:r>
              <a:rPr lang="en-IN" sz="2000" dirty="0">
                <a:solidFill>
                  <a:srgbClr val="000000"/>
                </a:solidFill>
              </a:rPr>
              <a:t>Interfaces at or near the H/w S/w boundary :-</a:t>
            </a:r>
          </a:p>
          <a:p>
            <a:pPr lvl="1" rtl="0" hangingPunct="0"/>
            <a:r>
              <a:rPr lang="en-IN" sz="2000" b="1" u="sng" dirty="0">
                <a:solidFill>
                  <a:srgbClr val="000000"/>
                </a:solidFill>
              </a:rPr>
              <a:t>ISA </a:t>
            </a:r>
            <a:r>
              <a:rPr lang="en-IN" sz="2000" dirty="0">
                <a:solidFill>
                  <a:srgbClr val="000000"/>
                </a:solidFill>
              </a:rPr>
              <a:t>– Instruction Set Architecture.</a:t>
            </a:r>
          </a:p>
          <a:p>
            <a:pPr lvl="1" rtl="0" hangingPunct="0"/>
            <a:r>
              <a:rPr lang="en-IN" sz="2000" b="1" u="sng" dirty="0">
                <a:solidFill>
                  <a:srgbClr val="000000"/>
                </a:solidFill>
              </a:rPr>
              <a:t>API</a:t>
            </a:r>
            <a:r>
              <a:rPr lang="en-IN" sz="2000" dirty="0">
                <a:solidFill>
                  <a:srgbClr val="000000"/>
                </a:solidFill>
              </a:rPr>
              <a:t> – Application Program Interface</a:t>
            </a:r>
          </a:p>
          <a:p>
            <a:pPr lvl="1" rtl="0" hangingPunct="0"/>
            <a:r>
              <a:rPr lang="en-IN" sz="2000" b="1" u="sng" dirty="0">
                <a:solidFill>
                  <a:srgbClr val="000000"/>
                </a:solidFill>
              </a:rPr>
              <a:t>ABI</a:t>
            </a:r>
            <a:r>
              <a:rPr lang="en-IN" sz="2000" dirty="0">
                <a:solidFill>
                  <a:srgbClr val="000000"/>
                </a:solidFill>
              </a:rPr>
              <a:t> – Application Binary Interface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702337" y="1371659"/>
            <a:ext cx="4187039" cy="502941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2E1D2D-4102-9510-8A0D-2E9C3374738B}"/>
                  </a:ext>
                </a:extLst>
              </p14:cNvPr>
              <p14:cNvContentPartPr/>
              <p14:nvPr/>
            </p14:nvContentPartPr>
            <p14:xfrm>
              <a:off x="456480" y="1753560"/>
              <a:ext cx="8659440" cy="4563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2E1D2D-4102-9510-8A0D-2E9C337473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120" y="1744200"/>
                <a:ext cx="8678160" cy="458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116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332656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Virtualized Environments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171" y="1604840"/>
            <a:ext cx="8228763" cy="4776487"/>
          </a:xfrm>
        </p:spPr>
        <p:txBody>
          <a:bodyPr lIns="82945" tIns="41473" rIns="82945" bIns="41473">
            <a:no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sz="2400" dirty="0"/>
              <a:t>Three major components of Virtualized Environments</a:t>
            </a:r>
          </a:p>
          <a:p>
            <a:pPr lvl="1" algn="just" rtl="0" hangingPunct="0"/>
            <a:r>
              <a:rPr lang="en-IN" sz="2400" b="1" dirty="0"/>
              <a:t>Guest</a:t>
            </a:r>
            <a:r>
              <a:rPr lang="en-IN" sz="2400" dirty="0"/>
              <a:t> </a:t>
            </a:r>
          </a:p>
          <a:p>
            <a:pPr lvl="2" algn="just" hangingPunct="0"/>
            <a:r>
              <a:rPr lang="en-IN" dirty="0"/>
              <a:t>System component that interacts with Virtualization Layer.</a:t>
            </a:r>
          </a:p>
          <a:p>
            <a:pPr lvl="1" algn="just" rtl="0" hangingPunct="0"/>
            <a:r>
              <a:rPr lang="en-IN" sz="2400" b="1" dirty="0"/>
              <a:t>Host</a:t>
            </a:r>
            <a:r>
              <a:rPr lang="en-IN" sz="2400" dirty="0"/>
              <a:t> </a:t>
            </a:r>
          </a:p>
          <a:p>
            <a:pPr lvl="2" algn="just" hangingPunct="0"/>
            <a:r>
              <a:rPr lang="en-IN" dirty="0"/>
              <a:t>Original environment where guest runs.</a:t>
            </a:r>
          </a:p>
          <a:p>
            <a:pPr lvl="1" algn="just" rtl="0" hangingPunct="0"/>
            <a:r>
              <a:rPr lang="en-IN" sz="2400" b="1" dirty="0"/>
              <a:t>Virtualization Layer</a:t>
            </a:r>
          </a:p>
          <a:p>
            <a:pPr lvl="2" algn="just" hangingPunct="0"/>
            <a:r>
              <a:rPr lang="en-IN" dirty="0"/>
              <a:t>Recreate the same or different environment where guest will run.</a:t>
            </a:r>
          </a:p>
        </p:txBody>
      </p:sp>
    </p:spTree>
    <p:extLst>
      <p:ext uri="{BB962C8B-B14F-4D97-AF65-F5344CB8AC3E}">
        <p14:creationId xmlns:p14="http://schemas.microsoft.com/office/powerpoint/2010/main" val="375359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41732" y="116632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Virtualization Reference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77870" y="1418361"/>
            <a:ext cx="6757324" cy="521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408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Managed Execution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53103" y="2024176"/>
            <a:ext cx="7706934" cy="412973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4CD14E-3C7B-8364-43CB-D65CE5AB26A0}"/>
                  </a:ext>
                </a:extLst>
              </p14:cNvPr>
              <p14:cNvContentPartPr/>
              <p14:nvPr/>
            </p14:nvContentPartPr>
            <p14:xfrm>
              <a:off x="627840" y="1996200"/>
              <a:ext cx="6234120" cy="417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4CD14E-3C7B-8364-43CB-D65CE5AB26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8480" y="1986840"/>
                <a:ext cx="6252840" cy="419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7077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67544" y="332656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Taxonomy of Virtualization Techniques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171" y="1604841"/>
            <a:ext cx="8228763" cy="4861551"/>
          </a:xfrm>
        </p:spPr>
        <p:txBody>
          <a:bodyPr lIns="82945" tIns="41473" rIns="82945" bIns="41473">
            <a:normAutofit fontScale="925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dirty="0"/>
              <a:t>Virtualization is mainly used to emulate </a:t>
            </a:r>
            <a:r>
              <a:rPr lang="en-IN" b="1" dirty="0"/>
              <a:t>execution environment</a:t>
            </a:r>
            <a:r>
              <a:rPr lang="en-IN" dirty="0"/>
              <a:t> , </a:t>
            </a:r>
            <a:r>
              <a:rPr lang="en-IN" b="1" dirty="0"/>
              <a:t>storage</a:t>
            </a:r>
            <a:r>
              <a:rPr lang="en-IN" dirty="0"/>
              <a:t> and </a:t>
            </a:r>
            <a:r>
              <a:rPr lang="en-IN" b="1" dirty="0"/>
              <a:t>networks</a:t>
            </a:r>
            <a:r>
              <a:rPr lang="en-IN" dirty="0"/>
              <a:t>.</a:t>
            </a:r>
          </a:p>
          <a:p>
            <a:pPr lvl="0" algn="just"/>
            <a:r>
              <a:rPr lang="en-IN" dirty="0"/>
              <a:t>Execution Environment classified into two :-</a:t>
            </a:r>
          </a:p>
          <a:p>
            <a:pPr lvl="1" algn="just" rtl="0" hangingPunct="0"/>
            <a:r>
              <a:rPr lang="en-IN" b="1" dirty="0"/>
              <a:t>Process-level</a:t>
            </a:r>
          </a:p>
          <a:p>
            <a:pPr lvl="2" algn="just" hangingPunct="0"/>
            <a:r>
              <a:rPr lang="en-IN" dirty="0"/>
              <a:t>implemented on top of an existing operating system.</a:t>
            </a:r>
          </a:p>
          <a:p>
            <a:pPr lvl="1" algn="just" rtl="0" hangingPunct="0"/>
            <a:r>
              <a:rPr lang="en-IN" b="1" dirty="0"/>
              <a:t>System-level</a:t>
            </a:r>
          </a:p>
          <a:p>
            <a:pPr lvl="2" algn="just" hangingPunct="0"/>
            <a:r>
              <a:rPr lang="en-IN" dirty="0"/>
              <a:t>implemented directly on hardware and do not or minimum requirement of existing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129532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85758" y="1384070"/>
            <a:ext cx="7658931" cy="52456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400423" y="235426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Taxonomy of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273257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Machine Reference Model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dirty="0"/>
              <a:t>It defines the </a:t>
            </a:r>
            <a:r>
              <a:rPr lang="en-IN" b="1" dirty="0"/>
              <a:t>interfaces between the levels</a:t>
            </a:r>
            <a:r>
              <a:rPr lang="en-IN" dirty="0"/>
              <a:t> of abstractions, which </a:t>
            </a:r>
            <a:r>
              <a:rPr lang="en-IN" b="1" dirty="0"/>
              <a:t>hide implementation details</a:t>
            </a:r>
            <a:r>
              <a:rPr lang="en-IN" dirty="0"/>
              <a:t>.</a:t>
            </a:r>
          </a:p>
          <a:p>
            <a:pPr lvl="0" algn="just"/>
            <a:r>
              <a:rPr lang="en-IN" dirty="0"/>
              <a:t>Virtualization techniques actually </a:t>
            </a:r>
            <a:r>
              <a:rPr lang="en-IN" b="1" dirty="0"/>
              <a:t>replace one of the layers</a:t>
            </a:r>
            <a:r>
              <a:rPr lang="en-IN" dirty="0"/>
              <a:t> and intercept the calls that are directed towards it.</a:t>
            </a:r>
          </a:p>
        </p:txBody>
      </p:sp>
    </p:spTree>
    <p:extLst>
      <p:ext uri="{BB962C8B-B14F-4D97-AF65-F5344CB8AC3E}">
        <p14:creationId xmlns:p14="http://schemas.microsoft.com/office/powerpoint/2010/main" val="163952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79775" y="163342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Machine Reference Model</a:t>
            </a:r>
            <a:r>
              <a:rPr lang="en-IN" sz="3600" dirty="0"/>
              <a:t> </a:t>
            </a:r>
            <a:r>
              <a:rPr lang="en-IN" sz="3600" b="1" dirty="0"/>
              <a:t>[Cont.]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195931" y="4114977"/>
            <a:ext cx="8555641" cy="2286098"/>
          </a:xfrm>
        </p:spPr>
        <p:txBody>
          <a:bodyPr lIns="82945" tIns="41473" rIns="82945" bIns="41473">
            <a:normAutofit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sz="1800" dirty="0"/>
              <a:t>Hardware is expressed in terms of the </a:t>
            </a:r>
            <a:r>
              <a:rPr lang="en-IN" sz="1800" b="1" dirty="0"/>
              <a:t>Instruction Set Architecture (ISA).</a:t>
            </a:r>
          </a:p>
          <a:p>
            <a:pPr lvl="1" algn="just" rtl="0" hangingPunct="0"/>
            <a:r>
              <a:rPr lang="en-IN" sz="1800" dirty="0"/>
              <a:t>ISA for processor, registers, memory and the interrupt management.</a:t>
            </a:r>
          </a:p>
          <a:p>
            <a:pPr lvl="0" algn="just"/>
            <a:r>
              <a:rPr lang="en-IN" sz="1800" b="1" dirty="0"/>
              <a:t>Application Binary Interface (ABI</a:t>
            </a:r>
            <a:r>
              <a:rPr lang="en-IN" sz="1800" dirty="0"/>
              <a:t>) separates the OS layer from the application and libraries which are managed by the OS.</a:t>
            </a:r>
          </a:p>
          <a:p>
            <a:pPr lvl="1" algn="just" rtl="0" hangingPunct="0"/>
            <a:r>
              <a:rPr lang="en-IN" sz="1800" dirty="0"/>
              <a:t>System Calls defined</a:t>
            </a:r>
          </a:p>
          <a:p>
            <a:pPr lvl="1" algn="just" rtl="0" hangingPunct="0"/>
            <a:r>
              <a:rPr lang="en-IN" sz="1800" dirty="0"/>
              <a:t>Allows </a:t>
            </a:r>
            <a:r>
              <a:rPr lang="en-IN" sz="1800" dirty="0" err="1"/>
              <a:t>portabilities</a:t>
            </a:r>
            <a:r>
              <a:rPr lang="en-IN" sz="1800" dirty="0"/>
              <a:t> of applications and libraries across OS.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5812" y="1268760"/>
            <a:ext cx="8666668" cy="267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0897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67544" y="260648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Machine Reference Model</a:t>
            </a:r>
            <a:r>
              <a:rPr lang="en-IN" sz="3600" dirty="0"/>
              <a:t> </a:t>
            </a:r>
            <a:r>
              <a:rPr lang="en-IN" sz="3600" b="1" dirty="0"/>
              <a:t>[Cont.]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67544" y="1628800"/>
            <a:ext cx="8229600" cy="4389120"/>
          </a:xfrm>
        </p:spPr>
        <p:txBody>
          <a:bodyPr lIns="82945" tIns="41473" rIns="82945" bIns="41473">
            <a:normAutofit fontScale="92500"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dirty="0"/>
              <a:t>API – it interfaces applications to libraries and/or the underlying OS.</a:t>
            </a:r>
          </a:p>
          <a:p>
            <a:pPr lvl="0" algn="just"/>
            <a:r>
              <a:rPr lang="en-IN" dirty="0"/>
              <a:t>Layered approach simplifies the development and implementation of computing system.</a:t>
            </a:r>
          </a:p>
          <a:p>
            <a:pPr lvl="0" algn="just"/>
            <a:r>
              <a:rPr lang="en-IN" dirty="0"/>
              <a:t>ISA has been divided into two security classes:-</a:t>
            </a:r>
          </a:p>
          <a:p>
            <a:pPr lvl="1" algn="just" rtl="0" hangingPunct="0"/>
            <a:r>
              <a:rPr lang="en-IN" b="1" dirty="0"/>
              <a:t>Privileged Instructions</a:t>
            </a:r>
          </a:p>
          <a:p>
            <a:pPr lvl="1" algn="just" rtl="0" hangingPunct="0"/>
            <a:r>
              <a:rPr lang="en-IN" b="1" dirty="0" err="1"/>
              <a:t>Nonprivileged</a:t>
            </a:r>
            <a:r>
              <a:rPr lang="en-IN" b="1" dirty="0"/>
              <a:t> Instructions</a:t>
            </a:r>
          </a:p>
        </p:txBody>
      </p:sp>
    </p:spTree>
    <p:extLst>
      <p:ext uri="{BB962C8B-B14F-4D97-AF65-F5344CB8AC3E}">
        <p14:creationId xmlns:p14="http://schemas.microsoft.com/office/powerpoint/2010/main" val="2430583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188640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ISA: Security Classes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171" y="1604841"/>
            <a:ext cx="8228763" cy="4926868"/>
          </a:xfrm>
        </p:spPr>
        <p:txBody>
          <a:bodyPr lIns="82945" tIns="41473" rIns="82945" bIns="41473">
            <a:normAutofit fontScale="85000"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b="1" dirty="0"/>
              <a:t>Nonprivileged instructions</a:t>
            </a:r>
          </a:p>
          <a:p>
            <a:pPr lvl="1" algn="just" rtl="0" hangingPunct="0"/>
            <a:r>
              <a:rPr lang="en-IN" dirty="0"/>
              <a:t>That can be used without interfering with other tasks because they </a:t>
            </a:r>
            <a:r>
              <a:rPr lang="en-IN" b="1" dirty="0"/>
              <a:t>do not access shared resources</a:t>
            </a:r>
            <a:r>
              <a:rPr lang="en-IN" dirty="0"/>
              <a:t>. </a:t>
            </a:r>
          </a:p>
          <a:p>
            <a:pPr lvl="1" algn="just" rtl="0" hangingPunct="0"/>
            <a:r>
              <a:rPr lang="en-IN" dirty="0"/>
              <a:t>Ex. Arithmetic , floating &amp; fixed point.</a:t>
            </a:r>
          </a:p>
          <a:p>
            <a:pPr lvl="0" algn="just"/>
            <a:r>
              <a:rPr lang="en-IN" b="1" dirty="0"/>
              <a:t>Privileged instructions</a:t>
            </a:r>
          </a:p>
          <a:p>
            <a:pPr lvl="1" algn="just" rtl="0" hangingPunct="0"/>
            <a:r>
              <a:rPr lang="en-IN" dirty="0"/>
              <a:t>That are executed under </a:t>
            </a:r>
            <a:r>
              <a:rPr lang="en-IN" b="1" dirty="0"/>
              <a:t>specific restrictions</a:t>
            </a:r>
            <a:r>
              <a:rPr lang="en-IN" dirty="0"/>
              <a:t> and are mostly used for </a:t>
            </a:r>
            <a:r>
              <a:rPr lang="en-IN" b="1" dirty="0"/>
              <a:t>sensitive operations</a:t>
            </a:r>
            <a:r>
              <a:rPr lang="en-IN" dirty="0"/>
              <a:t>, which expose (</a:t>
            </a:r>
            <a:r>
              <a:rPr lang="en-IN" dirty="0" err="1"/>
              <a:t>behavior</a:t>
            </a:r>
            <a:r>
              <a:rPr lang="en-IN" dirty="0"/>
              <a:t>-sensitive) or modify (control-sensitive) the privileged state.</a:t>
            </a:r>
          </a:p>
          <a:p>
            <a:pPr lvl="2" algn="just" rtl="0" hangingPunct="0"/>
            <a:r>
              <a:rPr lang="en-IN" b="1" dirty="0" err="1"/>
              <a:t>Behavior</a:t>
            </a:r>
            <a:r>
              <a:rPr lang="en-IN" b="1" dirty="0"/>
              <a:t>-sensitive</a:t>
            </a:r>
            <a:r>
              <a:rPr lang="en-IN" dirty="0"/>
              <a:t> – operate on the I/O</a:t>
            </a:r>
          </a:p>
          <a:p>
            <a:pPr lvl="2" algn="just" rtl="0" hangingPunct="0"/>
            <a:r>
              <a:rPr lang="en-IN" b="1" dirty="0"/>
              <a:t>Control-sensitive</a:t>
            </a:r>
            <a:r>
              <a:rPr lang="en-IN" dirty="0"/>
              <a:t> – alter the state of the CPU register.</a:t>
            </a:r>
          </a:p>
        </p:txBody>
      </p:sp>
    </p:spTree>
    <p:extLst>
      <p:ext uri="{BB962C8B-B14F-4D97-AF65-F5344CB8AC3E}">
        <p14:creationId xmlns:p14="http://schemas.microsoft.com/office/powerpoint/2010/main" val="1581101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67544" y="424610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Privileged Hierarchy: Security Ring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171" y="1604841"/>
            <a:ext cx="5094198" cy="4796234"/>
          </a:xfrm>
        </p:spPr>
        <p:txBody>
          <a:bodyPr lIns="82945" tIns="41473" rIns="82945" bIns="4147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sz="2400" dirty="0"/>
              <a:t>Ring-0 is in most privileged level , used by the kernel.</a:t>
            </a:r>
          </a:p>
          <a:p>
            <a:pPr lvl="0" algn="just"/>
            <a:r>
              <a:rPr lang="en-IN" sz="2400" dirty="0"/>
              <a:t>Ring-1 &amp; 2 used by the OS-level services</a:t>
            </a:r>
          </a:p>
          <a:p>
            <a:pPr lvl="0" algn="just"/>
            <a:r>
              <a:rPr lang="en-IN" sz="2400" dirty="0"/>
              <a:t>and , R3 in the least privileged level , used by the user.</a:t>
            </a:r>
          </a:p>
          <a:p>
            <a:pPr lvl="0" algn="just"/>
            <a:r>
              <a:rPr lang="en-IN" sz="2400" dirty="0"/>
              <a:t>Recent system support two levels :-</a:t>
            </a:r>
          </a:p>
          <a:p>
            <a:pPr lvl="1" algn="just" rtl="0" hangingPunct="0"/>
            <a:r>
              <a:rPr lang="en-IN" sz="2400" b="1" dirty="0"/>
              <a:t>Ring 0</a:t>
            </a:r>
            <a:r>
              <a:rPr lang="en-IN" sz="2400" dirty="0"/>
              <a:t> – </a:t>
            </a:r>
            <a:r>
              <a:rPr lang="en-IN" sz="2400" b="1" dirty="0"/>
              <a:t>supervisor mode</a:t>
            </a:r>
          </a:p>
          <a:p>
            <a:pPr lvl="1" algn="just" rtl="0" hangingPunct="0"/>
            <a:r>
              <a:rPr lang="en-IN" sz="2400" b="1" dirty="0"/>
              <a:t>Ring 3</a:t>
            </a:r>
            <a:r>
              <a:rPr lang="en-IN" sz="2400" dirty="0"/>
              <a:t> – </a:t>
            </a:r>
            <a:r>
              <a:rPr lang="en-IN" sz="2400" b="1" dirty="0"/>
              <a:t>user mode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616680" y="1567610"/>
            <a:ext cx="3461443" cy="2351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3573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95536" y="260648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Hardware-level virtualization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dirty="0"/>
              <a:t>It is a virtualization technique that provides an abstract execution environment in terms of computer hardware on top of which a guest OS can be run.</a:t>
            </a:r>
          </a:p>
          <a:p>
            <a:pPr lvl="0" algn="just"/>
            <a:r>
              <a:rPr lang="en-IN" dirty="0"/>
              <a:t>It is also called as system virtualization.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711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24261" y="260648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Hardware-level virtualization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46998" y="1567610"/>
            <a:ext cx="7184126" cy="483346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7ED311-38CC-759B-45CF-8434AA638D87}"/>
                  </a:ext>
                </a:extLst>
              </p14:cNvPr>
              <p14:cNvContentPartPr/>
              <p14:nvPr/>
            </p14:nvContentPartPr>
            <p14:xfrm>
              <a:off x="1255320" y="1340280"/>
              <a:ext cx="7803720" cy="5033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7ED311-38CC-759B-45CF-8434AA638D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5960" y="1330920"/>
                <a:ext cx="7822440" cy="505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450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Hypervisor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92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dirty="0"/>
              <a:t>Hypervisor runs above the supervisor mode.</a:t>
            </a:r>
          </a:p>
          <a:p>
            <a:pPr lvl="0" algn="just"/>
            <a:r>
              <a:rPr lang="en-IN" dirty="0"/>
              <a:t>It runs in supervisor mode.</a:t>
            </a:r>
          </a:p>
          <a:p>
            <a:pPr lvl="0" algn="just"/>
            <a:r>
              <a:rPr lang="en-IN" dirty="0"/>
              <a:t>It recreates a h/w environment.</a:t>
            </a:r>
          </a:p>
          <a:p>
            <a:pPr lvl="0" algn="just"/>
            <a:r>
              <a:rPr lang="en-IN" dirty="0"/>
              <a:t>It is a piece of s/w that enables us to run one or more VMs on a physical server(host).</a:t>
            </a:r>
          </a:p>
          <a:p>
            <a:pPr lvl="0" algn="just"/>
            <a:r>
              <a:rPr lang="en-IN" dirty="0"/>
              <a:t>Two major types of hypervisor</a:t>
            </a:r>
          </a:p>
          <a:p>
            <a:pPr lvl="1" algn="just" rtl="0" hangingPunct="0"/>
            <a:r>
              <a:rPr lang="en-IN" b="1" dirty="0"/>
              <a:t>Type -I</a:t>
            </a:r>
          </a:p>
          <a:p>
            <a:pPr lvl="1" algn="just" rtl="0" hangingPunct="0"/>
            <a:r>
              <a:rPr lang="en-IN" b="1" dirty="0"/>
              <a:t>Type-II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570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67544" y="116632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Type-I Hypervisor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92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/>
            <a:r>
              <a:rPr lang="en-IN" dirty="0"/>
              <a:t>It runs directly on top of the hardware.</a:t>
            </a:r>
          </a:p>
          <a:p>
            <a:pPr lvl="0"/>
            <a:r>
              <a:rPr lang="en-IN" dirty="0"/>
              <a:t>Takes place of OS.</a:t>
            </a:r>
          </a:p>
          <a:p>
            <a:pPr lvl="0"/>
            <a:r>
              <a:rPr lang="en-IN" dirty="0"/>
              <a:t>Directly interact with the ISA exposed by the underlying hardware.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dirty="0"/>
              <a:t>Also known as native virtual machine.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92080" y="3512977"/>
            <a:ext cx="3109747" cy="200425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868283A-D6BB-FAFC-4ADB-3A0ADEBDC96B}"/>
                  </a:ext>
                </a:extLst>
              </p14:cNvPr>
              <p14:cNvContentPartPr/>
              <p14:nvPr/>
            </p14:nvContentPartPr>
            <p14:xfrm>
              <a:off x="4265280" y="3607200"/>
              <a:ext cx="1213200" cy="1526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868283A-D6BB-FAFC-4ADB-3A0ADEBDC9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55920" y="3597840"/>
                <a:ext cx="1231920" cy="154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6006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6661" y="260648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Type-II Hypervisor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171" y="1604841"/>
            <a:ext cx="4767647" cy="3977811"/>
          </a:xfrm>
        </p:spPr>
        <p:txBody>
          <a:bodyPr lIns="82945" tIns="41473" rIns="82945" bIns="41473">
            <a:normAutofit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sz="2500" dirty="0"/>
              <a:t>It require the support of an operating system to provide virtualization services.</a:t>
            </a:r>
          </a:p>
          <a:p>
            <a:pPr lvl="0" algn="just"/>
            <a:r>
              <a:rPr lang="en-IN" sz="2500" dirty="0"/>
              <a:t>Programs managed by the OS.</a:t>
            </a:r>
          </a:p>
          <a:p>
            <a:pPr lvl="0" algn="just"/>
            <a:r>
              <a:rPr lang="en-IN" sz="2500" dirty="0"/>
              <a:t>Emulate the ISA of virtual h/w.</a:t>
            </a:r>
          </a:p>
          <a:p>
            <a:pPr lvl="0" algn="just"/>
            <a:r>
              <a:rPr lang="en-IN" sz="2500" dirty="0"/>
              <a:t>Also called hosted virtual machine.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68144" y="1632927"/>
            <a:ext cx="2818117" cy="397781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CAEB9B-FD64-52D0-137B-9F971F6B70AD}"/>
                  </a:ext>
                </a:extLst>
              </p14:cNvPr>
              <p14:cNvContentPartPr/>
              <p14:nvPr/>
            </p14:nvContentPartPr>
            <p14:xfrm>
              <a:off x="6476400" y="2338200"/>
              <a:ext cx="2425680" cy="2281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CAEB9B-FD64-52D0-137B-9F971F6B70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67040" y="2328840"/>
                <a:ext cx="2444400" cy="230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1671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67544" y="116632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Virtual Machine Manager (VMM)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171" y="1306342"/>
            <a:ext cx="8228763" cy="5551953"/>
          </a:xfrm>
        </p:spPr>
        <p:txBody>
          <a:bodyPr lIns="82945" tIns="41473" rIns="82945" bIns="41473">
            <a:normAutofit fontScale="92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/>
            <a:r>
              <a:rPr lang="en-IN" dirty="0"/>
              <a:t>Main Modules :-</a:t>
            </a:r>
          </a:p>
          <a:p>
            <a:pPr lvl="1" rtl="0" hangingPunct="0"/>
            <a:r>
              <a:rPr lang="en-IN" b="1" dirty="0"/>
              <a:t>Dispatcher</a:t>
            </a:r>
          </a:p>
          <a:p>
            <a:pPr lvl="2" rtl="0" hangingPunct="0"/>
            <a:r>
              <a:rPr lang="en-IN" dirty="0"/>
              <a:t>Entry Point of VMM</a:t>
            </a:r>
          </a:p>
          <a:p>
            <a:pPr lvl="2" rtl="0" hangingPunct="0"/>
            <a:r>
              <a:rPr lang="en-IN" dirty="0"/>
              <a:t>Reroutes the instructions issued by VM instance.</a:t>
            </a:r>
          </a:p>
          <a:p>
            <a:pPr lvl="1" rtl="0" hangingPunct="0"/>
            <a:r>
              <a:rPr lang="en-IN" b="1" dirty="0"/>
              <a:t>Allocator</a:t>
            </a:r>
          </a:p>
          <a:p>
            <a:pPr lvl="2" rtl="0" hangingPunct="0"/>
            <a:r>
              <a:rPr lang="en-IN" dirty="0"/>
              <a:t>Deciding the system resources to be provided to the VM.</a:t>
            </a:r>
          </a:p>
          <a:p>
            <a:pPr lvl="2" rtl="0" hangingPunct="0"/>
            <a:r>
              <a:rPr lang="en-IN" dirty="0"/>
              <a:t>Invoked by dispatcher</a:t>
            </a:r>
          </a:p>
          <a:p>
            <a:pPr lvl="1" rtl="0" hangingPunct="0"/>
            <a:r>
              <a:rPr lang="en-IN" b="1" dirty="0"/>
              <a:t>Interpreter</a:t>
            </a:r>
          </a:p>
          <a:p>
            <a:pPr lvl="2" rtl="0" hangingPunct="0"/>
            <a:r>
              <a:rPr lang="en-IN" dirty="0"/>
              <a:t>Consists of interpreter routines</a:t>
            </a:r>
          </a:p>
          <a:p>
            <a:pPr lvl="2" rtl="0" hangingPunct="0"/>
            <a:r>
              <a:rPr lang="en-IN" dirty="0"/>
              <a:t>Executed whenever a VM executes a privileged instruction.</a:t>
            </a:r>
          </a:p>
          <a:p>
            <a:pPr lvl="2" rtl="0" hangingPunct="0"/>
            <a:r>
              <a:rPr lang="en-IN" dirty="0"/>
              <a:t>Trap is triggered and the corresponding routine is executed.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1DA95A-1EAC-6C6B-0DBC-B2C7B9FDAAC1}"/>
                  </a:ext>
                </a:extLst>
              </p14:cNvPr>
              <p14:cNvContentPartPr/>
              <p14:nvPr/>
            </p14:nvContentPartPr>
            <p14:xfrm>
              <a:off x="6619320" y="357876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1DA95A-1EAC-6C6B-0DBC-B2C7B9FDAA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9960" y="3569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9410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188640"/>
            <a:ext cx="8229600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Virtual Machine Manager (VMM)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59307" y="1418361"/>
            <a:ext cx="5290129" cy="51133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4809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IN" sz="3600" b="1" dirty="0"/>
              <a:t>Criteria of VMM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92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IN" dirty="0"/>
              <a:t>Equivalence </a:t>
            </a:r>
          </a:p>
          <a:p>
            <a:pPr lvl="1" algn="just"/>
            <a:r>
              <a:rPr lang="en-IN" dirty="0"/>
              <a:t>same behaviour as when it is </a:t>
            </a:r>
            <a:r>
              <a:rPr lang="en-IN" dirty="0">
                <a:solidFill>
                  <a:srgbClr val="B84747"/>
                </a:solidFill>
              </a:rPr>
              <a:t>executed directly</a:t>
            </a:r>
            <a:r>
              <a:rPr lang="en-IN" dirty="0"/>
              <a:t> on the physical host.</a:t>
            </a:r>
          </a:p>
          <a:p>
            <a:pPr lvl="0" algn="just"/>
            <a:r>
              <a:rPr lang="en-IN" dirty="0"/>
              <a:t>Resource control</a:t>
            </a:r>
          </a:p>
          <a:p>
            <a:pPr lvl="1" algn="just"/>
            <a:r>
              <a:rPr lang="en-IN" dirty="0"/>
              <a:t>it should be in </a:t>
            </a:r>
            <a:r>
              <a:rPr lang="en-IN" dirty="0">
                <a:solidFill>
                  <a:srgbClr val="5E2750"/>
                </a:solidFill>
              </a:rPr>
              <a:t>complete control of virtualized resources</a:t>
            </a:r>
            <a:r>
              <a:rPr lang="en-IN" dirty="0"/>
              <a:t>.</a:t>
            </a:r>
          </a:p>
          <a:p>
            <a:pPr lvl="0" algn="just"/>
            <a:r>
              <a:rPr lang="en-IN" dirty="0"/>
              <a:t>Efficiency </a:t>
            </a:r>
          </a:p>
          <a:p>
            <a:pPr lvl="1" algn="just"/>
            <a:r>
              <a:rPr lang="en-IN" dirty="0"/>
              <a:t>a statistically dominant fraction of the machine instructions should be </a:t>
            </a:r>
            <a:r>
              <a:rPr lang="en-IN" dirty="0">
                <a:solidFill>
                  <a:srgbClr val="5E2750"/>
                </a:solidFill>
              </a:rPr>
              <a:t>executed without intervention</a:t>
            </a:r>
            <a:r>
              <a:rPr lang="en-IN" dirty="0"/>
              <a:t> from the VMM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33912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229600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b="1" dirty="0"/>
              <a:t>What is containerization?</a:t>
            </a:r>
            <a:br>
              <a:rPr lang="en-US" b="1" dirty="0"/>
            </a:br>
            <a:endParaRPr lang="en-IN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77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lvl="0" algn="just"/>
            <a:r>
              <a:rPr lang="en-US" dirty="0"/>
              <a:t>Containerization is a software deployment process that bundles an application’s code with all the files and libraries it needs to run on any infrastructure. </a:t>
            </a:r>
          </a:p>
          <a:p>
            <a:pPr lvl="0" algn="just"/>
            <a:r>
              <a:rPr lang="en-US" dirty="0"/>
              <a:t>Traditionally, to run any application on your computer, you had to install the version that matched your machine’s operating system. </a:t>
            </a:r>
          </a:p>
          <a:p>
            <a:pPr lvl="0" algn="just"/>
            <a:r>
              <a:rPr lang="en-US" dirty="0"/>
              <a:t>For example, you needed to install the Windows version of a software package on a Windows machine. </a:t>
            </a:r>
          </a:p>
          <a:p>
            <a:pPr lvl="0" algn="just"/>
            <a:r>
              <a:rPr lang="en-US" dirty="0"/>
              <a:t>However, with containerization, you can create a single software package, or </a:t>
            </a:r>
            <a:r>
              <a:rPr lang="en-US" b="1" dirty="0"/>
              <a:t>container,</a:t>
            </a:r>
            <a:r>
              <a:rPr lang="en-US" dirty="0"/>
              <a:t> that runs on all types of devices and operating systems. 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272794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tainerization - A Virtual Operating System for Applications">
            <a:extLst>
              <a:ext uri="{FF2B5EF4-FFF2-40B4-BE49-F238E27FC236}">
                <a16:creationId xmlns:a16="http://schemas.microsoft.com/office/drawing/2014/main" id="{E3CC5965-B236-01A8-CCAB-8052CD026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8"/>
            <a:ext cx="8208912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411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What are the benefits of containerization? </a:t>
            </a:r>
            <a:br>
              <a:rPr lang="en-US" sz="40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700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dirty="0"/>
              <a:t>Developers use containerization to build and deploy modern applications because of the following advantages. </a:t>
            </a:r>
          </a:p>
          <a:p>
            <a:pPr algn="just"/>
            <a:r>
              <a:rPr lang="en-US" b="1" dirty="0"/>
              <a:t>Portability</a:t>
            </a:r>
          </a:p>
          <a:p>
            <a:pPr lvl="1" algn="just"/>
            <a:r>
              <a:rPr lang="en-US" dirty="0"/>
              <a:t>Software developers use containerization to deploy applications in multiple environments without rewriting the program code. </a:t>
            </a:r>
          </a:p>
          <a:p>
            <a:pPr lvl="1" algn="just"/>
            <a:r>
              <a:rPr lang="en-US" dirty="0"/>
              <a:t>They build an application once and deploy it on multiple operating systems. </a:t>
            </a:r>
          </a:p>
          <a:p>
            <a:pPr lvl="1" algn="just"/>
            <a:r>
              <a:rPr lang="en-US" dirty="0"/>
              <a:t>For example, they run the same containers on Linux and Windows operating systems. </a:t>
            </a:r>
          </a:p>
          <a:p>
            <a:pPr lvl="1" algn="just"/>
            <a:r>
              <a:rPr lang="en-US" dirty="0"/>
              <a:t>Developers also upgrade legacy application code to modern versions using containers for deployment.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19366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What are the benefits of containerization? </a:t>
            </a:r>
            <a:br>
              <a:rPr lang="en-US" sz="40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77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marL="108000" indent="0">
              <a:buNone/>
            </a:pPr>
            <a:endParaRPr lang="en-US" dirty="0"/>
          </a:p>
          <a:p>
            <a:pPr algn="just"/>
            <a:r>
              <a:rPr lang="en-US" b="1" dirty="0"/>
              <a:t>Scalability</a:t>
            </a:r>
          </a:p>
          <a:p>
            <a:pPr lvl="1" algn="just"/>
            <a:r>
              <a:rPr lang="en-US" dirty="0"/>
              <a:t>Containers are lightweight software components that run efficiently. </a:t>
            </a:r>
          </a:p>
          <a:p>
            <a:pPr lvl="1" algn="just"/>
            <a:r>
              <a:rPr lang="en-US" dirty="0"/>
              <a:t>For example, a virtual machine can launch a containerized application faster because it doesn't need to boot an operating system. </a:t>
            </a:r>
          </a:p>
          <a:p>
            <a:pPr lvl="1" algn="just"/>
            <a:r>
              <a:rPr lang="en-US" dirty="0"/>
              <a:t>Therefore, software developers can easily add multiple containers for different applications on a single machine. </a:t>
            </a:r>
          </a:p>
          <a:p>
            <a:pPr lvl="1" algn="just"/>
            <a:r>
              <a:rPr lang="en-US" dirty="0"/>
              <a:t>The container cluster uses computing resources from the same shared operating system, but one container doesn't interfere with the operation of other containers. 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99201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What are the benefits of containerization? </a:t>
            </a:r>
            <a:br>
              <a:rPr lang="en-US" sz="40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92500"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r>
              <a:rPr lang="en-US" b="1" dirty="0"/>
              <a:t>Fault tolerance</a:t>
            </a:r>
          </a:p>
          <a:p>
            <a:pPr lvl="1" algn="just"/>
            <a:r>
              <a:rPr lang="en-US" dirty="0"/>
              <a:t>Software development teams use containers to build fault-tolerant applications. </a:t>
            </a:r>
          </a:p>
          <a:p>
            <a:pPr lvl="1" algn="just"/>
            <a:r>
              <a:rPr lang="en-US" dirty="0"/>
              <a:t>They use multiple containers to run microservices on the cloud. Because containerized microservices operate in isolated user spaces, a single faulty container doesn't affect the other containers. </a:t>
            </a:r>
          </a:p>
          <a:p>
            <a:pPr lvl="1" algn="just"/>
            <a:r>
              <a:rPr lang="en-US" dirty="0"/>
              <a:t>This increases the resilience and availability of the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33066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What are containerization use cases? </a:t>
            </a:r>
            <a:br>
              <a:rPr lang="en-US" sz="8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r>
              <a:rPr lang="en-US" b="1" dirty="0"/>
              <a:t>Cloud migration</a:t>
            </a:r>
          </a:p>
          <a:p>
            <a:pPr lvl="1" algn="just"/>
            <a:r>
              <a:rPr lang="en-US" dirty="0"/>
              <a:t>Cloud migration, or the</a:t>
            </a:r>
            <a:r>
              <a:rPr lang="en-US" i="1" dirty="0"/>
              <a:t> lift-and-shift</a:t>
            </a:r>
            <a:r>
              <a:rPr lang="en-US" dirty="0"/>
              <a:t> approach, is a software strategy that involves encapsulating legacy applications in containers and deploying them in a cloud computing environment. </a:t>
            </a:r>
          </a:p>
          <a:p>
            <a:pPr lvl="1" algn="just"/>
            <a:r>
              <a:rPr lang="en-US" dirty="0"/>
              <a:t>Organizations can modernize their applications without rewriting the entire software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686268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What are containerization use cases? </a:t>
            </a:r>
            <a:br>
              <a:rPr lang="en-US" sz="8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700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r>
              <a:rPr lang="en-US" b="1" dirty="0"/>
              <a:t>Adoption of microservice architecture</a:t>
            </a:r>
          </a:p>
          <a:p>
            <a:pPr lvl="1" algn="just"/>
            <a:r>
              <a:rPr lang="en-US" dirty="0"/>
              <a:t>Organizations seeking to build cloud applications with microservices require containerization technology. </a:t>
            </a:r>
          </a:p>
          <a:p>
            <a:pPr lvl="1" algn="just"/>
            <a:r>
              <a:rPr lang="en-US" dirty="0"/>
              <a:t>The microservice architecture is a software development approach that uses multiple, interdependent software components to deliver a functional application. </a:t>
            </a:r>
          </a:p>
          <a:p>
            <a:pPr lvl="1" algn="just"/>
            <a:r>
              <a:rPr lang="en-US" dirty="0"/>
              <a:t>Each microservice has a unique and specific function. </a:t>
            </a:r>
          </a:p>
          <a:p>
            <a:pPr lvl="1" algn="just"/>
            <a:r>
              <a:rPr lang="en-US" dirty="0"/>
              <a:t>A modern cloud application consists of multiple microservices. </a:t>
            </a:r>
          </a:p>
          <a:p>
            <a:pPr lvl="1" algn="just"/>
            <a:r>
              <a:rPr lang="en-US" dirty="0"/>
              <a:t>For example, a video streaming application might have microservices for data processing, user tracking, billing, and personalization. </a:t>
            </a:r>
          </a:p>
          <a:p>
            <a:pPr lvl="1" algn="just"/>
            <a:r>
              <a:rPr lang="en-US" dirty="0"/>
              <a:t>Containerization provides the software tool to pack microservices as deployable programs on different platforms.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35480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What are containerization use cases? </a:t>
            </a:r>
            <a:br>
              <a:rPr lang="en-US" sz="8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r>
              <a:rPr lang="en-US" b="1" dirty="0"/>
              <a:t>IoT devices</a:t>
            </a:r>
          </a:p>
          <a:p>
            <a:pPr lvl="1" algn="just"/>
            <a:r>
              <a:rPr lang="en-US" dirty="0"/>
              <a:t>Internet of Things (IoT) devices contain limited computing resources, making manual software updating a complex process.</a:t>
            </a:r>
          </a:p>
          <a:p>
            <a:pPr lvl="1" algn="just"/>
            <a:r>
              <a:rPr lang="en-US" dirty="0"/>
              <a:t>Containerization allows developers to deploy and update applications across IoT devices easily.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251543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How does containerization work? </a:t>
            </a:r>
            <a:br>
              <a:rPr lang="en-US" sz="8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700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dirty="0"/>
              <a:t>Containerization involves building self-sufficient software packages that perform consistently, regardless of the machines they run on. </a:t>
            </a:r>
          </a:p>
          <a:p>
            <a:pPr algn="just"/>
            <a:r>
              <a:rPr lang="en-US" dirty="0"/>
              <a:t>Software developers create and deploy container images—that is, files that contain the necessary information to run a containerized application.</a:t>
            </a:r>
          </a:p>
          <a:p>
            <a:pPr algn="just"/>
            <a:r>
              <a:rPr lang="en-US" dirty="0"/>
              <a:t>Developers use containerization tools to build container images based on the Open Container Initiative (OCI) image specification. </a:t>
            </a:r>
          </a:p>
          <a:p>
            <a:pPr algn="just"/>
            <a:r>
              <a:rPr lang="en-US" dirty="0"/>
              <a:t>OCI is an open-source group that provides a standardized format for creating container images. </a:t>
            </a:r>
          </a:p>
          <a:p>
            <a:pPr algn="just"/>
            <a:r>
              <a:rPr lang="en-US" dirty="0"/>
              <a:t>Container images are read-only and cannot be altered by the computer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232779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How does containerization work? </a:t>
            </a:r>
            <a:br>
              <a:rPr lang="en-US" sz="8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62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dirty="0"/>
              <a:t>Container images are the top layer in a containerized system that consists of the following layers.</a:t>
            </a:r>
          </a:p>
          <a:p>
            <a:pPr algn="just"/>
            <a:r>
              <a:rPr lang="en-US" b="1" dirty="0"/>
              <a:t>Infrastructure</a:t>
            </a:r>
          </a:p>
          <a:p>
            <a:pPr lvl="1" algn="just"/>
            <a:r>
              <a:rPr lang="en-US" dirty="0"/>
              <a:t>Infrastructure is the hardware layer of the container model. </a:t>
            </a:r>
          </a:p>
          <a:p>
            <a:pPr lvl="1" algn="just"/>
            <a:r>
              <a:rPr lang="en-US" dirty="0"/>
              <a:t>It refers to the physical computer or bare-metal server that runs the containerized application. </a:t>
            </a:r>
          </a:p>
          <a:p>
            <a:pPr algn="just"/>
            <a:r>
              <a:rPr lang="en-US" b="1" dirty="0"/>
              <a:t>Operating system</a:t>
            </a:r>
          </a:p>
          <a:p>
            <a:pPr lvl="1" algn="just"/>
            <a:r>
              <a:rPr lang="en-US" dirty="0"/>
              <a:t>The second layer of the containerization architecture is the operating system.</a:t>
            </a:r>
          </a:p>
          <a:p>
            <a:pPr lvl="1" algn="just"/>
            <a:r>
              <a:rPr lang="en-US" dirty="0"/>
              <a:t>Linux is a popular operating system for containerization with on-premise computers. </a:t>
            </a:r>
          </a:p>
          <a:p>
            <a:pPr lvl="1" algn="just"/>
            <a:r>
              <a:rPr lang="en-US" dirty="0"/>
              <a:t>In cloud computing, developers use cloud services such as </a:t>
            </a:r>
            <a:r>
              <a:rPr lang="en-US" b="1" dirty="0"/>
              <a:t>AWS EC2 </a:t>
            </a:r>
            <a:r>
              <a:rPr lang="en-US" dirty="0"/>
              <a:t>to run containerized applications.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7331388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How does containerization work? </a:t>
            </a:r>
            <a:br>
              <a:rPr lang="en-US" sz="8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62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b="1" dirty="0"/>
              <a:t>Container engine</a:t>
            </a:r>
          </a:p>
          <a:p>
            <a:pPr lvl="1" algn="just"/>
            <a:r>
              <a:rPr lang="en-US" dirty="0"/>
              <a:t>The container engine, or container runtime, is a software program that creates containers based on the container images.</a:t>
            </a:r>
          </a:p>
          <a:p>
            <a:pPr lvl="1" algn="just"/>
            <a:r>
              <a:rPr lang="en-US" dirty="0"/>
              <a:t>It acts as an intermediary agent between the containers and the operating system, providing and managing resources that the application needs. </a:t>
            </a:r>
          </a:p>
          <a:p>
            <a:pPr lvl="1" algn="just"/>
            <a:r>
              <a:rPr lang="en-US" dirty="0"/>
              <a:t>For example, container engines can manage multiple containers on the same operating system by keeping them independent of the underlying infrastructure and each other. </a:t>
            </a:r>
          </a:p>
          <a:p>
            <a:pPr algn="just"/>
            <a:r>
              <a:rPr lang="en-US" b="1" dirty="0"/>
              <a:t>Application and dependencies</a:t>
            </a:r>
          </a:p>
          <a:p>
            <a:pPr lvl="1" algn="just"/>
            <a:r>
              <a:rPr lang="en-US" dirty="0"/>
              <a:t>The topmost layer of the containerization architecture is the application code and the other files it needs to run, such as library dependencies and related configuration files. </a:t>
            </a:r>
          </a:p>
          <a:p>
            <a:pPr lvl="1" algn="just"/>
            <a:r>
              <a:rPr lang="en-US" dirty="0"/>
              <a:t>This layer might also contain a light guest operating system that gets installed over the host operating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250477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b="1" dirty="0"/>
            </a:br>
            <a:r>
              <a:rPr lang="en-US" sz="4000" b="1" dirty="0"/>
              <a:t>How does containerization work? </a:t>
            </a:r>
            <a:br>
              <a:rPr lang="en-US" sz="8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378B9D-9785-9E4A-6D0C-B36479F5C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1187"/>
            <a:ext cx="8147248" cy="44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279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sz="4000" b="1" dirty="0"/>
            </a:br>
            <a:r>
              <a:rPr lang="en-US" sz="4000" b="1" dirty="0"/>
              <a:t>What are the types of container technology? </a:t>
            </a:r>
            <a:br>
              <a:rPr lang="en-US" sz="40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850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dirty="0"/>
              <a:t>The following are some examples of popular technologies that developers use for containerization.</a:t>
            </a:r>
          </a:p>
          <a:p>
            <a:pPr algn="just"/>
            <a:r>
              <a:rPr lang="en-US" b="1" dirty="0"/>
              <a:t>Docker</a:t>
            </a:r>
          </a:p>
          <a:p>
            <a:pPr lvl="1" algn="just"/>
            <a:r>
              <a:rPr lang="en-US" dirty="0"/>
              <a:t>Docker, or Docker Engine, is a popular open-source container runtime that allows software developers to build, deploy, and test containerized applications on various platforms.</a:t>
            </a:r>
          </a:p>
          <a:p>
            <a:pPr lvl="1" algn="just"/>
            <a:r>
              <a:rPr lang="en-US" dirty="0"/>
              <a:t>Docker containers are self-contained packages of applications and related files that are created with the Docker framework.</a:t>
            </a:r>
          </a:p>
          <a:p>
            <a:pPr algn="just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292038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sz="4000" b="1" dirty="0"/>
            </a:br>
            <a:r>
              <a:rPr lang="en-US" sz="4000" b="1" dirty="0"/>
              <a:t>What are the types of container technology? </a:t>
            </a:r>
            <a:br>
              <a:rPr lang="en-US" sz="40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77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r>
              <a:rPr lang="en-US" b="1" dirty="0"/>
              <a:t>Linux</a:t>
            </a:r>
          </a:p>
          <a:p>
            <a:pPr lvl="1" algn="just"/>
            <a:r>
              <a:rPr lang="en-US" dirty="0"/>
              <a:t>Linux is an open-source operating system with built-in container technology. </a:t>
            </a:r>
          </a:p>
          <a:p>
            <a:pPr lvl="1" algn="just"/>
            <a:r>
              <a:rPr lang="en-US" dirty="0"/>
              <a:t>Linux containers are self-contained environments that allow multiple Linux-based applications to run on a single host machine. </a:t>
            </a:r>
          </a:p>
          <a:p>
            <a:pPr lvl="1" algn="just"/>
            <a:r>
              <a:rPr lang="en-US" dirty="0"/>
              <a:t>Software developers use Linux containers to deploy applications that write or read large amounts of data.</a:t>
            </a:r>
          </a:p>
          <a:p>
            <a:pPr lvl="1" algn="just"/>
            <a:r>
              <a:rPr lang="en-US" dirty="0"/>
              <a:t>Linux containers do not copy the entire operating system to their virtualized environment. </a:t>
            </a:r>
          </a:p>
          <a:p>
            <a:pPr lvl="1" algn="just"/>
            <a:r>
              <a:rPr lang="en-US" dirty="0"/>
              <a:t>Instead, the containers consist of necessary functionalities allocated in the Linux namespace.  </a:t>
            </a:r>
          </a:p>
          <a:p>
            <a:pPr algn="just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16160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sz="4000" b="1" dirty="0"/>
            </a:br>
            <a:r>
              <a:rPr lang="en-US" sz="4000" b="1" dirty="0"/>
              <a:t>What are the types of container technology? </a:t>
            </a:r>
            <a:br>
              <a:rPr lang="en-US" sz="40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92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r>
              <a:rPr lang="en-US" b="1" dirty="0"/>
              <a:t>Kubernetes</a:t>
            </a:r>
          </a:p>
          <a:p>
            <a:pPr lvl="1"/>
            <a:r>
              <a:rPr lang="en-US" dirty="0"/>
              <a:t>Kubernetes is a popular open-source container orchestrator that software developers use to deploy, scale, and manage a vast number of microservices. </a:t>
            </a:r>
          </a:p>
          <a:p>
            <a:pPr lvl="1"/>
            <a:r>
              <a:rPr lang="en-US" dirty="0"/>
              <a:t>It has a declarative model that makes automating containers easier. </a:t>
            </a:r>
          </a:p>
          <a:p>
            <a:pPr lvl="1"/>
            <a:r>
              <a:rPr lang="en-US" dirty="0"/>
              <a:t>The declarative model ensures that Kubernetes takes the appropriate action to fulfil the requirements based on the configuration files. </a:t>
            </a:r>
          </a:p>
          <a:p>
            <a:pPr lvl="1" algn="just"/>
            <a:r>
              <a:rPr lang="en-US" dirty="0"/>
              <a:t> </a:t>
            </a:r>
          </a:p>
          <a:p>
            <a:pPr algn="just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0207306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sz="4000" b="1" dirty="0"/>
            </a:br>
            <a:br>
              <a:rPr lang="en-US" sz="4000" b="1" dirty="0"/>
            </a:br>
            <a:r>
              <a:rPr lang="en-US" sz="3600" b="1" dirty="0"/>
              <a:t>Containerization compared to virtual machines</a:t>
            </a:r>
            <a:br>
              <a:rPr lang="en-US" sz="12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850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r>
              <a:rPr lang="en-US" dirty="0"/>
              <a:t>Containerization is a similar but improved concept of a VM. </a:t>
            </a:r>
          </a:p>
          <a:p>
            <a:r>
              <a:rPr lang="en-US" dirty="0"/>
              <a:t>Instead of copying the hardware layer, containerization removes the operating system layer from the self-contained environment. </a:t>
            </a:r>
          </a:p>
          <a:p>
            <a:r>
              <a:rPr lang="en-US" dirty="0"/>
              <a:t>This allows the application to run independently from the host operating system. </a:t>
            </a:r>
          </a:p>
          <a:p>
            <a:r>
              <a:rPr lang="en-US" dirty="0"/>
              <a:t>Containerization prevents resource waste because applications are provided with the exact resources they need.  </a:t>
            </a:r>
          </a:p>
          <a:p>
            <a:pPr algn="just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484901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sz="4000" b="1" dirty="0"/>
            </a:br>
            <a:r>
              <a:rPr lang="en-US" sz="4000" b="1" dirty="0"/>
              <a:t>What is serverless computing? </a:t>
            </a:r>
            <a:br>
              <a:rPr lang="en-US" sz="40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85000"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dirty="0"/>
              <a:t>Serverless computing refers to a cloud computing technology where the cloud vendor fully manages the server infrastructure powering an application. </a:t>
            </a:r>
          </a:p>
          <a:p>
            <a:pPr algn="just"/>
            <a:r>
              <a:rPr lang="en-US" dirty="0"/>
              <a:t>This means that developers and organizations do not need to configure, maintain, or provision resources on the cloud server. </a:t>
            </a:r>
          </a:p>
          <a:p>
            <a:pPr algn="just"/>
            <a:r>
              <a:rPr lang="en-US" dirty="0"/>
              <a:t>Serverless computing allows organizations to automatically scale computing resources according to the workload.  </a:t>
            </a:r>
          </a:p>
          <a:p>
            <a:pPr algn="just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7800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sz="3100" b="1" dirty="0"/>
            </a:br>
            <a:r>
              <a:rPr lang="en-US" sz="3100" b="1" dirty="0"/>
              <a:t>Containerization compared to serverless computing</a:t>
            </a:r>
            <a:br>
              <a:rPr lang="en-US" sz="1200" b="1" dirty="0"/>
            </a:br>
            <a:endParaRPr lang="en-IN" sz="40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925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dirty="0"/>
              <a:t>Serverless computing allows instant deployment of applications because there are no dependencies such as libraries or configuration files involved. </a:t>
            </a:r>
          </a:p>
          <a:p>
            <a:pPr algn="just"/>
            <a:r>
              <a:rPr lang="en-US" dirty="0"/>
              <a:t>The cloud vendor doesn't charge for computing resources when the serverless application is idle. </a:t>
            </a:r>
          </a:p>
          <a:p>
            <a:pPr algn="just"/>
            <a:r>
              <a:rPr lang="en-US" dirty="0"/>
              <a:t>Containers, on the other hand, are more portable, giving developers complete control of the application's environment.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55168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sz="3100" b="1" dirty="0"/>
            </a:br>
            <a:r>
              <a:rPr lang="en-US" sz="4400" b="1" dirty="0"/>
              <a:t>What is cloud native?</a:t>
            </a:r>
            <a:br>
              <a:rPr lang="en-US" sz="4400" b="1" dirty="0"/>
            </a:br>
            <a:endParaRPr lang="en-IN" sz="44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dirty="0"/>
              <a:t>Cloud native is a software development method that builds, tests, and deploys an application in the cloud. </a:t>
            </a:r>
          </a:p>
          <a:p>
            <a:pPr algn="just"/>
            <a:r>
              <a:rPr lang="en-US" dirty="0"/>
              <a:t>The term </a:t>
            </a:r>
            <a:r>
              <a:rPr lang="en-US" i="1" dirty="0"/>
              <a:t>cloud native</a:t>
            </a:r>
            <a:r>
              <a:rPr lang="en-US" dirty="0"/>
              <a:t> means that the application is born and resides in a cloud computing environment. </a:t>
            </a:r>
          </a:p>
          <a:p>
            <a:pPr algn="just"/>
            <a:r>
              <a:rPr lang="en-US" dirty="0"/>
              <a:t>Organizations build cloud-native applications because they are highly scalable, resilient, and flexible.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15294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sz="3100" b="1" dirty="0"/>
            </a:br>
            <a:br>
              <a:rPr lang="en-US" sz="4400" b="1" dirty="0"/>
            </a:br>
            <a:r>
              <a:rPr lang="en-US" sz="3600" b="1" dirty="0"/>
              <a:t>Containerization compared to cloud native</a:t>
            </a:r>
            <a:br>
              <a:rPr lang="en-US" sz="1400" b="1" dirty="0"/>
            </a:br>
            <a:endParaRPr lang="en-IN" sz="44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85000"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dirty="0"/>
              <a:t>Cloud-native application development requires different technologies and approaches than conventional monolithic applications. </a:t>
            </a:r>
          </a:p>
          <a:p>
            <a:pPr algn="just"/>
            <a:r>
              <a:rPr lang="en-US" dirty="0"/>
              <a:t>Containerization is one of the technologies that allows developers to build cloud-native applications. </a:t>
            </a:r>
          </a:p>
          <a:p>
            <a:pPr algn="just"/>
            <a:r>
              <a:rPr lang="en-US" dirty="0"/>
              <a:t>It works with other cloud-native technologies, such as service mesh and APIs, to allow microservices to work cohesively in a cloud-native application.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65496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980728"/>
            <a:ext cx="8604448" cy="1143000"/>
          </a:xfrm>
        </p:spPr>
        <p:txBody>
          <a:bodyPr tIns="41473"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br>
              <a:rPr lang="en-US" b="1" dirty="0"/>
            </a:br>
            <a:br>
              <a:rPr lang="en-US" sz="3100" b="1" dirty="0"/>
            </a:br>
            <a:br>
              <a:rPr lang="en-US" sz="3600" b="1" dirty="0"/>
            </a:br>
            <a:r>
              <a:rPr lang="en-US" sz="3600" b="1" dirty="0"/>
              <a:t>What is AWS App2Container?</a:t>
            </a:r>
            <a:br>
              <a:rPr lang="en-US" sz="1100" b="1" dirty="0"/>
            </a:br>
            <a:endParaRPr lang="en-IN" sz="44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fontScale="70000" lnSpcReduction="2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dirty="0"/>
              <a:t>AWS App2Container is a containerization tool that allows software developers to modernize legacy applications.</a:t>
            </a:r>
          </a:p>
          <a:p>
            <a:pPr algn="just"/>
            <a:r>
              <a:rPr lang="en-US" dirty="0"/>
              <a:t>Developers use App2Container to turn Java and .NET applications into containerized applications: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App2Container provides standard tools for migrating existing platform-based applications to the AWS environment.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With App2Container, developers are assured of security when scaling cloud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Developers use App2Container to simplify identifying dependencies and configurations when creating container images.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2286218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761826"/>
            <a:ext cx="8604448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en-US" dirty="0"/>
              <a:t>What are Docker</a:t>
            </a:r>
            <a:endParaRPr lang="en-IN" sz="36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sz="2000" dirty="0">
                <a:solidFill>
                  <a:srgbClr val="232F3E"/>
                </a:solidFill>
                <a:effectLst/>
              </a:rPr>
              <a:t>Docker is a software platform that allows you to build, test, and deploy applications quickly.</a:t>
            </a:r>
          </a:p>
          <a:p>
            <a:pPr algn="just"/>
            <a:r>
              <a:rPr lang="en-US" sz="2000" dirty="0">
                <a:solidFill>
                  <a:srgbClr val="232F3E"/>
                </a:solidFill>
                <a:effectLst/>
              </a:rPr>
              <a:t>Docker packages software into standardized units called containers that have everything the software needs to run including libraries, system tools, code, and runtime. </a:t>
            </a:r>
          </a:p>
          <a:p>
            <a:pPr algn="just"/>
            <a:r>
              <a:rPr lang="en-US" sz="2000" dirty="0">
                <a:solidFill>
                  <a:srgbClr val="232F3E"/>
                </a:solidFill>
                <a:effectLst/>
              </a:rPr>
              <a:t>Using Docker, you can quickly deploy and scale applications into any environment and know your code will run.</a:t>
            </a:r>
            <a:endParaRPr lang="en-US" sz="2000" dirty="0">
              <a:solidFill>
                <a:srgbClr val="232F3E"/>
              </a:solidFill>
            </a:endParaRPr>
          </a:p>
          <a:p>
            <a:pPr algn="just"/>
            <a:r>
              <a:rPr lang="en-US" sz="2000" dirty="0">
                <a:solidFill>
                  <a:srgbClr val="232F3E"/>
                </a:solidFill>
                <a:effectLst/>
              </a:rPr>
              <a:t>Running Docker on AWS provides developers and admins a highly reliable, low-cost way to build, ship, and run distributed applications at any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637625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mystifying Containers for Secure Architectures - Part 2">
            <a:extLst>
              <a:ext uri="{FF2B5EF4-FFF2-40B4-BE49-F238E27FC236}">
                <a16:creationId xmlns:a16="http://schemas.microsoft.com/office/drawing/2014/main" id="{9763AD8F-D830-AC03-8BB6-BB58F3589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66688"/>
            <a:ext cx="8905875" cy="652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754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iagram">
            <a:extLst>
              <a:ext uri="{FF2B5EF4-FFF2-40B4-BE49-F238E27FC236}">
                <a16:creationId xmlns:a16="http://schemas.microsoft.com/office/drawing/2014/main" id="{F12B93EF-C2A1-A008-1747-0BBA3BFA3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57635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ockerImage">
            <a:extLst>
              <a:ext uri="{FF2B5EF4-FFF2-40B4-BE49-F238E27FC236}">
                <a16:creationId xmlns:a16="http://schemas.microsoft.com/office/drawing/2014/main" id="{48553CFF-C2FF-243A-9179-DF915C44D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712967" cy="57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402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761826"/>
            <a:ext cx="8604448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en-US" dirty="0"/>
              <a:t>How Docker Works </a:t>
            </a:r>
            <a:endParaRPr lang="en-IN" sz="36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sz="2400" dirty="0"/>
              <a:t>Docker works by providing a standard way to run your code. Docker is an operating system for containers.</a:t>
            </a:r>
          </a:p>
          <a:p>
            <a:pPr algn="just"/>
            <a:r>
              <a:rPr lang="en-US" sz="2400" dirty="0"/>
              <a:t>Similar to how a virtual machine virtualizes (removes the need to directly manage) server hardware, containers virtualize the operating system of a server. </a:t>
            </a:r>
          </a:p>
          <a:p>
            <a:pPr algn="just"/>
            <a:r>
              <a:rPr lang="en-US" sz="2400" dirty="0"/>
              <a:t>Docker is installed on each server and provides simple commands you can use to build, start, or stop containers.</a:t>
            </a:r>
          </a:p>
          <a:p>
            <a:pPr algn="just"/>
            <a:r>
              <a:rPr lang="en-US" sz="2400" dirty="0"/>
              <a:t>AWS services such as AWS </a:t>
            </a:r>
            <a:r>
              <a:rPr lang="en-US" sz="2400" dirty="0" err="1"/>
              <a:t>Fargate</a:t>
            </a:r>
            <a:r>
              <a:rPr lang="en-US" sz="2400" dirty="0"/>
              <a:t>, Amazon ECS, Amazon EKS, and AWS Batch make it easy to run and manage Docker containers at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817617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761826"/>
            <a:ext cx="8604448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en-US" dirty="0"/>
              <a:t>How Docker Works </a:t>
            </a:r>
            <a:endParaRPr lang="en-IN" sz="36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marL="108000" indent="0">
              <a:buNone/>
            </a:pP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21A3F8-4DA2-7136-B69B-AAAE9D699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" y="1904826"/>
            <a:ext cx="8548508" cy="46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941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39552" y="761826"/>
            <a:ext cx="8604448" cy="1143000"/>
          </a:xfrm>
        </p:spPr>
        <p:txBody>
          <a:bodyPr tIns="41473"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en-US" dirty="0"/>
              <a:t>Why Use Docker</a:t>
            </a:r>
            <a:endParaRPr lang="en-IN" sz="3600" b="1" u="sng" dirty="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lIns="82945" tIns="41473" rIns="82945" bIns="41473">
            <a:norm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IN" sz="32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IN" sz="28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IN" sz="24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IN" sz="2000" b="0" i="0" u="none" strike="noStrike" kern="1200">
                <a:ln>
                  <a:noFill/>
                </a:ln>
                <a:latin typeface="Arial" pitchFamily="18"/>
                <a:ea typeface="DejaVu Sans" pitchFamily="2"/>
                <a:cs typeface="Lohit Hindi" pitchFamily="2"/>
              </a:defRPr>
            </a:lvl9pPr>
          </a:lstStyle>
          <a:p>
            <a:pPr algn="just"/>
            <a:r>
              <a:rPr lang="en-US" sz="2400" dirty="0"/>
              <a:t>Using Docker lets you ship code faster, standardize application operations, seamlessly move code, and save money by improving resource utilization. </a:t>
            </a:r>
          </a:p>
          <a:p>
            <a:pPr algn="just"/>
            <a:r>
              <a:rPr lang="en-US" sz="2400" dirty="0"/>
              <a:t>With Docker, you get a single object that can reliably run anywhere. Docker's simple and straightforward syntax gives you full control. </a:t>
            </a:r>
          </a:p>
          <a:p>
            <a:pPr algn="just"/>
            <a:r>
              <a:rPr lang="en-US" sz="2400" dirty="0"/>
              <a:t>Wide adoption means there's a robust ecosystem of tools and off-the-shelf applications that are ready to use with Docker.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1" y="6401075"/>
            <a:ext cx="164937" cy="318399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0">
            <a:spAutoFit/>
          </a:bodyPr>
          <a:lstStyle/>
          <a:p>
            <a:pPr hangingPunct="0"/>
            <a:endParaRPr lang="en-IN" sz="1600" i="1" dirty="0">
              <a:latin typeface="Arial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46821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5C8782E-8FD1-4DD5-B1D4-2219BDDE01B3}" vid="{796131F4-60EA-4B71-AF3A-7C794936D88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587</TotalTime>
  <Words>2459</Words>
  <Application>Microsoft Office PowerPoint</Application>
  <PresentationFormat>On-screen Show (4:3)</PresentationFormat>
  <Paragraphs>227</Paragraphs>
  <Slides>48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Calibri</vt:lpstr>
      <vt:lpstr>Constantia</vt:lpstr>
      <vt:lpstr>StarSymbol</vt:lpstr>
      <vt:lpstr>Times New Roman</vt:lpstr>
      <vt:lpstr>Wingdings</vt:lpstr>
      <vt:lpstr>Wingdings 2</vt:lpstr>
      <vt:lpstr>Flow</vt:lpstr>
      <vt:lpstr>Theme1</vt:lpstr>
      <vt:lpstr>Parallel &amp; Distributed Computing Virtualization-II Lecture 13/1</vt:lpstr>
      <vt:lpstr>Computer System Architecture</vt:lpstr>
      <vt:lpstr>Virtualized Environments</vt:lpstr>
      <vt:lpstr>Virtualization Reference Model</vt:lpstr>
      <vt:lpstr>Managed Execution</vt:lpstr>
      <vt:lpstr>Taxonomy of Virtualization Techniques</vt:lpstr>
      <vt:lpstr>Taxonomy of virtualization</vt:lpstr>
      <vt:lpstr>Machine Reference Model</vt:lpstr>
      <vt:lpstr>Machine Reference Model [Cont.]</vt:lpstr>
      <vt:lpstr>Machine Reference Model [Cont.]</vt:lpstr>
      <vt:lpstr>ISA: Security Classes</vt:lpstr>
      <vt:lpstr>Privileged Hierarchy: Security Ring</vt:lpstr>
      <vt:lpstr>Hardware-level virtualization</vt:lpstr>
      <vt:lpstr>Hardware-level virtualization</vt:lpstr>
      <vt:lpstr>Hypervisor</vt:lpstr>
      <vt:lpstr>Type-I Hypervisor</vt:lpstr>
      <vt:lpstr>Type-II Hypervisor</vt:lpstr>
      <vt:lpstr>Virtual Machine Manager (VMM)</vt:lpstr>
      <vt:lpstr>Virtual Machine Manager (VMM)</vt:lpstr>
      <vt:lpstr>Criteria of VMM</vt:lpstr>
      <vt:lpstr>  What is containerization? </vt:lpstr>
      <vt:lpstr>PowerPoint Presentation</vt:lpstr>
      <vt:lpstr>  What are the benefits of containerization?  </vt:lpstr>
      <vt:lpstr>  What are the benefits of containerization?  </vt:lpstr>
      <vt:lpstr>  What are the benefits of containerization?  </vt:lpstr>
      <vt:lpstr>  What are containerization use cases?  </vt:lpstr>
      <vt:lpstr>  What are containerization use cases?  </vt:lpstr>
      <vt:lpstr>  What are containerization use cases?  </vt:lpstr>
      <vt:lpstr>  How does containerization work?  </vt:lpstr>
      <vt:lpstr>  How does containerization work?  </vt:lpstr>
      <vt:lpstr>  How does containerization work?  </vt:lpstr>
      <vt:lpstr>  How does containerization work?  </vt:lpstr>
      <vt:lpstr>  What are the types of container technology?  </vt:lpstr>
      <vt:lpstr>  What are the types of container technology?  </vt:lpstr>
      <vt:lpstr>  What are the types of container technology?  </vt:lpstr>
      <vt:lpstr>   Containerization compared to virtual machines </vt:lpstr>
      <vt:lpstr>  What is serverless computing?  </vt:lpstr>
      <vt:lpstr>  Containerization compared to serverless computing </vt:lpstr>
      <vt:lpstr>  What is cloud native? </vt:lpstr>
      <vt:lpstr>   Containerization compared to cloud native </vt:lpstr>
      <vt:lpstr>   What is AWS App2Container? </vt:lpstr>
      <vt:lpstr>What are Docker</vt:lpstr>
      <vt:lpstr>PowerPoint Presentation</vt:lpstr>
      <vt:lpstr>PowerPoint Presentation</vt:lpstr>
      <vt:lpstr>PowerPoint Presentation</vt:lpstr>
      <vt:lpstr>How Docker Works </vt:lpstr>
      <vt:lpstr>How Docker Works </vt:lpstr>
      <vt:lpstr>Why Use Docker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Characteristics of virtualized environment Virtualization reference model</dc:title>
  <dc:creator>welcomr</dc:creator>
  <cp:lastModifiedBy>Moorche</cp:lastModifiedBy>
  <cp:revision>65</cp:revision>
  <dcterms:created xsi:type="dcterms:W3CDTF">2015-07-28T10:31:48Z</dcterms:created>
  <dcterms:modified xsi:type="dcterms:W3CDTF">2023-12-05T12:55:43Z</dcterms:modified>
</cp:coreProperties>
</file>