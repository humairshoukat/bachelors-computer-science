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7.jpg" ContentType="image/jpg"/>
  <Override PartName="/ppt/media/image11.jpg" ContentType="image/jpg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sldIdLst>
    <p:sldId id="333" r:id="rId2"/>
    <p:sldId id="320" r:id="rId3"/>
    <p:sldId id="321" r:id="rId4"/>
    <p:sldId id="322" r:id="rId5"/>
    <p:sldId id="303" r:id="rId6"/>
    <p:sldId id="304" r:id="rId7"/>
    <p:sldId id="288" r:id="rId8"/>
    <p:sldId id="305" r:id="rId9"/>
    <p:sldId id="306" r:id="rId10"/>
    <p:sldId id="291" r:id="rId11"/>
    <p:sldId id="292" r:id="rId12"/>
    <p:sldId id="308" r:id="rId13"/>
    <p:sldId id="323" r:id="rId14"/>
    <p:sldId id="309" r:id="rId15"/>
    <p:sldId id="324" r:id="rId16"/>
    <p:sldId id="325" r:id="rId17"/>
    <p:sldId id="326" r:id="rId18"/>
    <p:sldId id="327" r:id="rId19"/>
    <p:sldId id="330" r:id="rId20"/>
    <p:sldId id="331" r:id="rId21"/>
    <p:sldId id="332" r:id="rId22"/>
    <p:sldId id="334" r:id="rId23"/>
    <p:sldId id="335" r:id="rId24"/>
    <p:sldId id="329" r:id="rId25"/>
  </p:sldIdLst>
  <p:sldSz cx="9144000" cy="6858000" type="screen4x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69.47675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0-09-17T09:06:46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19782 12473 0,'0'0'0,"-40"0"47,161 0 94,39 0-126,1 40-15,-41-40 16,0 40 0,-39-40-1,-1 40 1,0-40-1,0 0 1,-40 0 0,1 0-16,-1 40 15,0-40 1,0 0 15,0 0 0,40 0-15,-40 0-16,1 0 16,39 0-1,0 0 1,-40 0 0,0 0-16,41 0 31,-41 0-16,0 0-15,-40-40 32,0 0-1,0-40 0,40 40-15,-40-1-1,0 1 1,40 0 0,-40 0-1,40 0-15,-40 0 32,0-40-17,0-1 16,0-39-31,0 0 16,0 0 0,0 79-1,40-39 1,-40 0 0,0 40-1,0 0 1,0-40-1,40-1 17,-40 41-17,0 0 1,0 0-16,0-40 16,0-40 15,0 39-31,0 1 15,0 40 1,0-40 0,0 40-1,0 0 1,0-41 15,0 41-15,0 0 15,0-40-15,0 0 15,0 40-31,0 0 31,0-1-15,-40 41 15,0 0 0,0 0 16,0 0-31,-40 0 15,40 0-15,-1 0-16,1 0 15,0 0 1,0 0 0,0 0-1,0 41 1,-40-41-1,-41 40 1,1 0 0,40 0-1,-1-40-15,1 0 16,40 0 0,-40 0-1,-1 40 1,1-40-16,-40 40 15,-1-40 1,1 40 0,80-40-16,-40 0 15,40 0 1,-1 0 0,-39 0-1,80 40 1,-40-40-16,-40 0 15,40 40 1,0-40 0,-1 0-1,1 0 79,40 40-94,0 1 63,0 39-48,0 40-15,0 0 16,0 81-1,0-41-15,0-79 16,0-1 0,0-40-1,0 0 1,0 0-16,0 40 16,0-40-1,0 1-15,0 79 16,0-40-1,40 40 1,-40-39 0,0-1-1,41-40 1,-41 40 0,40-40-1,-40 0 1,0 0-1,0 1-15,40-1 16,-40 0 15,0 0-31,40 0 16,-40 40 0,0 0-16,0 1 15,0-41 1,0 0-1,0 0 17,0 0-1</inkml:trace>
  <inkml:trace contextRef="#ctx0" brushRef="#br0" timeOffset="17630.5">16331 7339 0,'81'0'203,"39"0"-188,0 0-15,-39 0 16,-1 0 0,-40 40-1,40 0 1,-40-40 0,1 0-1,39 0-15,-40 40 16,0-40-1,40 0 1,1 0 0,-41 41-16,0-41 15,0 0 1,0 0 0,0 0-16,0 0 31,41 0-16,-41 0 1,0 0 0,40 0-1,-40 0 1,0 0 0,0 0-1,1 0 1,-1 40-16,0-40 15,0 0 32,0 0-31,-40 40-16,40-40 31,0 0-15,1 0 15,-1 40 0,0-40-31,0 0 32,0 40-17,0 0 1,0 80-1,41-39 1,-41-1-16,40 0 31,-80 0-15,0 41 0,40-81-16,-40 40 15,40 40 1,-40 1-1,0 39 1,0 0-16,0-79 16,0 39-1,0-40-15,0-40 16,0 0 0,0 41-1,0-1 1,0-40-1,0 40 1,0 0-16,0 0 16,0 1-1,0 39 1,0-40-16,0-40 16,0 41-1,0-41 1,-40 80-1,40-80-15,0 80 16,-40 1 0,0 39-1,40-40 1,-40 1-16,40-41 16,-40 40-1,-1-40 1,41 41-16,-40 79 15,40 41 1,-40-81 0,40-39-1,-40-41 1,40 0 0,-40 0-1,40 1 1,0-41-1,-40-40 1,40 40 343,0 0-312,-40-40-31,0 0 46,40 40-46,-41-40-16,1 40 31,0-40-31,0 0 16,0 40 0,-40 0-1,-41-40 1,41 40-1,0-40-15,-1 0 16,41 0 0,-40 0-16,40 0 15,-40 0 1,40 0 0,-1 0-1,1 0-15,0 0 16,-80 0-1,40 0 1,39 0 0,1-40-16,-40 40 15,40 0 17,0-40-32,40 0 15,-40 0 1,0 0 15,-1 0-15,1-40-16,0 39 15,0 1 1,-40-80-16,40 80 16,0-40-1,-41-41 1,41 41-1,-40-40-15,40-41 16,0 41 0,40-80-16,0 79 15,0 1 1,0 40 0,0-81-1,0 1 1,0-41-1,0-79 1,0 119 0,0-79-1,40 79-15,0 41 16,0 80-16,0 40 47,-40-40 187,0 0-218,0-1-16,0-39 15,0 0 1,0-40-16,0-41 16,40 1-1,-40 40 1,0-1 0,0 41-16,0 0 15,0 40 16,0-41-15,0 1-16,0 0 16,0 0-1,0 0 1,0-1 0,0-39-16,0 40 15,40 0 1,-40-41-16,41 81 15,-1-40 1,-40 40 0,0-40-1,40 40 17,-40 0-17,0-1 1,0 1-1,40 0 17,-40 0-17,40 40-15,-40-40 16,0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F9EE5-29F7-4936-BB9E-C496A010A518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85E8A-A197-49EA-96E2-2AD1E68BD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85E8A-A197-49EA-96E2-2AD1E68BD2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57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shows the </a:t>
            </a: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single thread performance, CPU clock frequency (MHz), CPU power consumption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(watts), and the number of CPU cores from 1970 to 2018. The parallel computing era begins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about 2005, when the core count in CPU chips begins to rise, while the clock frequency and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power consumption plateaus, yet performance steadily increases.</a:t>
            </a:r>
          </a:p>
          <a:p>
            <a:endParaRPr lang="en-US" sz="1800" b="0" i="0" dirty="0">
              <a:solidFill>
                <a:srgbClr val="656565"/>
              </a:solidFill>
              <a:effectLst/>
              <a:latin typeface="FranklinGothic-Demi"/>
            </a:endParaRPr>
          </a:p>
          <a:p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Hyperthreading: 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Having two instruction queues interleaving work to the hardware logic units allows a single physical core to appear as two cores to the operating system (OS).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85E8A-A197-49EA-96E2-2AD1E68BD2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96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efficient: 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With the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emergence of parallel resources in handheld devices, parallelism can speed up applications. This allows the device to return to sleep mode sooner and permits the use of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slower, but more parallel processors that consume less power. Thus, moving heavyweight multimedia applications to run on GPUs can have a more dramatic effect on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energy efficiency while also resulting in vastly improved performance. The net result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of employing parallelism reduces power consumption and extends battery life, which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is a strong competitive advantage in this market niche.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Another area where energy efficiency is important is with remote sensors, network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devices, and operational field-deployed devices, such as remote weather stations.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Often, without large power supplies, these devices must be able to function in small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packages with few resources. Parallelism expands what can be done on these devices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and offloads the work from the central computing system in a growing trend that is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called </a:t>
            </a:r>
            <a:r>
              <a:rPr lang="en-US" sz="1800" b="0" i="1" dirty="0">
                <a:solidFill>
                  <a:srgbClr val="262626"/>
                </a:solidFill>
                <a:effectLst/>
                <a:latin typeface="NewBaskerville-Italic"/>
              </a:rPr>
              <a:t>edge compute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. Moving the computation to the very edge of the network enables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processing at the source of the data, condensing it into a smaller result set that can be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more easily sent over the network.</a:t>
            </a:r>
            <a:r>
              <a:rPr lang="en-US" dirty="0"/>
              <a:t> </a:t>
            </a:r>
            <a:br>
              <a:rPr lang="en-US" dirty="0"/>
            </a:b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85E8A-A197-49EA-96E2-2AD1E68BD2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7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697DB89-CDD6-472D-8A6C-DAA95BB1FA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1A2CC5-F66F-4FF1-9C12-E4C07F54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4194141-4B13-4C0B-9E9E-4B6DF58F22B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4CCC10C4-1070-49FF-9EC0-FC19F4D37B5A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5304FCF-25DE-4BD8-A83B-51D9A6ECE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16389DA0-8CD8-4422-9A8F-A93463A8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</p:grp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1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144541-1081-4B27-9E4B-DD51FC1DCE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0B4F17-C843-4DBB-B859-C77EA1F01CA2}" type="datetime1">
              <a:rPr lang="en-US" smtClean="0"/>
              <a:t>2/20/2023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755DD8-7CD3-439F-A290-5D547A54A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37CD04-9D5B-417F-A66B-C38A4D2D5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2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4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D41561C-CEBF-48F4-9E28-C4482E17C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6111C-B94E-42B8-B445-5EB7C98BDEFA}" type="datetime1">
              <a:rPr lang="en-US" smtClean="0"/>
              <a:t>2/20/2023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660E3-240B-41E3-888C-1B88C6F55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180715-2C5B-4D99-B35D-5CB9C8F56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AE7B7F9-9B63-4C99-B240-FC12E76B5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B5BEB-004C-45AF-9D38-AF2A5B6958D8}" type="datetime1">
              <a:rPr lang="en-US" smtClean="0"/>
              <a:t>2/20/2023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DBDB97-8B17-4504-8ADA-64F907DF6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31478AB-4749-4D3C-8589-3B6D14C30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4" y="2362204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D3B876-73DB-429F-B4A5-ACDB21507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F3847-5007-47F7-9DE7-1A8B40CDBD7A}" type="datetime1">
              <a:rPr lang="en-US" smtClean="0"/>
              <a:t>2/20/2023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30567E-7D9B-4A0A-8C19-E932DA0EC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32F7B6-D444-4E55-96A6-522A403C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8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D9AB9F-2A0C-4FBB-B382-9C21E1687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8C468-910D-4313-A10C-FCB0AD170BFD}" type="datetime1">
              <a:rPr lang="en-US" smtClean="0"/>
              <a:t>2/20/2023</a:t>
            </a:fld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914F3E-D7BB-499F-8AAC-D29CA4F04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F3BCB4-F714-4117-802E-711CF7676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5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582D231-FDF6-426E-A616-698440509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9082A-79BD-433F-9B5F-8BCD4EAA65BE}" type="datetime1">
              <a:rPr lang="en-US" smtClean="0"/>
              <a:t>2/20/2023</a:t>
            </a:fld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EDCA115-9E3C-40D4-8912-F4E20DB6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99D514-9105-4111-8B91-F8810A02C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8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939D947-A124-40F1-A1CD-BD82F65EC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A1E931-F403-4304-9F63-1E06B9CECA24}" type="datetime1">
              <a:rPr lang="en-US" smtClean="0"/>
              <a:t>2/20/2023</a:t>
            </a:fld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DE26CF-7FFF-494A-9127-8D239D271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08D1E9E-3392-4D0F-B80B-A17511304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3958604-85A8-4A4E-97A7-ABA204D8D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999AFF-1278-442B-856D-5DA176929955}" type="datetime1">
              <a:rPr lang="en-US" smtClean="0"/>
              <a:t>2/20/2023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4B8F9BB-0FC1-41C7-ADBB-7B2886ABC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ABE9D4-E092-4117-9D3B-3D8D4681F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9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5601F-C8A4-4A90-80B4-5F52090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896CE0-495C-4667-B550-99C326EA790F}" type="datetime1">
              <a:rPr lang="en-US" smtClean="0"/>
              <a:t>2/20/2023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DF7F1E-3D7B-4FB8-A9F7-B9D427D05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AFB0A65-4C06-4F69-91E5-B374EC5B4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3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D6AB3-0BE0-4AE2-A565-F6DB7E10D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B1E5B-267A-4BE7-9081-5F0AACC5A54F}" type="datetime1">
              <a:rPr lang="en-US" smtClean="0"/>
              <a:t>2/20/2023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4E88F6-7B9B-48EF-88D1-8B8546270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FD07A6-C54B-4303-8783-79A5AA51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4"/>
            <a:ext cx="1981200" cy="53244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4"/>
            <a:ext cx="5791200" cy="53244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454C69-05BB-4376-BF5B-F23F07E40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FDB41-B124-4EA0-B637-71E64E804772}" type="datetime1">
              <a:rPr lang="en-US" smtClean="0"/>
              <a:t>2/20/2023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BE95B74-3904-4687-A858-1857057DF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1F3940-CBCF-4E25-ACC0-395A595B0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36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2" y="2362204"/>
            <a:ext cx="7693025" cy="3724275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77D68F-D4CE-414A-BDA9-E33AB488C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712A5-15C0-46B1-B4C5-317166927FB6}" type="datetime1">
              <a:rPr lang="en-US" smtClean="0"/>
              <a:t>2/20/2023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1A1324-E8FC-418E-94C0-85F2BD7D6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B9D749-3CF9-4C82-90AE-BA2A543AF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99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2A3329E-0904-47A4-ACB5-5B91293A5A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0FF77DB7-AD29-49C8-93AA-EA0184FC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D438BB5E-926C-4E0C-9E77-FE8E0784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95302D45-DF44-4885-8F20-43978435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endParaRPr lang="en-PK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165704AF-ADD4-4E42-9951-9885E2AF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D015C4F-F9D0-48B2-8315-4799ABF1D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7C227202-0AB4-426A-A6CB-F2C45BDC7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A90FCFEC-9F9D-4254-8D92-7B25B6EE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 smtClean="0"/>
              <a:t>Click to edit Master title style</a:t>
            </a:r>
            <a:endParaRPr lang="en-US" altLang="en-PK"/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398F237-95A9-4BFF-B4A1-C78F7FF6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2" y="2362204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D379FF3-7792-4E0A-B32B-CDBBF4ABCF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2" y="6248404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3C9712A5-15C0-46B1-B4C5-317166927FB6}" type="datetime1">
              <a:rPr lang="en-US" smtClean="0"/>
              <a:t>2/20/2023</a:t>
            </a:fld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F8406A0-86DE-4CF8-BE66-1FC1EC81C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4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08A31F9-D76D-43DC-8BDE-F2140B37C3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40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6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Farhad.Muhammad@numl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8AC916-7461-472A-83D2-C4792120EBB9}"/>
              </a:ext>
            </a:extLst>
          </p:cNvPr>
          <p:cNvSpPr txBox="1"/>
          <p:nvPr/>
        </p:nvSpPr>
        <p:spPr>
          <a:xfrm>
            <a:off x="4038278" y="5819024"/>
            <a:ext cx="5528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US" sz="2400" b="1" dirty="0" smtClean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pPr algn="ctr"/>
            <a:r>
              <a:rPr lang="en-US" sz="2400" b="1" dirty="0" smtClean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NUML, Islamabad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tx1">
                    <a:lumMod val="75000"/>
                  </a:schemeClr>
                </a:solidFill>
              </a:rPr>
              <a:t>Farhad</a:t>
            </a:r>
            <a:r>
              <a:rPr lang="en-US" b="1" dirty="0" smtClean="0">
                <a:solidFill>
                  <a:schemeClr val="tx1">
                    <a:lumMod val="75000"/>
                  </a:schemeClr>
                </a:solidFill>
              </a:rPr>
              <a:t> M. </a:t>
            </a:r>
            <a:r>
              <a:rPr lang="en-US" b="1" dirty="0" err="1" smtClean="0">
                <a:solidFill>
                  <a:schemeClr val="tx1">
                    <a:lumMod val="75000"/>
                  </a:schemeClr>
                </a:solidFill>
              </a:rPr>
              <a:t>Riaz</a:t>
            </a:r>
            <a:endParaRPr lang="en-US" b="1" dirty="0" smtClean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tx1">
                    <a:lumMod val="75000"/>
                  </a:schemeClr>
                </a:solidFill>
                <a:hlinkClick r:id="rId2"/>
              </a:rPr>
              <a:t>Farhad.Muhammad@numl.edu.pk</a:t>
            </a:r>
            <a:r>
              <a:rPr lang="en-US" b="1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r"/>
            <a:r>
              <a:rPr lang="en-US" sz="2800" dirty="0" smtClean="0"/>
              <a:t>Parallel &amp; Distributed Computing</a:t>
            </a:r>
            <a:br>
              <a:rPr lang="en-US" sz="2800" dirty="0" smtClean="0"/>
            </a:br>
            <a:r>
              <a:rPr lang="en-US" sz="2800" smtClean="0"/>
              <a:t>Lecture </a:t>
            </a:r>
            <a:r>
              <a:rPr lang="en-US" sz="2800" smtClean="0"/>
              <a:t>3: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General </a:t>
            </a:r>
            <a:r>
              <a:rPr lang="en-US" sz="2800" smtClean="0"/>
              <a:t>Parallelism Terms</a:t>
            </a:r>
            <a:r>
              <a:rPr lang="en-US" sz="2800" smtClean="0"/>
              <a:t> </a:t>
            </a:r>
            <a:endParaRPr lang="en-US" sz="2800" dirty="0"/>
          </a:p>
        </p:txBody>
      </p:sp>
      <p:pic>
        <p:nvPicPr>
          <p:cNvPr id="8" name="Picture 2" descr="NUML Logo PNG Vector (EPS) Free Download">
            <a:extLst>
              <a:ext uri="{FF2B5EF4-FFF2-40B4-BE49-F238E27FC236}">
                <a16:creationId xmlns:a16="http://schemas.microsoft.com/office/drawing/2014/main" id="{2D3C8850-28E9-44A6-8D9F-53E81763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4" y="1050131"/>
            <a:ext cx="1927513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70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von Neumann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Authored the general requirements for an electronic computer in his 1945 papers</a:t>
            </a:r>
          </a:p>
          <a:p>
            <a:r>
              <a:rPr lang="en-US" dirty="0"/>
              <a:t>Also known as "stored-program computer”</a:t>
            </a:r>
          </a:p>
          <a:p>
            <a:r>
              <a:rPr lang="en-US" dirty="0"/>
              <a:t>Both program instructions and data are kept in electronic memory</a:t>
            </a:r>
          </a:p>
          <a:p>
            <a:r>
              <a:rPr lang="en-US" dirty="0"/>
              <a:t>Since then, virtually all computers have followed his design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150" y="2040731"/>
            <a:ext cx="2806700" cy="3644900"/>
          </a:xfrm>
        </p:spPr>
      </p:pic>
      <p:sp>
        <p:nvSpPr>
          <p:cNvPr id="7" name="TextBox 6"/>
          <p:cNvSpPr txBox="1"/>
          <p:nvPr/>
        </p:nvSpPr>
        <p:spPr>
          <a:xfrm>
            <a:off x="5652121" y="5949280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John von Neumann</a:t>
            </a:r>
          </a:p>
        </p:txBody>
      </p:sp>
    </p:spTree>
    <p:extLst>
      <p:ext uri="{BB962C8B-B14F-4D97-AF65-F5344CB8AC3E}">
        <p14:creationId xmlns:p14="http://schemas.microsoft.com/office/powerpoint/2010/main" val="197684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Von Neumann Architecture</a:t>
            </a:r>
            <a:br>
              <a:rPr lang="en-US" dirty="0"/>
            </a:br>
            <a:r>
              <a:rPr lang="en-US" dirty="0"/>
              <a:t>Four 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5908" y="2506662"/>
            <a:ext cx="4800601" cy="43513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Read/write, random access memory is used to store both program instructions and data</a:t>
            </a:r>
          </a:p>
          <a:p>
            <a:pPr lvl="1" algn="just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Program instructions are coded data which tell the computer to do something</a:t>
            </a:r>
          </a:p>
          <a:p>
            <a:pPr lvl="1" algn="just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Data is simply information to be used by the program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Control unit fetches instructions/data from memory, decodes the instructions and then sequentially coordinates operations to accomplish the programmed task.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Arithmetic Unit performs basic arithmetic operations</a:t>
            </a:r>
          </a:p>
          <a:p>
            <a:pPr algn="just"/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Input/Output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is the interface to the human operator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912" y="2479338"/>
            <a:ext cx="2972544" cy="2749864"/>
          </a:xfrm>
        </p:spPr>
      </p:pic>
      <p:sp>
        <p:nvSpPr>
          <p:cNvPr id="6" name="TextBox 5"/>
          <p:cNvSpPr txBox="1"/>
          <p:nvPr/>
        </p:nvSpPr>
        <p:spPr>
          <a:xfrm>
            <a:off x="6346519" y="5452279"/>
            <a:ext cx="2618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parallel computers still follow this basic design</a:t>
            </a:r>
          </a:p>
          <a:p>
            <a:r>
              <a:rPr lang="en-US" dirty="0"/>
              <a:t>Just multiplied in units</a:t>
            </a:r>
          </a:p>
        </p:txBody>
      </p:sp>
    </p:spTree>
    <p:extLst>
      <p:ext uri="{BB962C8B-B14F-4D97-AF65-F5344CB8AC3E}">
        <p14:creationId xmlns:p14="http://schemas.microsoft.com/office/powerpoint/2010/main" val="66701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Flynn's Classical Taxonomy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4066307" cy="372427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Different ways to classify parallel computers</a:t>
            </a:r>
          </a:p>
          <a:p>
            <a:pPr algn="just"/>
            <a:r>
              <a:rPr lang="en-US" dirty="0"/>
              <a:t>One of the more widely used classifications, in use since 1966, is called Flynn's Taxonomy</a:t>
            </a:r>
          </a:p>
          <a:p>
            <a:pPr algn="just"/>
            <a:r>
              <a:rPr lang="en-US" dirty="0"/>
              <a:t>Distinguishes multi-processor computer architectures according to two dimensions</a:t>
            </a:r>
          </a:p>
          <a:p>
            <a:pPr lvl="1" algn="just"/>
            <a:r>
              <a:rPr lang="en-US" dirty="0"/>
              <a:t>Instruction Stream</a:t>
            </a:r>
          </a:p>
          <a:p>
            <a:pPr lvl="1" algn="just"/>
            <a:r>
              <a:rPr lang="en-US" dirty="0"/>
              <a:t>Data Stream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6117AA6-B7FA-4FEC-A3D3-7E7181533F2E}"/>
              </a:ext>
            </a:extLst>
          </p:cNvPr>
          <p:cNvSpPr/>
          <p:nvPr/>
        </p:nvSpPr>
        <p:spPr>
          <a:xfrm>
            <a:off x="5015346" y="2558049"/>
            <a:ext cx="3671454" cy="3332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65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SISD (Scalar Processing)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62000" y="2319086"/>
            <a:ext cx="4779818" cy="452596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 serial (non-parallel) computer</a:t>
            </a:r>
          </a:p>
          <a:p>
            <a:r>
              <a:rPr lang="en-US" sz="2000" b="1" dirty="0"/>
              <a:t>Single Instruction:</a:t>
            </a:r>
            <a:r>
              <a:rPr lang="en-US" sz="2000" dirty="0"/>
              <a:t> Only one instruction stream is being acted on by the CPU during any one clock cycle</a:t>
            </a:r>
          </a:p>
          <a:p>
            <a:r>
              <a:rPr lang="en-US" sz="2000" b="1" dirty="0"/>
              <a:t>Single Data:</a:t>
            </a:r>
            <a:r>
              <a:rPr lang="en-US" sz="2000" dirty="0"/>
              <a:t> Only one data stream is being used as input during any one clock cycle</a:t>
            </a:r>
          </a:p>
          <a:p>
            <a:r>
              <a:rPr lang="en-US" sz="2000" dirty="0"/>
              <a:t>Deterministic execution</a:t>
            </a:r>
          </a:p>
          <a:p>
            <a:r>
              <a:rPr lang="en-US" sz="2000" dirty="0"/>
              <a:t>This is the oldest type of computer</a:t>
            </a:r>
          </a:p>
          <a:p>
            <a:r>
              <a:rPr lang="en-US" sz="2000" dirty="0"/>
              <a:t>Examples: older generation mainframes, minicomputers, workstations and single processor/core PCs. 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0B35AC9-A5A8-4D84-A876-2B7B54E9660A}"/>
              </a:ext>
            </a:extLst>
          </p:cNvPr>
          <p:cNvSpPr/>
          <p:nvPr/>
        </p:nvSpPr>
        <p:spPr>
          <a:xfrm>
            <a:off x="5541818" y="2540759"/>
            <a:ext cx="2840182" cy="34834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90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SIMD (Vector Processing)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62000" y="2262080"/>
            <a:ext cx="4838703" cy="4332684"/>
          </a:xfrm>
        </p:spPr>
        <p:txBody>
          <a:bodyPr>
            <a:noAutofit/>
          </a:bodyPr>
          <a:lstStyle/>
          <a:p>
            <a:r>
              <a:rPr lang="en-US" sz="1800" dirty="0"/>
              <a:t>Single Instruction: All processing units execute the same instruction at any given clock cycle</a:t>
            </a:r>
          </a:p>
          <a:p>
            <a:r>
              <a:rPr lang="en-US" sz="1800" dirty="0"/>
              <a:t>Multiple Data: Each processing unit can operate on a different data element</a:t>
            </a:r>
          </a:p>
          <a:p>
            <a:r>
              <a:rPr lang="en-US" sz="1800" dirty="0"/>
              <a:t>Best suited for specialized problems such as graphics/image processing.</a:t>
            </a:r>
          </a:p>
          <a:p>
            <a:r>
              <a:rPr lang="en-US" sz="1800" dirty="0"/>
              <a:t>Synchronous  and deterministic execution</a:t>
            </a:r>
          </a:p>
          <a:p>
            <a:r>
              <a:rPr lang="en-US" sz="1800" dirty="0"/>
              <a:t>Processor Arrays Vector Pipelines</a:t>
            </a:r>
          </a:p>
          <a:p>
            <a:r>
              <a:rPr lang="en-US" sz="1800" dirty="0"/>
              <a:t>Examples:</a:t>
            </a:r>
          </a:p>
          <a:p>
            <a:pPr lvl="1"/>
            <a:r>
              <a:rPr lang="en-US" sz="1800" dirty="0"/>
              <a:t>Processor Arrays: Thinking Machines CM-2</a:t>
            </a:r>
          </a:p>
          <a:p>
            <a:pPr lvl="1"/>
            <a:r>
              <a:rPr lang="en-US" sz="1800" dirty="0"/>
              <a:t>Vector Pipelines: IBM 9000</a:t>
            </a:r>
          </a:p>
          <a:p>
            <a:pPr lvl="1"/>
            <a:r>
              <a:rPr lang="en-US" sz="1800" dirty="0"/>
              <a:t>Most modern computers with GPU units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B66D2D5-B1C0-4D65-B8EE-535CAB8BF42B}"/>
              </a:ext>
            </a:extLst>
          </p:cNvPr>
          <p:cNvSpPr/>
          <p:nvPr/>
        </p:nvSpPr>
        <p:spPr>
          <a:xfrm>
            <a:off x="5600703" y="2480349"/>
            <a:ext cx="2684316" cy="3302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585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175" y="1302322"/>
            <a:ext cx="5259070" cy="5674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Scalar </a:t>
            </a:r>
            <a:r>
              <a:rPr dirty="0"/>
              <a:t>vs </a:t>
            </a:r>
            <a:r>
              <a:rPr spc="-45" dirty="0"/>
              <a:t>Vector</a:t>
            </a:r>
            <a:r>
              <a:rPr spc="-50" dirty="0"/>
              <a:t> </a:t>
            </a:r>
            <a:r>
              <a:rPr spc="-5" dirty="0"/>
              <a:t>(SIMD)</a:t>
            </a:r>
          </a:p>
        </p:txBody>
      </p:sp>
      <p:sp>
        <p:nvSpPr>
          <p:cNvPr id="3" name="object 3"/>
          <p:cNvSpPr/>
          <p:nvPr/>
        </p:nvSpPr>
        <p:spPr>
          <a:xfrm>
            <a:off x="900544" y="2424892"/>
            <a:ext cx="6761019" cy="4213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Instruction, Single Data (MISD)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62000" y="2362204"/>
            <a:ext cx="4045527" cy="372427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Multiple Instruction: Each processing unit operates on the data independently via separate instruction streams.</a:t>
            </a:r>
          </a:p>
          <a:p>
            <a:r>
              <a:rPr lang="en-US" dirty="0"/>
              <a:t>Single Data: A single data stream is fed into multiple processing units.</a:t>
            </a:r>
          </a:p>
          <a:p>
            <a:r>
              <a:rPr lang="en-US" dirty="0"/>
              <a:t>Few (if any) actual examples of this class of parallel computer have ever existed.</a:t>
            </a:r>
          </a:p>
          <a:p>
            <a:r>
              <a:rPr lang="en-US" dirty="0"/>
              <a:t>Some conceivable uses might be:</a:t>
            </a:r>
          </a:p>
          <a:p>
            <a:pPr lvl="1"/>
            <a:r>
              <a:rPr lang="en-US" dirty="0"/>
              <a:t>multiple frequency filters operating on a single signal stream</a:t>
            </a:r>
          </a:p>
          <a:p>
            <a:pPr lvl="1"/>
            <a:r>
              <a:rPr lang="en-US" dirty="0"/>
              <a:t>multiple cryptography algorithms attempting to crack a single coded message.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32219" y="2547194"/>
            <a:ext cx="3643745" cy="364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9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Instruction, Multiple Data (MIMD)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4523507" cy="3664523"/>
          </a:xfrm>
        </p:spPr>
        <p:txBody>
          <a:bodyPr>
            <a:noAutofit/>
          </a:bodyPr>
          <a:lstStyle/>
          <a:p>
            <a:r>
              <a:rPr lang="en-US" sz="1600" dirty="0"/>
              <a:t>Multiple Instruction: Every processor may be executing a different instruction stream</a:t>
            </a:r>
          </a:p>
          <a:p>
            <a:r>
              <a:rPr lang="en-US" sz="1600" dirty="0"/>
              <a:t>Multiple Data: Every processor may be working with a different data stream</a:t>
            </a:r>
          </a:p>
          <a:p>
            <a:r>
              <a:rPr lang="en-US" sz="1600" dirty="0"/>
              <a:t>Execution can be synchronous or asynchronous, deterministic or non-deterministic</a:t>
            </a:r>
          </a:p>
          <a:p>
            <a:r>
              <a:rPr lang="en-US" sz="1600" dirty="0"/>
              <a:t>Currently, the most common type of parallel computer - most modern supercomputers fall into this category</a:t>
            </a:r>
          </a:p>
          <a:p>
            <a:r>
              <a:rPr lang="en-US" sz="1600" dirty="0"/>
              <a:t>Examples: most current supercomputers, networked parallel computer clusters, grids, multi-core PCs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75290" y="2362201"/>
            <a:ext cx="3045256" cy="331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9902" y="1276437"/>
            <a:ext cx="4553585" cy="5674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MIMD</a:t>
            </a:r>
            <a:r>
              <a:rPr spc="-25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9902" y="2311507"/>
            <a:ext cx="5684751" cy="11990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Shared </a:t>
            </a:r>
            <a:r>
              <a:rPr sz="3200" dirty="0">
                <a:latin typeface="Carlito"/>
                <a:cs typeface="Carlito"/>
              </a:rPr>
              <a:t>Memory</a:t>
            </a:r>
          </a:p>
          <a:p>
            <a:pPr marL="355600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Distributed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Memory</a:t>
            </a:r>
          </a:p>
        </p:txBody>
      </p:sp>
      <p:sp>
        <p:nvSpPr>
          <p:cNvPr id="4" name="object 4"/>
          <p:cNvSpPr/>
          <p:nvPr/>
        </p:nvSpPr>
        <p:spPr>
          <a:xfrm>
            <a:off x="1213566" y="3878304"/>
            <a:ext cx="6102187" cy="2616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8225" y="1413158"/>
            <a:ext cx="6941820" cy="5674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Shared </a:t>
            </a:r>
            <a:r>
              <a:rPr spc="-15" dirty="0"/>
              <a:t>vs </a:t>
            </a:r>
            <a:r>
              <a:rPr spc="-10" dirty="0"/>
              <a:t>Distributed</a:t>
            </a:r>
            <a:r>
              <a:rPr spc="-35" dirty="0"/>
              <a:t> </a:t>
            </a:r>
            <a:r>
              <a:rPr spc="5" dirty="0"/>
              <a:t>Memory</a:t>
            </a:r>
          </a:p>
        </p:txBody>
      </p:sp>
      <p:sp>
        <p:nvSpPr>
          <p:cNvPr id="3" name="object 3"/>
          <p:cNvSpPr/>
          <p:nvPr/>
        </p:nvSpPr>
        <p:spPr>
          <a:xfrm>
            <a:off x="920624" y="2449775"/>
            <a:ext cx="7121929" cy="3854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7349834" cy="424641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Supercomputing / High Performance Computing (HPC)</a:t>
            </a:r>
          </a:p>
          <a:p>
            <a:pPr lvl="1"/>
            <a:r>
              <a:rPr lang="en-US" dirty="0"/>
              <a:t>Using the world's fastest and largest computers to solve large problems</a:t>
            </a:r>
          </a:p>
          <a:p>
            <a:r>
              <a:rPr lang="en-US" b="1" dirty="0"/>
              <a:t>Node</a:t>
            </a:r>
          </a:p>
          <a:p>
            <a:pPr lvl="1"/>
            <a:r>
              <a:rPr lang="en-US" dirty="0"/>
              <a:t>A standalone "computer in a box". Usually comprised of multiple CPUs/processors/cores, memory, network interfaces, etc. Nodes are networked together to comprise a supercomputer.</a:t>
            </a:r>
          </a:p>
          <a:p>
            <a:r>
              <a:rPr lang="en-US" b="1" dirty="0"/>
              <a:t>CPU / Socket / Processor / Core</a:t>
            </a:r>
          </a:p>
          <a:p>
            <a:pPr lvl="1"/>
            <a:r>
              <a:rPr lang="en-US" dirty="0"/>
              <a:t>In the past, a CPU (Central Processing Unit) was a singular execution component</a:t>
            </a:r>
          </a:p>
          <a:p>
            <a:pPr lvl="1"/>
            <a:r>
              <a:rPr lang="en-US" dirty="0"/>
              <a:t>Then, multiple CPUs were incorporated into a node</a:t>
            </a:r>
          </a:p>
          <a:p>
            <a:pPr lvl="1"/>
            <a:r>
              <a:rPr lang="en-US" dirty="0"/>
              <a:t>Then, individual CPUs were subdivided into multiple "cores", each being a unique execution unit</a:t>
            </a:r>
          </a:p>
          <a:p>
            <a:pPr lvl="1"/>
            <a:r>
              <a:rPr lang="en-US" dirty="0"/>
              <a:t>CPUs with multiple cores are sometimes called "sockets”</a:t>
            </a:r>
          </a:p>
          <a:p>
            <a:pPr lvl="1"/>
            <a:r>
              <a:rPr lang="en-US" dirty="0"/>
              <a:t>The result is a node with multiple CPUs, each containing multiple cores</a:t>
            </a:r>
          </a:p>
        </p:txBody>
      </p:sp>
    </p:spTree>
    <p:extLst>
      <p:ext uri="{BB962C8B-B14F-4D97-AF65-F5344CB8AC3E}">
        <p14:creationId xmlns:p14="http://schemas.microsoft.com/office/powerpoint/2010/main" val="1726596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692" y="2468880"/>
            <a:ext cx="6913418" cy="3857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740248-3D68-45F6-B8FD-DD134C5E8841}"/>
                  </a:ext>
                </a:extLst>
              </p14:cNvPr>
              <p14:cNvContentPartPr/>
              <p14:nvPr/>
            </p14:nvContentPartPr>
            <p14:xfrm>
              <a:off x="4268760" y="2468880"/>
              <a:ext cx="2036880" cy="220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740248-3D68-45F6-B8FD-DD134C5E88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9400" y="2459520"/>
                <a:ext cx="2055600" cy="22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3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2362204"/>
            <a:ext cx="7225143" cy="3724275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2900" b="1" dirty="0"/>
              <a:t>Task</a:t>
            </a:r>
          </a:p>
          <a:p>
            <a:pPr lvl="1" algn="just"/>
            <a:r>
              <a:rPr lang="en-US" sz="2900" dirty="0"/>
              <a:t>A logically discrete section of computational work. A task is typically a program or program-like set of instructions that is executed by a processor. A parallel program consists of multiple tasks running on multiple processors.</a:t>
            </a:r>
          </a:p>
          <a:p>
            <a:pPr algn="just"/>
            <a:r>
              <a:rPr lang="en-US" sz="2900" b="1" dirty="0"/>
              <a:t>Pipelining</a:t>
            </a:r>
          </a:p>
          <a:p>
            <a:pPr lvl="1" algn="just"/>
            <a:r>
              <a:rPr lang="en-US" sz="2900" dirty="0"/>
              <a:t>Breaking a task into steps performed by different processor units, with inputs streaming through, much like an assembly line; a type of parallel computing.</a:t>
            </a:r>
          </a:p>
          <a:p>
            <a:pPr algn="just"/>
            <a:r>
              <a:rPr lang="en-US" sz="2900" b="1" dirty="0"/>
              <a:t>Shared Memory</a:t>
            </a:r>
          </a:p>
          <a:p>
            <a:pPr lvl="1" algn="just"/>
            <a:r>
              <a:rPr lang="en-US" sz="2900" dirty="0"/>
              <a:t>From a strictly hardware point of view, describes a computer architecture where all processors have direct (usually bus based) access to common physical memory. In a programming sense, it describes a model where parallel tasks all have the same "picture" of memory and can directly address and access the same logical memory locations regardless of where the physical memory actually exists.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Symmetric Multi-Processor (SMP)</a:t>
            </a:r>
          </a:p>
          <a:p>
            <a:pPr lvl="1" algn="just"/>
            <a:r>
              <a:rPr lang="en-US" dirty="0"/>
              <a:t>Shared memory hardware architecture where multiple processors share a single address space and have equal access to all resources.</a:t>
            </a:r>
          </a:p>
          <a:p>
            <a:pPr algn="just"/>
            <a:r>
              <a:rPr lang="en-US" b="1" dirty="0"/>
              <a:t>Distributed Memory</a:t>
            </a:r>
          </a:p>
          <a:p>
            <a:pPr lvl="1" algn="just"/>
            <a:r>
              <a:rPr lang="en-US" dirty="0"/>
              <a:t>In hardware, refers to network based memory access for physical memory that is not common. As a programming model, tasks can only logically "see" local machine memory and must use communications to access memory on other machines where other tasks are executing.</a:t>
            </a:r>
          </a:p>
          <a:p>
            <a:pPr algn="just"/>
            <a:r>
              <a:rPr lang="en-US" b="1" dirty="0"/>
              <a:t>Communications</a:t>
            </a:r>
          </a:p>
          <a:p>
            <a:pPr lvl="1" algn="just"/>
            <a:r>
              <a:rPr lang="en-US" dirty="0"/>
              <a:t>Parallel tasks typically need to exchange data. There are several ways this can be accomplished, such as through a shared memory bus or over a network, however the actual event of data exchange is commonly referred to as communications regardless of the method employed</a:t>
            </a:r>
          </a:p>
        </p:txBody>
      </p:sp>
    </p:spTree>
    <p:extLst>
      <p:ext uri="{BB962C8B-B14F-4D97-AF65-F5344CB8AC3E}">
        <p14:creationId xmlns:p14="http://schemas.microsoft.com/office/powerpoint/2010/main" val="1274347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407516"/>
            <a:ext cx="766156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/>
              <a:t>Synchronization</a:t>
            </a:r>
          </a:p>
          <a:p>
            <a:pPr lvl="1"/>
            <a:r>
              <a:rPr lang="en-US" sz="1800" dirty="0"/>
              <a:t>The coordination of parallel tasks in real time, very often associated with communications. </a:t>
            </a:r>
          </a:p>
          <a:p>
            <a:pPr lvl="1"/>
            <a:r>
              <a:rPr lang="en-US" sz="1800" dirty="0"/>
              <a:t>Often implemented by establishing a synchronization point within an application where a task may not proceed further until another task(s) reaches the same or logically equivalent point.</a:t>
            </a:r>
          </a:p>
          <a:p>
            <a:pPr lvl="1"/>
            <a:r>
              <a:rPr lang="en-US" sz="1800" dirty="0"/>
              <a:t>Synchronization usually involves waiting by at least one task and can therefore cause a parallel application's wall clock execution time to increase.</a:t>
            </a:r>
          </a:p>
          <a:p>
            <a:r>
              <a:rPr lang="en-US" sz="2400" b="1" dirty="0"/>
              <a:t>Granularity</a:t>
            </a:r>
          </a:p>
          <a:p>
            <a:pPr lvl="1"/>
            <a:r>
              <a:rPr lang="en-US" sz="1800" dirty="0"/>
              <a:t>granularity is a qualitative measure of the ratio of computation to communication</a:t>
            </a:r>
          </a:p>
          <a:p>
            <a:pPr lvl="1"/>
            <a:r>
              <a:rPr lang="en-US" sz="1800" b="1" i="1" dirty="0"/>
              <a:t>Coarse: </a:t>
            </a:r>
            <a:r>
              <a:rPr lang="en-US" sz="1800" dirty="0"/>
              <a:t>relatively large amounts of computational work are done between communication events</a:t>
            </a:r>
          </a:p>
          <a:p>
            <a:pPr lvl="1"/>
            <a:r>
              <a:rPr lang="en-US" sz="1800" b="1" i="1" dirty="0"/>
              <a:t>Fine:</a:t>
            </a:r>
            <a:r>
              <a:rPr lang="en-US" sz="1800" dirty="0"/>
              <a:t> relatively small amounts of computational work are done between communication events</a:t>
            </a:r>
          </a:p>
          <a:p>
            <a:r>
              <a:rPr lang="en-US" sz="2400" b="1" dirty="0"/>
              <a:t>Observed Speedup</a:t>
            </a:r>
          </a:p>
          <a:p>
            <a:pPr lvl="1"/>
            <a:r>
              <a:rPr lang="en-US" sz="1800" dirty="0"/>
              <a:t>Observed speedup of a code which has been parallelized, defined as:</a:t>
            </a:r>
          </a:p>
          <a:p>
            <a:pPr marL="0" indent="0">
              <a:buNone/>
            </a:pPr>
            <a:r>
              <a:rPr lang="en-US" sz="2400" dirty="0"/>
              <a:t>		wall-clock time of serial execution</a:t>
            </a:r>
          </a:p>
          <a:p>
            <a:pPr marL="0" indent="0">
              <a:buNone/>
            </a:pPr>
            <a:r>
              <a:rPr lang="en-US" sz="2400" dirty="0"/>
              <a:t>		    -----------------------------------</a:t>
            </a:r>
          </a:p>
          <a:p>
            <a:pPr marL="0" indent="0">
              <a:buNone/>
            </a:pPr>
            <a:r>
              <a:rPr lang="en-US" sz="2400" dirty="0"/>
              <a:t>		wall-clock time of parallel execution</a:t>
            </a:r>
          </a:p>
          <a:p>
            <a:pPr lvl="1"/>
            <a:r>
              <a:rPr lang="en-US" sz="1800" dirty="0"/>
              <a:t>One of the simplest and most widely used indicators for a parallel program's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39506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6989616" cy="405245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/>
              <a:t>Parallel Overhead</a:t>
            </a:r>
          </a:p>
          <a:p>
            <a:pPr lvl="1" algn="just"/>
            <a:r>
              <a:rPr lang="en-US" dirty="0"/>
              <a:t>The amount of time required to coordinate parallel tasks, as opposed to doing useful work. Parallel overhead can include factors such Task start-up time</a:t>
            </a:r>
          </a:p>
          <a:p>
            <a:pPr lvl="2" algn="just"/>
            <a:r>
              <a:rPr lang="en-US" dirty="0"/>
              <a:t>Synchronizations</a:t>
            </a:r>
          </a:p>
          <a:p>
            <a:pPr lvl="2" algn="just"/>
            <a:r>
              <a:rPr lang="en-US" dirty="0"/>
              <a:t>Data communications</a:t>
            </a:r>
          </a:p>
          <a:p>
            <a:pPr lvl="2" algn="just"/>
            <a:r>
              <a:rPr lang="en-US" dirty="0"/>
              <a:t>Software overhead imposed by parallel languages, libraries, operating system, etc.</a:t>
            </a:r>
          </a:p>
          <a:p>
            <a:pPr lvl="2" algn="just"/>
            <a:r>
              <a:rPr lang="en-US" dirty="0"/>
              <a:t>Task termination time</a:t>
            </a:r>
          </a:p>
          <a:p>
            <a:pPr algn="just"/>
            <a:r>
              <a:rPr lang="en-US" b="1" dirty="0"/>
              <a:t>Massively Parallel</a:t>
            </a:r>
          </a:p>
          <a:p>
            <a:pPr lvl="1" algn="just"/>
            <a:r>
              <a:rPr lang="en-US" dirty="0"/>
              <a:t>Refers to the hardware that comprises a given parallel system - having many processing elements. The meaning of "many" keeps increasing, but currently, the largest parallel computers are comprised of processing elements numbering in the hundreds of thousands </a:t>
            </a:r>
          </a:p>
          <a:p>
            <a:pPr algn="just"/>
            <a:r>
              <a:rPr lang="en-US" b="1" dirty="0"/>
              <a:t>Embarrassingly Parallel</a:t>
            </a:r>
          </a:p>
          <a:p>
            <a:pPr lvl="1" algn="just"/>
            <a:r>
              <a:rPr lang="en-US" dirty="0"/>
              <a:t>Solving many similar, but independent tasks simultaneously; little to no need for coordination between the tasks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812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7045034" cy="399703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Scalability </a:t>
            </a:r>
          </a:p>
          <a:p>
            <a:pPr lvl="1" algn="just"/>
            <a:r>
              <a:rPr lang="en-US" dirty="0"/>
              <a:t>Refers to a parallel system's (hardware and/or software) ability to demonstrate a proportionate increase in parallel speedup with the addition of more resources. Factors that contribute to scalability include:</a:t>
            </a:r>
          </a:p>
          <a:p>
            <a:pPr lvl="2" algn="just"/>
            <a:r>
              <a:rPr lang="en-US" dirty="0"/>
              <a:t>Hardware - particularly memory-CPU bandwidths and network communication properties</a:t>
            </a:r>
          </a:p>
          <a:p>
            <a:pPr lvl="2" algn="just"/>
            <a:r>
              <a:rPr lang="en-US" dirty="0"/>
              <a:t>Application algorithm</a:t>
            </a:r>
          </a:p>
          <a:p>
            <a:pPr lvl="2" algn="just"/>
            <a:r>
              <a:rPr lang="en-US" dirty="0"/>
              <a:t>Parallel overhead related</a:t>
            </a:r>
          </a:p>
          <a:p>
            <a:pPr lvl="2" algn="just"/>
            <a:r>
              <a:rPr lang="en-US" dirty="0"/>
              <a:t>Characteristics of your specific application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3076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6A33-3F43-3E73-D231-294BCEE5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Parallel Computing is necessary?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22F8-D245-2DD0-ABF9-A40ECC9DB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36379"/>
            <a:ext cx="4405745" cy="4081174"/>
          </a:xfrm>
        </p:spPr>
        <p:txBody>
          <a:bodyPr/>
          <a:lstStyle/>
          <a:p>
            <a:r>
              <a:rPr lang="en-US" dirty="0"/>
              <a:t>Rise of multi-core computing machines</a:t>
            </a:r>
          </a:p>
          <a:p>
            <a:r>
              <a:rPr lang="en-US" dirty="0"/>
              <a:t>Under-utilization of resources</a:t>
            </a:r>
          </a:p>
          <a:p>
            <a:r>
              <a:rPr lang="en-US" dirty="0"/>
              <a:t>Hyperthreading, introduced by Intel 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34CED-E546-255D-FEF8-321B9E9D1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2506662"/>
            <a:ext cx="3449783" cy="390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A9AF-ED38-C1EC-4B6F-9FEAD7390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B51F-66A5-AFF2-4D99-8B237542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254" y="2418833"/>
            <a:ext cx="4033959" cy="400967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Let’s take a 16-core CPU with hyperthreading and a 256 bit-wide vector unit, commonly found in home desktops. A serial program using a single core and no vectorization only uses 0.8% of the theoretical processing capability of this processor. </a:t>
            </a:r>
          </a:p>
          <a:p>
            <a:r>
              <a:rPr lang="en-US" dirty="0"/>
              <a:t>The calculation is </a:t>
            </a:r>
          </a:p>
          <a:p>
            <a:pPr lvl="1"/>
            <a:r>
              <a:rPr lang="en-US" dirty="0"/>
              <a:t>16 cores × 2 </a:t>
            </a:r>
            <a:r>
              <a:rPr lang="en-US" dirty="0" err="1"/>
              <a:t>hyperthreads</a:t>
            </a:r>
            <a:r>
              <a:rPr lang="en-US" dirty="0"/>
              <a:t> × (256 bit-wide vector unit)/(64-bit double) = 128-way parallelism</a:t>
            </a:r>
            <a:br>
              <a:rPr lang="en-US" dirty="0"/>
            </a:br>
            <a:r>
              <a:rPr lang="en-US" dirty="0"/>
              <a:t>where 1 serial path/128 parallel paths = .008 or 0.8%. The following figure shows that this is a small fraction of the total CPU processing power. </a:t>
            </a:r>
            <a:endParaRPr lang="LID4096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C3D21D-6A1B-E850-C13C-F2D0E9A0F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213" y="2418833"/>
            <a:ext cx="3865417" cy="34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4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33CE-0BAB-AEBB-D6A2-8DE65B01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Parallel Computing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8C779-2318-968C-F37D-4FB08FC0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Lesser execution time with multiple cores</a:t>
            </a:r>
          </a:p>
          <a:p>
            <a:r>
              <a:rPr lang="en-US" dirty="0"/>
              <a:t>Solve larger and complex problems </a:t>
            </a:r>
          </a:p>
          <a:p>
            <a:r>
              <a:rPr lang="en-US" dirty="0"/>
              <a:t>Energy efficient system</a:t>
            </a:r>
          </a:p>
          <a:p>
            <a:r>
              <a:rPr lang="en-US" dirty="0"/>
              <a:t>Cost reduction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44534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vs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5867398" cy="4121723"/>
          </a:xfrm>
        </p:spPr>
        <p:txBody>
          <a:bodyPr/>
          <a:lstStyle/>
          <a:p>
            <a:pPr algn="just"/>
            <a:r>
              <a:rPr lang="en-US" sz="2400" dirty="0"/>
              <a:t>An application consists of one or more </a:t>
            </a:r>
            <a:r>
              <a:rPr lang="en-US" sz="2400" dirty="0" smtClean="0"/>
              <a:t>processes.</a:t>
            </a:r>
          </a:p>
          <a:p>
            <a:pPr algn="just"/>
            <a:r>
              <a:rPr lang="en-US" sz="2400" dirty="0" smtClean="0"/>
              <a:t>Both </a:t>
            </a:r>
            <a:r>
              <a:rPr lang="en-US" sz="2400" dirty="0"/>
              <a:t>processes and threads are independent sequences of execution </a:t>
            </a:r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typical difference is that threads (of the same process) run in a shared memory space, while processes run in separate memory spaces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4549919"/>
            <a:ext cx="2207202" cy="193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22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945" y="2362200"/>
            <a:ext cx="6802582" cy="435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91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5B9A-D615-4D78-9D1C-51119334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9191" y="2306468"/>
            <a:ext cx="10515600" cy="1325563"/>
          </a:xfrm>
        </p:spPr>
        <p:txBody>
          <a:bodyPr/>
          <a:lstStyle/>
          <a:p>
            <a:pPr algn="ctr"/>
            <a:r>
              <a:rPr lang="en-US" b="1" i="1" dirty="0"/>
              <a:t>That’s all for today!! </a:t>
            </a:r>
          </a:p>
        </p:txBody>
      </p:sp>
    </p:spTree>
    <p:extLst>
      <p:ext uri="{BB962C8B-B14F-4D97-AF65-F5344CB8AC3E}">
        <p14:creationId xmlns:p14="http://schemas.microsoft.com/office/powerpoint/2010/main" val="199080996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5C8782E-8FD1-4DD5-B1D4-2219BDDE01B3}" vid="{796131F4-60EA-4B71-AF3A-7C794936D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424</TotalTime>
  <Words>1373</Words>
  <Application>Microsoft Office PowerPoint</Application>
  <PresentationFormat>On-screen Show (4:3)</PresentationFormat>
  <Paragraphs>144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Carlito</vt:lpstr>
      <vt:lpstr>FranklinGothic-Demi</vt:lpstr>
      <vt:lpstr>NewBaskerville-Italic</vt:lpstr>
      <vt:lpstr>NewBaskerville-Roman</vt:lpstr>
      <vt:lpstr>Times New Roman</vt:lpstr>
      <vt:lpstr>Wingdings</vt:lpstr>
      <vt:lpstr>Theme1</vt:lpstr>
      <vt:lpstr>Parallel &amp; Distributed Computing Lecture 3: General Parallelism Terms </vt:lpstr>
      <vt:lpstr>von Neumann Architecture</vt:lpstr>
      <vt:lpstr>Von Neumann Architecture Four main Components</vt:lpstr>
      <vt:lpstr>Flynn's Classical Taxonomy</vt:lpstr>
      <vt:lpstr>SISD (Scalar Processing)</vt:lpstr>
      <vt:lpstr>SIMD (Vector Processing)</vt:lpstr>
      <vt:lpstr>Scalar vs Vector (SIMD)</vt:lpstr>
      <vt:lpstr>Multiple Instruction, Single Data (MISD)</vt:lpstr>
      <vt:lpstr>Multiple Instruction, Multiple Data (MIMD)</vt:lpstr>
      <vt:lpstr>MIMD Classification</vt:lpstr>
      <vt:lpstr>Shared vs Distributed Memory</vt:lpstr>
      <vt:lpstr>Some General Parallel Terminology</vt:lpstr>
      <vt:lpstr>PowerPoint Presentation</vt:lpstr>
      <vt:lpstr>Some General Parallel Terminology</vt:lpstr>
      <vt:lpstr>Some General Parallel Terminology</vt:lpstr>
      <vt:lpstr>Some General Parallel Terminology</vt:lpstr>
      <vt:lpstr>Some General Parallel Terminology</vt:lpstr>
      <vt:lpstr>Some General Parallel Terminology</vt:lpstr>
      <vt:lpstr>Why Parallel Computing is necessary?</vt:lpstr>
      <vt:lpstr>Example</vt:lpstr>
      <vt:lpstr>Benefits of Parallel Computing</vt:lpstr>
      <vt:lpstr>Process vs threads</vt:lpstr>
      <vt:lpstr>PowerPoint Presentation</vt:lpstr>
      <vt:lpstr>That’s all for today!!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Mateen Yaqoob</dc:creator>
  <cp:lastModifiedBy>Moorche</cp:lastModifiedBy>
  <cp:revision>64</cp:revision>
  <dcterms:created xsi:type="dcterms:W3CDTF">2020-09-03T08:42:31Z</dcterms:created>
  <dcterms:modified xsi:type="dcterms:W3CDTF">2023-02-20T03:02:20Z</dcterms:modified>
</cp:coreProperties>
</file>