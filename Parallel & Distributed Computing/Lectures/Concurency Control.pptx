
<file path=[Content_Types].xml><?xml version="1.0" encoding="utf-8"?>
<Types xmlns="http://schemas.openxmlformats.org/package/2006/content-types">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1" r:id="rId1"/>
  </p:sldMasterIdLst>
  <p:notesMasterIdLst>
    <p:notesMasterId r:id="rId39"/>
  </p:notesMasterIdLst>
  <p:sldIdLst>
    <p:sldId id="399" r:id="rId2"/>
    <p:sldId id="393" r:id="rId3"/>
    <p:sldId id="394" r:id="rId4"/>
    <p:sldId id="395" r:id="rId5"/>
    <p:sldId id="396" r:id="rId6"/>
    <p:sldId id="397" r:id="rId7"/>
    <p:sldId id="400" r:id="rId8"/>
    <p:sldId id="398" r:id="rId9"/>
    <p:sldId id="260" r:id="rId10"/>
    <p:sldId id="261" r:id="rId11"/>
    <p:sldId id="379" r:id="rId12"/>
    <p:sldId id="380" r:id="rId13"/>
    <p:sldId id="381" r:id="rId14"/>
    <p:sldId id="382" r:id="rId15"/>
    <p:sldId id="262" r:id="rId16"/>
    <p:sldId id="263" r:id="rId17"/>
    <p:sldId id="265" r:id="rId18"/>
    <p:sldId id="267" r:id="rId19"/>
    <p:sldId id="383" r:id="rId20"/>
    <p:sldId id="384" r:id="rId21"/>
    <p:sldId id="385" r:id="rId22"/>
    <p:sldId id="268" r:id="rId23"/>
    <p:sldId id="269" r:id="rId24"/>
    <p:sldId id="270" r:id="rId25"/>
    <p:sldId id="271" r:id="rId26"/>
    <p:sldId id="272" r:id="rId27"/>
    <p:sldId id="273" r:id="rId28"/>
    <p:sldId id="274" r:id="rId29"/>
    <p:sldId id="279" r:id="rId30"/>
    <p:sldId id="296" r:id="rId31"/>
    <p:sldId id="297" r:id="rId32"/>
    <p:sldId id="298" r:id="rId33"/>
    <p:sldId id="387" r:id="rId34"/>
    <p:sldId id="389" r:id="rId35"/>
    <p:sldId id="390" r:id="rId36"/>
    <p:sldId id="391" r:id="rId37"/>
    <p:sldId id="392" r:id="rId3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1320" y="60"/>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13793" units="1/cm"/>
          <inkml:channelProperty channel="T" name="resolution" value="1" units="1/dev"/>
        </inkml:channelProperties>
      </inkml:inkSource>
      <inkml:timestamp xml:id="ts0" timeString="2023-05-22T06:25:56.097"/>
    </inkml:context>
    <inkml:brush xml:id="br0">
      <inkml:brushProperty name="width" value="0.05292" units="cm"/>
      <inkml:brushProperty name="height" value="0.05292" units="cm"/>
      <inkml:brushProperty name="color" value="#FF0000"/>
    </inkml:brush>
  </inkml:definitions>
  <inkml:trace contextRef="#ctx0" brushRef="#br0">4821 12151 0,'0'78'187,"0"-39"-171,0 40 0,0-1-1,0 0-15,0-38 16,0-1-1,0 39 1,0 1-16,0-40 16,0 39-1,39 1 1,-39-1 0,0-39-16,0 0 15,0 40 1,0-40-1,0 0-15,0 40 16,0-1 0,0 0-1,0-38-15,40-1 16,-40 39 0,0 1-1,0-1 1,0-39-16,0 40 15,0 38 1,0-38 0,0-40-16,0 39 15,0-39 1,39 1 0,-39-1 15</inkml:trace>
  <inkml:trace contextRef="#ctx0" brushRef="#br0" timeOffset="359.3472">3920 13170 0,'0'117'109,"39"1"-93,-39 0-1,39-1 1,0-78-16,0 40 15,-39-40 1,0 0 0,0-78 31</inkml:trace>
  <inkml:trace contextRef="#ctx0" brushRef="#br0" timeOffset="1140.5759">3292 13170 0,'40'-39'94,"38"39"-79,157-79 1,-39 1 0,39-40-16,1 1 15,-40-1 1,-118 40-1,-39 38 1,0 40-16,-78 0 109</inkml:trace>
  <inkml:trace contextRef="#ctx0" brushRef="#br0" timeOffset="1968.6466">4194 13327 0,'0'39'109,"0"78"-93,39 1-1,0 0 1,1-40 0,-40 79-16,39-79 15,0-39 1</inkml:trace>
  <inkml:trace contextRef="#ctx0" brushRef="#br0" timeOffset="3437.2622">7330 11563 0,'39'0'94,"39"0"-79,40 0-15,39-39 16,117 39 0,1-40-1,38 1-15,40 0 16,0 0-1,-1 0 1,40-40 0,-39 40-16,0-39 15,-79 78 1,-117 0 0,-78 0-16</inkml:trace>
  <inkml:trace contextRef="#ctx0" brushRef="#br0" timeOffset="4327.857">9799 9799 0,'0'78'250,"0"1"-235,39 38 1,40 40-16,-79 0 16,78-40-1,-39 1 1,-39-40-1,0-38-15,40-40 16</inkml:trace>
  <inkml:trace contextRef="#ctx0" brushRef="#br0" timeOffset="5359.0372">9250 9995 0,'0'-39'63,"79"-1"-48,38 1 1,1-39-1,39-1-15,-118 79 16,0-39 15,-39 0 141,39 39-94,-39-39-15,79 0-48,38-40-15,-38 1 16,-40 78 0,0-39-1</inkml:trace>
  <inkml:trace contextRef="#ctx0" brushRef="#br0" timeOffset="6608.8871">10270 10230 0,'0'-39'78,"39"0"-62,78-40-1,1 40 1,-40 39 0,1 0-16,-40 0 15,0 0 1,0 0 0,-39 78-1,0-38 1,0 77-1,0-38 1,0 38-16,0 1 16,-39-79-1,39 0 1,0 0-16,79-78 281,117-78-265,78-79-1,0 78 1,-38 0-16,-40 79 16,-157 0-1,0 39 1,-39-39 0</inkml:trace>
  <inkml:trace contextRef="#ctx0" brushRef="#br0" timeOffset="10624.3016">5409 12464 0,'39'0'78,"1"0"-63,-1 0 1,0 0 0,0 0 31,0 0-47,1 0 46,-40 79-30,39-79-16,-39 39 16,39-39-1,-39 39 1,0 0 0,39 0-1,-39 1 16,0 38-15,0-39 15,39-39-31,-39 39 32,0 1-17,0-1 1,0 0-1,0 39 17,0-38-17,0-1 1,0 0 0,0 0-16,0 0 15,0 1 1,-39-1 15,0-39-15,39 39-1,0 0 1,-39-39 0,0 0 46,-40 39-46,1-39-1,-1 0-15,1 0 16,0 0 0,-1 0-1,40 0 1,0 0 15,0 0-15,-1 0-1,1-39 1,0 39 0,39-39-16,-39 0 15,0 39 1,39-39-1,0-1 1,-40 40-16,40-78 16,0 39 15,0 0-31,0-1 16,0 1-1,0-78 1,0 77-1,40 1-15,-40-39 16,0 39 15,39 39 16,-39-40-31,39 1-1,-39 0 1,78 39 0,-38-118-16,38 118 15,-78-39 1</inkml:trace>
  <inkml:trace contextRef="#ctx0" brushRef="#br0" timeOffset="14311.5166">8075 11759 0,'0'-39'79,"39"39"-64,0-40 1,39 40-1,1 0 1,-1 0 0,-39-39-16,1 39 15,77 0 1,-78 0 0,1 0-16,-1 0 15,0 0 1,0 0-1,0 39-15,40 1 32,-1-1-1,-39 0-15,1 39 15,-40-39-16,0 1 1,39-1 0,-39 0-1,0 0-15,0 0 16,0 1 0,0-1-1,0 0-15,0 0 16,0 40-1,0-40 1,0 0-16,0 0 16,0 0-1,-39 1 1,39-1 15,-79 0 16,40-39-31,-39 78-1,-1-78 1,40 40 0,-39-40-1,-40 0 1,0 0-16,40 0 15,0 0 1,-40 0 0,79 0-1,-40 0-15,40-79 16,-39 79 0,78-39-1,-39 0-15,39 0 16,-40-40 15,40 1-15,-39 39-16,39-1 15,0-38 1,0 39 0,0-40-16,0 40 15,0 0 1,0 0-1</inkml:trace>
  <inkml:trace contextRef="#ctx0" brushRef="#br0" timeOffset="15639.5275">8898 12817 0,'0'39'109,"39"-39"-93,-39 39 0,78 1-1,-78-1-15,79 39 16,-79-39 15,39-39 0,0 0 32,39-117-48,40-1-15,78-78 16,78-117 0,79-1-1,-157 79 1,-78 78-16,-79 118 16,-39 0-1</inkml:trace>
  <inkml:trace contextRef="#ctx0" brushRef="#br0" timeOffset="23107.8205">5488 13562 0,'39'-39'93,"0"39"-93,0 0 16,0 0 0,40 0-1,-40 0-15,0 0 16,0 0 15,1 0-15,-1 0-16,0 0 15,0 39 17,0 0-17,0 0 1,1 0-1,-40 1 1,0-1 0,39 0 15,-39 0-15,0 40 15,0-40-31,39 0 31,-39 0-15,0 0-1,0 1 1,0 38 15,0-39 0,0 0-15,-39 1 0,39-1-16,-39 0 15,-40 39 1,40 1 0,0-40-16,39 39 15,-39-78 1,0 0-1,-1 0 64,-38 0-64,39 0 1,0 0-16,-40 40 15,40-40 1,0 0 0,0 0-16,-1 0 47,1 0-32,0 0 1,0-40-1,0 1 1,39 0 0,-40 0 31,1 39-47,39-39 15,0-1 1,-39 1-1,39 0 1,0 0 0,0 0-1,0-40-15,0 40 32,-39-39-17,39 38 1,0 1-16,0-39 15,0 39 17,0-1-32,0 1 15,0 0 32,0 0 1500,0 0-1297</inkml:trace>
  <inkml:trace contextRef="#ctx0" brushRef="#br0" timeOffset="29498.0079">8310 11720 0,'39'0'109,"0"0"-93,0 0 0,1 0-1,-1-40-15,0 40 16,0 0-1,0 0 17,1 0 15,38 0-32,-78 40 1,0-1-1,39-39 1,-39 39 0,39 0 15,-39 0-15,40-39-1,-40 39 1,0 1-16,39-40 15,-39 39 1,0 0 0,0 0 15,0 0 0,0 1 16,0-1-31,0 0-1,0 0 1,0 0-16,0 1 16,0-1 30,-39-39 1,-1 39-31,1 0 0,0-39-1,39 39 16,-39-39 16,-40 40-15,-38-40-17,117 39 1,-39-39-1,-1 0 1,1 0 0,0 0 15,0 0 0,-40 0-15,1 0-1,39 0 17,0 0-1,39-39-15,0-1-1,0 1-15,-40-39 16,40-1-1,0 40 1,0 0-16,0 0 31,0-40-15,0 40 0,0 0 30,40 0-46,-40 0 16,39 39 31,-39-40 594,39 1-532,0 39-109,-78 0 266</inkml:trace>
  <inkml:trace contextRef="#ctx0" brushRef="#br0" timeOffset="31560.3352">8192 13758 0,'0'0'0,"0"-39"0,0-1 32,0 1-17,39 0 110,40 0-109,-1 39-1,-39 0 1,1 0-16,-1 0 31,0 0-15,0 0 0,0 0-1,1 0 1,-1 0-1,0 39 1,0 0 0,0 0-1,1 1-15,-40-1 16,39 0 0,-39 0-1,39-39-15,-39 79 16,0-40-1,0 39 17,0-39-32,0 1 15,0-1 1,0 0 0,0 39-16,0-38 15,0-1 1,0 0-1,0 0-15,0 0 16,0 1 0,0-1-1,0 0 1,-39 0-16,-40 40 16,40-79-1,0 39 1,39 0-16,-39-39 15,-40 0 17,-38 0-17,-1 0-15,40 0 16,-79 0 0,118-39-1,-40 0-15,1 39 16,-40-79-1,40 40 1,39-39 0,-40 38-16,40 1 15,0 39 1,39-78 0,-39-1-1,39 40 1,0 0-1,0-39 1,0-1-16,0-78 16,78-39-1,79 0 1,-79 79-16,-38 38 16,-1 79-1,0 0 16,0 0-31,0 0 16,1 118 0</inkml:trace>
  <inkml:trace contextRef="#ctx0" brushRef="#br0" timeOffset="50824.6458">10387 12660 0,'0'-39'94,"39"39"-79,1 0-15,-1 0 16,0 0 0,0 0-1,0 0-15,1 0 16,-1 0 0,0 0 15,0 0-31,0 0 15,1 0 1,38 0 0,-78 39-1,39-39 1,0 39 0,1 1-1,-1-40 1,-39 39-1,39-39 1,-39 39 0,0 0-1,39-39 1,-39 39 0,39 1 30,1-1-14,-40 0-17,0 0 1,39 0 15,-39 1 0,0-1-15,0 0 0,0 0 15,0 0 0,0 1-15,0-1 15,0 0-31,-39 0 16,-1 0-1,40 1 1,-39-1-16,0-39 31,0 0-15,39 39 31,-39-39-32,-79 78-15,79-38 16,0-40 0,-1 0-1,40 39 1,-78-39-1,39 0 17,0 0-32,-40 0 15,40 0 1,0 0 0,0 0-16,-40 0 46,40 0-46,-39 0 16,-40 0 0,40 0-1,-1-39 1,40 39-16,39-40 16,0 1 15,-39 0-16,39 0 1,-39-40 0,39 40-16,0 0 15,-40 0 1,40 0 0,0-1-1,0 1-15,0-39 16,0-40-1,40 40 1,-1 39-16,0-1 16,0 40 15,-39-39-15</inkml:trace>
  <inkml:trace contextRef="#ctx0" brushRef="#br0" timeOffset="55121.2205">4900 13483 0,'78'0'125,"0"0"-109,40 0-16,0-39 15,-1 39 1,40 0 0,-39 0-16,-1 0 15,-38 0 1,38 118 0,1-1-1,-79-38-15,0 38 16,0-77-1,-39-1 1,0 0 0,0 0 15,0 0-31,0 79 16,0-40-1,0 1 1,0-1-16,0 40 15,0-40 1,0-39 0,0 79-1,0-79 1,0 0 15,-78-39 0,-40 0-15,1 0-16,-40 0 16,0 0-1,40 0 1,-1 0 0,-39-39-16,0-118 15,79-78 1,78 39-1</inkml:trace>
  <inkml:trace contextRef="#ctx0" brushRef="#br0" timeOffset="57761.6646">10583 13405 0,'39'0'47,"1"0"-31,38 0-1,0 0 1,40 0-1,-79 39-15,40-39 16,-1 79 0,-39-40-1,0 39-15,1 1 16,38-1 0,-78 0-1,78 1-15,-38 38 16,-40-77-1,0-1 1,0 39 0,0 1-16,0-1 15,0 40 1,0-1 0,0 1-16,0-40 15,-79 1 1,79-1-1,-39-39-15,0 0 16,-40 0 0,40 1-1,0-40 1,0 0-16,0 0 16,-1 39-1,-77-39 1,78 0-16,-79 0 15,0 0 1,-38 0 0,38 0-1,0-39-15,40-1 16,0 1 0,38-39-1,-38 0-15,39-1 16,0-38-1,-1 38 1,1-38 0,39 77-16,0-38 15,0 39 1,0 0 0,157-157 30,78 78-30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6D7E41-47D1-4121-8803-41640AC5BADC}" type="datetimeFigureOut">
              <a:rPr lang="en-US" smtClean="0"/>
              <a:t>5/22/2023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088F2-7E6E-4A3E-B89E-EDD841124669}" type="slidenum">
              <a:rPr lang="en-US" smtClean="0"/>
              <a:t>‹#›</a:t>
            </a:fld>
            <a:endParaRPr lang="en-US"/>
          </a:p>
        </p:txBody>
      </p:sp>
    </p:spTree>
    <p:extLst>
      <p:ext uri="{BB962C8B-B14F-4D97-AF65-F5344CB8AC3E}">
        <p14:creationId xmlns:p14="http://schemas.microsoft.com/office/powerpoint/2010/main" val="237422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579176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356960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071007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3865091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1722183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070927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669631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845789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803777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1688711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970955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body" idx="1"/>
          </p:nvPr>
        </p:nvSpPr>
        <p:spPr>
          <a:ln/>
        </p:spPr>
        <p:txBody>
          <a:bodyPr/>
          <a:lstStyle/>
          <a:p>
            <a:endParaRPr lang="en-US"/>
          </a:p>
        </p:txBody>
      </p:sp>
      <p:sp>
        <p:nvSpPr>
          <p:cNvPr id="81923"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3074750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697DB89-CDD6-472D-8A6C-DAA95BB1FA3E}"/>
              </a:ext>
            </a:extLst>
          </p:cNvPr>
          <p:cNvGrpSpPr>
            <a:grpSpLocks/>
          </p:cNvGrpSpPr>
          <p:nvPr/>
        </p:nvGrpSpPr>
        <p:grpSpPr bwMode="auto">
          <a:xfrm>
            <a:off x="0" y="0"/>
            <a:ext cx="5867400" cy="6858000"/>
            <a:chOff x="0" y="0"/>
            <a:chExt cx="3696" cy="4320"/>
          </a:xfrm>
        </p:grpSpPr>
        <p:sp>
          <p:nvSpPr>
            <p:cNvPr id="5" name="Rectangle 3">
              <a:extLst>
                <a:ext uri="{FF2B5EF4-FFF2-40B4-BE49-F238E27FC236}">
                  <a16:creationId xmlns:a16="http://schemas.microsoft.com/office/drawing/2014/main" id="{2D1A2CC5-F66F-4FF1-9C12-E4C07F549013}"/>
                </a:ext>
              </a:extLst>
            </p:cNvPr>
            <p:cNvSpPr>
              <a:spLocks noChangeArrowheads="1"/>
            </p:cNvSpPr>
            <p:nvPr/>
          </p:nvSpPr>
          <p:spPr bwMode="auto">
            <a:xfrm>
              <a:off x="0" y="0"/>
              <a:ext cx="28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kumimoji="1" lang="en-PK" altLang="en-PK" sz="2400">
                <a:latin typeface="Times New Roman" panose="02020603050405020304" pitchFamily="18" charset="0"/>
              </a:endParaRPr>
            </a:p>
          </p:txBody>
        </p:sp>
        <p:sp>
          <p:nvSpPr>
            <p:cNvPr id="6" name="AutoShape 4">
              <a:extLst>
                <a:ext uri="{FF2B5EF4-FFF2-40B4-BE49-F238E27FC236}">
                  <a16:creationId xmlns:a16="http://schemas.microsoft.com/office/drawing/2014/main" id="{94194141-4B13-4C0B-9E9E-4B6DF58F22B6}"/>
                </a:ext>
              </a:extLst>
            </p:cNvPr>
            <p:cNvSpPr>
              <a:spLocks noChangeArrowheads="1"/>
            </p:cNvSpPr>
            <p:nvPr/>
          </p:nvSpPr>
          <p:spPr bwMode="white">
            <a:xfrm>
              <a:off x="432" y="624"/>
              <a:ext cx="3264" cy="1200"/>
            </a:xfrm>
            <a:prstGeom prst="roundRect">
              <a:avLst>
                <a:gd name="adj" fmla="val 50000"/>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kumimoji="1" lang="en-PK" altLang="en-PK" sz="2400">
                <a:latin typeface="Times New Roman" panose="02020603050405020304" pitchFamily="18" charset="0"/>
              </a:endParaRPr>
            </a:p>
          </p:txBody>
        </p:sp>
      </p:grpSp>
      <p:grpSp>
        <p:nvGrpSpPr>
          <p:cNvPr id="7" name="Group 5">
            <a:extLst>
              <a:ext uri="{FF2B5EF4-FFF2-40B4-BE49-F238E27FC236}">
                <a16:creationId xmlns:a16="http://schemas.microsoft.com/office/drawing/2014/main" id="{4CCC10C4-1070-49FF-9EC0-FC19F4D37B5A}"/>
              </a:ext>
            </a:extLst>
          </p:cNvPr>
          <p:cNvGrpSpPr>
            <a:grpSpLocks/>
          </p:cNvGrpSpPr>
          <p:nvPr/>
        </p:nvGrpSpPr>
        <p:grpSpPr bwMode="auto">
          <a:xfrm>
            <a:off x="3632200" y="4889500"/>
            <a:ext cx="4876800" cy="319088"/>
            <a:chOff x="2288" y="3080"/>
            <a:chExt cx="3072" cy="201"/>
          </a:xfrm>
        </p:grpSpPr>
        <p:sp>
          <p:nvSpPr>
            <p:cNvPr id="8" name="AutoShape 6">
              <a:extLst>
                <a:ext uri="{FF2B5EF4-FFF2-40B4-BE49-F238E27FC236}">
                  <a16:creationId xmlns:a16="http://schemas.microsoft.com/office/drawing/2014/main" id="{95304FCF-25DE-4BD8-A83B-51D9A6ECE647}"/>
                </a:ext>
              </a:extLst>
            </p:cNvPr>
            <p:cNvSpPr>
              <a:spLocks noChangeArrowheads="1"/>
            </p:cNvSpPr>
            <p:nvPr/>
          </p:nvSpPr>
          <p:spPr bwMode="auto">
            <a:xfrm flipH="1">
              <a:off x="2288" y="3080"/>
              <a:ext cx="2914"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PK" altLang="en-PK" sz="1800"/>
            </a:p>
          </p:txBody>
        </p:sp>
        <p:sp>
          <p:nvSpPr>
            <p:cNvPr id="9" name="AutoShape 7">
              <a:extLst>
                <a:ext uri="{FF2B5EF4-FFF2-40B4-BE49-F238E27FC236}">
                  <a16:creationId xmlns:a16="http://schemas.microsoft.com/office/drawing/2014/main" id="{16389DA0-8CD8-4422-9A8F-A93463A81D39}"/>
                </a:ext>
              </a:extLst>
            </p:cNvPr>
            <p:cNvSpPr>
              <a:spLocks noChangeArrowheads="1"/>
            </p:cNvSpPr>
            <p:nvPr/>
          </p:nvSpPr>
          <p:spPr bwMode="auto">
            <a:xfrm>
              <a:off x="5196" y="3080"/>
              <a:ext cx="164"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PK" altLang="en-PK" sz="1800"/>
            </a:p>
          </p:txBody>
        </p:sp>
      </p:grpSp>
      <p:sp>
        <p:nvSpPr>
          <p:cNvPr id="5128" name="Rectangle 8"/>
          <p:cNvSpPr>
            <a:spLocks noGrp="1" noChangeArrowheads="1"/>
          </p:cNvSpPr>
          <p:nvPr>
            <p:ph type="subTitle" idx="1"/>
          </p:nvPr>
        </p:nvSpPr>
        <p:spPr>
          <a:xfrm>
            <a:off x="4673601" y="2927350"/>
            <a:ext cx="4013200" cy="1822450"/>
          </a:xfrm>
        </p:spPr>
        <p:txBody>
          <a:bodyPr anchor="b"/>
          <a:lstStyle>
            <a:lvl1pPr marL="0" indent="0">
              <a:buFont typeface="Wingdings" pitchFamily="2" charset="2"/>
              <a:buNone/>
              <a:defRPr>
                <a:solidFill>
                  <a:schemeClr val="tx2"/>
                </a:solidFill>
              </a:defRPr>
            </a:lvl1pPr>
          </a:lstStyle>
          <a:p>
            <a:r>
              <a:rPr lang="en-US" smtClean="0"/>
              <a:t>Click to edit Master subtitle style</a:t>
            </a:r>
            <a:endParaRPr lang="en-US"/>
          </a:p>
        </p:txBody>
      </p:sp>
      <p:sp>
        <p:nvSpPr>
          <p:cNvPr id="5132"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smtClean="0"/>
              <a:t>Click to edit Master title style</a:t>
            </a:r>
            <a:endParaRPr lang="en-US"/>
          </a:p>
        </p:txBody>
      </p:sp>
      <p:sp>
        <p:nvSpPr>
          <p:cNvPr id="10" name="Date Placeholder 9">
            <a:extLst>
              <a:ext uri="{FF2B5EF4-FFF2-40B4-BE49-F238E27FC236}">
                <a16:creationId xmlns:a16="http://schemas.microsoft.com/office/drawing/2014/main" id="{E9144541-1081-4B27-9E4B-DD51FC1DCE6A}"/>
              </a:ext>
            </a:extLst>
          </p:cNvPr>
          <p:cNvSpPr>
            <a:spLocks noGrp="1" noChangeArrowheads="1"/>
          </p:cNvSpPr>
          <p:nvPr>
            <p:ph type="dt" sz="quarter" idx="10"/>
          </p:nvPr>
        </p:nvSpPr>
        <p:spPr/>
        <p:txBody>
          <a:bodyPr/>
          <a:lstStyle>
            <a:lvl1pPr>
              <a:defRPr>
                <a:solidFill>
                  <a:schemeClr val="bg1"/>
                </a:solidFill>
              </a:defRPr>
            </a:lvl1pPr>
          </a:lstStyle>
          <a:p>
            <a:pPr>
              <a:defRPr/>
            </a:pPr>
            <a:fld id="{DEA2DDD3-E1F1-46A7-8DB6-3C45A4505E72}" type="datetime1">
              <a:rPr lang="en-US" smtClean="0"/>
              <a:pPr>
                <a:defRPr/>
              </a:pPr>
              <a:t>5/22/2023</a:t>
            </a:fld>
            <a:endParaRPr lang="en-US"/>
          </a:p>
        </p:txBody>
      </p:sp>
      <p:sp>
        <p:nvSpPr>
          <p:cNvPr id="11" name="Footer Placeholder 10">
            <a:extLst>
              <a:ext uri="{FF2B5EF4-FFF2-40B4-BE49-F238E27FC236}">
                <a16:creationId xmlns:a16="http://schemas.microsoft.com/office/drawing/2014/main" id="{97755DD8-7CD3-439F-A290-5D547A54A737}"/>
              </a:ext>
            </a:extLst>
          </p:cNvPr>
          <p:cNvSpPr>
            <a:spLocks noGrp="1" noChangeArrowheads="1"/>
          </p:cNvSpPr>
          <p:nvPr>
            <p:ph type="ftr" sz="quarter" idx="11"/>
          </p:nvPr>
        </p:nvSpPr>
        <p:spPr/>
        <p:txBody>
          <a:bodyPr/>
          <a:lstStyle>
            <a:lvl1pPr algn="r">
              <a:defRPr/>
            </a:lvl1pPr>
          </a:lstStyle>
          <a:p>
            <a:pPr>
              <a:defRPr/>
            </a:pPr>
            <a:r>
              <a:rPr lang="en-US" smtClean="0"/>
              <a:t>MS Thesis: Secure Mechanism for Handling Targeted Attacks in WMNs</a:t>
            </a:r>
            <a:endParaRPr lang="en-US"/>
          </a:p>
        </p:txBody>
      </p:sp>
      <p:sp>
        <p:nvSpPr>
          <p:cNvPr id="12" name="Slide Number Placeholder 11">
            <a:extLst>
              <a:ext uri="{FF2B5EF4-FFF2-40B4-BE49-F238E27FC236}">
                <a16:creationId xmlns:a16="http://schemas.microsoft.com/office/drawing/2014/main" id="{2137CD04-9D5B-417F-A66B-C38A4D2D5246}"/>
              </a:ext>
            </a:extLst>
          </p:cNvPr>
          <p:cNvSpPr>
            <a:spLocks noGrp="1" noChangeArrowheads="1"/>
          </p:cNvSpPr>
          <p:nvPr>
            <p:ph type="sldNum" sz="quarter" idx="12"/>
          </p:nvPr>
        </p:nvSpPr>
        <p:spPr>
          <a:xfrm>
            <a:off x="76201" y="6248400"/>
            <a:ext cx="587375" cy="488950"/>
          </a:xfrm>
        </p:spPr>
        <p:txBody>
          <a:bodyPr anchorCtr="0"/>
          <a:lstStyle>
            <a:lvl1pPr>
              <a:defRPr/>
            </a:lvl1pPr>
          </a:lstStyle>
          <a:p>
            <a:pPr>
              <a:defRPr/>
            </a:pPr>
            <a:fld id="{3E172366-4680-453B-8CE0-51055CC15387}" type="slidenum">
              <a:rPr lang="en-US" altLang="en-US" smtClean="0"/>
              <a:pPr>
                <a:defRPr/>
              </a:pPr>
              <a:t>‹#›</a:t>
            </a:fld>
            <a:endParaRPr lang="en-US" altLang="en-US"/>
          </a:p>
        </p:txBody>
      </p:sp>
    </p:spTree>
    <p:extLst>
      <p:ext uri="{BB962C8B-B14F-4D97-AF65-F5344CB8AC3E}">
        <p14:creationId xmlns:p14="http://schemas.microsoft.com/office/powerpoint/2010/main" val="2000217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a:extLst>
              <a:ext uri="{FF2B5EF4-FFF2-40B4-BE49-F238E27FC236}">
                <a16:creationId xmlns:a16="http://schemas.microsoft.com/office/drawing/2014/main" id="{6D41561C-CEBF-48F4-9E28-C4482E17CA74}"/>
              </a:ext>
            </a:extLst>
          </p:cNvPr>
          <p:cNvSpPr>
            <a:spLocks noGrp="1" noChangeArrowheads="1"/>
          </p:cNvSpPr>
          <p:nvPr>
            <p:ph type="dt" sz="half" idx="10"/>
          </p:nvPr>
        </p:nvSpPr>
        <p:spPr>
          <a:ln/>
        </p:spPr>
        <p:txBody>
          <a:bodyPr/>
          <a:lstStyle>
            <a:lvl1pPr>
              <a:defRPr/>
            </a:lvl1pPr>
          </a:lstStyle>
          <a:p>
            <a:pPr>
              <a:defRPr/>
            </a:pPr>
            <a:fld id="{3916A009-F653-4DB9-B522-DAA31374DFAC}" type="datetime1">
              <a:rPr lang="en-US" smtClean="0"/>
              <a:pPr>
                <a:defRPr/>
              </a:pPr>
              <a:t>5/22/2023</a:t>
            </a:fld>
            <a:endParaRPr lang="en-US"/>
          </a:p>
        </p:txBody>
      </p:sp>
      <p:sp>
        <p:nvSpPr>
          <p:cNvPr id="5" name="Rectangle 12">
            <a:extLst>
              <a:ext uri="{FF2B5EF4-FFF2-40B4-BE49-F238E27FC236}">
                <a16:creationId xmlns:a16="http://schemas.microsoft.com/office/drawing/2014/main" id="{0E5660E3-240B-41E3-888C-1B88C6F558A9}"/>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6" name="Rectangle 13">
            <a:extLst>
              <a:ext uri="{FF2B5EF4-FFF2-40B4-BE49-F238E27FC236}">
                <a16:creationId xmlns:a16="http://schemas.microsoft.com/office/drawing/2014/main" id="{59180715-2C5B-4D99-B35D-5CB9C8F567D7}"/>
              </a:ext>
            </a:extLst>
          </p:cNvPr>
          <p:cNvSpPr>
            <a:spLocks noGrp="1" noChangeArrowheads="1"/>
          </p:cNvSpPr>
          <p:nvPr>
            <p:ph type="sldNum" sz="quarter" idx="12"/>
          </p:nvPr>
        </p:nvSpPr>
        <p:spPr>
          <a:ln/>
        </p:spPr>
        <p:txBody>
          <a:bodyPr/>
          <a:lstStyle>
            <a:lvl1pPr>
              <a:defRPr/>
            </a:lvl1pPr>
          </a:lstStyle>
          <a:p>
            <a:pPr>
              <a:defRPr/>
            </a:pPr>
            <a:fld id="{D654C4A7-1AB6-4A61-9F0E-92056327BF78}" type="slidenum">
              <a:rPr lang="en-US" altLang="en-US" smtClean="0"/>
              <a:pPr>
                <a:defRPr/>
              </a:pPr>
              <a:t>‹#›</a:t>
            </a:fld>
            <a:endParaRPr lang="en-US" altLang="en-US"/>
          </a:p>
        </p:txBody>
      </p:sp>
    </p:spTree>
    <p:extLst>
      <p:ext uri="{BB962C8B-B14F-4D97-AF65-F5344CB8AC3E}">
        <p14:creationId xmlns:p14="http://schemas.microsoft.com/office/powerpoint/2010/main" val="2936220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Edit Master text styles</a:t>
            </a:r>
          </a:p>
        </p:txBody>
      </p:sp>
      <p:sp>
        <p:nvSpPr>
          <p:cNvPr id="4" name="Rectangle 11">
            <a:extLst>
              <a:ext uri="{FF2B5EF4-FFF2-40B4-BE49-F238E27FC236}">
                <a16:creationId xmlns:a16="http://schemas.microsoft.com/office/drawing/2014/main" id="{9AE7B7F9-9B63-4C99-B240-FC12E76B5802}"/>
              </a:ext>
            </a:extLst>
          </p:cNvPr>
          <p:cNvSpPr>
            <a:spLocks noGrp="1" noChangeArrowheads="1"/>
          </p:cNvSpPr>
          <p:nvPr>
            <p:ph type="dt" sz="half" idx="10"/>
          </p:nvPr>
        </p:nvSpPr>
        <p:spPr>
          <a:ln/>
        </p:spPr>
        <p:txBody>
          <a:bodyPr/>
          <a:lstStyle>
            <a:lvl1pPr>
              <a:defRPr/>
            </a:lvl1pPr>
          </a:lstStyle>
          <a:p>
            <a:pPr>
              <a:defRPr/>
            </a:pPr>
            <a:fld id="{F40C8D0B-ED35-4979-8AF5-94ACDA8D83E0}" type="datetime1">
              <a:rPr lang="en-US" smtClean="0"/>
              <a:pPr>
                <a:defRPr/>
              </a:pPr>
              <a:t>5/22/2023</a:t>
            </a:fld>
            <a:endParaRPr lang="en-US"/>
          </a:p>
        </p:txBody>
      </p:sp>
      <p:sp>
        <p:nvSpPr>
          <p:cNvPr id="5" name="Rectangle 12">
            <a:extLst>
              <a:ext uri="{FF2B5EF4-FFF2-40B4-BE49-F238E27FC236}">
                <a16:creationId xmlns:a16="http://schemas.microsoft.com/office/drawing/2014/main" id="{6EDBDB97-8B17-4504-8ADA-64F907DF670C}"/>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6" name="Rectangle 13">
            <a:extLst>
              <a:ext uri="{FF2B5EF4-FFF2-40B4-BE49-F238E27FC236}">
                <a16:creationId xmlns:a16="http://schemas.microsoft.com/office/drawing/2014/main" id="{331478AB-4749-4D3C-8589-3B6D14C30A9C}"/>
              </a:ext>
            </a:extLst>
          </p:cNvPr>
          <p:cNvSpPr>
            <a:spLocks noGrp="1" noChangeArrowheads="1"/>
          </p:cNvSpPr>
          <p:nvPr>
            <p:ph type="sldNum" sz="quarter" idx="12"/>
          </p:nvPr>
        </p:nvSpPr>
        <p:spPr>
          <a:ln/>
        </p:spPr>
        <p:txBody>
          <a:bodyPr/>
          <a:lstStyle>
            <a:lvl1pPr>
              <a:defRPr/>
            </a:lvl1pPr>
          </a:lstStyle>
          <a:p>
            <a:pPr>
              <a:defRPr/>
            </a:pPr>
            <a:fld id="{2DA56DB8-3025-471B-8454-D00FF95B93B0}" type="slidenum">
              <a:rPr lang="en-US" altLang="en-US" smtClean="0"/>
              <a:pPr>
                <a:defRPr/>
              </a:pPr>
              <a:t>‹#›</a:t>
            </a:fld>
            <a:endParaRPr lang="en-US" altLang="en-US"/>
          </a:p>
        </p:txBody>
      </p:sp>
    </p:spTree>
    <p:extLst>
      <p:ext uri="{BB962C8B-B14F-4D97-AF65-F5344CB8AC3E}">
        <p14:creationId xmlns:p14="http://schemas.microsoft.com/office/powerpoint/2010/main" val="2203839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1" y="2362202"/>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0914" y="2362202"/>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a:extLst>
              <a:ext uri="{FF2B5EF4-FFF2-40B4-BE49-F238E27FC236}">
                <a16:creationId xmlns:a16="http://schemas.microsoft.com/office/drawing/2014/main" id="{38D3B876-73DB-429F-B4A5-ACDB21507ACA}"/>
              </a:ext>
            </a:extLst>
          </p:cNvPr>
          <p:cNvSpPr>
            <a:spLocks noGrp="1" noChangeArrowheads="1"/>
          </p:cNvSpPr>
          <p:nvPr>
            <p:ph type="dt" sz="half" idx="10"/>
          </p:nvPr>
        </p:nvSpPr>
        <p:spPr>
          <a:ln/>
        </p:spPr>
        <p:txBody>
          <a:bodyPr/>
          <a:lstStyle>
            <a:lvl1pPr>
              <a:defRPr/>
            </a:lvl1pPr>
          </a:lstStyle>
          <a:p>
            <a:pPr>
              <a:defRPr/>
            </a:pPr>
            <a:fld id="{9ED46ABB-4DCA-4A95-B6DB-9A8920B24E4E}" type="datetime1">
              <a:rPr lang="en-US" smtClean="0"/>
              <a:pPr>
                <a:defRPr/>
              </a:pPr>
              <a:t>5/22/2023</a:t>
            </a:fld>
            <a:endParaRPr lang="en-US"/>
          </a:p>
        </p:txBody>
      </p:sp>
      <p:sp>
        <p:nvSpPr>
          <p:cNvPr id="6" name="Rectangle 12">
            <a:extLst>
              <a:ext uri="{FF2B5EF4-FFF2-40B4-BE49-F238E27FC236}">
                <a16:creationId xmlns:a16="http://schemas.microsoft.com/office/drawing/2014/main" id="{B730567E-7D9B-4A0A-8C19-E932DA0EC6FD}"/>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7" name="Rectangle 13">
            <a:extLst>
              <a:ext uri="{FF2B5EF4-FFF2-40B4-BE49-F238E27FC236}">
                <a16:creationId xmlns:a16="http://schemas.microsoft.com/office/drawing/2014/main" id="{E332F7B6-D444-4E55-96A6-522A403CFEE0}"/>
              </a:ext>
            </a:extLst>
          </p:cNvPr>
          <p:cNvSpPr>
            <a:spLocks noGrp="1" noChangeArrowheads="1"/>
          </p:cNvSpPr>
          <p:nvPr>
            <p:ph type="sldNum" sz="quarter" idx="12"/>
          </p:nvPr>
        </p:nvSpPr>
        <p:spPr>
          <a:ln/>
        </p:spPr>
        <p:txBody>
          <a:bodyPr/>
          <a:lstStyle>
            <a:lvl1pPr>
              <a:defRPr/>
            </a:lvl1pPr>
          </a:lstStyle>
          <a:p>
            <a:pPr>
              <a:defRPr/>
            </a:pPr>
            <a:fld id="{E0C6D894-32CE-4CF0-A406-EAB3EEA7230D}" type="slidenum">
              <a:rPr lang="en-US" altLang="en-US" smtClean="0"/>
              <a:pPr>
                <a:defRPr/>
              </a:pPr>
              <a:t>‹#›</a:t>
            </a:fld>
            <a:endParaRPr lang="en-US" altLang="en-US"/>
          </a:p>
        </p:txBody>
      </p:sp>
    </p:spTree>
    <p:extLst>
      <p:ext uri="{BB962C8B-B14F-4D97-AF65-F5344CB8AC3E}">
        <p14:creationId xmlns:p14="http://schemas.microsoft.com/office/powerpoint/2010/main" val="334017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a:extLst>
              <a:ext uri="{FF2B5EF4-FFF2-40B4-BE49-F238E27FC236}">
                <a16:creationId xmlns:a16="http://schemas.microsoft.com/office/drawing/2014/main" id="{23D9AB9F-2A0C-4FBB-B382-9C21E1687AF2}"/>
              </a:ext>
            </a:extLst>
          </p:cNvPr>
          <p:cNvSpPr>
            <a:spLocks noGrp="1" noChangeArrowheads="1"/>
          </p:cNvSpPr>
          <p:nvPr>
            <p:ph type="dt" sz="half" idx="10"/>
          </p:nvPr>
        </p:nvSpPr>
        <p:spPr>
          <a:ln/>
        </p:spPr>
        <p:txBody>
          <a:bodyPr/>
          <a:lstStyle>
            <a:lvl1pPr>
              <a:defRPr/>
            </a:lvl1pPr>
          </a:lstStyle>
          <a:p>
            <a:pPr>
              <a:defRPr/>
            </a:pPr>
            <a:fld id="{3470E132-3103-47CD-B776-214EA3821162}" type="datetime1">
              <a:rPr lang="en-US" smtClean="0"/>
              <a:pPr>
                <a:defRPr/>
              </a:pPr>
              <a:t>5/22/2023</a:t>
            </a:fld>
            <a:endParaRPr lang="en-US"/>
          </a:p>
        </p:txBody>
      </p:sp>
      <p:sp>
        <p:nvSpPr>
          <p:cNvPr id="8" name="Rectangle 12">
            <a:extLst>
              <a:ext uri="{FF2B5EF4-FFF2-40B4-BE49-F238E27FC236}">
                <a16:creationId xmlns:a16="http://schemas.microsoft.com/office/drawing/2014/main" id="{DA914F3E-D7BB-499F-8AAC-D29CA4F04513}"/>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9" name="Rectangle 13">
            <a:extLst>
              <a:ext uri="{FF2B5EF4-FFF2-40B4-BE49-F238E27FC236}">
                <a16:creationId xmlns:a16="http://schemas.microsoft.com/office/drawing/2014/main" id="{07F3BCB4-F714-4117-802E-711CF7676F4A}"/>
              </a:ext>
            </a:extLst>
          </p:cNvPr>
          <p:cNvSpPr>
            <a:spLocks noGrp="1" noChangeArrowheads="1"/>
          </p:cNvSpPr>
          <p:nvPr>
            <p:ph type="sldNum" sz="quarter" idx="12"/>
          </p:nvPr>
        </p:nvSpPr>
        <p:spPr>
          <a:ln/>
        </p:spPr>
        <p:txBody>
          <a:bodyPr/>
          <a:lstStyle>
            <a:lvl1pPr>
              <a:defRPr/>
            </a:lvl1pPr>
          </a:lstStyle>
          <a:p>
            <a:pPr>
              <a:defRPr/>
            </a:pPr>
            <a:fld id="{186D9076-E5F6-4C9F-A932-3A8F56725481}" type="slidenum">
              <a:rPr lang="en-US" altLang="en-US" smtClean="0"/>
              <a:pPr>
                <a:defRPr/>
              </a:pPr>
              <a:t>‹#›</a:t>
            </a:fld>
            <a:endParaRPr lang="en-US" altLang="en-US"/>
          </a:p>
        </p:txBody>
      </p:sp>
    </p:spTree>
    <p:extLst>
      <p:ext uri="{BB962C8B-B14F-4D97-AF65-F5344CB8AC3E}">
        <p14:creationId xmlns:p14="http://schemas.microsoft.com/office/powerpoint/2010/main" val="1787440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a:extLst>
              <a:ext uri="{FF2B5EF4-FFF2-40B4-BE49-F238E27FC236}">
                <a16:creationId xmlns:a16="http://schemas.microsoft.com/office/drawing/2014/main" id="{F582D231-FDF6-426E-A616-698440509C70}"/>
              </a:ext>
            </a:extLst>
          </p:cNvPr>
          <p:cNvSpPr>
            <a:spLocks noGrp="1" noChangeArrowheads="1"/>
          </p:cNvSpPr>
          <p:nvPr>
            <p:ph type="dt" sz="half" idx="10"/>
          </p:nvPr>
        </p:nvSpPr>
        <p:spPr>
          <a:ln/>
        </p:spPr>
        <p:txBody>
          <a:bodyPr/>
          <a:lstStyle>
            <a:lvl1pPr>
              <a:defRPr/>
            </a:lvl1pPr>
          </a:lstStyle>
          <a:p>
            <a:pPr>
              <a:defRPr/>
            </a:pPr>
            <a:fld id="{BBD5B2E3-B835-461D-8F98-C864E34D2226}" type="datetime1">
              <a:rPr lang="en-US" smtClean="0"/>
              <a:pPr>
                <a:defRPr/>
              </a:pPr>
              <a:t>5/22/2023</a:t>
            </a:fld>
            <a:endParaRPr lang="en-US"/>
          </a:p>
        </p:txBody>
      </p:sp>
      <p:sp>
        <p:nvSpPr>
          <p:cNvPr id="4" name="Rectangle 12">
            <a:extLst>
              <a:ext uri="{FF2B5EF4-FFF2-40B4-BE49-F238E27FC236}">
                <a16:creationId xmlns:a16="http://schemas.microsoft.com/office/drawing/2014/main" id="{0EDCA115-9E3C-40D4-8912-F4E20DB6BA21}"/>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5" name="Rectangle 13">
            <a:extLst>
              <a:ext uri="{FF2B5EF4-FFF2-40B4-BE49-F238E27FC236}">
                <a16:creationId xmlns:a16="http://schemas.microsoft.com/office/drawing/2014/main" id="{2499D514-9105-4111-8B91-F8810A02CA1E}"/>
              </a:ext>
            </a:extLst>
          </p:cNvPr>
          <p:cNvSpPr>
            <a:spLocks noGrp="1" noChangeArrowheads="1"/>
          </p:cNvSpPr>
          <p:nvPr>
            <p:ph type="sldNum" sz="quarter" idx="12"/>
          </p:nvPr>
        </p:nvSpPr>
        <p:spPr>
          <a:ln/>
        </p:spPr>
        <p:txBody>
          <a:bodyPr/>
          <a:lstStyle>
            <a:lvl1pPr>
              <a:defRPr/>
            </a:lvl1pPr>
          </a:lstStyle>
          <a:p>
            <a:pPr>
              <a:defRPr/>
            </a:pPr>
            <a:fld id="{E4D035BF-E341-4B0B-9054-2A64A9726CF8}" type="slidenum">
              <a:rPr lang="en-US" altLang="en-US" smtClean="0"/>
              <a:pPr>
                <a:defRPr/>
              </a:pPr>
              <a:t>‹#›</a:t>
            </a:fld>
            <a:endParaRPr lang="en-US" altLang="en-US"/>
          </a:p>
        </p:txBody>
      </p:sp>
    </p:spTree>
    <p:extLst>
      <p:ext uri="{BB962C8B-B14F-4D97-AF65-F5344CB8AC3E}">
        <p14:creationId xmlns:p14="http://schemas.microsoft.com/office/powerpoint/2010/main" val="2853135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2939D947-A124-40F1-A1CD-BD82F65EC023}"/>
              </a:ext>
            </a:extLst>
          </p:cNvPr>
          <p:cNvSpPr>
            <a:spLocks noGrp="1" noChangeArrowheads="1"/>
          </p:cNvSpPr>
          <p:nvPr>
            <p:ph type="dt" sz="half" idx="10"/>
          </p:nvPr>
        </p:nvSpPr>
        <p:spPr>
          <a:ln/>
        </p:spPr>
        <p:txBody>
          <a:bodyPr/>
          <a:lstStyle>
            <a:lvl1pPr>
              <a:defRPr/>
            </a:lvl1pPr>
          </a:lstStyle>
          <a:p>
            <a:pPr>
              <a:defRPr/>
            </a:pPr>
            <a:fld id="{0E49B610-2B27-47D4-B171-832BB2E0572C}" type="datetime1">
              <a:rPr lang="en-US" smtClean="0"/>
              <a:pPr>
                <a:defRPr/>
              </a:pPr>
              <a:t>5/22/2023</a:t>
            </a:fld>
            <a:endParaRPr lang="en-US"/>
          </a:p>
        </p:txBody>
      </p:sp>
      <p:sp>
        <p:nvSpPr>
          <p:cNvPr id="3" name="Rectangle 12">
            <a:extLst>
              <a:ext uri="{FF2B5EF4-FFF2-40B4-BE49-F238E27FC236}">
                <a16:creationId xmlns:a16="http://schemas.microsoft.com/office/drawing/2014/main" id="{3EDE26CF-7FFF-494A-9127-8D239D271FE7}"/>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4" name="Rectangle 13">
            <a:extLst>
              <a:ext uri="{FF2B5EF4-FFF2-40B4-BE49-F238E27FC236}">
                <a16:creationId xmlns:a16="http://schemas.microsoft.com/office/drawing/2014/main" id="{008D1E9E-3392-4D0F-B80B-A17511304F48}"/>
              </a:ext>
            </a:extLst>
          </p:cNvPr>
          <p:cNvSpPr>
            <a:spLocks noGrp="1" noChangeArrowheads="1"/>
          </p:cNvSpPr>
          <p:nvPr>
            <p:ph type="sldNum" sz="quarter" idx="12"/>
          </p:nvPr>
        </p:nvSpPr>
        <p:spPr>
          <a:ln/>
        </p:spPr>
        <p:txBody>
          <a:bodyPr/>
          <a:lstStyle>
            <a:lvl1pPr>
              <a:defRPr/>
            </a:lvl1pPr>
          </a:lstStyle>
          <a:p>
            <a:pPr>
              <a:defRPr/>
            </a:pPr>
            <a:fld id="{E874D75F-C7AB-4CA7-BCC0-E5152D482814}" type="slidenum">
              <a:rPr lang="en-US" altLang="en-US" smtClean="0"/>
              <a:pPr>
                <a:defRPr/>
              </a:pPr>
              <a:t>‹#›</a:t>
            </a:fld>
            <a:endParaRPr lang="en-US" altLang="en-US"/>
          </a:p>
        </p:txBody>
      </p:sp>
    </p:spTree>
    <p:extLst>
      <p:ext uri="{BB962C8B-B14F-4D97-AF65-F5344CB8AC3E}">
        <p14:creationId xmlns:p14="http://schemas.microsoft.com/office/powerpoint/2010/main" val="4245354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Rectangle 11">
            <a:extLst>
              <a:ext uri="{FF2B5EF4-FFF2-40B4-BE49-F238E27FC236}">
                <a16:creationId xmlns:a16="http://schemas.microsoft.com/office/drawing/2014/main" id="{E3958604-85A8-4A4E-97A7-ABA204D8DF83}"/>
              </a:ext>
            </a:extLst>
          </p:cNvPr>
          <p:cNvSpPr>
            <a:spLocks noGrp="1" noChangeArrowheads="1"/>
          </p:cNvSpPr>
          <p:nvPr>
            <p:ph type="dt" sz="half" idx="10"/>
          </p:nvPr>
        </p:nvSpPr>
        <p:spPr>
          <a:ln/>
        </p:spPr>
        <p:txBody>
          <a:bodyPr/>
          <a:lstStyle>
            <a:lvl1pPr>
              <a:defRPr/>
            </a:lvl1pPr>
          </a:lstStyle>
          <a:p>
            <a:pPr>
              <a:defRPr/>
            </a:pPr>
            <a:fld id="{E8FA541A-A7DC-4414-86E1-E36720037DED}" type="datetime1">
              <a:rPr lang="en-US" smtClean="0"/>
              <a:pPr>
                <a:defRPr/>
              </a:pPr>
              <a:t>5/22/2023</a:t>
            </a:fld>
            <a:endParaRPr lang="en-US"/>
          </a:p>
        </p:txBody>
      </p:sp>
      <p:sp>
        <p:nvSpPr>
          <p:cNvPr id="6" name="Rectangle 12">
            <a:extLst>
              <a:ext uri="{FF2B5EF4-FFF2-40B4-BE49-F238E27FC236}">
                <a16:creationId xmlns:a16="http://schemas.microsoft.com/office/drawing/2014/main" id="{84B8F9BB-0FC1-41C7-ADBB-7B2886ABC111}"/>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7" name="Rectangle 13">
            <a:extLst>
              <a:ext uri="{FF2B5EF4-FFF2-40B4-BE49-F238E27FC236}">
                <a16:creationId xmlns:a16="http://schemas.microsoft.com/office/drawing/2014/main" id="{0CABE9D4-E092-4117-9D3B-3D8D4681F1E9}"/>
              </a:ext>
            </a:extLst>
          </p:cNvPr>
          <p:cNvSpPr>
            <a:spLocks noGrp="1" noChangeArrowheads="1"/>
          </p:cNvSpPr>
          <p:nvPr>
            <p:ph type="sldNum" sz="quarter" idx="12"/>
          </p:nvPr>
        </p:nvSpPr>
        <p:spPr>
          <a:ln/>
        </p:spPr>
        <p:txBody>
          <a:bodyPr/>
          <a:lstStyle>
            <a:lvl1pPr>
              <a:defRPr/>
            </a:lvl1pPr>
          </a:lstStyle>
          <a:p>
            <a:pPr>
              <a:defRPr/>
            </a:pPr>
            <a:fld id="{1E512D10-A461-436A-912D-74661648D60D}" type="slidenum">
              <a:rPr lang="en-US" altLang="en-US" smtClean="0"/>
              <a:pPr>
                <a:defRPr/>
              </a:pPr>
              <a:t>‹#›</a:t>
            </a:fld>
            <a:endParaRPr lang="en-US" altLang="en-US"/>
          </a:p>
        </p:txBody>
      </p:sp>
    </p:spTree>
    <p:extLst>
      <p:ext uri="{BB962C8B-B14F-4D97-AF65-F5344CB8AC3E}">
        <p14:creationId xmlns:p14="http://schemas.microsoft.com/office/powerpoint/2010/main" val="1480537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Rectangle 11">
            <a:extLst>
              <a:ext uri="{FF2B5EF4-FFF2-40B4-BE49-F238E27FC236}">
                <a16:creationId xmlns:a16="http://schemas.microsoft.com/office/drawing/2014/main" id="{ED75601F-C8A4-4A90-80B4-5F520901F0CD}"/>
              </a:ext>
            </a:extLst>
          </p:cNvPr>
          <p:cNvSpPr>
            <a:spLocks noGrp="1" noChangeArrowheads="1"/>
          </p:cNvSpPr>
          <p:nvPr>
            <p:ph type="dt" sz="half" idx="10"/>
          </p:nvPr>
        </p:nvSpPr>
        <p:spPr>
          <a:ln/>
        </p:spPr>
        <p:txBody>
          <a:bodyPr/>
          <a:lstStyle>
            <a:lvl1pPr>
              <a:defRPr/>
            </a:lvl1pPr>
          </a:lstStyle>
          <a:p>
            <a:pPr>
              <a:defRPr/>
            </a:pPr>
            <a:fld id="{8F0F5902-C856-4D8D-A6E4-6C9525251F8D}" type="datetime1">
              <a:rPr lang="en-US" smtClean="0"/>
              <a:pPr>
                <a:defRPr/>
              </a:pPr>
              <a:t>5/22/2023</a:t>
            </a:fld>
            <a:endParaRPr lang="en-US"/>
          </a:p>
        </p:txBody>
      </p:sp>
      <p:sp>
        <p:nvSpPr>
          <p:cNvPr id="6" name="Rectangle 12">
            <a:extLst>
              <a:ext uri="{FF2B5EF4-FFF2-40B4-BE49-F238E27FC236}">
                <a16:creationId xmlns:a16="http://schemas.microsoft.com/office/drawing/2014/main" id="{72DF7F1E-3D7B-4FB8-A9F7-B9D427D05816}"/>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7" name="Rectangle 13">
            <a:extLst>
              <a:ext uri="{FF2B5EF4-FFF2-40B4-BE49-F238E27FC236}">
                <a16:creationId xmlns:a16="http://schemas.microsoft.com/office/drawing/2014/main" id="{7AFB0A65-4C06-4F69-91E5-B374EC5B4499}"/>
              </a:ext>
            </a:extLst>
          </p:cNvPr>
          <p:cNvSpPr>
            <a:spLocks noGrp="1" noChangeArrowheads="1"/>
          </p:cNvSpPr>
          <p:nvPr>
            <p:ph type="sldNum" sz="quarter" idx="12"/>
          </p:nvPr>
        </p:nvSpPr>
        <p:spPr>
          <a:ln/>
        </p:spPr>
        <p:txBody>
          <a:bodyPr/>
          <a:lstStyle>
            <a:lvl1pPr>
              <a:defRPr/>
            </a:lvl1pPr>
          </a:lstStyle>
          <a:p>
            <a:pPr>
              <a:defRPr/>
            </a:pPr>
            <a:fld id="{F2F42906-D37A-44DF-8B79-90D179E94501}" type="slidenum">
              <a:rPr lang="en-US" altLang="en-US" smtClean="0"/>
              <a:pPr>
                <a:defRPr/>
              </a:pPr>
              <a:t>‹#›</a:t>
            </a:fld>
            <a:endParaRPr lang="en-US" altLang="en-US"/>
          </a:p>
        </p:txBody>
      </p:sp>
    </p:spTree>
    <p:extLst>
      <p:ext uri="{BB962C8B-B14F-4D97-AF65-F5344CB8AC3E}">
        <p14:creationId xmlns:p14="http://schemas.microsoft.com/office/powerpoint/2010/main" val="2337523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a:extLst>
              <a:ext uri="{FF2B5EF4-FFF2-40B4-BE49-F238E27FC236}">
                <a16:creationId xmlns:a16="http://schemas.microsoft.com/office/drawing/2014/main" id="{564D6AB3-0BE0-4AE2-A565-F6DB7E10D854}"/>
              </a:ext>
            </a:extLst>
          </p:cNvPr>
          <p:cNvSpPr>
            <a:spLocks noGrp="1" noChangeArrowheads="1"/>
          </p:cNvSpPr>
          <p:nvPr>
            <p:ph type="dt" sz="half" idx="10"/>
          </p:nvPr>
        </p:nvSpPr>
        <p:spPr>
          <a:ln/>
        </p:spPr>
        <p:txBody>
          <a:bodyPr/>
          <a:lstStyle>
            <a:lvl1pPr>
              <a:defRPr/>
            </a:lvl1pPr>
          </a:lstStyle>
          <a:p>
            <a:pPr>
              <a:defRPr/>
            </a:pPr>
            <a:fld id="{386B5AFD-8D98-42A0-883F-41890F54DF18}" type="datetime1">
              <a:rPr lang="en-US" smtClean="0"/>
              <a:pPr>
                <a:defRPr/>
              </a:pPr>
              <a:t>5/22/2023</a:t>
            </a:fld>
            <a:endParaRPr lang="en-US"/>
          </a:p>
        </p:txBody>
      </p:sp>
      <p:sp>
        <p:nvSpPr>
          <p:cNvPr id="5" name="Rectangle 12">
            <a:extLst>
              <a:ext uri="{FF2B5EF4-FFF2-40B4-BE49-F238E27FC236}">
                <a16:creationId xmlns:a16="http://schemas.microsoft.com/office/drawing/2014/main" id="{984E88F6-7B9B-48EF-88D1-8B85462701E2}"/>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6" name="Rectangle 13">
            <a:extLst>
              <a:ext uri="{FF2B5EF4-FFF2-40B4-BE49-F238E27FC236}">
                <a16:creationId xmlns:a16="http://schemas.microsoft.com/office/drawing/2014/main" id="{6AFD07A6-C54B-4303-8783-79A5AA51DF0A}"/>
              </a:ext>
            </a:extLst>
          </p:cNvPr>
          <p:cNvSpPr>
            <a:spLocks noGrp="1" noChangeArrowheads="1"/>
          </p:cNvSpPr>
          <p:nvPr>
            <p:ph type="sldNum" sz="quarter" idx="12"/>
          </p:nvPr>
        </p:nvSpPr>
        <p:spPr>
          <a:ln/>
        </p:spPr>
        <p:txBody>
          <a:bodyPr/>
          <a:lstStyle>
            <a:lvl1pPr>
              <a:defRPr/>
            </a:lvl1pPr>
          </a:lstStyle>
          <a:p>
            <a:pPr>
              <a:defRPr/>
            </a:pPr>
            <a:fld id="{33C3454C-633C-4596-90B9-5284F0A23968}" type="slidenum">
              <a:rPr lang="en-US" altLang="en-US" smtClean="0"/>
              <a:pPr>
                <a:defRPr/>
              </a:pPr>
              <a:t>‹#›</a:t>
            </a:fld>
            <a:endParaRPr lang="en-US" altLang="en-US"/>
          </a:p>
        </p:txBody>
      </p:sp>
    </p:spTree>
    <p:extLst>
      <p:ext uri="{BB962C8B-B14F-4D97-AF65-F5344CB8AC3E}">
        <p14:creationId xmlns:p14="http://schemas.microsoft.com/office/powerpoint/2010/main" val="93641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2"/>
            <a:ext cx="1981200" cy="53244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762002"/>
            <a:ext cx="5791200" cy="53244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a:extLst>
              <a:ext uri="{FF2B5EF4-FFF2-40B4-BE49-F238E27FC236}">
                <a16:creationId xmlns:a16="http://schemas.microsoft.com/office/drawing/2014/main" id="{BE454C69-05BB-4376-BF5B-F23F07E40E4A}"/>
              </a:ext>
            </a:extLst>
          </p:cNvPr>
          <p:cNvSpPr>
            <a:spLocks noGrp="1" noChangeArrowheads="1"/>
          </p:cNvSpPr>
          <p:nvPr>
            <p:ph type="dt" sz="half" idx="10"/>
          </p:nvPr>
        </p:nvSpPr>
        <p:spPr>
          <a:ln/>
        </p:spPr>
        <p:txBody>
          <a:bodyPr/>
          <a:lstStyle>
            <a:lvl1pPr>
              <a:defRPr/>
            </a:lvl1pPr>
          </a:lstStyle>
          <a:p>
            <a:pPr>
              <a:defRPr/>
            </a:pPr>
            <a:fld id="{A42684B2-0033-4E5E-92F4-9E7CAC3FED55}" type="datetime1">
              <a:rPr lang="en-US" smtClean="0"/>
              <a:pPr>
                <a:defRPr/>
              </a:pPr>
              <a:t>5/22/2023</a:t>
            </a:fld>
            <a:endParaRPr lang="en-US"/>
          </a:p>
        </p:txBody>
      </p:sp>
      <p:sp>
        <p:nvSpPr>
          <p:cNvPr id="5" name="Rectangle 12">
            <a:extLst>
              <a:ext uri="{FF2B5EF4-FFF2-40B4-BE49-F238E27FC236}">
                <a16:creationId xmlns:a16="http://schemas.microsoft.com/office/drawing/2014/main" id="{4BE95B74-3904-4687-A858-1857057DFA2E}"/>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6" name="Rectangle 13">
            <a:extLst>
              <a:ext uri="{FF2B5EF4-FFF2-40B4-BE49-F238E27FC236}">
                <a16:creationId xmlns:a16="http://schemas.microsoft.com/office/drawing/2014/main" id="{001F3940-CBCF-4E25-ACC0-395A595B0371}"/>
              </a:ext>
            </a:extLst>
          </p:cNvPr>
          <p:cNvSpPr>
            <a:spLocks noGrp="1" noChangeArrowheads="1"/>
          </p:cNvSpPr>
          <p:nvPr>
            <p:ph type="sldNum" sz="quarter" idx="12"/>
          </p:nvPr>
        </p:nvSpPr>
        <p:spPr>
          <a:ln/>
        </p:spPr>
        <p:txBody>
          <a:bodyPr/>
          <a:lstStyle>
            <a:lvl1pPr>
              <a:defRPr/>
            </a:lvl1pPr>
          </a:lstStyle>
          <a:p>
            <a:pPr>
              <a:defRPr/>
            </a:pPr>
            <a:fld id="{B662200C-8969-484B-934B-ABC8A6836029}" type="slidenum">
              <a:rPr lang="en-US" altLang="en-US" smtClean="0"/>
              <a:pPr>
                <a:defRPr/>
              </a:pPr>
              <a:t>‹#›</a:t>
            </a:fld>
            <a:endParaRPr lang="en-US" altLang="en-US"/>
          </a:p>
        </p:txBody>
      </p:sp>
    </p:spTree>
    <p:extLst>
      <p:ext uri="{BB962C8B-B14F-4D97-AF65-F5344CB8AC3E}">
        <p14:creationId xmlns:p14="http://schemas.microsoft.com/office/powerpoint/2010/main" val="1502751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838201" y="2362202"/>
            <a:ext cx="7693025" cy="3724275"/>
          </a:xfrm>
        </p:spPr>
        <p:txBody>
          <a:bodyPr/>
          <a:lstStyle/>
          <a:p>
            <a:pPr lvl="0"/>
            <a:r>
              <a:rPr lang="en-US" noProof="0" smtClean="0"/>
              <a:t>Click icon to add table</a:t>
            </a:r>
            <a:endParaRPr lang="en-US" noProof="0"/>
          </a:p>
        </p:txBody>
      </p:sp>
      <p:sp>
        <p:nvSpPr>
          <p:cNvPr id="4" name="Rectangle 11">
            <a:extLst>
              <a:ext uri="{FF2B5EF4-FFF2-40B4-BE49-F238E27FC236}">
                <a16:creationId xmlns:a16="http://schemas.microsoft.com/office/drawing/2014/main" id="{BF77D68F-D4CE-414A-BDA9-E33AB488CC07}"/>
              </a:ext>
            </a:extLst>
          </p:cNvPr>
          <p:cNvSpPr>
            <a:spLocks noGrp="1" noChangeArrowheads="1"/>
          </p:cNvSpPr>
          <p:nvPr>
            <p:ph type="dt" sz="half" idx="10"/>
          </p:nvPr>
        </p:nvSpPr>
        <p:spPr>
          <a:ln/>
        </p:spPr>
        <p:txBody>
          <a:bodyPr/>
          <a:lstStyle>
            <a:lvl1pPr>
              <a:defRPr/>
            </a:lvl1pPr>
          </a:lstStyle>
          <a:p>
            <a:pPr>
              <a:defRPr/>
            </a:pPr>
            <a:fld id="{17FDC042-B5D0-41EF-8A4E-DC07D57D6504}" type="datetime1">
              <a:rPr lang="en-US" smtClean="0"/>
              <a:pPr>
                <a:defRPr/>
              </a:pPr>
              <a:t>5/22/2023</a:t>
            </a:fld>
            <a:endParaRPr lang="en-US"/>
          </a:p>
        </p:txBody>
      </p:sp>
      <p:sp>
        <p:nvSpPr>
          <p:cNvPr id="5" name="Rectangle 12">
            <a:extLst>
              <a:ext uri="{FF2B5EF4-FFF2-40B4-BE49-F238E27FC236}">
                <a16:creationId xmlns:a16="http://schemas.microsoft.com/office/drawing/2014/main" id="{2B1A1324-E8FC-418E-94C0-85F2BD7D6EDE}"/>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6" name="Rectangle 13">
            <a:extLst>
              <a:ext uri="{FF2B5EF4-FFF2-40B4-BE49-F238E27FC236}">
                <a16:creationId xmlns:a16="http://schemas.microsoft.com/office/drawing/2014/main" id="{E9B9D749-3CF9-4C82-90AE-BA2A543AFDF7}"/>
              </a:ext>
            </a:extLst>
          </p:cNvPr>
          <p:cNvSpPr>
            <a:spLocks noGrp="1" noChangeArrowheads="1"/>
          </p:cNvSpPr>
          <p:nvPr>
            <p:ph type="sldNum" sz="quarter" idx="12"/>
          </p:nvPr>
        </p:nvSpPr>
        <p:spPr>
          <a:ln/>
        </p:spPr>
        <p:txBody>
          <a:bodyPr/>
          <a:lstStyle>
            <a:lvl1pPr>
              <a:defRPr/>
            </a:lvl1pPr>
          </a:lstStyle>
          <a:p>
            <a:pPr>
              <a:defRPr/>
            </a:pPr>
            <a:fld id="{23054AAA-796F-4123-B6E5-399AD31EF657}" type="slidenum">
              <a:rPr lang="en-US" altLang="en-US" smtClean="0"/>
              <a:pPr>
                <a:defRPr/>
              </a:pPr>
              <a:t>‹#›</a:t>
            </a:fld>
            <a:endParaRPr lang="en-US" altLang="en-US"/>
          </a:p>
        </p:txBody>
      </p:sp>
    </p:spTree>
    <p:extLst>
      <p:ext uri="{BB962C8B-B14F-4D97-AF65-F5344CB8AC3E}">
        <p14:creationId xmlns:p14="http://schemas.microsoft.com/office/powerpoint/2010/main" val="1360966128"/>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B2A3329E-0904-47A4-ACB5-5B91293A5AE5}"/>
              </a:ext>
            </a:extLst>
          </p:cNvPr>
          <p:cNvGrpSpPr>
            <a:grpSpLocks/>
          </p:cNvGrpSpPr>
          <p:nvPr/>
        </p:nvGrpSpPr>
        <p:grpSpPr bwMode="auto">
          <a:xfrm>
            <a:off x="0" y="0"/>
            <a:ext cx="7620000" cy="6858000"/>
            <a:chOff x="0" y="0"/>
            <a:chExt cx="4800" cy="4320"/>
          </a:xfrm>
        </p:grpSpPr>
        <p:grpSp>
          <p:nvGrpSpPr>
            <p:cNvPr id="1032" name="Group 3">
              <a:extLst>
                <a:ext uri="{FF2B5EF4-FFF2-40B4-BE49-F238E27FC236}">
                  <a16:creationId xmlns:a16="http://schemas.microsoft.com/office/drawing/2014/main" id="{0FF77DB7-AD29-49C8-93AA-EA0184FC38B0}"/>
                </a:ext>
              </a:extLst>
            </p:cNvPr>
            <p:cNvGrpSpPr>
              <a:grpSpLocks/>
            </p:cNvGrpSpPr>
            <p:nvPr/>
          </p:nvGrpSpPr>
          <p:grpSpPr bwMode="auto">
            <a:xfrm>
              <a:off x="0" y="0"/>
              <a:ext cx="2016" cy="4320"/>
              <a:chOff x="0" y="0"/>
              <a:chExt cx="2016" cy="4320"/>
            </a:xfrm>
          </p:grpSpPr>
          <p:sp>
            <p:nvSpPr>
              <p:cNvPr id="1036" name="Rectangle 4">
                <a:extLst>
                  <a:ext uri="{FF2B5EF4-FFF2-40B4-BE49-F238E27FC236}">
                    <a16:creationId xmlns:a16="http://schemas.microsoft.com/office/drawing/2014/main" id="{D438BB5E-926C-4E0C-9E77-FE8E0784A033}"/>
                  </a:ext>
                </a:extLst>
              </p:cNvPr>
              <p:cNvSpPr>
                <a:spLocks noChangeArrowheads="1"/>
              </p:cNvSpPr>
              <p:nvPr/>
            </p:nvSpPr>
            <p:spPr bwMode="auto">
              <a:xfrm>
                <a:off x="0" y="0"/>
                <a:ext cx="4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PK" altLang="en-PK" sz="1800"/>
              </a:p>
            </p:txBody>
          </p:sp>
          <p:sp>
            <p:nvSpPr>
              <p:cNvPr id="1037" name="Freeform 5">
                <a:extLst>
                  <a:ext uri="{FF2B5EF4-FFF2-40B4-BE49-F238E27FC236}">
                    <a16:creationId xmlns:a16="http://schemas.microsoft.com/office/drawing/2014/main" id="{95302D45-DF44-4885-8F20-439784359D8D}"/>
                  </a:ext>
                </a:extLst>
              </p:cNvPr>
              <p:cNvSpPr>
                <a:spLocks/>
              </p:cNvSpPr>
              <p:nvPr/>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xtLst>
                <a:ext uri="{91240B29-F687-4F45-9708-019B960494DF}">
                  <a14:hiddenLine xmlns:a14="http://schemas.microsoft.com/office/drawing/2010/main" w="9525" cap="flat" cmpd="sng">
                    <a:solidFill>
                      <a:srgbClr val="000000"/>
                    </a:solidFill>
                    <a:prstDash val="solid"/>
                    <a:miter lim="800000"/>
                    <a:headEnd type="none" w="med" len="med"/>
                    <a:tailEnd type="none" w="med" len="med"/>
                  </a14:hiddenLine>
                </a:ext>
              </a:extLst>
            </p:spPr>
            <p:txBody>
              <a:bodyPr wrap="none"/>
              <a:lstStyle/>
              <a:p>
                <a:endParaRPr lang="en-PK" sz="1800"/>
              </a:p>
            </p:txBody>
          </p:sp>
        </p:grpSp>
        <p:grpSp>
          <p:nvGrpSpPr>
            <p:cNvPr id="1033" name="Group 6">
              <a:extLst>
                <a:ext uri="{FF2B5EF4-FFF2-40B4-BE49-F238E27FC236}">
                  <a16:creationId xmlns:a16="http://schemas.microsoft.com/office/drawing/2014/main" id="{165704AF-ADD4-4E42-9951-9885E2AF3F0F}"/>
                </a:ext>
              </a:extLst>
            </p:cNvPr>
            <p:cNvGrpSpPr>
              <a:grpSpLocks/>
            </p:cNvGrpSpPr>
            <p:nvPr/>
          </p:nvGrpSpPr>
          <p:grpSpPr bwMode="auto">
            <a:xfrm>
              <a:off x="144" y="1248"/>
              <a:ext cx="4656" cy="201"/>
              <a:chOff x="144" y="1248"/>
              <a:chExt cx="4656" cy="201"/>
            </a:xfrm>
          </p:grpSpPr>
          <p:sp>
            <p:nvSpPr>
              <p:cNvPr id="1034" name="AutoShape 7">
                <a:extLst>
                  <a:ext uri="{FF2B5EF4-FFF2-40B4-BE49-F238E27FC236}">
                    <a16:creationId xmlns:a16="http://schemas.microsoft.com/office/drawing/2014/main" id="{AD015C4F-F9D0-48B2-8315-4799ABF1D801}"/>
                  </a:ext>
                </a:extLst>
              </p:cNvPr>
              <p:cNvSpPr>
                <a:spLocks noChangeArrowheads="1"/>
              </p:cNvSpPr>
              <p:nvPr/>
            </p:nvSpPr>
            <p:spPr bwMode="auto">
              <a:xfrm>
                <a:off x="384" y="1248"/>
                <a:ext cx="4416"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PK" altLang="en-PK" sz="1800"/>
              </a:p>
            </p:txBody>
          </p:sp>
          <p:sp>
            <p:nvSpPr>
              <p:cNvPr id="1035" name="AutoShape 8">
                <a:extLst>
                  <a:ext uri="{FF2B5EF4-FFF2-40B4-BE49-F238E27FC236}">
                    <a16:creationId xmlns:a16="http://schemas.microsoft.com/office/drawing/2014/main" id="{7C227202-0AB4-426A-A6CB-F2C45BDC74EA}"/>
                  </a:ext>
                </a:extLst>
              </p:cNvPr>
              <p:cNvSpPr>
                <a:spLocks noChangeArrowheads="1"/>
              </p:cNvSpPr>
              <p:nvPr/>
            </p:nvSpPr>
            <p:spPr bwMode="auto">
              <a:xfrm flipH="1">
                <a:off x="144" y="1248"/>
                <a:ext cx="248"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PK" altLang="en-PK" sz="1800"/>
              </a:p>
            </p:txBody>
          </p:sp>
        </p:grpSp>
      </p:grpSp>
      <p:sp>
        <p:nvSpPr>
          <p:cNvPr id="1027" name="AutoShape 9">
            <a:extLst>
              <a:ext uri="{FF2B5EF4-FFF2-40B4-BE49-F238E27FC236}">
                <a16:creationId xmlns:a16="http://schemas.microsoft.com/office/drawing/2014/main" id="{A90FCFEC-9F9D-4254-8D92-7B25B6EE3A30}"/>
              </a:ext>
            </a:extLst>
          </p:cNvPr>
          <p:cNvSpPr>
            <a:spLocks noGrp="1" noChangeArrowheads="1"/>
          </p:cNvSpPr>
          <p:nvPr>
            <p:ph type="title"/>
          </p:nvPr>
        </p:nvSpPr>
        <p:spPr bwMode="auto">
          <a:xfrm>
            <a:off x="762000" y="762000"/>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pPr lvl="0"/>
            <a:r>
              <a:rPr lang="en-US" altLang="en-PK" smtClean="0"/>
              <a:t>Click to edit Master title style</a:t>
            </a:r>
            <a:endParaRPr lang="en-US" altLang="en-PK"/>
          </a:p>
        </p:txBody>
      </p:sp>
      <p:sp>
        <p:nvSpPr>
          <p:cNvPr id="1028" name="Rectangle 10">
            <a:extLst>
              <a:ext uri="{FF2B5EF4-FFF2-40B4-BE49-F238E27FC236}">
                <a16:creationId xmlns:a16="http://schemas.microsoft.com/office/drawing/2014/main" id="{B398F237-95A9-4BFF-B4A1-C78F7FF69C6E}"/>
              </a:ext>
            </a:extLst>
          </p:cNvPr>
          <p:cNvSpPr>
            <a:spLocks noGrp="1" noChangeArrowheads="1"/>
          </p:cNvSpPr>
          <p:nvPr>
            <p:ph type="body" idx="1"/>
          </p:nvPr>
        </p:nvSpPr>
        <p:spPr bwMode="auto">
          <a:xfrm>
            <a:off x="838201" y="2362202"/>
            <a:ext cx="769302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PK"/>
              <a:t>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p>
        </p:txBody>
      </p:sp>
      <p:sp>
        <p:nvSpPr>
          <p:cNvPr id="4107" name="Rectangle 11">
            <a:extLst>
              <a:ext uri="{FF2B5EF4-FFF2-40B4-BE49-F238E27FC236}">
                <a16:creationId xmlns:a16="http://schemas.microsoft.com/office/drawing/2014/main" id="{1D379FF3-7792-4E0A-B32B-CDBBF4ABCF0C}"/>
              </a:ext>
            </a:extLst>
          </p:cNvPr>
          <p:cNvSpPr>
            <a:spLocks noGrp="1" noChangeArrowheads="1"/>
          </p:cNvSpPr>
          <p:nvPr>
            <p:ph type="dt" sz="half" idx="2"/>
          </p:nvPr>
        </p:nvSpPr>
        <p:spPr bwMode="auto">
          <a:xfrm>
            <a:off x="2438401" y="6248402"/>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Arial" charset="0"/>
              </a:defRPr>
            </a:lvl1pPr>
          </a:lstStyle>
          <a:p>
            <a:pPr>
              <a:defRPr/>
            </a:pPr>
            <a:fld id="{17FDC042-B5D0-41EF-8A4E-DC07D57D6504}" type="datetime1">
              <a:rPr lang="en-US" smtClean="0"/>
              <a:pPr>
                <a:defRPr/>
              </a:pPr>
              <a:t>5/22/2023</a:t>
            </a:fld>
            <a:endParaRPr lang="en-US"/>
          </a:p>
        </p:txBody>
      </p:sp>
      <p:sp>
        <p:nvSpPr>
          <p:cNvPr id="4108" name="Rectangle 12">
            <a:extLst>
              <a:ext uri="{FF2B5EF4-FFF2-40B4-BE49-F238E27FC236}">
                <a16:creationId xmlns:a16="http://schemas.microsoft.com/office/drawing/2014/main" id="{5F8406A0-86DE-4CF8-BE66-1FC1EC81C117}"/>
              </a:ext>
            </a:extLst>
          </p:cNvPr>
          <p:cNvSpPr>
            <a:spLocks noGrp="1" noChangeArrowheads="1"/>
          </p:cNvSpPr>
          <p:nvPr>
            <p:ph type="ftr" sz="quarter" idx="3"/>
          </p:nvPr>
        </p:nvSpPr>
        <p:spPr bwMode="auto">
          <a:xfrm>
            <a:off x="5791200" y="6248402"/>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Arial" charset="0"/>
              </a:defRPr>
            </a:lvl1pPr>
          </a:lstStyle>
          <a:p>
            <a:pPr>
              <a:defRPr/>
            </a:pPr>
            <a:r>
              <a:rPr lang="en-US" smtClean="0"/>
              <a:t>MS Thesis: Secure Mechanism for Handling Targeted Attacks in WMNs</a:t>
            </a:r>
            <a:endParaRPr lang="en-US"/>
          </a:p>
        </p:txBody>
      </p:sp>
      <p:sp>
        <p:nvSpPr>
          <p:cNvPr id="4109" name="Rectangle 13">
            <a:extLst>
              <a:ext uri="{FF2B5EF4-FFF2-40B4-BE49-F238E27FC236}">
                <a16:creationId xmlns:a16="http://schemas.microsoft.com/office/drawing/2014/main" id="{B08A31F9-D76D-43DC-8BDE-F2140B37C315}"/>
              </a:ext>
            </a:extLst>
          </p:cNvPr>
          <p:cNvSpPr>
            <a:spLocks noGrp="1" noChangeArrowheads="1"/>
          </p:cNvSpPr>
          <p:nvPr>
            <p:ph type="sldNum" sz="quarter" idx="4"/>
          </p:nvPr>
        </p:nvSpPr>
        <p:spPr bwMode="auto">
          <a:xfrm>
            <a:off x="84139" y="62420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pPr>
              <a:defRPr/>
            </a:pPr>
            <a:fld id="{23054AAA-796F-4123-B6E5-399AD31EF657}" type="slidenum">
              <a:rPr lang="en-US" altLang="en-US" smtClean="0"/>
              <a:pPr>
                <a:defRPr/>
              </a:pPr>
              <a:t>‹#›</a:t>
            </a:fld>
            <a:endParaRPr lang="en-US" altLang="en-US"/>
          </a:p>
        </p:txBody>
      </p:sp>
    </p:spTree>
    <p:extLst>
      <p:ext uri="{BB962C8B-B14F-4D97-AF65-F5344CB8AC3E}">
        <p14:creationId xmlns:p14="http://schemas.microsoft.com/office/powerpoint/2010/main" val="2960628759"/>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Lst>
  <p:hf hdr="0" ftr="0" dt="0"/>
  <p:txStyles>
    <p:titleStyle>
      <a:lvl1pPr algn="l" rtl="0" eaLnBrk="1" fontAlgn="base" hangingPunct="1">
        <a:lnSpc>
          <a:spcPct val="90000"/>
        </a:lnSpc>
        <a:spcBef>
          <a:spcPct val="0"/>
        </a:spcBef>
        <a:spcAft>
          <a:spcPct val="0"/>
        </a:spcAft>
        <a:defRPr sz="3600" b="1">
          <a:solidFill>
            <a:schemeClr val="tx2"/>
          </a:solidFill>
          <a:latin typeface="+mj-lt"/>
          <a:ea typeface="+mj-ea"/>
          <a:cs typeface="+mj-cs"/>
        </a:defRPr>
      </a:lvl1pPr>
      <a:lvl2pPr algn="l" rtl="0" eaLnBrk="1" fontAlgn="base" hangingPunct="1">
        <a:lnSpc>
          <a:spcPct val="90000"/>
        </a:lnSpc>
        <a:spcBef>
          <a:spcPct val="0"/>
        </a:spcBef>
        <a:spcAft>
          <a:spcPct val="0"/>
        </a:spcAft>
        <a:defRPr sz="3600" b="1">
          <a:solidFill>
            <a:schemeClr val="tx2"/>
          </a:solidFill>
          <a:latin typeface="Arial" charset="0"/>
        </a:defRPr>
      </a:lvl2pPr>
      <a:lvl3pPr algn="l" rtl="0" eaLnBrk="1" fontAlgn="base" hangingPunct="1">
        <a:lnSpc>
          <a:spcPct val="90000"/>
        </a:lnSpc>
        <a:spcBef>
          <a:spcPct val="0"/>
        </a:spcBef>
        <a:spcAft>
          <a:spcPct val="0"/>
        </a:spcAft>
        <a:defRPr sz="3600" b="1">
          <a:solidFill>
            <a:schemeClr val="tx2"/>
          </a:solidFill>
          <a:latin typeface="Arial" charset="0"/>
        </a:defRPr>
      </a:lvl3pPr>
      <a:lvl4pPr algn="l" rtl="0" eaLnBrk="1" fontAlgn="base" hangingPunct="1">
        <a:lnSpc>
          <a:spcPct val="90000"/>
        </a:lnSpc>
        <a:spcBef>
          <a:spcPct val="0"/>
        </a:spcBef>
        <a:spcAft>
          <a:spcPct val="0"/>
        </a:spcAft>
        <a:defRPr sz="3600" b="1">
          <a:solidFill>
            <a:schemeClr val="tx2"/>
          </a:solidFill>
          <a:latin typeface="Arial" charset="0"/>
        </a:defRPr>
      </a:lvl4pPr>
      <a:lvl5pPr algn="l" rtl="0" eaLnBrk="1" fontAlgn="base" hangingPunct="1">
        <a:lnSpc>
          <a:spcPct val="90000"/>
        </a:lnSpc>
        <a:spcBef>
          <a:spcPct val="0"/>
        </a:spcBef>
        <a:spcAft>
          <a:spcPct val="0"/>
        </a:spcAft>
        <a:defRPr sz="3600" b="1">
          <a:solidFill>
            <a:schemeClr val="tx2"/>
          </a:solidFill>
          <a:latin typeface="Arial" charset="0"/>
        </a:defRPr>
      </a:lvl5pPr>
      <a:lvl6pPr marL="457200" algn="l" rtl="0" eaLnBrk="1" fontAlgn="base" hangingPunct="1">
        <a:lnSpc>
          <a:spcPct val="90000"/>
        </a:lnSpc>
        <a:spcBef>
          <a:spcPct val="0"/>
        </a:spcBef>
        <a:spcAft>
          <a:spcPct val="0"/>
        </a:spcAft>
        <a:defRPr sz="3600" b="1">
          <a:solidFill>
            <a:schemeClr val="tx2"/>
          </a:solidFill>
          <a:latin typeface="Arial" charset="0"/>
        </a:defRPr>
      </a:lvl6pPr>
      <a:lvl7pPr marL="914400" algn="l" rtl="0" eaLnBrk="1" fontAlgn="base" hangingPunct="1">
        <a:lnSpc>
          <a:spcPct val="90000"/>
        </a:lnSpc>
        <a:spcBef>
          <a:spcPct val="0"/>
        </a:spcBef>
        <a:spcAft>
          <a:spcPct val="0"/>
        </a:spcAft>
        <a:defRPr sz="3600" b="1">
          <a:solidFill>
            <a:schemeClr val="tx2"/>
          </a:solidFill>
          <a:latin typeface="Arial" charset="0"/>
        </a:defRPr>
      </a:lvl7pPr>
      <a:lvl8pPr marL="1371600" algn="l" rtl="0" eaLnBrk="1" fontAlgn="base" hangingPunct="1">
        <a:lnSpc>
          <a:spcPct val="90000"/>
        </a:lnSpc>
        <a:spcBef>
          <a:spcPct val="0"/>
        </a:spcBef>
        <a:spcAft>
          <a:spcPct val="0"/>
        </a:spcAft>
        <a:defRPr sz="3600" b="1">
          <a:solidFill>
            <a:schemeClr val="tx2"/>
          </a:solidFill>
          <a:latin typeface="Arial" charset="0"/>
        </a:defRPr>
      </a:lvl8pPr>
      <a:lvl9pPr marL="1828800" algn="l" rtl="0" eaLnBrk="1" fontAlgn="base" hangingPunct="1">
        <a:lnSpc>
          <a:spcPct val="90000"/>
        </a:lnSpc>
        <a:spcBef>
          <a:spcPct val="0"/>
        </a:spcBef>
        <a:spcAft>
          <a:spcPct val="0"/>
        </a:spcAft>
        <a:defRPr sz="36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1"/>
        </a:buClr>
        <a:buSzPct val="75000"/>
        <a:buFont typeface="Wingdings" panose="05000000000000000000" pitchFamily="2" charset="2"/>
        <a:buChar char="l"/>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75000"/>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SzPct val="75000"/>
        <a:buFont typeface="Wingdings" panose="05000000000000000000" pitchFamily="2" charset="2"/>
        <a:buChar char="l"/>
        <a:defRPr sz="2000">
          <a:solidFill>
            <a:schemeClr val="tx1"/>
          </a:solidFill>
          <a:latin typeface="+mn-lt"/>
        </a:defRPr>
      </a:lvl3pPr>
      <a:lvl4pPr marL="1600200" indent="-228600" algn="l" rtl="0" eaLnBrk="1" fontAlgn="base" hangingPunct="1">
        <a:spcBef>
          <a:spcPct val="20000"/>
        </a:spcBef>
        <a:spcAft>
          <a:spcPct val="0"/>
        </a:spcAft>
        <a:buClr>
          <a:schemeClr val="tx1"/>
        </a:buClr>
        <a:buSzPct val="80000"/>
        <a:buChar char="–"/>
        <a:defRPr sz="2000">
          <a:solidFill>
            <a:schemeClr val="tx1"/>
          </a:solidFill>
          <a:latin typeface="+mn-lt"/>
        </a:defRPr>
      </a:lvl4pPr>
      <a:lvl5pPr marL="2057400" indent="-228600" algn="l" rtl="0" eaLnBrk="1" fontAlgn="base" hangingPunct="1">
        <a:spcBef>
          <a:spcPct val="20000"/>
        </a:spcBef>
        <a:spcAft>
          <a:spcPct val="0"/>
        </a:spcAft>
        <a:buClr>
          <a:schemeClr val="tx1"/>
        </a:buClr>
        <a:buSzPct val="65000"/>
        <a:buFont typeface="Wingdings" panose="05000000000000000000" pitchFamily="2" charset="2"/>
        <a:buChar char="l"/>
        <a:defRPr sz="2000">
          <a:solidFill>
            <a:schemeClr val="tx1"/>
          </a:solidFill>
          <a:latin typeface="+mn-lt"/>
        </a:defRPr>
      </a:lvl5pPr>
      <a:lvl6pPr marL="25146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Farhad.Muhammad@numl.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8AC916-7461-472A-83D2-C4792120EBB9}"/>
              </a:ext>
            </a:extLst>
          </p:cNvPr>
          <p:cNvSpPr txBox="1"/>
          <p:nvPr/>
        </p:nvSpPr>
        <p:spPr>
          <a:xfrm>
            <a:off x="4038278" y="5819024"/>
            <a:ext cx="5528603"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Department of Computer </a:t>
            </a:r>
            <a:r>
              <a:rPr kumimoji="0" lang="en-US" sz="2400" b="1" i="0" u="none" strike="noStrike" kern="1200" cap="none" spc="0" normalizeH="0" baseline="0" noProof="0" dirty="0" smtClean="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NUML, Islamabad</a:t>
            </a:r>
          </a:p>
        </p:txBody>
      </p:sp>
      <p:sp>
        <p:nvSpPr>
          <p:cNvPr id="4" name="Subtitle 3"/>
          <p:cNvSpPr>
            <a:spLocks noGrp="1"/>
          </p:cNvSpPr>
          <p:nvPr>
            <p:ph type="subTitle" idx="1"/>
          </p:nvPr>
        </p:nvSpPr>
        <p:spPr/>
        <p:txBody>
          <a:bodyPr/>
          <a:lstStyle/>
          <a:p>
            <a:r>
              <a:rPr lang="en-US" b="1" dirty="0" err="1" smtClean="0">
                <a:solidFill>
                  <a:schemeClr val="tx1">
                    <a:lumMod val="75000"/>
                  </a:schemeClr>
                </a:solidFill>
              </a:rPr>
              <a:t>Farhad</a:t>
            </a:r>
            <a:r>
              <a:rPr lang="en-US" b="1" dirty="0" smtClean="0">
                <a:solidFill>
                  <a:schemeClr val="tx1">
                    <a:lumMod val="75000"/>
                  </a:schemeClr>
                </a:solidFill>
              </a:rPr>
              <a:t> M. </a:t>
            </a:r>
            <a:r>
              <a:rPr lang="en-US" b="1" dirty="0" err="1" smtClean="0">
                <a:solidFill>
                  <a:schemeClr val="tx1">
                    <a:lumMod val="75000"/>
                  </a:schemeClr>
                </a:solidFill>
              </a:rPr>
              <a:t>Riaz</a:t>
            </a:r>
            <a:endParaRPr lang="en-US" b="1" dirty="0" smtClean="0">
              <a:solidFill>
                <a:schemeClr val="tx1">
                  <a:lumMod val="75000"/>
                </a:schemeClr>
              </a:solidFill>
            </a:endParaRPr>
          </a:p>
          <a:p>
            <a:r>
              <a:rPr lang="en-US" sz="1800" b="1" dirty="0" smtClean="0">
                <a:solidFill>
                  <a:schemeClr val="tx1">
                    <a:lumMod val="75000"/>
                  </a:schemeClr>
                </a:solidFill>
                <a:hlinkClick r:id="rId2"/>
              </a:rPr>
              <a:t>Farhad.Muhammad@numl.edu.pk</a:t>
            </a:r>
            <a:r>
              <a:rPr lang="en-US" b="1" dirty="0" smtClean="0">
                <a:solidFill>
                  <a:schemeClr val="tx1">
                    <a:lumMod val="75000"/>
                  </a:schemeClr>
                </a:solidFill>
              </a:rPr>
              <a:t> </a:t>
            </a:r>
            <a:endParaRPr lang="en-US" b="1" dirty="0">
              <a:solidFill>
                <a:schemeClr val="tx1">
                  <a:lumMod val="75000"/>
                </a:schemeClr>
              </a:solidFill>
            </a:endParaRPr>
          </a:p>
        </p:txBody>
      </p:sp>
      <p:sp>
        <p:nvSpPr>
          <p:cNvPr id="7" name="Title 6"/>
          <p:cNvSpPr>
            <a:spLocks noGrp="1"/>
          </p:cNvSpPr>
          <p:nvPr>
            <p:ph type="ctrTitle" sz="quarter"/>
          </p:nvPr>
        </p:nvSpPr>
        <p:spPr/>
        <p:txBody>
          <a:bodyPr/>
          <a:lstStyle/>
          <a:p>
            <a:pPr algn="r"/>
            <a:r>
              <a:rPr lang="en-US" sz="2800" dirty="0" smtClean="0"/>
              <a:t>Parallel &amp; Distributed Computing</a:t>
            </a:r>
            <a:br>
              <a:rPr lang="en-US" sz="2800" dirty="0" smtClean="0"/>
            </a:br>
            <a:r>
              <a:rPr lang="en-US" sz="2800" dirty="0" smtClean="0"/>
              <a:t>Lecture 20:</a:t>
            </a:r>
            <a:br>
              <a:rPr lang="en-US" sz="2800" dirty="0" smtClean="0"/>
            </a:br>
            <a:r>
              <a:rPr lang="en-US" sz="2800" dirty="0" smtClean="0">
                <a:latin typeface="+mn-lt"/>
                <a:cs typeface="Times New Roman" panose="02020603050405020304" pitchFamily="18" charset="0"/>
              </a:rPr>
              <a:t>Concurrency Control </a:t>
            </a:r>
            <a:endParaRPr lang="en-US" sz="2800" dirty="0">
              <a:latin typeface="+mn-lt"/>
            </a:endParaRPr>
          </a:p>
        </p:txBody>
      </p:sp>
      <p:pic>
        <p:nvPicPr>
          <p:cNvPr id="8" name="Picture 2" descr="NUML Logo PNG Vector (EPS) Free Download">
            <a:extLst>
              <a:ext uri="{FF2B5EF4-FFF2-40B4-BE49-F238E27FC236}">
                <a16:creationId xmlns:a16="http://schemas.microsoft.com/office/drawing/2014/main" id="{2D3C8850-28E9-44A6-8D9F-53E817636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244" y="1050131"/>
            <a:ext cx="1927513" cy="1785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4106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Mutual exclusion </a:t>
            </a:r>
          </a:p>
        </p:txBody>
      </p:sp>
      <p:sp>
        <p:nvSpPr>
          <p:cNvPr id="3" name="Content Placeholder 2"/>
          <p:cNvSpPr>
            <a:spLocks noGrp="1"/>
          </p:cNvSpPr>
          <p:nvPr>
            <p:ph idx="1"/>
          </p:nvPr>
        </p:nvSpPr>
        <p:spPr/>
        <p:txBody>
          <a:bodyPr/>
          <a:lstStyle/>
          <a:p>
            <a:pPr algn="just"/>
            <a:r>
              <a:rPr lang="en-US" sz="2400" dirty="0"/>
              <a:t>Mutual exclusion is a concurrency control property which is introduced to prevent race conditions. </a:t>
            </a:r>
            <a:endParaRPr lang="en-US" sz="2400" dirty="0" smtClean="0"/>
          </a:p>
          <a:p>
            <a:pPr algn="just"/>
            <a:r>
              <a:rPr lang="en-US" sz="2400" dirty="0" smtClean="0"/>
              <a:t>It </a:t>
            </a:r>
            <a:r>
              <a:rPr lang="en-US" sz="2400" dirty="0"/>
              <a:t>is the requirement that a process can not enter its critical section while another concurrent process is currently present or executing in its critical section </a:t>
            </a:r>
            <a:r>
              <a:rPr lang="en-US" sz="2400" dirty="0" err="1"/>
              <a:t>i.e</a:t>
            </a:r>
            <a:r>
              <a:rPr lang="en-US" sz="2400" dirty="0"/>
              <a:t> only one process is allowed to execute the critical section at any given instance of time.</a:t>
            </a:r>
          </a:p>
          <a:p>
            <a:endParaRPr lang="en-US" dirty="0"/>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a:t>
            </a:fld>
            <a:endParaRPr lang="en-US" altLang="en-US"/>
          </a:p>
        </p:txBody>
      </p:sp>
    </p:spTree>
    <p:extLst>
      <p:ext uri="{BB962C8B-B14F-4D97-AF65-F5344CB8AC3E}">
        <p14:creationId xmlns:p14="http://schemas.microsoft.com/office/powerpoint/2010/main" val="38470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Mutual exclusion in single computer system Vs. distributed </a:t>
            </a:r>
            <a:r>
              <a:rPr lang="en-US" sz="2000" dirty="0" smtClean="0"/>
              <a:t>system</a:t>
            </a:r>
            <a:endParaRPr lang="en-US" sz="2000" dirty="0"/>
          </a:p>
        </p:txBody>
      </p:sp>
      <p:sp>
        <p:nvSpPr>
          <p:cNvPr id="3" name="Content Placeholder 2"/>
          <p:cNvSpPr>
            <a:spLocks noGrp="1"/>
          </p:cNvSpPr>
          <p:nvPr>
            <p:ph idx="1"/>
          </p:nvPr>
        </p:nvSpPr>
        <p:spPr/>
        <p:txBody>
          <a:bodyPr/>
          <a:lstStyle/>
          <a:p>
            <a:pPr algn="just"/>
            <a:r>
              <a:rPr lang="en-US" sz="2000" dirty="0"/>
              <a:t>In single computer system, memory and other resources are shared between different processes. </a:t>
            </a:r>
            <a:endParaRPr lang="en-US" sz="2000" dirty="0" smtClean="0"/>
          </a:p>
          <a:p>
            <a:pPr algn="just"/>
            <a:r>
              <a:rPr lang="en-US" sz="2000" dirty="0" smtClean="0"/>
              <a:t>The </a:t>
            </a:r>
            <a:r>
              <a:rPr lang="en-US" sz="2000" dirty="0"/>
              <a:t>status of shared resources and the status of users is easily available in the shared memory so with the help of shared variable (For example: Semaphores) mutual exclusion problem can be easily solved.</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a:t>
            </a:fld>
            <a:endParaRPr lang="en-US" altLang="en-US"/>
          </a:p>
        </p:txBody>
      </p:sp>
    </p:spTree>
    <p:extLst>
      <p:ext uri="{BB962C8B-B14F-4D97-AF65-F5344CB8AC3E}">
        <p14:creationId xmlns:p14="http://schemas.microsoft.com/office/powerpoint/2010/main" val="397707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Mutual exclusion in single computer system Vs. distributed system</a:t>
            </a:r>
          </a:p>
        </p:txBody>
      </p:sp>
      <p:sp>
        <p:nvSpPr>
          <p:cNvPr id="3" name="Content Placeholder 2"/>
          <p:cNvSpPr>
            <a:spLocks noGrp="1"/>
          </p:cNvSpPr>
          <p:nvPr>
            <p:ph idx="1"/>
          </p:nvPr>
        </p:nvSpPr>
        <p:spPr/>
        <p:txBody>
          <a:bodyPr/>
          <a:lstStyle/>
          <a:p>
            <a:pPr algn="just"/>
            <a:r>
              <a:rPr lang="en-US" sz="2000" dirty="0"/>
              <a:t>In Distributed systems, we neither have shared memory nor a common physical clock and there for we can not solve mutual exclusion problem using shared variables. </a:t>
            </a:r>
            <a:endParaRPr lang="en-US" sz="2000" dirty="0" smtClean="0"/>
          </a:p>
          <a:p>
            <a:pPr algn="just"/>
            <a:r>
              <a:rPr lang="en-US" sz="2000" dirty="0" smtClean="0"/>
              <a:t>To </a:t>
            </a:r>
            <a:r>
              <a:rPr lang="en-US" sz="2000" dirty="0"/>
              <a:t>eliminate the mutual exclusion problem in distributed system approach based on message passing is used.</a:t>
            </a:r>
          </a:p>
          <a:p>
            <a:pPr algn="just"/>
            <a:r>
              <a:rPr lang="en-US" sz="2000" dirty="0"/>
              <a:t>A site in distributed system do not have complete information of state of the system due to lack of shared memory and a common physical clock.</a:t>
            </a:r>
          </a:p>
          <a:p>
            <a:endParaRPr lang="en-US" dirty="0"/>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4</a:t>
            </a:fld>
            <a:endParaRPr lang="en-US" altLang="en-US"/>
          </a:p>
        </p:txBody>
      </p:sp>
    </p:spTree>
    <p:extLst>
      <p:ext uri="{BB962C8B-B14F-4D97-AF65-F5344CB8AC3E}">
        <p14:creationId xmlns:p14="http://schemas.microsoft.com/office/powerpoint/2010/main" val="27861691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Mutual exclusion in single computer system Vs. distributed system</a:t>
            </a:r>
          </a:p>
        </p:txBody>
      </p:sp>
      <p:sp>
        <p:nvSpPr>
          <p:cNvPr id="3" name="Content Placeholder 2"/>
          <p:cNvSpPr>
            <a:spLocks noGrp="1"/>
          </p:cNvSpPr>
          <p:nvPr>
            <p:ph idx="1"/>
          </p:nvPr>
        </p:nvSpPr>
        <p:spPr/>
        <p:txBody>
          <a:bodyPr/>
          <a:lstStyle/>
          <a:p>
            <a:r>
              <a:rPr lang="en-US" dirty="0"/>
              <a:t>Requirements of Mutual exclusion Algorithm:</a:t>
            </a:r>
          </a:p>
          <a:p>
            <a:pPr lvl="1"/>
            <a:r>
              <a:rPr lang="en-US" sz="1400" dirty="0"/>
              <a:t>No Deadlock:</a:t>
            </a:r>
            <a:br>
              <a:rPr lang="en-US" sz="1400" dirty="0"/>
            </a:br>
            <a:r>
              <a:rPr lang="en-US" sz="1400" dirty="0"/>
              <a:t>Two or more site should not endlessly wait for any message that will never arrive.</a:t>
            </a:r>
          </a:p>
          <a:p>
            <a:pPr lvl="1"/>
            <a:r>
              <a:rPr lang="en-US" sz="1400" dirty="0"/>
              <a:t>No Starvation:</a:t>
            </a:r>
            <a:br>
              <a:rPr lang="en-US" sz="1400" dirty="0"/>
            </a:br>
            <a:r>
              <a:rPr lang="en-US" sz="1400" dirty="0"/>
              <a:t>Every site who wants to execute critical section should get an opportunity to execute it in finite time. Any site should not wait indefinitely to execute critical section while other site are repeatedly executing critical section</a:t>
            </a:r>
          </a:p>
          <a:p>
            <a:pPr lvl="1"/>
            <a:r>
              <a:rPr lang="en-US" sz="1400" dirty="0"/>
              <a:t>Fairness:</a:t>
            </a:r>
            <a:br>
              <a:rPr lang="en-US" sz="1400" dirty="0"/>
            </a:br>
            <a:r>
              <a:rPr lang="en-US" sz="1400" dirty="0"/>
              <a:t>Each site should get a fair chance to execute critical section. Any request to execute critical section must be executed in the order they are made </a:t>
            </a:r>
            <a:r>
              <a:rPr lang="en-US" sz="1400" dirty="0" err="1"/>
              <a:t>i.e</a:t>
            </a:r>
            <a:r>
              <a:rPr lang="en-US" sz="1400" dirty="0"/>
              <a:t> Critical section execution requests should be executed in the order of their arrival in the system.</a:t>
            </a:r>
          </a:p>
          <a:p>
            <a:pPr lvl="1"/>
            <a:r>
              <a:rPr lang="en-US" sz="1400" dirty="0"/>
              <a:t>Fault Tolerance:</a:t>
            </a:r>
            <a:br>
              <a:rPr lang="en-US" sz="1400" dirty="0"/>
            </a:br>
            <a:r>
              <a:rPr lang="en-US" sz="1400" dirty="0"/>
              <a:t>In case of failure, it should be able to recognize it by itself in order to continue functioning without any disruption.</a:t>
            </a:r>
          </a:p>
          <a:p>
            <a:pPr lvl="1"/>
            <a:endParaRPr lang="en-US" dirty="0"/>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5</a:t>
            </a:fld>
            <a:endParaRPr lang="en-US" altLang="en-US"/>
          </a:p>
        </p:txBody>
      </p:sp>
    </p:spTree>
    <p:extLst>
      <p:ext uri="{BB962C8B-B14F-4D97-AF65-F5344CB8AC3E}">
        <p14:creationId xmlns:p14="http://schemas.microsoft.com/office/powerpoint/2010/main" val="1279252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Mutual exclusion in single computer system Vs. distributed system</a:t>
            </a:r>
          </a:p>
        </p:txBody>
      </p:sp>
      <p:sp>
        <p:nvSpPr>
          <p:cNvPr id="3" name="Content Placeholder 2"/>
          <p:cNvSpPr>
            <a:spLocks noGrp="1"/>
          </p:cNvSpPr>
          <p:nvPr>
            <p:ph idx="1"/>
          </p:nvPr>
        </p:nvSpPr>
        <p:spPr/>
        <p:txBody>
          <a:bodyPr/>
          <a:lstStyle/>
          <a:p>
            <a:pPr algn="just"/>
            <a:r>
              <a:rPr lang="en-US" dirty="0"/>
              <a:t>Solution to distributed mutual </a:t>
            </a:r>
            <a:r>
              <a:rPr lang="en-US" dirty="0" smtClean="0"/>
              <a:t>exclusion:</a:t>
            </a:r>
          </a:p>
          <a:p>
            <a:pPr lvl="1" algn="just"/>
            <a:r>
              <a:rPr lang="en-US" dirty="0" smtClean="0"/>
              <a:t>As </a:t>
            </a:r>
            <a:r>
              <a:rPr lang="en-US" dirty="0"/>
              <a:t>we know shared variables or a local kernel can not be used to implement mutual exclusion in distributed systems. </a:t>
            </a:r>
            <a:endParaRPr lang="en-US" dirty="0" smtClean="0"/>
          </a:p>
          <a:p>
            <a:pPr lvl="2" algn="just"/>
            <a:r>
              <a:rPr lang="en-US" dirty="0" smtClean="0"/>
              <a:t>Message </a:t>
            </a:r>
            <a:r>
              <a:rPr lang="en-US" dirty="0"/>
              <a:t>passing is a way to implement mutual exclusion. </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6</a:t>
            </a:fld>
            <a:endParaRPr lang="en-US" altLang="en-US"/>
          </a:p>
        </p:txBody>
      </p:sp>
    </p:spTree>
    <p:extLst>
      <p:ext uri="{BB962C8B-B14F-4D97-AF65-F5344CB8AC3E}">
        <p14:creationId xmlns:p14="http://schemas.microsoft.com/office/powerpoint/2010/main" val="30982154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Algorithms </a:t>
            </a:r>
            <a:endParaRPr lang="en-US" dirty="0"/>
          </a:p>
        </p:txBody>
      </p:sp>
      <p:sp>
        <p:nvSpPr>
          <p:cNvPr id="3" name="Content Placeholder 2"/>
          <p:cNvSpPr>
            <a:spLocks noGrp="1"/>
          </p:cNvSpPr>
          <p:nvPr>
            <p:ph idx="1"/>
          </p:nvPr>
        </p:nvSpPr>
        <p:spPr/>
        <p:txBody>
          <a:bodyPr/>
          <a:lstStyle/>
          <a:p>
            <a:r>
              <a:rPr lang="en-US" altLang="en-US" dirty="0" err="1" smtClean="0"/>
              <a:t>Lamport’s</a:t>
            </a:r>
            <a:endParaRPr lang="en-US" altLang="en-US" dirty="0" smtClean="0"/>
          </a:p>
          <a:p>
            <a:r>
              <a:rPr lang="en-US" altLang="en-US" dirty="0" err="1" smtClean="0"/>
              <a:t>Ricart</a:t>
            </a:r>
            <a:r>
              <a:rPr lang="en-US" altLang="en-US" dirty="0" smtClean="0"/>
              <a:t>–</a:t>
            </a:r>
            <a:r>
              <a:rPr lang="en-US" altLang="en-US" dirty="0" err="1" smtClean="0"/>
              <a:t>Agrawala</a:t>
            </a:r>
            <a:endParaRPr lang="en-US" altLang="en-US" dirty="0" smtClean="0"/>
          </a:p>
          <a:p>
            <a:r>
              <a:rPr lang="en-US" altLang="en-US" dirty="0" err="1"/>
              <a:t>Maekawa’s</a:t>
            </a:r>
            <a:r>
              <a:rPr lang="en-US" altLang="en-US" dirty="0"/>
              <a:t> Algorithm</a:t>
            </a:r>
            <a:endParaRPr lang="en-US" dirty="0"/>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7</a:t>
            </a:fld>
            <a:endParaRPr lang="en-US" altLang="en-US"/>
          </a:p>
        </p:txBody>
      </p:sp>
    </p:spTree>
    <p:extLst>
      <p:ext uri="{BB962C8B-B14F-4D97-AF65-F5344CB8AC3E}">
        <p14:creationId xmlns:p14="http://schemas.microsoft.com/office/powerpoint/2010/main" val="13577547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Mutual exclusion in single computer system Vs. distributed system</a:t>
            </a:r>
          </a:p>
        </p:txBody>
      </p:sp>
      <p:sp>
        <p:nvSpPr>
          <p:cNvPr id="3" name="Content Placeholder 2"/>
          <p:cNvSpPr>
            <a:spLocks noGrp="1"/>
          </p:cNvSpPr>
          <p:nvPr>
            <p:ph idx="1"/>
          </p:nvPr>
        </p:nvSpPr>
        <p:spPr>
          <a:xfrm>
            <a:off x="838201" y="2362202"/>
            <a:ext cx="7693025" cy="4368798"/>
          </a:xfrm>
        </p:spPr>
        <p:txBody>
          <a:bodyPr/>
          <a:lstStyle/>
          <a:p>
            <a:r>
              <a:rPr lang="en-US" dirty="0"/>
              <a:t>Token Based Algorithm:</a:t>
            </a:r>
          </a:p>
          <a:p>
            <a:pPr lvl="1" algn="just"/>
            <a:r>
              <a:rPr lang="en-US" sz="2000" dirty="0"/>
              <a:t>A unique token is shared among all the sites.</a:t>
            </a:r>
          </a:p>
          <a:p>
            <a:pPr lvl="1" algn="just"/>
            <a:r>
              <a:rPr lang="en-US" sz="2000" dirty="0"/>
              <a:t>If a site possesses the unique token, it is allowed to enter its critical section</a:t>
            </a:r>
          </a:p>
          <a:p>
            <a:pPr lvl="1" algn="just"/>
            <a:r>
              <a:rPr lang="en-US" sz="2000" dirty="0"/>
              <a:t>This approach uses sequence number to order requests for the critical section.</a:t>
            </a:r>
          </a:p>
          <a:p>
            <a:pPr lvl="1" algn="just"/>
            <a:r>
              <a:rPr lang="en-US" sz="2000" dirty="0"/>
              <a:t>Each requests for critical section contains a sequence number. </a:t>
            </a:r>
            <a:endParaRPr lang="en-US" sz="2000" dirty="0" smtClean="0"/>
          </a:p>
          <a:p>
            <a:pPr lvl="1" algn="just"/>
            <a:r>
              <a:rPr lang="en-US" sz="2000" dirty="0" smtClean="0"/>
              <a:t>This </a:t>
            </a:r>
            <a:r>
              <a:rPr lang="en-US" sz="2000" dirty="0"/>
              <a:t>sequence number is used to distinguish old and current requests.</a:t>
            </a:r>
          </a:p>
          <a:p>
            <a:pPr lvl="1" algn="just"/>
            <a:r>
              <a:rPr lang="en-US" sz="2000" dirty="0"/>
              <a:t>This approach insures Mutual exclusion as the token is unique</a:t>
            </a:r>
          </a:p>
          <a:p>
            <a:pPr lvl="1"/>
            <a:endParaRPr lang="en-US" dirty="0"/>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8</a:t>
            </a:fld>
            <a:endParaRPr lang="en-US" altLang="en-US"/>
          </a:p>
        </p:txBody>
      </p:sp>
    </p:spTree>
    <p:extLst>
      <p:ext uri="{BB962C8B-B14F-4D97-AF65-F5344CB8AC3E}">
        <p14:creationId xmlns:p14="http://schemas.microsoft.com/office/powerpoint/2010/main" val="9437990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p:txBody>
          <a:bodyPr/>
          <a:lstStyle/>
          <a:p>
            <a:pPr algn="just"/>
            <a:r>
              <a:rPr lang="en-US" altLang="en-US" sz="2900" b="1"/>
              <a:t>Transaction Support</a:t>
            </a:r>
          </a:p>
        </p:txBody>
      </p:sp>
      <p:sp>
        <p:nvSpPr>
          <p:cNvPr id="244739" name="Rectangle 3"/>
          <p:cNvSpPr>
            <a:spLocks noGrp="1" noChangeArrowheads="1"/>
          </p:cNvSpPr>
          <p:nvPr>
            <p:ph idx="1"/>
          </p:nvPr>
        </p:nvSpPr>
        <p:spPr>
          <a:xfrm>
            <a:off x="762000" y="2387600"/>
            <a:ext cx="7114903" cy="3947886"/>
          </a:xfrm>
        </p:spPr>
        <p:txBody>
          <a:bodyPr/>
          <a:lstStyle/>
          <a:p>
            <a:pPr lvl="1" algn="just">
              <a:buFontTx/>
              <a:buNone/>
            </a:pPr>
            <a:r>
              <a:rPr lang="en-US" altLang="en-US" sz="1800" b="1" u="sng" dirty="0"/>
              <a:t>Transaction</a:t>
            </a:r>
            <a:endParaRPr lang="en-US" altLang="en-US" sz="1800" u="sng" dirty="0"/>
          </a:p>
          <a:p>
            <a:pPr lvl="1" algn="just">
              <a:buFontTx/>
              <a:buNone/>
            </a:pPr>
            <a:r>
              <a:rPr lang="en-US" altLang="en-US" sz="1800" b="1" dirty="0"/>
              <a:t>	Action, or series of actions, carried out by user or application, which accesses or changes contents of database. </a:t>
            </a:r>
          </a:p>
          <a:p>
            <a:pPr algn="just">
              <a:lnSpc>
                <a:spcPct val="0"/>
              </a:lnSpc>
              <a:buFont typeface="Monotype Sorts" pitchFamily="2" charset="2"/>
              <a:buNone/>
            </a:pPr>
            <a:endParaRPr lang="en-US" altLang="en-US" sz="1800" b="1" dirty="0"/>
          </a:p>
          <a:p>
            <a:pPr algn="just"/>
            <a:r>
              <a:rPr lang="en-US" altLang="en-US" sz="1800" b="1" dirty="0"/>
              <a:t>Logical unit of work on the database. </a:t>
            </a:r>
          </a:p>
          <a:p>
            <a:pPr algn="just"/>
            <a:r>
              <a:rPr lang="en-US" altLang="en-US" sz="1800" b="1" dirty="0"/>
              <a:t>Application program is series of transactions with non-database processing in between. </a:t>
            </a:r>
          </a:p>
          <a:p>
            <a:pPr algn="just"/>
            <a:r>
              <a:rPr lang="en-US" altLang="en-US" sz="1800" b="1" dirty="0"/>
              <a:t>Transforms database from one consistent state to another, although consistency may be violated during transaction.</a:t>
            </a:r>
          </a:p>
        </p:txBody>
      </p:sp>
      <p:sp>
        <p:nvSpPr>
          <p:cNvPr id="4" name="Slide Number Placeholder 3"/>
          <p:cNvSpPr>
            <a:spLocks noGrp="1"/>
          </p:cNvSpPr>
          <p:nvPr>
            <p:ph type="sldNum" sz="quarter" idx="12"/>
          </p:nvPr>
        </p:nvSpPr>
        <p:spPr/>
        <p:txBody>
          <a:bodyPr/>
          <a:lstStyle/>
          <a:p>
            <a:fld id="{AC5B84B9-688F-4512-B0C3-CFBEB27DE485}" type="slidenum">
              <a:rPr lang="en-GB" altLang="en-US"/>
              <a:pPr/>
              <a:t>9</a:t>
            </a:fld>
            <a:endParaRPr lang="en-GB" altLang="en-US"/>
          </a:p>
        </p:txBody>
      </p:sp>
    </p:spTree>
    <p:extLst>
      <p:ext uri="{BB962C8B-B14F-4D97-AF65-F5344CB8AC3E}">
        <p14:creationId xmlns:p14="http://schemas.microsoft.com/office/powerpoint/2010/main" val="3920960146"/>
      </p:ext>
    </p:extLst>
  </p:cSld>
  <p:clrMapOvr>
    <a:masterClrMapping/>
  </p:clrMapOvr>
  <p:transition>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en-US" altLang="en-US" sz="2900" b="1"/>
              <a:t>Example Transaction</a:t>
            </a:r>
            <a:endParaRPr lang="en-US" altLang="en-US"/>
          </a:p>
        </p:txBody>
      </p:sp>
      <p:sp>
        <p:nvSpPr>
          <p:cNvPr id="245763" name="Rectangle 3"/>
          <p:cNvSpPr>
            <a:spLocks noGrp="1" noChangeArrowheads="1"/>
          </p:cNvSpPr>
          <p:nvPr>
            <p:ph idx="1"/>
          </p:nvPr>
        </p:nvSpPr>
        <p:spPr/>
        <p:txBody>
          <a:bodyPr/>
          <a:lstStyle/>
          <a:p>
            <a:endParaRPr lang="en-US" altLang="en-US"/>
          </a:p>
        </p:txBody>
      </p:sp>
      <p:sp>
        <p:nvSpPr>
          <p:cNvPr id="5" name="Slide Number Placeholder 3"/>
          <p:cNvSpPr>
            <a:spLocks noGrp="1"/>
          </p:cNvSpPr>
          <p:nvPr>
            <p:ph type="sldNum" sz="quarter" idx="12"/>
          </p:nvPr>
        </p:nvSpPr>
        <p:spPr/>
        <p:txBody>
          <a:bodyPr/>
          <a:lstStyle/>
          <a:p>
            <a:fld id="{79BBCF15-B9BD-4125-94CB-D8334B3372D4}" type="slidenum">
              <a:rPr lang="en-GB" altLang="en-US"/>
              <a:pPr/>
              <a:t>10</a:t>
            </a:fld>
            <a:endParaRPr lang="en-GB" altLang="en-US"/>
          </a:p>
        </p:txBody>
      </p:sp>
      <p:pic>
        <p:nvPicPr>
          <p:cNvPr id="245764" name="Picture 4" descr="DS3-Figure 19-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1" y="2362202"/>
            <a:ext cx="7456713" cy="4260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965895"/>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457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a:ln/>
        </p:spPr>
        <p:txBody>
          <a:bodyPr/>
          <a:lstStyle/>
          <a:p>
            <a:r>
              <a:rPr lang="en-US"/>
              <a:t>Example Database</a:t>
            </a:r>
          </a:p>
        </p:txBody>
      </p:sp>
      <p:sp>
        <p:nvSpPr>
          <p:cNvPr id="9219" name="Rectangle 3"/>
          <p:cNvSpPr>
            <a:spLocks noGrp="1" noChangeArrowheads="1"/>
          </p:cNvSpPr>
          <p:nvPr>
            <p:ph type="body" idx="4294967295"/>
          </p:nvPr>
        </p:nvSpPr>
        <p:spPr>
          <a:xfrm>
            <a:off x="888274" y="2367280"/>
            <a:ext cx="6923314" cy="4087813"/>
          </a:xfrm>
          <a:noFill/>
          <a:ln/>
        </p:spPr>
        <p:txBody>
          <a:bodyPr/>
          <a:lstStyle/>
          <a:p>
            <a:pPr marL="0" indent="0">
              <a:buNone/>
            </a:pPr>
            <a:r>
              <a:rPr lang="en-US" dirty="0"/>
              <a:t>Consider an airline reservation example with the relations:</a:t>
            </a:r>
          </a:p>
          <a:p>
            <a:pPr marL="0" indent="0">
              <a:buNone/>
            </a:pPr>
            <a:endParaRPr lang="en-US" dirty="0"/>
          </a:p>
          <a:p>
            <a:pPr marL="685765" lvl="1" indent="-228588">
              <a:buNone/>
            </a:pPr>
            <a:r>
              <a:rPr lang="en-US" sz="1600" dirty="0"/>
              <a:t>FLIGHT(</a:t>
            </a:r>
            <a:r>
              <a:rPr lang="en-US" sz="1600" u="sng" dirty="0"/>
              <a:t>FNO, DATE</a:t>
            </a:r>
            <a:r>
              <a:rPr lang="en-US" sz="1600" dirty="0"/>
              <a:t>, SRC, DEST, STSOLD, CAP)</a:t>
            </a:r>
          </a:p>
          <a:p>
            <a:pPr marL="685765" lvl="1" indent="-228588">
              <a:buNone/>
            </a:pPr>
            <a:r>
              <a:rPr lang="en-US" sz="1600" dirty="0"/>
              <a:t>CUST(</a:t>
            </a:r>
            <a:r>
              <a:rPr lang="en-US" sz="1600" u="sng" dirty="0"/>
              <a:t>CNAME</a:t>
            </a:r>
            <a:r>
              <a:rPr lang="en-US" sz="1600" dirty="0"/>
              <a:t>, ADDR, BAL)</a:t>
            </a:r>
          </a:p>
          <a:p>
            <a:pPr marL="685765" lvl="1" indent="-228588">
              <a:buNone/>
            </a:pPr>
            <a:r>
              <a:rPr lang="en-US" sz="1600" dirty="0"/>
              <a:t>FC(</a:t>
            </a:r>
            <a:r>
              <a:rPr lang="en-US" sz="1600" u="sng" dirty="0"/>
              <a:t>FNO, DATE, CNAME</a:t>
            </a:r>
            <a:r>
              <a:rPr lang="en-US" sz="1600" dirty="0"/>
              <a:t>,SPECIAL)</a:t>
            </a:r>
          </a:p>
        </p:txBody>
      </p:sp>
    </p:spTree>
    <p:extLst>
      <p:ext uri="{BB962C8B-B14F-4D97-AF65-F5344CB8AC3E}">
        <p14:creationId xmlns:p14="http://schemas.microsoft.com/office/powerpoint/2010/main" val="11579880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a:ln/>
        </p:spPr>
        <p:txBody>
          <a:bodyPr/>
          <a:lstStyle/>
          <a:p>
            <a:pPr>
              <a:spcBef>
                <a:spcPct val="5000"/>
              </a:spcBef>
            </a:pPr>
            <a:r>
              <a:rPr lang="en-US"/>
              <a:t>Example Transaction – SQL Version</a:t>
            </a:r>
          </a:p>
        </p:txBody>
      </p:sp>
      <p:sp>
        <p:nvSpPr>
          <p:cNvPr id="11267" name="Rectangle 3"/>
          <p:cNvSpPr>
            <a:spLocks noGrp="1" noChangeArrowheads="1"/>
          </p:cNvSpPr>
          <p:nvPr>
            <p:ph type="body" idx="4294967295"/>
          </p:nvPr>
        </p:nvSpPr>
        <p:spPr>
          <a:xfrm>
            <a:off x="761999" y="2484665"/>
            <a:ext cx="7428411" cy="3962400"/>
          </a:xfrm>
          <a:noFill/>
          <a:ln/>
        </p:spPr>
        <p:txBody>
          <a:bodyPr/>
          <a:lstStyle/>
          <a:p>
            <a:pPr>
              <a:lnSpc>
                <a:spcPct val="87000"/>
              </a:lnSpc>
              <a:spcBef>
                <a:spcPts val="422"/>
              </a:spcBef>
              <a:buNone/>
              <a:tabLst>
                <a:tab pos="1771560" algn="l"/>
                <a:tab pos="2000148" algn="l"/>
                <a:tab pos="3314530" algn="l"/>
              </a:tabLst>
            </a:pPr>
            <a:r>
              <a:rPr lang="en-US" sz="1600" b="1" dirty="0" err="1"/>
              <a:t>Begin_transaction</a:t>
            </a:r>
            <a:r>
              <a:rPr lang="en-US" sz="1600" dirty="0"/>
              <a:t> Reservation</a:t>
            </a:r>
          </a:p>
          <a:p>
            <a:pPr>
              <a:lnSpc>
                <a:spcPct val="87000"/>
              </a:lnSpc>
              <a:spcBef>
                <a:spcPts val="422"/>
              </a:spcBef>
              <a:buNone/>
              <a:tabLst>
                <a:tab pos="1771560" algn="l"/>
                <a:tab pos="2000148" algn="l"/>
                <a:tab pos="3314530" algn="l"/>
              </a:tabLst>
            </a:pPr>
            <a:r>
              <a:rPr lang="en-US" sz="1600" b="1" dirty="0"/>
              <a:t>begin</a:t>
            </a:r>
            <a:endParaRPr lang="en-US" sz="1600" dirty="0"/>
          </a:p>
          <a:p>
            <a:pPr marL="685765" lvl="1" indent="-228588">
              <a:lnSpc>
                <a:spcPct val="87000"/>
              </a:lnSpc>
              <a:spcBef>
                <a:spcPts val="422"/>
              </a:spcBef>
              <a:buNone/>
              <a:tabLst>
                <a:tab pos="1771560" algn="l"/>
                <a:tab pos="2000148" algn="l"/>
                <a:tab pos="3314530" algn="l"/>
              </a:tabLst>
            </a:pPr>
            <a:r>
              <a:rPr lang="en-US" sz="1600" b="1" dirty="0"/>
              <a:t>input</a:t>
            </a:r>
            <a:r>
              <a:rPr lang="en-US" sz="1600" dirty="0"/>
              <a:t>(</a:t>
            </a:r>
            <a:r>
              <a:rPr lang="en-US" sz="1600" dirty="0" err="1"/>
              <a:t>flight_no</a:t>
            </a:r>
            <a:r>
              <a:rPr lang="en-US" sz="1600" dirty="0"/>
              <a:t>, date, </a:t>
            </a:r>
            <a:r>
              <a:rPr lang="en-US" sz="1600" dirty="0" err="1"/>
              <a:t>customer_name</a:t>
            </a:r>
            <a:r>
              <a:rPr lang="en-US" sz="1600" dirty="0"/>
              <a:t>);</a:t>
            </a:r>
          </a:p>
          <a:p>
            <a:pPr marL="685765" lvl="1" indent="-228588">
              <a:spcBef>
                <a:spcPts val="422"/>
              </a:spcBef>
              <a:buNone/>
              <a:tabLst>
                <a:tab pos="1771560" algn="l"/>
                <a:tab pos="2000148" algn="l"/>
                <a:tab pos="3314530" algn="l"/>
              </a:tabLst>
            </a:pPr>
            <a:r>
              <a:rPr lang="en-US" sz="1600" dirty="0"/>
              <a:t>EXEC SQL	UPDATE	FLIGHT</a:t>
            </a:r>
          </a:p>
          <a:p>
            <a:pPr lvl="2">
              <a:lnSpc>
                <a:spcPct val="87000"/>
              </a:lnSpc>
              <a:spcBef>
                <a:spcPts val="422"/>
              </a:spcBef>
              <a:buNone/>
              <a:tabLst>
                <a:tab pos="1771560" algn="l"/>
                <a:tab pos="2000148" algn="l"/>
                <a:tab pos="3314530" algn="l"/>
              </a:tabLst>
            </a:pPr>
            <a:r>
              <a:rPr lang="en-US" sz="1600" dirty="0"/>
              <a:t>			SET	STSOLD = STSOLD + 1</a:t>
            </a:r>
          </a:p>
          <a:p>
            <a:pPr lvl="2">
              <a:lnSpc>
                <a:spcPct val="87000"/>
              </a:lnSpc>
              <a:spcBef>
                <a:spcPts val="422"/>
              </a:spcBef>
              <a:buNone/>
              <a:tabLst>
                <a:tab pos="1771560" algn="l"/>
                <a:tab pos="2000148" algn="l"/>
                <a:tab pos="3314530" algn="l"/>
              </a:tabLst>
            </a:pPr>
            <a:r>
              <a:rPr lang="en-US" sz="1600" dirty="0"/>
              <a:t>			WHERE	FNO = </a:t>
            </a:r>
            <a:r>
              <a:rPr lang="en-US" sz="1600" dirty="0" err="1"/>
              <a:t>flight_no</a:t>
            </a:r>
            <a:r>
              <a:rPr lang="en-US" sz="1600" dirty="0"/>
              <a:t> </a:t>
            </a:r>
            <a:r>
              <a:rPr lang="en-US" sz="1600" dirty="0" smtClean="0"/>
              <a:t>AND</a:t>
            </a:r>
          </a:p>
          <a:p>
            <a:pPr lvl="2">
              <a:lnSpc>
                <a:spcPct val="87000"/>
              </a:lnSpc>
              <a:spcBef>
                <a:spcPts val="422"/>
              </a:spcBef>
              <a:buNone/>
              <a:tabLst>
                <a:tab pos="1771560" algn="l"/>
                <a:tab pos="2000148" algn="l"/>
                <a:tab pos="3314530" algn="l"/>
              </a:tabLst>
            </a:pPr>
            <a:r>
              <a:rPr lang="en-US" sz="1600" dirty="0"/>
              <a:t>	</a:t>
            </a:r>
            <a:r>
              <a:rPr lang="en-US" sz="1600" dirty="0" smtClean="0"/>
              <a:t>			 </a:t>
            </a:r>
            <a:r>
              <a:rPr lang="en-US" sz="1600" dirty="0"/>
              <a:t>DATE = date;</a:t>
            </a:r>
          </a:p>
          <a:p>
            <a:pPr marL="685765" lvl="1" indent="-228588">
              <a:spcBef>
                <a:spcPts val="422"/>
              </a:spcBef>
              <a:buNone/>
              <a:tabLst>
                <a:tab pos="1771560" algn="l"/>
                <a:tab pos="2000148" algn="l"/>
                <a:tab pos="3314530" algn="l"/>
              </a:tabLst>
            </a:pPr>
            <a:r>
              <a:rPr lang="en-US" sz="1600" dirty="0"/>
              <a:t>EXEC SQL	INSERT</a:t>
            </a:r>
          </a:p>
          <a:p>
            <a:pPr lvl="2">
              <a:lnSpc>
                <a:spcPct val="87000"/>
              </a:lnSpc>
              <a:spcBef>
                <a:spcPts val="422"/>
              </a:spcBef>
              <a:buNone/>
              <a:tabLst>
                <a:tab pos="1771560" algn="l"/>
                <a:tab pos="2000148" algn="l"/>
                <a:tab pos="3314530" algn="l"/>
              </a:tabLst>
            </a:pPr>
            <a:r>
              <a:rPr lang="en-US" sz="1600" dirty="0"/>
              <a:t>			INTO	FC(FNO, DATE, </a:t>
            </a:r>
            <a:r>
              <a:rPr lang="en-US" sz="1600" dirty="0" smtClean="0"/>
              <a:t>CNAME, SPECIAL</a:t>
            </a:r>
            <a:r>
              <a:rPr lang="en-US" sz="1600" dirty="0"/>
              <a:t>);</a:t>
            </a:r>
          </a:p>
          <a:p>
            <a:pPr lvl="2">
              <a:lnSpc>
                <a:spcPct val="87000"/>
              </a:lnSpc>
              <a:spcBef>
                <a:spcPts val="422"/>
              </a:spcBef>
              <a:buNone/>
              <a:tabLst>
                <a:tab pos="1771560" algn="l"/>
                <a:tab pos="2000148" algn="l"/>
                <a:tab pos="3314530" algn="l"/>
              </a:tabLst>
            </a:pPr>
            <a:r>
              <a:rPr lang="en-US" sz="1600" dirty="0"/>
              <a:t>	</a:t>
            </a:r>
            <a:r>
              <a:rPr lang="en-US" sz="1600" dirty="0" smtClean="0"/>
              <a:t>VALUES</a:t>
            </a:r>
            <a:r>
              <a:rPr lang="en-US" sz="1600" dirty="0"/>
              <a:t>	(</a:t>
            </a:r>
            <a:r>
              <a:rPr lang="en-US" sz="1600" dirty="0" err="1"/>
              <a:t>flight_no</a:t>
            </a:r>
            <a:r>
              <a:rPr lang="en-US" sz="1600" dirty="0"/>
              <a:t>, date, </a:t>
            </a:r>
            <a:r>
              <a:rPr lang="en-US" sz="1600" dirty="0" err="1"/>
              <a:t>customer_name</a:t>
            </a:r>
            <a:r>
              <a:rPr lang="en-US" sz="1600" dirty="0"/>
              <a:t>, </a:t>
            </a:r>
            <a:r>
              <a:rPr lang="en-US" sz="1600" b="1" dirty="0"/>
              <a:t>null</a:t>
            </a:r>
            <a:r>
              <a:rPr lang="en-US" sz="1600" dirty="0"/>
              <a:t>);</a:t>
            </a:r>
          </a:p>
          <a:p>
            <a:pPr marL="685765" lvl="1" indent="-228588">
              <a:lnSpc>
                <a:spcPct val="87000"/>
              </a:lnSpc>
              <a:spcBef>
                <a:spcPts val="422"/>
              </a:spcBef>
              <a:buNone/>
              <a:tabLst>
                <a:tab pos="1771560" algn="l"/>
                <a:tab pos="2000148" algn="l"/>
                <a:tab pos="3314530" algn="l"/>
              </a:tabLst>
            </a:pPr>
            <a:r>
              <a:rPr lang="en-US" sz="1600" b="1" dirty="0"/>
              <a:t>output</a:t>
            </a:r>
            <a:r>
              <a:rPr lang="en-US" sz="1600" dirty="0"/>
              <a:t>(“reservation completed”)</a:t>
            </a:r>
            <a:endParaRPr lang="en-US" sz="1600" b="1" dirty="0"/>
          </a:p>
          <a:p>
            <a:pPr>
              <a:lnSpc>
                <a:spcPct val="87000"/>
              </a:lnSpc>
              <a:spcBef>
                <a:spcPts val="422"/>
              </a:spcBef>
              <a:buNone/>
              <a:tabLst>
                <a:tab pos="1771560" algn="l"/>
                <a:tab pos="2000148" algn="l"/>
                <a:tab pos="3314530" algn="l"/>
              </a:tabLst>
            </a:pPr>
            <a:r>
              <a:rPr lang="en-US" sz="1600" b="1" dirty="0"/>
              <a:t>end</a:t>
            </a:r>
            <a:r>
              <a:rPr lang="en-US" sz="1600" dirty="0"/>
              <a:t> . {Reservation}</a:t>
            </a:r>
          </a:p>
        </p:txBody>
      </p:sp>
    </p:spTree>
    <p:extLst>
      <p:ext uri="{BB962C8B-B14F-4D97-AF65-F5344CB8AC3E}">
        <p14:creationId xmlns:p14="http://schemas.microsoft.com/office/powerpoint/2010/main" val="21992866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04974" y="1544185"/>
            <a:ext cx="8847138" cy="409575"/>
          </a:xfrm>
          <a:noFill/>
          <a:ln/>
        </p:spPr>
        <p:txBody>
          <a:bodyPr/>
          <a:lstStyle/>
          <a:p>
            <a:pPr>
              <a:spcBef>
                <a:spcPct val="5000"/>
              </a:spcBef>
            </a:pPr>
            <a:r>
              <a:rPr lang="en-US" dirty="0"/>
              <a:t>Termination of Transactions</a:t>
            </a:r>
          </a:p>
        </p:txBody>
      </p:sp>
      <p:sp>
        <p:nvSpPr>
          <p:cNvPr id="13315" name="Rectangle 3"/>
          <p:cNvSpPr>
            <a:spLocks noGrp="1" noChangeArrowheads="1"/>
          </p:cNvSpPr>
          <p:nvPr>
            <p:ph idx="1"/>
          </p:nvPr>
        </p:nvSpPr>
        <p:spPr>
          <a:xfrm>
            <a:off x="821327" y="2468445"/>
            <a:ext cx="7029450" cy="4089109"/>
          </a:xfrm>
          <a:noFill/>
          <a:ln/>
        </p:spPr>
        <p:txBody>
          <a:bodyPr/>
          <a:lstStyle/>
          <a:p>
            <a:pPr>
              <a:lnSpc>
                <a:spcPct val="87000"/>
              </a:lnSpc>
              <a:spcBef>
                <a:spcPct val="0"/>
              </a:spcBef>
              <a:buNone/>
              <a:tabLst>
                <a:tab pos="1828706" algn="l"/>
                <a:tab pos="2285883" algn="l"/>
                <a:tab pos="3314530" algn="l"/>
              </a:tabLst>
            </a:pPr>
            <a:r>
              <a:rPr lang="en-US" sz="1400" b="1" dirty="0" err="1"/>
              <a:t>Begin_transaction</a:t>
            </a:r>
            <a:r>
              <a:rPr lang="en-US" sz="1400" dirty="0"/>
              <a:t> Reservation</a:t>
            </a:r>
          </a:p>
          <a:p>
            <a:pPr>
              <a:lnSpc>
                <a:spcPct val="87000"/>
              </a:lnSpc>
              <a:spcBef>
                <a:spcPct val="0"/>
              </a:spcBef>
              <a:buNone/>
              <a:tabLst>
                <a:tab pos="1828706" algn="l"/>
                <a:tab pos="2285883" algn="l"/>
                <a:tab pos="3314530" algn="l"/>
              </a:tabLst>
            </a:pPr>
            <a:r>
              <a:rPr lang="en-US" sz="1400" b="1" dirty="0"/>
              <a:t>begin</a:t>
            </a:r>
            <a:endParaRPr lang="en-US" sz="1400" dirty="0"/>
          </a:p>
          <a:p>
            <a:pPr marL="628618" lvl="1" indent="-228588">
              <a:lnSpc>
                <a:spcPct val="87000"/>
              </a:lnSpc>
              <a:spcBef>
                <a:spcPct val="0"/>
              </a:spcBef>
              <a:buNone/>
              <a:tabLst>
                <a:tab pos="1828706" algn="l"/>
                <a:tab pos="2285883" algn="l"/>
                <a:tab pos="3314530" algn="l"/>
              </a:tabLst>
            </a:pPr>
            <a:r>
              <a:rPr lang="en-US" sz="1400" b="1" dirty="0"/>
              <a:t>input</a:t>
            </a:r>
            <a:r>
              <a:rPr lang="en-US" sz="1400" dirty="0"/>
              <a:t>(</a:t>
            </a:r>
            <a:r>
              <a:rPr lang="en-US" sz="1400" dirty="0" err="1"/>
              <a:t>flight_no</a:t>
            </a:r>
            <a:r>
              <a:rPr lang="en-US" sz="1400" dirty="0"/>
              <a:t>, date, </a:t>
            </a:r>
            <a:r>
              <a:rPr lang="en-US" sz="1400" dirty="0" err="1"/>
              <a:t>customer_name</a:t>
            </a:r>
            <a:r>
              <a:rPr lang="en-US" sz="1400" dirty="0"/>
              <a:t>);</a:t>
            </a:r>
          </a:p>
          <a:p>
            <a:pPr marL="628618" lvl="1" indent="-228588">
              <a:lnSpc>
                <a:spcPct val="87000"/>
              </a:lnSpc>
              <a:spcBef>
                <a:spcPct val="0"/>
              </a:spcBef>
              <a:buNone/>
              <a:tabLst>
                <a:tab pos="1828706" algn="l"/>
                <a:tab pos="2285883" algn="l"/>
                <a:tab pos="3314530" algn="l"/>
              </a:tabLst>
            </a:pPr>
            <a:r>
              <a:rPr lang="en-US" sz="1400" dirty="0"/>
              <a:t>EXEC SQL	SELECT 	STSOLD,CAP</a:t>
            </a:r>
          </a:p>
          <a:p>
            <a:pPr marL="971500" lvl="2">
              <a:lnSpc>
                <a:spcPct val="87000"/>
              </a:lnSpc>
              <a:spcBef>
                <a:spcPct val="0"/>
              </a:spcBef>
              <a:buNone/>
              <a:tabLst>
                <a:tab pos="1828706" algn="l"/>
                <a:tab pos="2285883" algn="l"/>
                <a:tab pos="3314530" algn="l"/>
              </a:tabLst>
            </a:pPr>
            <a:r>
              <a:rPr lang="en-US" sz="1400" dirty="0"/>
              <a:t>		INTO	temp1,temp2</a:t>
            </a:r>
          </a:p>
          <a:p>
            <a:pPr marL="971500" lvl="2">
              <a:lnSpc>
                <a:spcPct val="87000"/>
              </a:lnSpc>
              <a:spcBef>
                <a:spcPct val="0"/>
              </a:spcBef>
              <a:buNone/>
              <a:tabLst>
                <a:tab pos="1828706" algn="l"/>
                <a:tab pos="2285883" algn="l"/>
                <a:tab pos="3314530" algn="l"/>
              </a:tabLst>
            </a:pPr>
            <a:r>
              <a:rPr lang="en-US" sz="1400" dirty="0"/>
              <a:t>		FROM	FLIGHT</a:t>
            </a:r>
          </a:p>
          <a:p>
            <a:pPr marL="971500" lvl="2">
              <a:lnSpc>
                <a:spcPct val="87000"/>
              </a:lnSpc>
              <a:spcBef>
                <a:spcPct val="0"/>
              </a:spcBef>
              <a:buNone/>
              <a:tabLst>
                <a:tab pos="1828706" algn="l"/>
                <a:tab pos="2285883" algn="l"/>
                <a:tab pos="3314530" algn="l"/>
              </a:tabLst>
            </a:pPr>
            <a:r>
              <a:rPr lang="en-US" sz="1400" dirty="0"/>
              <a:t>		WHERE	FNO = </a:t>
            </a:r>
            <a:r>
              <a:rPr lang="en-US" sz="1400" dirty="0" err="1"/>
              <a:t>flight_no</a:t>
            </a:r>
            <a:r>
              <a:rPr lang="en-US" sz="1400" dirty="0"/>
              <a:t> AND DATE =  date;</a:t>
            </a:r>
          </a:p>
          <a:p>
            <a:pPr marL="628618" lvl="1" indent="-228588">
              <a:lnSpc>
                <a:spcPct val="87000"/>
              </a:lnSpc>
              <a:spcBef>
                <a:spcPct val="0"/>
              </a:spcBef>
              <a:buNone/>
              <a:tabLst>
                <a:tab pos="1828706" algn="l"/>
                <a:tab pos="2285883" algn="l"/>
                <a:tab pos="3314530" algn="l"/>
              </a:tabLst>
            </a:pPr>
            <a:r>
              <a:rPr lang="en-US" sz="1400" b="1" dirty="0"/>
              <a:t>if</a:t>
            </a:r>
            <a:r>
              <a:rPr lang="en-US" sz="1400" dirty="0"/>
              <a:t> temp1 = temp2 </a:t>
            </a:r>
            <a:r>
              <a:rPr lang="en-US" sz="1400" b="1" dirty="0"/>
              <a:t>then</a:t>
            </a:r>
          </a:p>
          <a:p>
            <a:pPr marL="971500" lvl="2">
              <a:lnSpc>
                <a:spcPct val="87000"/>
              </a:lnSpc>
              <a:spcBef>
                <a:spcPct val="0"/>
              </a:spcBef>
              <a:buNone/>
              <a:tabLst>
                <a:tab pos="1828706" algn="l"/>
                <a:tab pos="2285883" algn="l"/>
                <a:tab pos="3314530" algn="l"/>
              </a:tabLst>
            </a:pPr>
            <a:r>
              <a:rPr lang="en-US" sz="1400" b="1" dirty="0"/>
              <a:t>output</a:t>
            </a:r>
            <a:r>
              <a:rPr lang="en-US" sz="1400" dirty="0"/>
              <a:t>(“no free seats”);</a:t>
            </a:r>
          </a:p>
          <a:p>
            <a:pPr marL="971500" lvl="2">
              <a:lnSpc>
                <a:spcPct val="87000"/>
              </a:lnSpc>
              <a:spcBef>
                <a:spcPct val="0"/>
              </a:spcBef>
              <a:buNone/>
              <a:tabLst>
                <a:tab pos="1828706" algn="l"/>
                <a:tab pos="2285883" algn="l"/>
                <a:tab pos="3314530" algn="l"/>
              </a:tabLst>
            </a:pPr>
            <a:r>
              <a:rPr lang="en-US" sz="1400" b="1" dirty="0">
                <a:solidFill>
                  <a:srgbClr val="FF0000"/>
                </a:solidFill>
              </a:rPr>
              <a:t>Abort</a:t>
            </a:r>
            <a:endParaRPr lang="en-US" sz="1400" dirty="0">
              <a:solidFill>
                <a:srgbClr val="FF0000"/>
              </a:solidFill>
            </a:endParaRPr>
          </a:p>
          <a:p>
            <a:pPr marL="628618" lvl="1" indent="-228588">
              <a:lnSpc>
                <a:spcPct val="87000"/>
              </a:lnSpc>
              <a:spcBef>
                <a:spcPct val="0"/>
              </a:spcBef>
              <a:buNone/>
              <a:tabLst>
                <a:tab pos="1828706" algn="l"/>
                <a:tab pos="2285883" algn="l"/>
                <a:tab pos="3314530" algn="l"/>
              </a:tabLst>
            </a:pPr>
            <a:r>
              <a:rPr lang="en-US" sz="1400" b="1" dirty="0"/>
              <a:t>else</a:t>
            </a:r>
            <a:r>
              <a:rPr lang="en-US" sz="1400" dirty="0"/>
              <a:t> </a:t>
            </a:r>
          </a:p>
          <a:p>
            <a:pPr marL="971500" lvl="2">
              <a:lnSpc>
                <a:spcPct val="87000"/>
              </a:lnSpc>
              <a:spcBef>
                <a:spcPct val="0"/>
              </a:spcBef>
              <a:buNone/>
              <a:tabLst>
                <a:tab pos="1828706" algn="l"/>
                <a:tab pos="2285883" algn="l"/>
                <a:tab pos="3314530" algn="l"/>
              </a:tabLst>
            </a:pPr>
            <a:r>
              <a:rPr lang="en-US" sz="1400" dirty="0"/>
              <a:t>EXEC SQL	UPDATE	FLIGHT</a:t>
            </a:r>
          </a:p>
          <a:p>
            <a:pPr marL="971500" lvl="2">
              <a:lnSpc>
                <a:spcPct val="87000"/>
              </a:lnSpc>
              <a:spcBef>
                <a:spcPct val="0"/>
              </a:spcBef>
              <a:buNone/>
              <a:tabLst>
                <a:tab pos="1828706" algn="l"/>
                <a:tab pos="2285883" algn="l"/>
                <a:tab pos="3314530" algn="l"/>
              </a:tabLst>
            </a:pPr>
            <a:r>
              <a:rPr lang="en-US" sz="1400" dirty="0"/>
              <a:t>			SET	STSOLD = STSOLD + 1</a:t>
            </a:r>
          </a:p>
          <a:p>
            <a:pPr marL="971500" lvl="2">
              <a:lnSpc>
                <a:spcPct val="87000"/>
              </a:lnSpc>
              <a:spcBef>
                <a:spcPct val="0"/>
              </a:spcBef>
              <a:buNone/>
              <a:tabLst>
                <a:tab pos="1828706" algn="l"/>
                <a:tab pos="2285883" algn="l"/>
                <a:tab pos="3314530" algn="l"/>
              </a:tabLst>
            </a:pPr>
            <a:r>
              <a:rPr lang="en-US" sz="1400" dirty="0"/>
              <a:t>			WHERE	FNO = </a:t>
            </a:r>
            <a:r>
              <a:rPr lang="en-US" sz="1400" dirty="0" err="1"/>
              <a:t>flight_no</a:t>
            </a:r>
            <a:r>
              <a:rPr lang="en-US" sz="1400" dirty="0"/>
              <a:t> AND DATE = date;</a:t>
            </a:r>
          </a:p>
          <a:p>
            <a:pPr marL="971500" lvl="2">
              <a:lnSpc>
                <a:spcPct val="87000"/>
              </a:lnSpc>
              <a:spcBef>
                <a:spcPct val="0"/>
              </a:spcBef>
              <a:buNone/>
              <a:tabLst>
                <a:tab pos="1828706" algn="l"/>
                <a:tab pos="2285883" algn="l"/>
                <a:tab pos="3314530" algn="l"/>
              </a:tabLst>
            </a:pPr>
            <a:r>
              <a:rPr lang="en-US" sz="1400" dirty="0"/>
              <a:t>EXEC SQL	INSERT</a:t>
            </a:r>
          </a:p>
          <a:p>
            <a:pPr marL="971500" lvl="2">
              <a:lnSpc>
                <a:spcPct val="87000"/>
              </a:lnSpc>
              <a:spcBef>
                <a:spcPct val="0"/>
              </a:spcBef>
              <a:buNone/>
              <a:tabLst>
                <a:tab pos="1828706" algn="l"/>
                <a:tab pos="2285883" algn="l"/>
                <a:tab pos="3314530" algn="l"/>
              </a:tabLst>
            </a:pPr>
            <a:r>
              <a:rPr lang="en-US" sz="1400" dirty="0"/>
              <a:t>			INTO	FC(FNO, DATE, CNAME, SPECIAL);</a:t>
            </a:r>
          </a:p>
          <a:p>
            <a:pPr marL="971500" lvl="2">
              <a:lnSpc>
                <a:spcPct val="87000"/>
              </a:lnSpc>
              <a:spcBef>
                <a:spcPct val="0"/>
              </a:spcBef>
              <a:buNone/>
              <a:tabLst>
                <a:tab pos="1828706" algn="l"/>
                <a:tab pos="2285883" algn="l"/>
                <a:tab pos="3314530" algn="l"/>
              </a:tabLst>
            </a:pPr>
            <a:r>
              <a:rPr lang="en-US" sz="1400" dirty="0"/>
              <a:t>			VALUES	(</a:t>
            </a:r>
            <a:r>
              <a:rPr lang="en-US" sz="1400" dirty="0" err="1"/>
              <a:t>flight_no</a:t>
            </a:r>
            <a:r>
              <a:rPr lang="en-US" sz="1400" dirty="0"/>
              <a:t>, date, </a:t>
            </a:r>
            <a:r>
              <a:rPr lang="en-US" sz="1400" dirty="0" err="1"/>
              <a:t>customer_name</a:t>
            </a:r>
            <a:r>
              <a:rPr lang="en-US" sz="1400" dirty="0"/>
              <a:t>, </a:t>
            </a:r>
            <a:r>
              <a:rPr lang="en-US" sz="1400" b="1" dirty="0"/>
              <a:t>null</a:t>
            </a:r>
            <a:r>
              <a:rPr lang="en-US" sz="1400" dirty="0"/>
              <a:t>);</a:t>
            </a:r>
          </a:p>
          <a:p>
            <a:pPr marL="628618" lvl="1" indent="-228588">
              <a:lnSpc>
                <a:spcPct val="87000"/>
              </a:lnSpc>
              <a:spcBef>
                <a:spcPct val="0"/>
              </a:spcBef>
              <a:buNone/>
              <a:tabLst>
                <a:tab pos="1828706" algn="l"/>
                <a:tab pos="2285883" algn="l"/>
                <a:tab pos="3314530" algn="l"/>
              </a:tabLst>
            </a:pPr>
            <a:r>
              <a:rPr lang="en-US" sz="1400" dirty="0"/>
              <a:t>	</a:t>
            </a:r>
            <a:r>
              <a:rPr lang="en-US" sz="1400" b="1" dirty="0">
                <a:solidFill>
                  <a:srgbClr val="FF0000"/>
                </a:solidFill>
              </a:rPr>
              <a:t>Commit</a:t>
            </a:r>
            <a:endParaRPr lang="en-US" sz="1400" dirty="0">
              <a:solidFill>
                <a:srgbClr val="FF0000"/>
              </a:solidFill>
            </a:endParaRPr>
          </a:p>
          <a:p>
            <a:pPr marL="628618" lvl="1" indent="-228588">
              <a:lnSpc>
                <a:spcPct val="87000"/>
              </a:lnSpc>
              <a:spcBef>
                <a:spcPct val="0"/>
              </a:spcBef>
              <a:buNone/>
              <a:tabLst>
                <a:tab pos="1828706" algn="l"/>
                <a:tab pos="2285883" algn="l"/>
                <a:tab pos="3314530" algn="l"/>
              </a:tabLst>
            </a:pPr>
            <a:r>
              <a:rPr lang="en-US" sz="1400" b="1" dirty="0"/>
              <a:t>	output</a:t>
            </a:r>
            <a:r>
              <a:rPr lang="en-US" sz="1400" dirty="0"/>
              <a:t>(“reservation completed”)</a:t>
            </a:r>
          </a:p>
          <a:p>
            <a:pPr>
              <a:lnSpc>
                <a:spcPct val="87000"/>
              </a:lnSpc>
              <a:spcBef>
                <a:spcPct val="0"/>
              </a:spcBef>
              <a:buNone/>
              <a:tabLst>
                <a:tab pos="1828706" algn="l"/>
                <a:tab pos="2285883" algn="l"/>
                <a:tab pos="3314530" algn="l"/>
              </a:tabLst>
            </a:pPr>
            <a:r>
              <a:rPr lang="en-US" sz="1400" dirty="0"/>
              <a:t>	</a:t>
            </a:r>
            <a:r>
              <a:rPr lang="en-US" sz="1400" b="1" dirty="0" err="1"/>
              <a:t>endif</a:t>
            </a:r>
            <a:endParaRPr lang="en-US" sz="1400" b="1" dirty="0"/>
          </a:p>
          <a:p>
            <a:pPr>
              <a:lnSpc>
                <a:spcPct val="87000"/>
              </a:lnSpc>
              <a:spcBef>
                <a:spcPct val="0"/>
              </a:spcBef>
              <a:buNone/>
              <a:tabLst>
                <a:tab pos="1828706" algn="l"/>
                <a:tab pos="2285883" algn="l"/>
                <a:tab pos="3314530" algn="l"/>
              </a:tabLst>
            </a:pPr>
            <a:r>
              <a:rPr lang="en-US" sz="1400" b="1" dirty="0"/>
              <a:t>end</a:t>
            </a:r>
            <a:r>
              <a:rPr lang="en-US" sz="1400" dirty="0"/>
              <a:t> . {Reservation}</a:t>
            </a:r>
          </a:p>
        </p:txBody>
      </p:sp>
    </p:spTree>
    <p:extLst>
      <p:ext uri="{BB962C8B-B14F-4D97-AF65-F5344CB8AC3E}">
        <p14:creationId xmlns:p14="http://schemas.microsoft.com/office/powerpoint/2010/main" val="37318169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762000" y="762000"/>
            <a:ext cx="8107680" cy="1143000"/>
          </a:xfrm>
          <a:noFill/>
          <a:ln/>
        </p:spPr>
        <p:txBody>
          <a:bodyPr/>
          <a:lstStyle/>
          <a:p>
            <a:r>
              <a:rPr lang="en-US" sz="2800" dirty="0"/>
              <a:t>Example Transaction – </a:t>
            </a:r>
            <a:r>
              <a:rPr lang="en-US" sz="2800" dirty="0" smtClean="0"/>
              <a:t>Reads </a:t>
            </a:r>
            <a:r>
              <a:rPr lang="en-US" sz="2800" dirty="0"/>
              <a:t>&amp; Writes</a:t>
            </a:r>
          </a:p>
        </p:txBody>
      </p:sp>
      <p:sp>
        <p:nvSpPr>
          <p:cNvPr id="15363" name="Rectangle 3"/>
          <p:cNvSpPr>
            <a:spLocks noGrp="1" noChangeArrowheads="1"/>
          </p:cNvSpPr>
          <p:nvPr>
            <p:ph type="body" idx="4294967295"/>
          </p:nvPr>
        </p:nvSpPr>
        <p:spPr>
          <a:xfrm>
            <a:off x="762000" y="2362020"/>
            <a:ext cx="7162800" cy="4300038"/>
          </a:xfrm>
          <a:noFill/>
          <a:ln/>
        </p:spPr>
        <p:txBody>
          <a:bodyPr/>
          <a:lstStyle/>
          <a:p>
            <a:pPr>
              <a:lnSpc>
                <a:spcPct val="100000"/>
              </a:lnSpc>
              <a:spcBef>
                <a:spcPct val="0"/>
              </a:spcBef>
              <a:buFont typeface="Monotype Sorts" charset="2"/>
              <a:buNone/>
            </a:pPr>
            <a:r>
              <a:rPr lang="en-US" sz="1600" b="1" dirty="0" err="1"/>
              <a:t>Begin_transaction</a:t>
            </a:r>
            <a:r>
              <a:rPr lang="en-US" sz="1600" dirty="0"/>
              <a:t> Reservation</a:t>
            </a:r>
          </a:p>
          <a:p>
            <a:pPr>
              <a:lnSpc>
                <a:spcPct val="100000"/>
              </a:lnSpc>
              <a:spcBef>
                <a:spcPct val="0"/>
              </a:spcBef>
              <a:buFont typeface="Monotype Sorts" charset="2"/>
              <a:buNone/>
            </a:pPr>
            <a:r>
              <a:rPr lang="en-US" sz="1600" b="1" dirty="0"/>
              <a:t>begin</a:t>
            </a:r>
            <a:endParaRPr lang="en-US" sz="1600" dirty="0"/>
          </a:p>
          <a:p>
            <a:pPr lvl="2">
              <a:lnSpc>
                <a:spcPct val="100000"/>
              </a:lnSpc>
              <a:spcBef>
                <a:spcPct val="0"/>
              </a:spcBef>
              <a:buFont typeface="Monotype Sorts" charset="2"/>
              <a:buNone/>
            </a:pPr>
            <a:r>
              <a:rPr lang="en-US" sz="1600" b="1" dirty="0" err="1"/>
              <a:t>input</a:t>
            </a:r>
            <a:r>
              <a:rPr lang="en-US" sz="1600" dirty="0" err="1"/>
              <a:t>(flight_no</a:t>
            </a:r>
            <a:r>
              <a:rPr lang="en-US" sz="1600" dirty="0"/>
              <a:t>, date, </a:t>
            </a:r>
            <a:r>
              <a:rPr lang="en-US" sz="1600" dirty="0" err="1"/>
              <a:t>customer_name</a:t>
            </a:r>
            <a:r>
              <a:rPr lang="en-US" sz="1600" dirty="0"/>
              <a:t>);</a:t>
            </a:r>
          </a:p>
          <a:p>
            <a:pPr lvl="2">
              <a:lnSpc>
                <a:spcPct val="100000"/>
              </a:lnSpc>
              <a:spcBef>
                <a:spcPct val="0"/>
              </a:spcBef>
              <a:buFont typeface="Monotype Sorts" charset="2"/>
              <a:buNone/>
            </a:pPr>
            <a:r>
              <a:rPr lang="en-US" sz="1600" dirty="0"/>
              <a:t>temp</a:t>
            </a:r>
            <a:r>
              <a:rPr lang="en-US" sz="1600" dirty="0" smtClean="0"/>
              <a:t> </a:t>
            </a:r>
            <a:r>
              <a:rPr lang="en-US" sz="1600" dirty="0" smtClean="0">
                <a:latin typeface="Symbol" charset="2"/>
              </a:rPr>
              <a:t>← </a:t>
            </a:r>
            <a:r>
              <a:rPr lang="en-US" sz="1600" dirty="0" err="1" smtClean="0"/>
              <a:t>Read</a:t>
            </a:r>
            <a:r>
              <a:rPr lang="en-US" sz="1600" dirty="0" err="1"/>
              <a:t>(flight_no(date).stsold</a:t>
            </a:r>
            <a:r>
              <a:rPr lang="en-US" sz="1600" dirty="0"/>
              <a:t>);</a:t>
            </a:r>
          </a:p>
          <a:p>
            <a:pPr lvl="2">
              <a:lnSpc>
                <a:spcPct val="100000"/>
              </a:lnSpc>
              <a:spcBef>
                <a:spcPct val="0"/>
              </a:spcBef>
              <a:buFont typeface="Monotype Sorts" charset="2"/>
              <a:buNone/>
            </a:pPr>
            <a:r>
              <a:rPr lang="en-US" sz="1600" b="1" dirty="0"/>
              <a:t>if</a:t>
            </a:r>
            <a:r>
              <a:rPr lang="en-US" sz="1600" dirty="0"/>
              <a:t> temp = </a:t>
            </a:r>
            <a:r>
              <a:rPr lang="en-US" sz="1600" dirty="0" err="1"/>
              <a:t>flight(date).cap</a:t>
            </a:r>
            <a:r>
              <a:rPr lang="en-US" sz="1600" dirty="0"/>
              <a:t> </a:t>
            </a:r>
            <a:r>
              <a:rPr lang="en-US" sz="1600" b="1" dirty="0"/>
              <a:t>then</a:t>
            </a:r>
          </a:p>
          <a:p>
            <a:pPr lvl="2">
              <a:lnSpc>
                <a:spcPct val="100000"/>
              </a:lnSpc>
              <a:spcBef>
                <a:spcPct val="0"/>
              </a:spcBef>
              <a:buFont typeface="Monotype Sorts" charset="2"/>
              <a:buNone/>
            </a:pPr>
            <a:r>
              <a:rPr lang="en-US" sz="1600" b="1" dirty="0"/>
              <a:t>begin</a:t>
            </a:r>
            <a:endParaRPr lang="en-US" sz="1600" dirty="0"/>
          </a:p>
          <a:p>
            <a:pPr lvl="3">
              <a:lnSpc>
                <a:spcPct val="100000"/>
              </a:lnSpc>
              <a:spcBef>
                <a:spcPct val="0"/>
              </a:spcBef>
              <a:buFont typeface="Monotype Sorts" charset="2"/>
              <a:buNone/>
            </a:pPr>
            <a:r>
              <a:rPr lang="en-US" sz="1600" b="1" dirty="0" err="1"/>
              <a:t>output</a:t>
            </a:r>
            <a:r>
              <a:rPr lang="en-US" sz="1600" dirty="0" err="1"/>
              <a:t>(“no</a:t>
            </a:r>
            <a:r>
              <a:rPr lang="en-US" sz="1600" dirty="0"/>
              <a:t> free seats”);</a:t>
            </a:r>
          </a:p>
          <a:p>
            <a:pPr lvl="3">
              <a:lnSpc>
                <a:spcPct val="100000"/>
              </a:lnSpc>
              <a:spcBef>
                <a:spcPct val="0"/>
              </a:spcBef>
              <a:buFont typeface="Monotype Sorts" charset="2"/>
              <a:buNone/>
            </a:pPr>
            <a:r>
              <a:rPr lang="en-US" sz="1600" b="1" dirty="0"/>
              <a:t>Abort</a:t>
            </a:r>
            <a:endParaRPr lang="en-US" sz="1600" dirty="0"/>
          </a:p>
          <a:p>
            <a:pPr lvl="2">
              <a:lnSpc>
                <a:spcPct val="100000"/>
              </a:lnSpc>
              <a:spcBef>
                <a:spcPct val="0"/>
              </a:spcBef>
              <a:buFont typeface="Monotype Sorts" charset="2"/>
              <a:buNone/>
            </a:pPr>
            <a:r>
              <a:rPr lang="en-US" sz="1600" b="1" dirty="0"/>
              <a:t>end</a:t>
            </a:r>
            <a:endParaRPr lang="en-US" sz="1600" dirty="0"/>
          </a:p>
          <a:p>
            <a:pPr lvl="2">
              <a:lnSpc>
                <a:spcPct val="100000"/>
              </a:lnSpc>
              <a:spcBef>
                <a:spcPct val="0"/>
              </a:spcBef>
              <a:buFont typeface="Monotype Sorts" charset="2"/>
              <a:buNone/>
            </a:pPr>
            <a:r>
              <a:rPr lang="en-US" sz="1600" b="1" dirty="0"/>
              <a:t>else begin</a:t>
            </a:r>
            <a:endParaRPr lang="en-US" sz="1600" dirty="0"/>
          </a:p>
          <a:p>
            <a:pPr lvl="3">
              <a:lnSpc>
                <a:spcPct val="100000"/>
              </a:lnSpc>
              <a:spcBef>
                <a:spcPct val="0"/>
              </a:spcBef>
              <a:buFont typeface="Monotype Sorts" charset="2"/>
              <a:buNone/>
            </a:pPr>
            <a:r>
              <a:rPr lang="en-US" sz="1600" dirty="0" err="1"/>
              <a:t>Write(flight(date).stsold</a:t>
            </a:r>
            <a:r>
              <a:rPr lang="en-US" sz="1600" dirty="0"/>
              <a:t>, temp + 1);</a:t>
            </a:r>
          </a:p>
          <a:p>
            <a:pPr lvl="3">
              <a:lnSpc>
                <a:spcPct val="100000"/>
              </a:lnSpc>
              <a:spcBef>
                <a:spcPct val="0"/>
              </a:spcBef>
              <a:buFont typeface="Monotype Sorts" charset="2"/>
              <a:buNone/>
            </a:pPr>
            <a:r>
              <a:rPr lang="en-US" sz="1600" dirty="0" err="1"/>
              <a:t>Write(flight(date).cname</a:t>
            </a:r>
            <a:r>
              <a:rPr lang="en-US" sz="1600" dirty="0"/>
              <a:t>, </a:t>
            </a:r>
            <a:r>
              <a:rPr lang="en-US" sz="1600" dirty="0" err="1"/>
              <a:t>customer_name</a:t>
            </a:r>
            <a:r>
              <a:rPr lang="en-US" sz="1600" dirty="0"/>
              <a:t>);</a:t>
            </a:r>
          </a:p>
          <a:p>
            <a:pPr lvl="3">
              <a:lnSpc>
                <a:spcPct val="100000"/>
              </a:lnSpc>
              <a:spcBef>
                <a:spcPct val="0"/>
              </a:spcBef>
              <a:buFont typeface="Monotype Sorts" charset="2"/>
              <a:buNone/>
            </a:pPr>
            <a:r>
              <a:rPr lang="en-US" sz="1600" dirty="0" err="1"/>
              <a:t>Write(flight(date).special</a:t>
            </a:r>
            <a:r>
              <a:rPr lang="en-US" sz="1600" dirty="0"/>
              <a:t>, </a:t>
            </a:r>
            <a:r>
              <a:rPr lang="en-US" sz="1600" b="1" dirty="0"/>
              <a:t>null</a:t>
            </a:r>
            <a:r>
              <a:rPr lang="en-US" sz="1600" dirty="0"/>
              <a:t>);</a:t>
            </a:r>
          </a:p>
          <a:p>
            <a:pPr lvl="3">
              <a:lnSpc>
                <a:spcPct val="100000"/>
              </a:lnSpc>
              <a:spcBef>
                <a:spcPct val="0"/>
              </a:spcBef>
              <a:buFont typeface="Monotype Sorts" charset="2"/>
              <a:buNone/>
            </a:pPr>
            <a:r>
              <a:rPr lang="en-US" sz="1600" b="1" dirty="0"/>
              <a:t>Commit</a:t>
            </a:r>
            <a:r>
              <a:rPr lang="en-US" sz="1600" dirty="0"/>
              <a:t>;</a:t>
            </a:r>
          </a:p>
          <a:p>
            <a:pPr lvl="3">
              <a:lnSpc>
                <a:spcPct val="100000"/>
              </a:lnSpc>
              <a:spcBef>
                <a:spcPct val="0"/>
              </a:spcBef>
              <a:buFont typeface="Monotype Sorts" charset="2"/>
              <a:buNone/>
            </a:pPr>
            <a:r>
              <a:rPr lang="en-US" sz="1600" b="1" dirty="0" err="1"/>
              <a:t>output</a:t>
            </a:r>
            <a:r>
              <a:rPr lang="en-US" sz="1600" dirty="0" err="1"/>
              <a:t>(“reservation</a:t>
            </a:r>
            <a:r>
              <a:rPr lang="en-US" sz="1600" dirty="0"/>
              <a:t> completed”)</a:t>
            </a:r>
          </a:p>
          <a:p>
            <a:pPr lvl="2">
              <a:lnSpc>
                <a:spcPct val="100000"/>
              </a:lnSpc>
              <a:spcBef>
                <a:spcPct val="0"/>
              </a:spcBef>
              <a:buFont typeface="Monotype Sorts" charset="2"/>
              <a:buNone/>
            </a:pPr>
            <a:r>
              <a:rPr lang="en-US" sz="1600" b="1" dirty="0"/>
              <a:t>end</a:t>
            </a:r>
            <a:endParaRPr lang="en-US" sz="1600" dirty="0"/>
          </a:p>
          <a:p>
            <a:pPr>
              <a:buFont typeface="Monotype Sorts" charset="2"/>
              <a:buNone/>
            </a:pPr>
            <a:r>
              <a:rPr lang="en-US" sz="1600" b="1" dirty="0"/>
              <a:t>end</a:t>
            </a:r>
            <a:r>
              <a:rPr lang="en-US" sz="1600" dirty="0"/>
              <a:t>. {Reservation}</a:t>
            </a:r>
          </a:p>
        </p:txBody>
      </p:sp>
    </p:spTree>
    <p:extLst>
      <p:ext uri="{BB962C8B-B14F-4D97-AF65-F5344CB8AC3E}">
        <p14:creationId xmlns:p14="http://schemas.microsoft.com/office/powerpoint/2010/main" val="23977707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pPr algn="just"/>
            <a:r>
              <a:rPr lang="en-US" altLang="en-US" sz="2900" b="1"/>
              <a:t>Transaction Support</a:t>
            </a:r>
            <a:endParaRPr lang="en-US" altLang="en-US" b="1"/>
          </a:p>
        </p:txBody>
      </p:sp>
      <p:sp>
        <p:nvSpPr>
          <p:cNvPr id="246787" name="Rectangle 3"/>
          <p:cNvSpPr>
            <a:spLocks noGrp="1" noChangeArrowheads="1"/>
          </p:cNvSpPr>
          <p:nvPr>
            <p:ph idx="1"/>
          </p:nvPr>
        </p:nvSpPr>
        <p:spPr>
          <a:xfrm>
            <a:off x="762000" y="2371725"/>
            <a:ext cx="7075714" cy="4114800"/>
          </a:xfrm>
        </p:spPr>
        <p:txBody>
          <a:bodyPr/>
          <a:lstStyle/>
          <a:p>
            <a:pPr algn="just">
              <a:lnSpc>
                <a:spcPct val="90000"/>
              </a:lnSpc>
            </a:pPr>
            <a:r>
              <a:rPr lang="en-US" altLang="en-US" sz="2000" b="1" dirty="0"/>
              <a:t>Can have one of two outcomes:</a:t>
            </a:r>
          </a:p>
          <a:p>
            <a:pPr lvl="1" algn="just">
              <a:lnSpc>
                <a:spcPct val="90000"/>
              </a:lnSpc>
            </a:pPr>
            <a:r>
              <a:rPr lang="en-US" altLang="en-US" sz="2000" b="1" dirty="0"/>
              <a:t>Success - transaction </a:t>
            </a:r>
            <a:r>
              <a:rPr lang="en-US" altLang="en-US" sz="2000" b="1" i="1" dirty="0"/>
              <a:t>commits</a:t>
            </a:r>
            <a:r>
              <a:rPr lang="en-US" altLang="en-US" sz="2000" b="1" dirty="0"/>
              <a:t> and database reaches a new consistent state. </a:t>
            </a:r>
          </a:p>
          <a:p>
            <a:pPr lvl="1" algn="just">
              <a:lnSpc>
                <a:spcPct val="90000"/>
              </a:lnSpc>
            </a:pPr>
            <a:r>
              <a:rPr lang="en-US" altLang="en-US" sz="2000" b="1" dirty="0"/>
              <a:t>Failure - transaction </a:t>
            </a:r>
            <a:r>
              <a:rPr lang="en-US" altLang="en-US" sz="2000" b="1" i="1" dirty="0"/>
              <a:t>aborts</a:t>
            </a:r>
            <a:r>
              <a:rPr lang="en-US" altLang="en-US" sz="2000" b="1" dirty="0"/>
              <a:t>, and database must be restored to consistent state before it started. </a:t>
            </a:r>
          </a:p>
          <a:p>
            <a:pPr lvl="1" algn="just">
              <a:lnSpc>
                <a:spcPct val="90000"/>
              </a:lnSpc>
            </a:pPr>
            <a:r>
              <a:rPr lang="en-US" altLang="en-US" sz="2000" b="1" dirty="0"/>
              <a:t>Such a transaction is </a:t>
            </a:r>
            <a:r>
              <a:rPr lang="en-US" altLang="en-US" sz="2000" b="1" i="1" dirty="0"/>
              <a:t>rolled back</a:t>
            </a:r>
            <a:r>
              <a:rPr lang="en-US" altLang="en-US" sz="2000" b="1" dirty="0"/>
              <a:t> or </a:t>
            </a:r>
            <a:r>
              <a:rPr lang="en-US" altLang="en-US" sz="2000" b="1" i="1" dirty="0"/>
              <a:t>undone</a:t>
            </a:r>
            <a:r>
              <a:rPr lang="en-US" altLang="en-US" sz="2000" b="1" dirty="0"/>
              <a:t>. </a:t>
            </a:r>
          </a:p>
          <a:p>
            <a:pPr algn="just">
              <a:lnSpc>
                <a:spcPct val="90000"/>
              </a:lnSpc>
            </a:pPr>
            <a:r>
              <a:rPr lang="en-US" altLang="en-US" sz="2000" b="1" dirty="0"/>
              <a:t>Committed transaction cannot be aborted (Compensating transaction).</a:t>
            </a:r>
          </a:p>
          <a:p>
            <a:pPr algn="just">
              <a:lnSpc>
                <a:spcPct val="90000"/>
              </a:lnSpc>
            </a:pPr>
            <a:r>
              <a:rPr lang="en-US" altLang="en-US" sz="2000" b="1" dirty="0"/>
              <a:t>Aborted transaction that is rolled back can be restarted later.</a:t>
            </a:r>
          </a:p>
        </p:txBody>
      </p:sp>
      <p:sp>
        <p:nvSpPr>
          <p:cNvPr id="4" name="Slide Number Placeholder 3"/>
          <p:cNvSpPr>
            <a:spLocks noGrp="1"/>
          </p:cNvSpPr>
          <p:nvPr>
            <p:ph type="sldNum" sz="quarter" idx="12"/>
          </p:nvPr>
        </p:nvSpPr>
        <p:spPr/>
        <p:txBody>
          <a:bodyPr/>
          <a:lstStyle/>
          <a:p>
            <a:fld id="{C11521A1-F4D3-418E-BE76-0BB71CB7DED6}" type="slidenum">
              <a:rPr lang="en-GB" altLang="en-US"/>
              <a:pPr/>
              <a:t>15</a:t>
            </a:fld>
            <a:endParaRPr lang="en-GB" altLang="en-US"/>
          </a:p>
        </p:txBody>
      </p:sp>
    </p:spTree>
    <p:extLst>
      <p:ext uri="{BB962C8B-B14F-4D97-AF65-F5344CB8AC3E}">
        <p14:creationId xmlns:p14="http://schemas.microsoft.com/office/powerpoint/2010/main" val="227025061"/>
      </p:ext>
    </p:extLst>
  </p:cSld>
  <p:clrMapOvr>
    <a:masterClrMapping/>
  </p:clrMapOvr>
  <p:transition>
    <p:wipe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pPr algn="just"/>
            <a:r>
              <a:rPr lang="en-US" altLang="en-US" sz="2900" b="1"/>
              <a:t>State Transition Diagram for Transaction </a:t>
            </a:r>
          </a:p>
        </p:txBody>
      </p:sp>
      <p:sp>
        <p:nvSpPr>
          <p:cNvPr id="247811" name="Rectangle 3"/>
          <p:cNvSpPr>
            <a:spLocks noGrp="1" noChangeArrowheads="1"/>
          </p:cNvSpPr>
          <p:nvPr>
            <p:ph idx="1"/>
          </p:nvPr>
        </p:nvSpPr>
        <p:spPr/>
        <p:txBody>
          <a:bodyPr/>
          <a:lstStyle/>
          <a:p>
            <a:endParaRPr lang="en-US" altLang="en-US"/>
          </a:p>
        </p:txBody>
      </p:sp>
      <p:sp>
        <p:nvSpPr>
          <p:cNvPr id="5" name="Slide Number Placeholder 3"/>
          <p:cNvSpPr>
            <a:spLocks noGrp="1"/>
          </p:cNvSpPr>
          <p:nvPr>
            <p:ph type="sldNum" sz="quarter" idx="12"/>
          </p:nvPr>
        </p:nvSpPr>
        <p:spPr/>
        <p:txBody>
          <a:bodyPr/>
          <a:lstStyle/>
          <a:p>
            <a:fld id="{F119CB0C-5732-476B-A3CA-ABFCE275A87E}" type="slidenum">
              <a:rPr lang="en-GB" altLang="en-US"/>
              <a:pPr/>
              <a:t>16</a:t>
            </a:fld>
            <a:endParaRPr lang="en-GB" altLang="en-US"/>
          </a:p>
        </p:txBody>
      </p:sp>
      <p:pic>
        <p:nvPicPr>
          <p:cNvPr id="247812" name="Picture 4" descr="DS3-Figure 19-0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362202"/>
            <a:ext cx="6960325" cy="4260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4421575"/>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478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pPr algn="just"/>
            <a:r>
              <a:rPr lang="en-US" altLang="en-US" sz="2900" b="1"/>
              <a:t>Properties of Transactions </a:t>
            </a:r>
            <a:endParaRPr lang="en-US" altLang="en-US"/>
          </a:p>
        </p:txBody>
      </p:sp>
      <p:sp>
        <p:nvSpPr>
          <p:cNvPr id="248835" name="Rectangle 3"/>
          <p:cNvSpPr>
            <a:spLocks noGrp="1" noChangeArrowheads="1"/>
          </p:cNvSpPr>
          <p:nvPr>
            <p:ph idx="1"/>
          </p:nvPr>
        </p:nvSpPr>
        <p:spPr>
          <a:xfrm>
            <a:off x="762000" y="2371725"/>
            <a:ext cx="7321731" cy="4114800"/>
          </a:xfrm>
        </p:spPr>
        <p:txBody>
          <a:bodyPr/>
          <a:lstStyle/>
          <a:p>
            <a:pPr marL="0" indent="0" algn="just">
              <a:tabLst>
                <a:tab pos="1905000" algn="l"/>
                <a:tab pos="2286000" algn="l"/>
              </a:tabLst>
            </a:pPr>
            <a:r>
              <a:rPr lang="en-US" altLang="en-US" sz="2000" b="1" dirty="0"/>
              <a:t>Four basic </a:t>
            </a:r>
            <a:r>
              <a:rPr lang="en-US" altLang="en-US" sz="2000" b="1" i="1" dirty="0"/>
              <a:t>(ACID)</a:t>
            </a:r>
            <a:r>
              <a:rPr lang="en-US" altLang="en-US" sz="2000" b="1" dirty="0"/>
              <a:t> properties of a transaction are:</a:t>
            </a:r>
          </a:p>
          <a:p>
            <a:pPr marL="0" indent="0" algn="just">
              <a:lnSpc>
                <a:spcPct val="40000"/>
              </a:lnSpc>
              <a:tabLst>
                <a:tab pos="1905000" algn="l"/>
                <a:tab pos="2286000" algn="l"/>
              </a:tabLst>
            </a:pPr>
            <a:endParaRPr lang="en-US" altLang="en-US" sz="2000" b="1" dirty="0"/>
          </a:p>
          <a:p>
            <a:pPr marL="0" indent="0" algn="just">
              <a:buFont typeface="Monotype Sorts" pitchFamily="2" charset="2"/>
              <a:buNone/>
              <a:tabLst>
                <a:tab pos="1905000" algn="l"/>
                <a:tab pos="2286000" algn="l"/>
              </a:tabLst>
            </a:pPr>
            <a:r>
              <a:rPr lang="en-US" altLang="en-US" sz="2000" b="1" u="sng" dirty="0"/>
              <a:t>Atomicity</a:t>
            </a:r>
            <a:r>
              <a:rPr lang="en-US" altLang="en-US" sz="2000" b="1" dirty="0"/>
              <a:t> 	</a:t>
            </a:r>
            <a:endParaRPr lang="en-US" altLang="en-US" sz="2000" b="1" dirty="0" smtClean="0"/>
          </a:p>
          <a:p>
            <a:pPr marL="0" indent="0" algn="just">
              <a:buFont typeface="Monotype Sorts" pitchFamily="2" charset="2"/>
              <a:buNone/>
              <a:tabLst>
                <a:tab pos="1905000" algn="l"/>
                <a:tab pos="2286000" algn="l"/>
              </a:tabLst>
            </a:pPr>
            <a:r>
              <a:rPr lang="en-US" altLang="en-US" sz="2000" b="1" dirty="0"/>
              <a:t>	</a:t>
            </a:r>
            <a:r>
              <a:rPr lang="en-US" altLang="en-US" sz="2000" b="1" dirty="0" smtClean="0"/>
              <a:t>All </a:t>
            </a:r>
            <a:r>
              <a:rPr lang="en-US" altLang="en-US" sz="2000" b="1" dirty="0"/>
              <a:t>or nothing’ property. </a:t>
            </a:r>
          </a:p>
          <a:p>
            <a:pPr marL="0" indent="0" algn="just">
              <a:buFont typeface="Monotype Sorts" pitchFamily="2" charset="2"/>
              <a:buNone/>
              <a:tabLst>
                <a:tab pos="1905000" algn="l"/>
                <a:tab pos="2286000" algn="l"/>
              </a:tabLst>
            </a:pPr>
            <a:r>
              <a:rPr lang="en-US" altLang="en-US" sz="2000" b="1" u="sng" dirty="0"/>
              <a:t>Consistency</a:t>
            </a:r>
            <a:r>
              <a:rPr lang="en-US" altLang="en-US" sz="2000" b="1" dirty="0"/>
              <a:t>	</a:t>
            </a:r>
            <a:endParaRPr lang="en-US" altLang="en-US" sz="2000" b="1" dirty="0" smtClean="0"/>
          </a:p>
          <a:p>
            <a:pPr marL="0" indent="0" algn="just">
              <a:buFont typeface="Monotype Sorts" pitchFamily="2" charset="2"/>
              <a:buNone/>
              <a:tabLst>
                <a:tab pos="1905000" algn="l"/>
                <a:tab pos="2286000" algn="l"/>
              </a:tabLst>
            </a:pPr>
            <a:r>
              <a:rPr lang="en-US" altLang="en-US" sz="2000" b="1" dirty="0"/>
              <a:t>	</a:t>
            </a:r>
            <a:r>
              <a:rPr lang="en-US" altLang="en-US" sz="2000" b="1" dirty="0" smtClean="0"/>
              <a:t>Must </a:t>
            </a:r>
            <a:r>
              <a:rPr lang="en-US" altLang="en-US" sz="2000" b="1" dirty="0"/>
              <a:t>transform database from one </a:t>
            </a:r>
            <a:r>
              <a:rPr lang="en-US" altLang="en-US" sz="2000" b="1" dirty="0" smtClean="0"/>
              <a:t>	consistent </a:t>
            </a:r>
            <a:r>
              <a:rPr lang="en-US" altLang="en-US" sz="2000" b="1" dirty="0"/>
              <a:t>state to another.</a:t>
            </a:r>
          </a:p>
          <a:p>
            <a:pPr marL="0" indent="0" algn="just">
              <a:buFont typeface="Monotype Sorts" pitchFamily="2" charset="2"/>
              <a:buNone/>
              <a:tabLst>
                <a:tab pos="1905000" algn="l"/>
                <a:tab pos="2286000" algn="l"/>
              </a:tabLst>
            </a:pPr>
            <a:r>
              <a:rPr lang="en-US" altLang="en-US" sz="2000" b="1" u="sng" dirty="0"/>
              <a:t>Isolation</a:t>
            </a:r>
            <a:r>
              <a:rPr lang="en-US" altLang="en-US" sz="2000" b="1" dirty="0"/>
              <a:t>  	Partial effects of incomplete transactions </a:t>
            </a:r>
            <a:r>
              <a:rPr lang="en-US" altLang="en-US" sz="2000" b="1" dirty="0" smtClean="0"/>
              <a:t>	should </a:t>
            </a:r>
            <a:r>
              <a:rPr lang="en-US" altLang="en-US" sz="2000" b="1" dirty="0"/>
              <a:t>not be visible to other transactions.</a:t>
            </a:r>
          </a:p>
          <a:p>
            <a:pPr marL="0" indent="0" algn="just">
              <a:buFont typeface="Monotype Sorts" pitchFamily="2" charset="2"/>
              <a:buNone/>
              <a:tabLst>
                <a:tab pos="1905000" algn="l"/>
                <a:tab pos="2286000" algn="l"/>
              </a:tabLst>
            </a:pPr>
            <a:r>
              <a:rPr lang="en-US" altLang="en-US" sz="2000" b="1" u="sng" dirty="0"/>
              <a:t>Durability</a:t>
            </a:r>
            <a:r>
              <a:rPr lang="en-US" altLang="en-US" sz="2000" b="1" dirty="0"/>
              <a:t>	Effects of a committed transaction are </a:t>
            </a:r>
            <a:r>
              <a:rPr lang="en-US" altLang="en-US" sz="2000" b="1" dirty="0" smtClean="0"/>
              <a:t>	permanent </a:t>
            </a:r>
            <a:r>
              <a:rPr lang="en-US" altLang="en-US" sz="2000" b="1" dirty="0"/>
              <a:t>and must not be lost because </a:t>
            </a:r>
            <a:r>
              <a:rPr lang="en-US" altLang="en-US" sz="2000" b="1" dirty="0" smtClean="0"/>
              <a:t>	of </a:t>
            </a:r>
            <a:r>
              <a:rPr lang="en-US" altLang="en-US" sz="2000" b="1" dirty="0"/>
              <a:t>later failure.</a:t>
            </a:r>
          </a:p>
        </p:txBody>
      </p:sp>
      <p:sp>
        <p:nvSpPr>
          <p:cNvPr id="4" name="Slide Number Placeholder 3"/>
          <p:cNvSpPr>
            <a:spLocks noGrp="1"/>
          </p:cNvSpPr>
          <p:nvPr>
            <p:ph type="sldNum" sz="quarter" idx="12"/>
          </p:nvPr>
        </p:nvSpPr>
        <p:spPr/>
        <p:txBody>
          <a:bodyPr/>
          <a:lstStyle/>
          <a:p>
            <a:fld id="{756C318D-D877-4F72-B61B-F8848EDF3215}" type="slidenum">
              <a:rPr lang="en-GB" altLang="en-US"/>
              <a:pPr/>
              <a:t>17</a:t>
            </a:fld>
            <a:endParaRPr lang="en-GB" altLang="en-US"/>
          </a:p>
        </p:txBody>
      </p:sp>
    </p:spTree>
    <p:extLst>
      <p:ext uri="{BB962C8B-B14F-4D97-AF65-F5344CB8AC3E}">
        <p14:creationId xmlns:p14="http://schemas.microsoft.com/office/powerpoint/2010/main" val="1055755959"/>
      </p:ext>
    </p:extLst>
  </p:cSld>
  <p:clrMapOvr>
    <a:masterClrMapping/>
  </p:clrMapOvr>
  <p:transition>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pPr algn="just"/>
            <a:r>
              <a:rPr lang="en-US" altLang="en-US" sz="2900" b="1"/>
              <a:t>DBMS Transaction Subsystem</a:t>
            </a:r>
          </a:p>
        </p:txBody>
      </p:sp>
      <p:sp>
        <p:nvSpPr>
          <p:cNvPr id="249859" name="Rectangle 3"/>
          <p:cNvSpPr>
            <a:spLocks noGrp="1" noChangeArrowheads="1"/>
          </p:cNvSpPr>
          <p:nvPr>
            <p:ph idx="1"/>
          </p:nvPr>
        </p:nvSpPr>
        <p:spPr/>
        <p:txBody>
          <a:bodyPr/>
          <a:lstStyle/>
          <a:p>
            <a:endParaRPr lang="en-US" altLang="en-US"/>
          </a:p>
        </p:txBody>
      </p:sp>
      <p:sp>
        <p:nvSpPr>
          <p:cNvPr id="5" name="Slide Number Placeholder 3"/>
          <p:cNvSpPr>
            <a:spLocks noGrp="1"/>
          </p:cNvSpPr>
          <p:nvPr>
            <p:ph type="sldNum" sz="quarter" idx="12"/>
          </p:nvPr>
        </p:nvSpPr>
        <p:spPr/>
        <p:txBody>
          <a:bodyPr/>
          <a:lstStyle/>
          <a:p>
            <a:fld id="{840699A3-51BF-4F87-8926-973B24811D75}" type="slidenum">
              <a:rPr lang="en-GB" altLang="en-US"/>
              <a:pPr/>
              <a:t>18</a:t>
            </a:fld>
            <a:endParaRPr lang="en-GB" altLang="en-US"/>
          </a:p>
        </p:txBody>
      </p:sp>
      <p:pic>
        <p:nvPicPr>
          <p:cNvPr id="249860" name="Picture 4" descr="DS3-Figure 19-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0525" y="2412274"/>
            <a:ext cx="7106195" cy="4131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3219106"/>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498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a:lstStyle/>
          <a:p>
            <a:r>
              <a:rPr lang="en-US" dirty="0"/>
              <a:t>Architecture Revisited</a:t>
            </a:r>
          </a:p>
        </p:txBody>
      </p:sp>
      <p:sp>
        <p:nvSpPr>
          <p:cNvPr id="44035" name="Rectangle 3"/>
          <p:cNvSpPr>
            <a:spLocks noChangeArrowheads="1"/>
          </p:cNvSpPr>
          <p:nvPr/>
        </p:nvSpPr>
        <p:spPr bwMode="auto">
          <a:xfrm>
            <a:off x="2354582" y="3165600"/>
            <a:ext cx="4572000" cy="2413000"/>
          </a:xfrm>
          <a:prstGeom prst="rect">
            <a:avLst/>
          </a:prstGeom>
          <a:solidFill>
            <a:schemeClr val="accent3">
              <a:lumMod val="90000"/>
            </a:schemeClr>
          </a:solidFill>
          <a:ln w="12700">
            <a:solidFill>
              <a:srgbClr val="000000"/>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4036" name="Rectangle 4"/>
          <p:cNvSpPr>
            <a:spLocks noChangeArrowheads="1"/>
          </p:cNvSpPr>
          <p:nvPr/>
        </p:nvSpPr>
        <p:spPr bwMode="auto">
          <a:xfrm>
            <a:off x="2897935" y="3844624"/>
            <a:ext cx="1450715" cy="649728"/>
          </a:xfrm>
          <a:prstGeom prst="rect">
            <a:avLst/>
          </a:prstGeom>
          <a:noFill/>
          <a:ln w="12700">
            <a:noFill/>
            <a:miter lim="800000"/>
            <a:headEnd/>
            <a:tailEnd/>
          </a:ln>
          <a:effectLst/>
        </p:spPr>
        <p:txBody>
          <a:bodyPr wrap="none" lIns="90486" tIns="44449" rIns="90486" bIns="44449">
            <a:prstTxWarp prst="textNoShape">
              <a:avLst/>
            </a:prstTxWarp>
            <a:spAutoFit/>
          </a:bodyPr>
          <a:lstStyle/>
          <a:p>
            <a:pPr>
              <a:lnSpc>
                <a:spcPct val="75000"/>
              </a:lnSpc>
            </a:pPr>
            <a:r>
              <a:rPr lang="en-US" sz="1617" dirty="0">
                <a:solidFill>
                  <a:srgbClr val="000000"/>
                </a:solidFill>
                <a:latin typeface="Book Antiqua"/>
              </a:rPr>
              <a:t>Scheduling/</a:t>
            </a:r>
          </a:p>
          <a:p>
            <a:pPr>
              <a:lnSpc>
                <a:spcPct val="75000"/>
              </a:lnSpc>
            </a:pPr>
            <a:r>
              <a:rPr lang="en-US" sz="1617" dirty="0" err="1">
                <a:solidFill>
                  <a:srgbClr val="000000"/>
                </a:solidFill>
                <a:latin typeface="Book Antiqua"/>
              </a:rPr>
              <a:t>Descheduling</a:t>
            </a:r>
            <a:endParaRPr lang="en-US" sz="1617" dirty="0">
              <a:solidFill>
                <a:srgbClr val="000000"/>
              </a:solidFill>
              <a:latin typeface="Book Antiqua"/>
            </a:endParaRPr>
          </a:p>
          <a:p>
            <a:pPr>
              <a:lnSpc>
                <a:spcPct val="75000"/>
              </a:lnSpc>
            </a:pPr>
            <a:r>
              <a:rPr lang="en-US" sz="1617" dirty="0">
                <a:solidFill>
                  <a:srgbClr val="000000"/>
                </a:solidFill>
                <a:latin typeface="Book Antiqua"/>
              </a:rPr>
              <a:t>Requests</a:t>
            </a:r>
          </a:p>
        </p:txBody>
      </p:sp>
      <p:sp>
        <p:nvSpPr>
          <p:cNvPr id="44037" name="Rectangle 5"/>
          <p:cNvSpPr>
            <a:spLocks noChangeArrowheads="1"/>
          </p:cNvSpPr>
          <p:nvPr/>
        </p:nvSpPr>
        <p:spPr bwMode="auto">
          <a:xfrm>
            <a:off x="3475038" y="3277886"/>
            <a:ext cx="2178050" cy="495300"/>
          </a:xfrm>
          <a:prstGeom prst="rect">
            <a:avLst/>
          </a:prstGeom>
          <a:solidFill>
            <a:srgbClr val="183400"/>
          </a:solidFill>
          <a:ln w="12700">
            <a:solidFill>
              <a:srgbClr val="000000"/>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4038" name="Rectangle 6"/>
          <p:cNvSpPr>
            <a:spLocks noChangeArrowheads="1"/>
          </p:cNvSpPr>
          <p:nvPr/>
        </p:nvSpPr>
        <p:spPr bwMode="auto">
          <a:xfrm>
            <a:off x="3455989" y="3239786"/>
            <a:ext cx="2191302" cy="587466"/>
          </a:xfrm>
          <a:prstGeom prst="rect">
            <a:avLst/>
          </a:prstGeom>
          <a:solidFill>
            <a:schemeClr val="accent3">
              <a:lumMod val="25000"/>
            </a:schemeClr>
          </a:solidFill>
          <a:ln w="12700">
            <a:noFill/>
            <a:miter lim="800000"/>
            <a:headEnd/>
            <a:tailEnd/>
          </a:ln>
          <a:effectLst/>
        </p:spPr>
        <p:txBody>
          <a:bodyPr wrap="none" lIns="90486" tIns="44449" rIns="90486" bIns="44449">
            <a:prstTxWarp prst="textNoShape">
              <a:avLst/>
            </a:prstTxWarp>
            <a:spAutoFit/>
          </a:bodyPr>
          <a:lstStyle/>
          <a:p>
            <a:r>
              <a:rPr lang="en-US" sz="1617" b="1" dirty="0">
                <a:solidFill>
                  <a:schemeClr val="bg1"/>
                </a:solidFill>
                <a:latin typeface="Book Antiqua"/>
              </a:rPr>
              <a:t>Transaction Manager</a:t>
            </a:r>
          </a:p>
          <a:p>
            <a:endParaRPr lang="en-US" sz="1617" b="1" dirty="0">
              <a:solidFill>
                <a:schemeClr val="bg1"/>
              </a:solidFill>
              <a:latin typeface="Book Antiqua"/>
            </a:endParaRPr>
          </a:p>
        </p:txBody>
      </p:sp>
      <p:sp>
        <p:nvSpPr>
          <p:cNvPr id="44039" name="Rectangle 7"/>
          <p:cNvSpPr>
            <a:spLocks noChangeArrowheads="1"/>
          </p:cNvSpPr>
          <p:nvPr/>
        </p:nvSpPr>
        <p:spPr bwMode="auto">
          <a:xfrm>
            <a:off x="4241093" y="3514424"/>
            <a:ext cx="665244" cy="338617"/>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617" b="1" dirty="0">
                <a:solidFill>
                  <a:schemeClr val="bg1"/>
                </a:solidFill>
                <a:latin typeface="Book Antiqua"/>
              </a:rPr>
              <a:t>(TM)</a:t>
            </a:r>
          </a:p>
        </p:txBody>
      </p:sp>
      <p:grpSp>
        <p:nvGrpSpPr>
          <p:cNvPr id="44042" name="Group 10"/>
          <p:cNvGrpSpPr>
            <a:grpSpLocks/>
          </p:cNvGrpSpPr>
          <p:nvPr/>
        </p:nvGrpSpPr>
        <p:grpSpPr bwMode="auto">
          <a:xfrm>
            <a:off x="5030789" y="2731788"/>
            <a:ext cx="1895474" cy="503238"/>
            <a:chOff x="3169" y="1572"/>
            <a:chExt cx="1194" cy="317"/>
          </a:xfrm>
        </p:grpSpPr>
        <p:sp>
          <p:nvSpPr>
            <p:cNvPr id="44040" name="Rectangle 8"/>
            <p:cNvSpPr>
              <a:spLocks noChangeArrowheads="1"/>
            </p:cNvSpPr>
            <p:nvPr/>
          </p:nvSpPr>
          <p:spPr bwMode="auto">
            <a:xfrm>
              <a:off x="3358" y="1572"/>
              <a:ext cx="809"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b="1" dirty="0">
                  <a:solidFill>
                    <a:srgbClr val="000000"/>
                  </a:solidFill>
                  <a:latin typeface="Book Antiqua"/>
                </a:rPr>
                <a:t>Distributed </a:t>
              </a:r>
            </a:p>
          </p:txBody>
        </p:sp>
        <p:sp>
          <p:nvSpPr>
            <p:cNvPr id="44041" name="Rectangle 9"/>
            <p:cNvSpPr>
              <a:spLocks noChangeArrowheads="1"/>
            </p:cNvSpPr>
            <p:nvPr/>
          </p:nvSpPr>
          <p:spPr bwMode="auto">
            <a:xfrm>
              <a:off x="3169" y="1692"/>
              <a:ext cx="1194"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b="1" dirty="0">
                  <a:solidFill>
                    <a:srgbClr val="000000"/>
                  </a:solidFill>
                  <a:latin typeface="Book Antiqua"/>
                </a:rPr>
                <a:t>Execution Monitor</a:t>
              </a:r>
            </a:p>
          </p:txBody>
        </p:sp>
      </p:grpSp>
      <p:grpSp>
        <p:nvGrpSpPr>
          <p:cNvPr id="44045" name="Group 13"/>
          <p:cNvGrpSpPr>
            <a:grpSpLocks/>
          </p:cNvGrpSpPr>
          <p:nvPr/>
        </p:nvGrpSpPr>
        <p:grpSpPr bwMode="auto">
          <a:xfrm>
            <a:off x="7208836" y="3639839"/>
            <a:ext cx="1168400" cy="617538"/>
            <a:chOff x="4541" y="2144"/>
            <a:chExt cx="736" cy="389"/>
          </a:xfrm>
        </p:grpSpPr>
        <p:sp>
          <p:nvSpPr>
            <p:cNvPr id="44043" name="Rectangle 11"/>
            <p:cNvSpPr>
              <a:spLocks noChangeArrowheads="1"/>
            </p:cNvSpPr>
            <p:nvPr/>
          </p:nvSpPr>
          <p:spPr bwMode="auto">
            <a:xfrm>
              <a:off x="4541" y="2144"/>
              <a:ext cx="736"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dirty="0">
                  <a:latin typeface="Book Antiqua"/>
                </a:rPr>
                <a:t>With other </a:t>
              </a:r>
            </a:p>
          </p:txBody>
        </p:sp>
        <p:sp>
          <p:nvSpPr>
            <p:cNvPr id="44044" name="Rectangle 12"/>
            <p:cNvSpPr>
              <a:spLocks noChangeArrowheads="1"/>
            </p:cNvSpPr>
            <p:nvPr/>
          </p:nvSpPr>
          <p:spPr bwMode="auto">
            <a:xfrm>
              <a:off x="4556" y="2336"/>
              <a:ext cx="298"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dirty="0">
                  <a:latin typeface="Book Antiqua"/>
                </a:rPr>
                <a:t>SCs</a:t>
              </a:r>
            </a:p>
          </p:txBody>
        </p:sp>
      </p:grpSp>
      <p:grpSp>
        <p:nvGrpSpPr>
          <p:cNvPr id="44048" name="Group 16"/>
          <p:cNvGrpSpPr>
            <a:grpSpLocks/>
          </p:cNvGrpSpPr>
          <p:nvPr/>
        </p:nvGrpSpPr>
        <p:grpSpPr bwMode="auto">
          <a:xfrm>
            <a:off x="1223964" y="3620789"/>
            <a:ext cx="1171575" cy="617538"/>
            <a:chOff x="771" y="2132"/>
            <a:chExt cx="738" cy="389"/>
          </a:xfrm>
        </p:grpSpPr>
        <p:sp>
          <p:nvSpPr>
            <p:cNvPr id="44046" name="Rectangle 14"/>
            <p:cNvSpPr>
              <a:spLocks noChangeArrowheads="1"/>
            </p:cNvSpPr>
            <p:nvPr/>
          </p:nvSpPr>
          <p:spPr bwMode="auto">
            <a:xfrm>
              <a:off x="773" y="2132"/>
              <a:ext cx="736"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dirty="0">
                  <a:latin typeface="Book Antiqua"/>
                </a:rPr>
                <a:t>With other </a:t>
              </a:r>
            </a:p>
          </p:txBody>
        </p:sp>
        <p:sp>
          <p:nvSpPr>
            <p:cNvPr id="44047" name="Rectangle 15"/>
            <p:cNvSpPr>
              <a:spLocks noChangeArrowheads="1"/>
            </p:cNvSpPr>
            <p:nvPr/>
          </p:nvSpPr>
          <p:spPr bwMode="auto">
            <a:xfrm>
              <a:off x="771" y="2324"/>
              <a:ext cx="339"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dirty="0">
                  <a:latin typeface="Book Antiqua"/>
                </a:rPr>
                <a:t>TMs</a:t>
              </a:r>
            </a:p>
          </p:txBody>
        </p:sp>
      </p:grpSp>
      <p:grpSp>
        <p:nvGrpSpPr>
          <p:cNvPr id="44053" name="Group 21"/>
          <p:cNvGrpSpPr>
            <a:grpSpLocks/>
          </p:cNvGrpSpPr>
          <p:nvPr/>
        </p:nvGrpSpPr>
        <p:grpSpPr bwMode="auto">
          <a:xfrm>
            <a:off x="2955929" y="1666574"/>
            <a:ext cx="1825625" cy="958850"/>
            <a:chOff x="1862" y="901"/>
            <a:chExt cx="1150" cy="604"/>
          </a:xfrm>
        </p:grpSpPr>
        <p:grpSp>
          <p:nvGrpSpPr>
            <p:cNvPr id="44051" name="Group 19"/>
            <p:cNvGrpSpPr>
              <a:grpSpLocks/>
            </p:cNvGrpSpPr>
            <p:nvPr/>
          </p:nvGrpSpPr>
          <p:grpSpPr bwMode="auto">
            <a:xfrm>
              <a:off x="1862" y="901"/>
              <a:ext cx="1150" cy="336"/>
              <a:chOff x="1862" y="901"/>
              <a:chExt cx="1150" cy="336"/>
            </a:xfrm>
          </p:grpSpPr>
          <p:sp>
            <p:nvSpPr>
              <p:cNvPr id="44049" name="Rectangle 17"/>
              <p:cNvSpPr>
                <a:spLocks noChangeArrowheads="1"/>
              </p:cNvSpPr>
              <p:nvPr/>
            </p:nvSpPr>
            <p:spPr bwMode="auto">
              <a:xfrm>
                <a:off x="1862" y="901"/>
                <a:ext cx="1150"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dirty="0" err="1">
                    <a:latin typeface="Book Antiqua"/>
                  </a:rPr>
                  <a:t>Begin_transaction</a:t>
                </a:r>
                <a:r>
                  <a:rPr lang="en-US" sz="1617" dirty="0">
                    <a:latin typeface="Book Antiqua"/>
                  </a:rPr>
                  <a:t>,</a:t>
                </a:r>
              </a:p>
            </p:txBody>
          </p:sp>
          <p:sp>
            <p:nvSpPr>
              <p:cNvPr id="44050" name="Rectangle 18"/>
              <p:cNvSpPr>
                <a:spLocks noChangeArrowheads="1"/>
              </p:cNvSpPr>
              <p:nvPr/>
            </p:nvSpPr>
            <p:spPr bwMode="auto">
              <a:xfrm>
                <a:off x="1923" y="1040"/>
                <a:ext cx="830"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dirty="0">
                    <a:latin typeface="Book Antiqua"/>
                  </a:rPr>
                  <a:t>Read, Write, </a:t>
                </a:r>
              </a:p>
            </p:txBody>
          </p:sp>
        </p:grpSp>
        <p:sp>
          <p:nvSpPr>
            <p:cNvPr id="44052" name="Rectangle 20"/>
            <p:cNvSpPr>
              <a:spLocks noChangeArrowheads="1"/>
            </p:cNvSpPr>
            <p:nvPr/>
          </p:nvSpPr>
          <p:spPr bwMode="auto">
            <a:xfrm>
              <a:off x="1955" y="1308"/>
              <a:ext cx="961"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dirty="0">
                  <a:latin typeface="Book Antiqua"/>
                </a:rPr>
                <a:t>Commit, Abort</a:t>
              </a:r>
            </a:p>
          </p:txBody>
        </p:sp>
      </p:grpSp>
      <p:grpSp>
        <p:nvGrpSpPr>
          <p:cNvPr id="44056" name="Group 24"/>
          <p:cNvGrpSpPr>
            <a:grpSpLocks/>
          </p:cNvGrpSpPr>
          <p:nvPr/>
        </p:nvGrpSpPr>
        <p:grpSpPr bwMode="auto">
          <a:xfrm>
            <a:off x="4095747" y="5786140"/>
            <a:ext cx="1011236" cy="579438"/>
            <a:chOff x="2580" y="3496"/>
            <a:chExt cx="637" cy="365"/>
          </a:xfrm>
        </p:grpSpPr>
        <p:sp>
          <p:nvSpPr>
            <p:cNvPr id="44054" name="Rectangle 22"/>
            <p:cNvSpPr>
              <a:spLocks noChangeArrowheads="1"/>
            </p:cNvSpPr>
            <p:nvPr/>
          </p:nvSpPr>
          <p:spPr bwMode="auto">
            <a:xfrm>
              <a:off x="2654" y="3496"/>
              <a:ext cx="550"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dirty="0">
                  <a:latin typeface="Book Antiqua"/>
                </a:rPr>
                <a:t>To data </a:t>
              </a:r>
            </a:p>
          </p:txBody>
        </p:sp>
        <p:sp>
          <p:nvSpPr>
            <p:cNvPr id="44055" name="Rectangle 23"/>
            <p:cNvSpPr>
              <a:spLocks noChangeArrowheads="1"/>
            </p:cNvSpPr>
            <p:nvPr/>
          </p:nvSpPr>
          <p:spPr bwMode="auto">
            <a:xfrm>
              <a:off x="2580" y="3664"/>
              <a:ext cx="637"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dirty="0">
                  <a:latin typeface="Book Antiqua"/>
                </a:rPr>
                <a:t>processor</a:t>
              </a:r>
            </a:p>
          </p:txBody>
        </p:sp>
      </p:grpSp>
      <p:sp>
        <p:nvSpPr>
          <p:cNvPr id="44057" name="Rectangle 25"/>
          <p:cNvSpPr>
            <a:spLocks noChangeArrowheads="1"/>
          </p:cNvSpPr>
          <p:nvPr/>
        </p:nvSpPr>
        <p:spPr bwMode="auto">
          <a:xfrm>
            <a:off x="4690135" y="2258232"/>
            <a:ext cx="849589" cy="338617"/>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617" dirty="0">
                <a:latin typeface="Book Antiqua"/>
              </a:rPr>
              <a:t>Results</a:t>
            </a:r>
          </a:p>
        </p:txBody>
      </p:sp>
      <p:sp>
        <p:nvSpPr>
          <p:cNvPr id="44058" name="Rectangle 26"/>
          <p:cNvSpPr>
            <a:spLocks noChangeArrowheads="1"/>
          </p:cNvSpPr>
          <p:nvPr/>
        </p:nvSpPr>
        <p:spPr bwMode="auto">
          <a:xfrm>
            <a:off x="3484563" y="4462161"/>
            <a:ext cx="2178050" cy="495300"/>
          </a:xfrm>
          <a:prstGeom prst="rect">
            <a:avLst/>
          </a:prstGeom>
          <a:solidFill>
            <a:schemeClr val="accent3">
              <a:lumMod val="25000"/>
            </a:schemeClr>
          </a:solidFill>
          <a:ln w="12700">
            <a:solidFill>
              <a:srgbClr val="000000"/>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grpSp>
        <p:nvGrpSpPr>
          <p:cNvPr id="44061" name="Group 29"/>
          <p:cNvGrpSpPr>
            <a:grpSpLocks/>
          </p:cNvGrpSpPr>
          <p:nvPr/>
        </p:nvGrpSpPr>
        <p:grpSpPr bwMode="auto">
          <a:xfrm>
            <a:off x="4030666" y="4433590"/>
            <a:ext cx="1084264" cy="560388"/>
            <a:chOff x="2539" y="2644"/>
            <a:chExt cx="683" cy="353"/>
          </a:xfrm>
        </p:grpSpPr>
        <p:sp>
          <p:nvSpPr>
            <p:cNvPr id="44059" name="Rectangle 27"/>
            <p:cNvSpPr>
              <a:spLocks noChangeArrowheads="1"/>
            </p:cNvSpPr>
            <p:nvPr/>
          </p:nvSpPr>
          <p:spPr bwMode="auto">
            <a:xfrm>
              <a:off x="2539" y="2644"/>
              <a:ext cx="683" cy="353"/>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b="1" dirty="0">
                  <a:solidFill>
                    <a:schemeClr val="bg1"/>
                  </a:solidFill>
                  <a:latin typeface="Book Antiqua"/>
                </a:rPr>
                <a:t>Scheduler</a:t>
              </a:r>
            </a:p>
            <a:p>
              <a:endParaRPr lang="en-US" sz="1617" b="1" dirty="0">
                <a:solidFill>
                  <a:schemeClr val="bg1"/>
                </a:solidFill>
                <a:latin typeface="Book Antiqua"/>
              </a:endParaRPr>
            </a:p>
          </p:txBody>
        </p:sp>
        <p:sp>
          <p:nvSpPr>
            <p:cNvPr id="44060" name="Rectangle 28"/>
            <p:cNvSpPr>
              <a:spLocks noChangeArrowheads="1"/>
            </p:cNvSpPr>
            <p:nvPr/>
          </p:nvSpPr>
          <p:spPr bwMode="auto">
            <a:xfrm>
              <a:off x="2668" y="2800"/>
              <a:ext cx="341" cy="197"/>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b="1" dirty="0">
                  <a:solidFill>
                    <a:schemeClr val="bg1"/>
                  </a:solidFill>
                  <a:latin typeface="Book Antiqua"/>
                </a:rPr>
                <a:t>(SC)</a:t>
              </a:r>
            </a:p>
          </p:txBody>
        </p:sp>
      </p:grpSp>
      <p:sp>
        <p:nvSpPr>
          <p:cNvPr id="44062" name="Line 30"/>
          <p:cNvSpPr>
            <a:spLocks noChangeShapeType="1"/>
          </p:cNvSpPr>
          <p:nvPr/>
        </p:nvSpPr>
        <p:spPr bwMode="auto">
          <a:xfrm>
            <a:off x="5664200" y="3538236"/>
            <a:ext cx="1549400" cy="387350"/>
          </a:xfrm>
          <a:prstGeom prst="line">
            <a:avLst/>
          </a:prstGeom>
          <a:noFill/>
          <a:ln w="12700">
            <a:solidFill>
              <a:schemeClr val="tx1"/>
            </a:solidFill>
            <a:round/>
            <a:headEnd type="triangle" w="med" len="med"/>
            <a:tailEnd type="triangle" w="med" len="med"/>
          </a:ln>
          <a:effectLst/>
        </p:spPr>
        <p:txBody>
          <a:bodyPr wrap="none" lIns="91439" tIns="45719" rIns="91439" bIns="45719" anchor="ctr">
            <a:prstTxWarp prst="textNoShape">
              <a:avLst/>
            </a:prstTxWarp>
          </a:bodyPr>
          <a:lstStyle/>
          <a:p>
            <a:endParaRPr lang="en-US" dirty="0">
              <a:latin typeface="Book Antiqua"/>
            </a:endParaRPr>
          </a:p>
        </p:txBody>
      </p:sp>
      <p:sp>
        <p:nvSpPr>
          <p:cNvPr id="44063" name="Line 31"/>
          <p:cNvSpPr>
            <a:spLocks noChangeShapeType="1"/>
          </p:cNvSpPr>
          <p:nvPr/>
        </p:nvSpPr>
        <p:spPr bwMode="auto">
          <a:xfrm>
            <a:off x="3867150" y="2414286"/>
            <a:ext cx="0" cy="844550"/>
          </a:xfrm>
          <a:prstGeom prst="line">
            <a:avLst/>
          </a:prstGeom>
          <a:noFill/>
          <a:ln w="12700">
            <a:solidFill>
              <a:schemeClr val="tx1"/>
            </a:solidFill>
            <a:round/>
            <a:headEnd/>
            <a:tailEnd type="triangle" w="med" len="med"/>
          </a:ln>
          <a:effectLst/>
        </p:spPr>
        <p:txBody>
          <a:bodyPr wrap="none" lIns="91439" tIns="45719" rIns="91439" bIns="45719" anchor="ctr">
            <a:prstTxWarp prst="textNoShape">
              <a:avLst/>
            </a:prstTxWarp>
          </a:bodyPr>
          <a:lstStyle/>
          <a:p>
            <a:endParaRPr lang="en-US" dirty="0">
              <a:latin typeface="Book Antiqua"/>
            </a:endParaRPr>
          </a:p>
        </p:txBody>
      </p:sp>
      <p:sp>
        <p:nvSpPr>
          <p:cNvPr id="44064" name="Line 32"/>
          <p:cNvSpPr>
            <a:spLocks noChangeShapeType="1"/>
          </p:cNvSpPr>
          <p:nvPr/>
        </p:nvSpPr>
        <p:spPr bwMode="auto">
          <a:xfrm flipV="1">
            <a:off x="5010150" y="2388886"/>
            <a:ext cx="0" cy="876300"/>
          </a:xfrm>
          <a:prstGeom prst="line">
            <a:avLst/>
          </a:prstGeom>
          <a:noFill/>
          <a:ln w="12700">
            <a:solidFill>
              <a:schemeClr val="tx1"/>
            </a:solidFill>
            <a:round/>
            <a:headEnd/>
            <a:tailEnd type="triangle" w="med" len="med"/>
          </a:ln>
          <a:effectLst/>
        </p:spPr>
        <p:txBody>
          <a:bodyPr wrap="none" lIns="91439" tIns="45719" rIns="91439" bIns="45719" anchor="ctr">
            <a:prstTxWarp prst="textNoShape">
              <a:avLst/>
            </a:prstTxWarp>
          </a:bodyPr>
          <a:lstStyle/>
          <a:p>
            <a:endParaRPr lang="en-US" dirty="0">
              <a:latin typeface="Book Antiqua"/>
            </a:endParaRPr>
          </a:p>
        </p:txBody>
      </p:sp>
      <p:sp>
        <p:nvSpPr>
          <p:cNvPr id="44065" name="Line 33"/>
          <p:cNvSpPr>
            <a:spLocks noChangeShapeType="1"/>
          </p:cNvSpPr>
          <p:nvPr/>
        </p:nvSpPr>
        <p:spPr bwMode="auto">
          <a:xfrm>
            <a:off x="4573588" y="4947936"/>
            <a:ext cx="0" cy="882650"/>
          </a:xfrm>
          <a:prstGeom prst="line">
            <a:avLst/>
          </a:prstGeom>
          <a:noFill/>
          <a:ln w="12700">
            <a:solidFill>
              <a:schemeClr val="tx1"/>
            </a:solidFill>
            <a:round/>
            <a:headEnd type="triangle" w="med" len="med"/>
            <a:tailEnd type="triangle" w="med" len="med"/>
          </a:ln>
          <a:effectLst/>
        </p:spPr>
        <p:txBody>
          <a:bodyPr wrap="none" lIns="91439" tIns="45719" rIns="91439" bIns="45719" anchor="ctr">
            <a:prstTxWarp prst="textNoShape">
              <a:avLst/>
            </a:prstTxWarp>
          </a:bodyPr>
          <a:lstStyle/>
          <a:p>
            <a:endParaRPr lang="en-US" dirty="0">
              <a:latin typeface="Book Antiqua"/>
            </a:endParaRPr>
          </a:p>
        </p:txBody>
      </p:sp>
      <p:sp>
        <p:nvSpPr>
          <p:cNvPr id="44066" name="Line 34"/>
          <p:cNvSpPr>
            <a:spLocks noChangeShapeType="1"/>
          </p:cNvSpPr>
          <p:nvPr/>
        </p:nvSpPr>
        <p:spPr bwMode="auto">
          <a:xfrm>
            <a:off x="4573588" y="3823986"/>
            <a:ext cx="0" cy="635000"/>
          </a:xfrm>
          <a:prstGeom prst="line">
            <a:avLst/>
          </a:prstGeom>
          <a:noFill/>
          <a:ln w="12700">
            <a:solidFill>
              <a:schemeClr val="tx1"/>
            </a:solidFill>
            <a:round/>
            <a:headEnd type="triangle" w="med" len="med"/>
            <a:tailEnd type="triangle" w="med" len="med"/>
          </a:ln>
          <a:effectLst/>
        </p:spPr>
        <p:txBody>
          <a:bodyPr wrap="none" lIns="91439" tIns="45719" rIns="91439" bIns="45719" anchor="ctr">
            <a:prstTxWarp prst="textNoShape">
              <a:avLst/>
            </a:prstTxWarp>
          </a:bodyPr>
          <a:lstStyle/>
          <a:p>
            <a:endParaRPr lang="en-US" dirty="0">
              <a:latin typeface="Book Antiqua"/>
            </a:endParaRPr>
          </a:p>
        </p:txBody>
      </p:sp>
      <p:sp>
        <p:nvSpPr>
          <p:cNvPr id="44067" name="Line 35"/>
          <p:cNvSpPr>
            <a:spLocks noChangeShapeType="1"/>
          </p:cNvSpPr>
          <p:nvPr/>
        </p:nvSpPr>
        <p:spPr bwMode="auto">
          <a:xfrm>
            <a:off x="1949450" y="3957336"/>
            <a:ext cx="1530350" cy="768350"/>
          </a:xfrm>
          <a:prstGeom prst="line">
            <a:avLst/>
          </a:prstGeom>
          <a:noFill/>
          <a:ln w="12700">
            <a:solidFill>
              <a:schemeClr val="tx1"/>
            </a:solidFill>
            <a:round/>
            <a:headEnd type="triangle" w="med" len="med"/>
            <a:tailEnd type="triangle" w="med" len="med"/>
          </a:ln>
          <a:effectLst/>
        </p:spPr>
        <p:txBody>
          <a:bodyPr wrap="none" lIns="91439" tIns="45719" rIns="91439" bIns="45719" anchor="ctr">
            <a:prstTxWarp prst="textNoShape">
              <a:avLst/>
            </a:prstTxWarp>
          </a:bodyPr>
          <a:lstStyle/>
          <a:p>
            <a:endParaRPr lang="en-US" dirty="0">
              <a:latin typeface="Book Antiqua"/>
            </a:endParaRPr>
          </a:p>
        </p:txBody>
      </p:sp>
    </p:spTree>
    <p:extLst>
      <p:ext uri="{BB962C8B-B14F-4D97-AF65-F5344CB8AC3E}">
        <p14:creationId xmlns:p14="http://schemas.microsoft.com/office/powerpoint/2010/main" val="23627144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90500" y="114300"/>
            <a:ext cx="8629650" cy="1143000"/>
          </a:xfrm>
          <a:noFill/>
          <a:ln/>
        </p:spPr>
        <p:txBody>
          <a:bodyPr/>
          <a:lstStyle/>
          <a:p>
            <a:r>
              <a:rPr lang="en-US"/>
              <a:t>Centralized Transaction Execution</a:t>
            </a:r>
          </a:p>
        </p:txBody>
      </p:sp>
      <p:sp>
        <p:nvSpPr>
          <p:cNvPr id="46083" name="Rectangle 3"/>
          <p:cNvSpPr>
            <a:spLocks noChangeArrowheads="1"/>
          </p:cNvSpPr>
          <p:nvPr/>
        </p:nvSpPr>
        <p:spPr bwMode="auto">
          <a:xfrm>
            <a:off x="4165600" y="5518150"/>
            <a:ext cx="1092200" cy="457200"/>
          </a:xfrm>
          <a:prstGeom prst="rect">
            <a:avLst/>
          </a:prstGeom>
          <a:solidFill>
            <a:srgbClr val="FFFFFF"/>
          </a:solidFill>
          <a:ln w="12700">
            <a:no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6084" name="Rectangle 4"/>
          <p:cNvSpPr>
            <a:spLocks noChangeArrowheads="1"/>
          </p:cNvSpPr>
          <p:nvPr/>
        </p:nvSpPr>
        <p:spPr bwMode="auto">
          <a:xfrm>
            <a:off x="862013" y="2266950"/>
            <a:ext cx="2520950" cy="587466"/>
          </a:xfrm>
          <a:prstGeom prst="rect">
            <a:avLst/>
          </a:prstGeom>
          <a:noFill/>
          <a:ln w="12700">
            <a:noFill/>
            <a:miter lim="800000"/>
            <a:headEnd/>
            <a:tailEnd/>
          </a:ln>
          <a:effectLst/>
        </p:spPr>
        <p:txBody>
          <a:bodyPr lIns="90486" tIns="44449" rIns="90486" bIns="44449">
            <a:prstTxWarp prst="textNoShape">
              <a:avLst/>
            </a:prstTxWarp>
            <a:spAutoFit/>
          </a:bodyPr>
          <a:lstStyle/>
          <a:p>
            <a:r>
              <a:rPr lang="en-US" sz="1617" dirty="0" err="1">
                <a:latin typeface="Book Antiqua"/>
              </a:rPr>
              <a:t>Begin_Transaction</a:t>
            </a:r>
            <a:r>
              <a:rPr lang="en-US" sz="1617" dirty="0">
                <a:latin typeface="Book Antiqua"/>
              </a:rPr>
              <a:t>, </a:t>
            </a:r>
          </a:p>
          <a:p>
            <a:r>
              <a:rPr lang="en-US" sz="1617" dirty="0">
                <a:latin typeface="Book Antiqua"/>
              </a:rPr>
              <a:t>Read, Write, Abort, EOT</a:t>
            </a:r>
          </a:p>
        </p:txBody>
      </p:sp>
      <p:sp>
        <p:nvSpPr>
          <p:cNvPr id="46085" name="Rectangle 5"/>
          <p:cNvSpPr>
            <a:spLocks noChangeArrowheads="1"/>
          </p:cNvSpPr>
          <p:nvPr/>
        </p:nvSpPr>
        <p:spPr bwMode="auto">
          <a:xfrm>
            <a:off x="6634163" y="2266950"/>
            <a:ext cx="1871662" cy="587466"/>
          </a:xfrm>
          <a:prstGeom prst="rect">
            <a:avLst/>
          </a:prstGeom>
          <a:noFill/>
          <a:ln w="12700">
            <a:noFill/>
            <a:miter lim="800000"/>
            <a:headEnd/>
            <a:tailEnd/>
          </a:ln>
          <a:effectLst/>
        </p:spPr>
        <p:txBody>
          <a:bodyPr lIns="90486" tIns="44449" rIns="90486" bIns="44449">
            <a:prstTxWarp prst="textNoShape">
              <a:avLst/>
            </a:prstTxWarp>
            <a:spAutoFit/>
          </a:bodyPr>
          <a:lstStyle/>
          <a:p>
            <a:r>
              <a:rPr lang="en-US" sz="1617" dirty="0">
                <a:latin typeface="Book Antiqua"/>
              </a:rPr>
              <a:t>Results &amp;</a:t>
            </a:r>
          </a:p>
          <a:p>
            <a:r>
              <a:rPr lang="en-US" sz="1617" dirty="0">
                <a:latin typeface="Book Antiqua"/>
              </a:rPr>
              <a:t>User Notifications</a:t>
            </a:r>
          </a:p>
        </p:txBody>
      </p:sp>
      <p:sp>
        <p:nvSpPr>
          <p:cNvPr id="46086" name="Rectangle 6"/>
          <p:cNvSpPr>
            <a:spLocks noChangeArrowheads="1"/>
          </p:cNvSpPr>
          <p:nvPr/>
        </p:nvSpPr>
        <p:spPr bwMode="auto">
          <a:xfrm>
            <a:off x="2910538" y="4933951"/>
            <a:ext cx="1207059" cy="587466"/>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617" dirty="0">
                <a:latin typeface="Book Antiqua"/>
              </a:rPr>
              <a:t>Scheduled</a:t>
            </a:r>
          </a:p>
          <a:p>
            <a:r>
              <a:rPr lang="en-US" sz="1617" dirty="0">
                <a:latin typeface="Book Antiqua"/>
              </a:rPr>
              <a:t>Operations</a:t>
            </a:r>
          </a:p>
        </p:txBody>
      </p:sp>
      <p:sp>
        <p:nvSpPr>
          <p:cNvPr id="46087" name="Rectangle 7"/>
          <p:cNvSpPr>
            <a:spLocks noChangeArrowheads="1"/>
          </p:cNvSpPr>
          <p:nvPr/>
        </p:nvSpPr>
        <p:spPr bwMode="auto">
          <a:xfrm>
            <a:off x="5116514" y="5056188"/>
            <a:ext cx="849589" cy="338617"/>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617" dirty="0">
                <a:latin typeface="Book Antiqua"/>
              </a:rPr>
              <a:t>Results</a:t>
            </a:r>
          </a:p>
        </p:txBody>
      </p:sp>
      <p:sp>
        <p:nvSpPr>
          <p:cNvPr id="46088" name="Rectangle 8"/>
          <p:cNvSpPr>
            <a:spLocks noChangeArrowheads="1"/>
          </p:cNvSpPr>
          <p:nvPr/>
        </p:nvSpPr>
        <p:spPr bwMode="auto">
          <a:xfrm>
            <a:off x="5116514" y="3760789"/>
            <a:ext cx="849589" cy="338617"/>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617" dirty="0">
                <a:latin typeface="Book Antiqua"/>
              </a:rPr>
              <a:t>Results</a:t>
            </a:r>
          </a:p>
        </p:txBody>
      </p:sp>
      <p:sp>
        <p:nvSpPr>
          <p:cNvPr id="46089" name="Rectangle 9"/>
          <p:cNvSpPr>
            <a:spLocks noChangeArrowheads="1"/>
          </p:cNvSpPr>
          <p:nvPr/>
        </p:nvSpPr>
        <p:spPr bwMode="auto">
          <a:xfrm>
            <a:off x="4572000" y="2112604"/>
            <a:ext cx="413572" cy="366765"/>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b="1" dirty="0">
                <a:solidFill>
                  <a:srgbClr val="000000"/>
                </a:solidFill>
                <a:latin typeface="Book Antiqua"/>
              </a:rPr>
              <a:t>…</a:t>
            </a:r>
          </a:p>
        </p:txBody>
      </p:sp>
      <p:sp>
        <p:nvSpPr>
          <p:cNvPr id="46090" name="Rectangle 10"/>
          <p:cNvSpPr>
            <a:spLocks noChangeArrowheads="1"/>
          </p:cNvSpPr>
          <p:nvPr/>
        </p:nvSpPr>
        <p:spPr bwMode="auto">
          <a:xfrm>
            <a:off x="2919414" y="3638550"/>
            <a:ext cx="1360487" cy="587466"/>
          </a:xfrm>
          <a:prstGeom prst="rect">
            <a:avLst/>
          </a:prstGeom>
          <a:noFill/>
          <a:ln w="12700">
            <a:noFill/>
            <a:miter lim="800000"/>
            <a:headEnd/>
            <a:tailEnd/>
          </a:ln>
          <a:effectLst/>
        </p:spPr>
        <p:txBody>
          <a:bodyPr lIns="90486" tIns="44449" rIns="90486" bIns="44449">
            <a:prstTxWarp prst="textNoShape">
              <a:avLst/>
            </a:prstTxWarp>
            <a:spAutoFit/>
          </a:bodyPr>
          <a:lstStyle/>
          <a:p>
            <a:r>
              <a:rPr lang="en-US" sz="1617" dirty="0">
                <a:latin typeface="Book Antiqua"/>
              </a:rPr>
              <a:t>Read, Write, </a:t>
            </a:r>
          </a:p>
          <a:p>
            <a:r>
              <a:rPr lang="en-US" sz="1617" dirty="0">
                <a:latin typeface="Book Antiqua"/>
              </a:rPr>
              <a:t>Abort, EOT</a:t>
            </a:r>
          </a:p>
        </p:txBody>
      </p:sp>
      <p:sp>
        <p:nvSpPr>
          <p:cNvPr id="46091" name="AutoShape 11"/>
          <p:cNvSpPr>
            <a:spLocks noChangeArrowheads="1"/>
          </p:cNvSpPr>
          <p:nvPr/>
        </p:nvSpPr>
        <p:spPr bwMode="auto">
          <a:xfrm>
            <a:off x="2049463" y="1667596"/>
            <a:ext cx="1352551" cy="596900"/>
          </a:xfrm>
          <a:prstGeom prst="roundRect">
            <a:avLst>
              <a:gd name="adj" fmla="val 41931"/>
            </a:avLst>
          </a:prstGeom>
          <a:solidFill>
            <a:schemeClr val="accent6">
              <a:lumMod val="20000"/>
              <a:lumOff val="80000"/>
            </a:schemeClr>
          </a:solidFill>
          <a:ln w="12700">
            <a:solidFill>
              <a:schemeClr val="tx1"/>
            </a:solidFill>
            <a:round/>
            <a:headEnd/>
            <a:tailEnd/>
          </a:ln>
          <a:effectLst/>
        </p:spPr>
        <p:txBody>
          <a:bodyPr wrap="none" anchor="ctr">
            <a:prstTxWarp prst="textNoShape">
              <a:avLst/>
            </a:prstTxWarp>
          </a:bodyPr>
          <a:lstStyle/>
          <a:p>
            <a:endParaRPr lang="en-US" dirty="0">
              <a:latin typeface="Book Antiqua"/>
            </a:endParaRPr>
          </a:p>
        </p:txBody>
      </p:sp>
      <p:sp>
        <p:nvSpPr>
          <p:cNvPr id="46092" name="Rectangle 12"/>
          <p:cNvSpPr>
            <a:spLocks noChangeArrowheads="1"/>
          </p:cNvSpPr>
          <p:nvPr/>
        </p:nvSpPr>
        <p:spPr bwMode="auto">
          <a:xfrm>
            <a:off x="2073176" y="1670772"/>
            <a:ext cx="1308301" cy="560819"/>
          </a:xfrm>
          <a:prstGeom prst="rect">
            <a:avLst/>
          </a:prstGeom>
          <a:noFill/>
          <a:ln w="12700">
            <a:noFill/>
            <a:miter lim="800000"/>
            <a:headEnd/>
            <a:tailEnd/>
          </a:ln>
          <a:effectLst/>
        </p:spPr>
        <p:txBody>
          <a:bodyPr wrap="none" lIns="63624" tIns="31254" rIns="63624" bIns="31254">
            <a:prstTxWarp prst="textNoShape">
              <a:avLst/>
            </a:prstTxWarp>
            <a:spAutoFit/>
          </a:bodyPr>
          <a:lstStyle/>
          <a:p>
            <a:pPr algn="ctr"/>
            <a:r>
              <a:rPr lang="en-US" sz="1617" b="1" dirty="0">
                <a:latin typeface="Book Antiqua"/>
              </a:rPr>
              <a:t>User</a:t>
            </a:r>
          </a:p>
          <a:p>
            <a:pPr algn="ctr"/>
            <a:r>
              <a:rPr lang="en-US" sz="1617" b="1" dirty="0">
                <a:latin typeface="Book Antiqua"/>
              </a:rPr>
              <a:t>Application </a:t>
            </a:r>
          </a:p>
        </p:txBody>
      </p:sp>
      <p:sp>
        <p:nvSpPr>
          <p:cNvPr id="46094" name="Rectangle 14"/>
          <p:cNvSpPr>
            <a:spLocks noChangeArrowheads="1"/>
          </p:cNvSpPr>
          <p:nvPr/>
        </p:nvSpPr>
        <p:spPr bwMode="auto">
          <a:xfrm>
            <a:off x="4092575" y="4297363"/>
            <a:ext cx="1339850" cy="577850"/>
          </a:xfrm>
          <a:prstGeom prst="rect">
            <a:avLst/>
          </a:prstGeom>
          <a:solidFill>
            <a:srgbClr val="FF8000"/>
          </a:solidFill>
          <a:ln w="12700">
            <a:solidFill>
              <a:schemeClr val="tx1"/>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6095" name="Rectangle 15"/>
          <p:cNvSpPr>
            <a:spLocks noChangeArrowheads="1"/>
          </p:cNvSpPr>
          <p:nvPr/>
        </p:nvSpPr>
        <p:spPr bwMode="auto">
          <a:xfrm>
            <a:off x="4092575" y="5605463"/>
            <a:ext cx="1339850" cy="863600"/>
          </a:xfrm>
          <a:prstGeom prst="rect">
            <a:avLst/>
          </a:prstGeom>
          <a:solidFill>
            <a:srgbClr val="618FFD"/>
          </a:solidFill>
          <a:ln w="12700">
            <a:solidFill>
              <a:schemeClr val="tx1"/>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6096" name="Line 16"/>
          <p:cNvSpPr>
            <a:spLocks noChangeShapeType="1"/>
          </p:cNvSpPr>
          <p:nvPr/>
        </p:nvSpPr>
        <p:spPr bwMode="auto">
          <a:xfrm>
            <a:off x="4495800" y="3587750"/>
            <a:ext cx="0" cy="692150"/>
          </a:xfrm>
          <a:prstGeom prst="line">
            <a:avLst/>
          </a:prstGeom>
          <a:noFill/>
          <a:ln w="19050">
            <a:solidFill>
              <a:schemeClr val="hlink"/>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6097" name="Line 17"/>
          <p:cNvSpPr>
            <a:spLocks noChangeShapeType="1"/>
          </p:cNvSpPr>
          <p:nvPr/>
        </p:nvSpPr>
        <p:spPr bwMode="auto">
          <a:xfrm flipV="1">
            <a:off x="5048250" y="3581400"/>
            <a:ext cx="0" cy="704850"/>
          </a:xfrm>
          <a:prstGeom prst="line">
            <a:avLst/>
          </a:prstGeom>
          <a:noFill/>
          <a:ln w="19050" cmpd="sng">
            <a:solidFill>
              <a:schemeClr val="bg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6098" name="Line 18"/>
          <p:cNvSpPr>
            <a:spLocks noChangeShapeType="1"/>
          </p:cNvSpPr>
          <p:nvPr/>
        </p:nvSpPr>
        <p:spPr bwMode="auto">
          <a:xfrm>
            <a:off x="4495800" y="4883151"/>
            <a:ext cx="0" cy="692150"/>
          </a:xfrm>
          <a:prstGeom prst="line">
            <a:avLst/>
          </a:prstGeom>
          <a:noFill/>
          <a:ln w="19050">
            <a:solidFill>
              <a:schemeClr val="hlink"/>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6099" name="Line 19"/>
          <p:cNvSpPr>
            <a:spLocks noChangeShapeType="1"/>
          </p:cNvSpPr>
          <p:nvPr/>
        </p:nvSpPr>
        <p:spPr bwMode="auto">
          <a:xfrm flipV="1">
            <a:off x="5029200" y="4895850"/>
            <a:ext cx="0" cy="704850"/>
          </a:xfrm>
          <a:prstGeom prst="line">
            <a:avLst/>
          </a:prstGeom>
          <a:noFill/>
          <a:ln w="19050">
            <a:solidFill>
              <a:schemeClr val="bg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grpSp>
        <p:nvGrpSpPr>
          <p:cNvPr id="2" name="Group 1"/>
          <p:cNvGrpSpPr/>
          <p:nvPr/>
        </p:nvGrpSpPr>
        <p:grpSpPr>
          <a:xfrm>
            <a:off x="2520950" y="2264496"/>
            <a:ext cx="4464050" cy="440605"/>
            <a:chOff x="3585351" y="2871893"/>
            <a:chExt cx="6348871" cy="975361"/>
          </a:xfrm>
        </p:grpSpPr>
        <p:sp>
          <p:nvSpPr>
            <p:cNvPr id="46100" name="Line 20"/>
            <p:cNvSpPr>
              <a:spLocks noChangeShapeType="1"/>
            </p:cNvSpPr>
            <p:nvPr/>
          </p:nvSpPr>
          <p:spPr bwMode="auto">
            <a:xfrm flipV="1">
              <a:off x="7595164" y="2896730"/>
              <a:ext cx="2339058" cy="950524"/>
            </a:xfrm>
            <a:prstGeom prst="line">
              <a:avLst/>
            </a:prstGeom>
            <a:noFill/>
            <a:ln w="19050">
              <a:solidFill>
                <a:schemeClr val="bg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6101" name="Line 21"/>
            <p:cNvSpPr>
              <a:spLocks noChangeShapeType="1"/>
            </p:cNvSpPr>
            <p:nvPr/>
          </p:nvSpPr>
          <p:spPr bwMode="auto">
            <a:xfrm flipH="1">
              <a:off x="7125547" y="2876410"/>
              <a:ext cx="2429369" cy="961813"/>
            </a:xfrm>
            <a:prstGeom prst="line">
              <a:avLst/>
            </a:prstGeom>
            <a:noFill/>
            <a:ln w="19050">
              <a:solidFill>
                <a:schemeClr val="hlink"/>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6102" name="Line 22"/>
            <p:cNvSpPr>
              <a:spLocks noChangeShapeType="1"/>
            </p:cNvSpPr>
            <p:nvPr/>
          </p:nvSpPr>
          <p:spPr bwMode="auto">
            <a:xfrm>
              <a:off x="3585351" y="2876410"/>
              <a:ext cx="2411307" cy="961813"/>
            </a:xfrm>
            <a:prstGeom prst="line">
              <a:avLst/>
            </a:prstGeom>
            <a:noFill/>
            <a:ln w="19050">
              <a:solidFill>
                <a:schemeClr val="hlink"/>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6103" name="Line 23"/>
            <p:cNvSpPr>
              <a:spLocks noChangeShapeType="1"/>
            </p:cNvSpPr>
            <p:nvPr/>
          </p:nvSpPr>
          <p:spPr bwMode="auto">
            <a:xfrm flipH="1" flipV="1">
              <a:off x="4027875" y="2871893"/>
              <a:ext cx="2411307" cy="975360"/>
            </a:xfrm>
            <a:prstGeom prst="line">
              <a:avLst/>
            </a:prstGeom>
            <a:noFill/>
            <a:ln w="19050">
              <a:solidFill>
                <a:schemeClr val="bg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grpSp>
      <p:sp>
        <p:nvSpPr>
          <p:cNvPr id="46104" name="AutoShape 24"/>
          <p:cNvSpPr>
            <a:spLocks noChangeArrowheads="1"/>
          </p:cNvSpPr>
          <p:nvPr/>
        </p:nvSpPr>
        <p:spPr bwMode="auto">
          <a:xfrm>
            <a:off x="6203951" y="1667596"/>
            <a:ext cx="1352550" cy="596900"/>
          </a:xfrm>
          <a:prstGeom prst="roundRect">
            <a:avLst>
              <a:gd name="adj" fmla="val 41931"/>
            </a:avLst>
          </a:prstGeom>
          <a:solidFill>
            <a:schemeClr val="accent6">
              <a:lumMod val="20000"/>
              <a:lumOff val="80000"/>
            </a:schemeClr>
          </a:solidFill>
          <a:ln w="12700">
            <a:solidFill>
              <a:schemeClr val="tx1"/>
            </a:solidFill>
            <a:round/>
            <a:headEnd/>
            <a:tailEnd/>
          </a:ln>
          <a:effectLst/>
        </p:spPr>
        <p:txBody>
          <a:bodyPr wrap="none" anchor="ctr">
            <a:prstTxWarp prst="textNoShape">
              <a:avLst/>
            </a:prstTxWarp>
          </a:bodyPr>
          <a:lstStyle/>
          <a:p>
            <a:endParaRPr lang="en-US" dirty="0">
              <a:latin typeface="Book Antiqua"/>
            </a:endParaRPr>
          </a:p>
        </p:txBody>
      </p:sp>
      <p:sp>
        <p:nvSpPr>
          <p:cNvPr id="46105" name="Rectangle 25"/>
          <p:cNvSpPr>
            <a:spLocks noChangeArrowheads="1"/>
          </p:cNvSpPr>
          <p:nvPr/>
        </p:nvSpPr>
        <p:spPr bwMode="auto">
          <a:xfrm>
            <a:off x="6227664" y="1670772"/>
            <a:ext cx="1308301" cy="560819"/>
          </a:xfrm>
          <a:prstGeom prst="rect">
            <a:avLst/>
          </a:prstGeom>
          <a:noFill/>
          <a:ln w="12700">
            <a:noFill/>
            <a:miter lim="800000"/>
            <a:headEnd/>
            <a:tailEnd/>
          </a:ln>
          <a:effectLst/>
        </p:spPr>
        <p:txBody>
          <a:bodyPr wrap="none" lIns="63624" tIns="31254" rIns="63624" bIns="31254">
            <a:prstTxWarp prst="textNoShape">
              <a:avLst/>
            </a:prstTxWarp>
            <a:spAutoFit/>
          </a:bodyPr>
          <a:lstStyle/>
          <a:p>
            <a:pPr algn="ctr"/>
            <a:r>
              <a:rPr lang="en-US" sz="1617" b="1" dirty="0">
                <a:latin typeface="Book Antiqua"/>
              </a:rPr>
              <a:t>User</a:t>
            </a:r>
          </a:p>
          <a:p>
            <a:pPr algn="ctr"/>
            <a:r>
              <a:rPr lang="en-US" sz="1617" b="1" dirty="0">
                <a:latin typeface="Book Antiqua"/>
              </a:rPr>
              <a:t>Application </a:t>
            </a:r>
          </a:p>
        </p:txBody>
      </p:sp>
      <p:sp>
        <p:nvSpPr>
          <p:cNvPr id="46109" name="Rectangle 29"/>
          <p:cNvSpPr>
            <a:spLocks noChangeArrowheads="1"/>
          </p:cNvSpPr>
          <p:nvPr/>
        </p:nvSpPr>
        <p:spPr bwMode="auto">
          <a:xfrm>
            <a:off x="4092575" y="2711451"/>
            <a:ext cx="1339850" cy="863600"/>
          </a:xfrm>
          <a:prstGeom prst="rect">
            <a:avLst/>
          </a:prstGeom>
          <a:solidFill>
            <a:schemeClr val="accent3">
              <a:lumMod val="75000"/>
            </a:schemeClr>
          </a:solidFill>
          <a:ln w="12700">
            <a:solidFill>
              <a:schemeClr val="tx1"/>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6110" name="Rectangle 30"/>
          <p:cNvSpPr>
            <a:spLocks noChangeArrowheads="1"/>
          </p:cNvSpPr>
          <p:nvPr/>
        </p:nvSpPr>
        <p:spPr bwMode="auto">
          <a:xfrm>
            <a:off x="4115667" y="2725739"/>
            <a:ext cx="1298429" cy="836317"/>
          </a:xfrm>
          <a:prstGeom prst="rect">
            <a:avLst/>
          </a:prstGeom>
          <a:noFill/>
          <a:ln w="12700">
            <a:noFill/>
            <a:miter lim="800000"/>
            <a:headEnd/>
            <a:tailEnd/>
          </a:ln>
          <a:effectLst/>
        </p:spPr>
        <p:txBody>
          <a:bodyPr wrap="none" lIns="90486" tIns="44449" rIns="90486" bIns="44449">
            <a:prstTxWarp prst="textNoShape">
              <a:avLst/>
            </a:prstTxWarp>
            <a:spAutoFit/>
          </a:bodyPr>
          <a:lstStyle/>
          <a:p>
            <a:pPr algn="ctr"/>
            <a:r>
              <a:rPr lang="en-US" sz="1617" b="1" dirty="0">
                <a:solidFill>
                  <a:srgbClr val="000000"/>
                </a:solidFill>
                <a:latin typeface="Book Antiqua"/>
              </a:rPr>
              <a:t>Transaction</a:t>
            </a:r>
          </a:p>
          <a:p>
            <a:pPr algn="ctr"/>
            <a:r>
              <a:rPr lang="en-US" sz="1617" b="1" dirty="0">
                <a:solidFill>
                  <a:srgbClr val="000000"/>
                </a:solidFill>
                <a:latin typeface="Book Antiqua"/>
              </a:rPr>
              <a:t>Manager</a:t>
            </a:r>
          </a:p>
          <a:p>
            <a:pPr algn="ctr"/>
            <a:r>
              <a:rPr lang="en-US" sz="1617" b="1" dirty="0">
                <a:solidFill>
                  <a:srgbClr val="000000"/>
                </a:solidFill>
                <a:latin typeface="Book Antiqua"/>
              </a:rPr>
              <a:t>(TM)</a:t>
            </a:r>
          </a:p>
        </p:txBody>
      </p:sp>
      <p:sp>
        <p:nvSpPr>
          <p:cNvPr id="46111" name="Rectangle 31"/>
          <p:cNvSpPr>
            <a:spLocks noChangeArrowheads="1"/>
          </p:cNvSpPr>
          <p:nvPr/>
        </p:nvSpPr>
        <p:spPr bwMode="auto">
          <a:xfrm>
            <a:off x="4193435" y="4291013"/>
            <a:ext cx="1138129" cy="587466"/>
          </a:xfrm>
          <a:prstGeom prst="rect">
            <a:avLst/>
          </a:prstGeom>
          <a:noFill/>
          <a:ln w="12700">
            <a:noFill/>
            <a:miter lim="800000"/>
            <a:headEnd/>
            <a:tailEnd/>
          </a:ln>
          <a:effectLst/>
        </p:spPr>
        <p:txBody>
          <a:bodyPr wrap="none" lIns="90486" tIns="44449" rIns="90486" bIns="44449">
            <a:prstTxWarp prst="textNoShape">
              <a:avLst/>
            </a:prstTxWarp>
            <a:spAutoFit/>
          </a:bodyPr>
          <a:lstStyle/>
          <a:p>
            <a:pPr algn="ctr"/>
            <a:r>
              <a:rPr lang="en-US" sz="1617" b="1" dirty="0">
                <a:solidFill>
                  <a:srgbClr val="000000"/>
                </a:solidFill>
                <a:latin typeface="Book Antiqua"/>
              </a:rPr>
              <a:t>Scheduler</a:t>
            </a:r>
          </a:p>
          <a:p>
            <a:pPr algn="ctr"/>
            <a:r>
              <a:rPr lang="en-US" sz="1617" b="1" dirty="0">
                <a:solidFill>
                  <a:srgbClr val="000000"/>
                </a:solidFill>
                <a:latin typeface="Book Antiqua"/>
              </a:rPr>
              <a:t>(SC)</a:t>
            </a:r>
          </a:p>
        </p:txBody>
      </p:sp>
      <p:sp>
        <p:nvSpPr>
          <p:cNvPr id="46112" name="Rectangle 32"/>
          <p:cNvSpPr>
            <a:spLocks noChangeArrowheads="1"/>
          </p:cNvSpPr>
          <p:nvPr/>
        </p:nvSpPr>
        <p:spPr bwMode="auto">
          <a:xfrm>
            <a:off x="4235892" y="5619750"/>
            <a:ext cx="1057980" cy="836317"/>
          </a:xfrm>
          <a:prstGeom prst="rect">
            <a:avLst/>
          </a:prstGeom>
          <a:noFill/>
          <a:ln w="12700">
            <a:noFill/>
            <a:miter lim="800000"/>
            <a:headEnd/>
            <a:tailEnd/>
          </a:ln>
          <a:effectLst/>
        </p:spPr>
        <p:txBody>
          <a:bodyPr wrap="none" lIns="90486" tIns="44449" rIns="90486" bIns="44449">
            <a:prstTxWarp prst="textNoShape">
              <a:avLst/>
            </a:prstTxWarp>
            <a:spAutoFit/>
          </a:bodyPr>
          <a:lstStyle/>
          <a:p>
            <a:pPr algn="ctr"/>
            <a:r>
              <a:rPr lang="en-US" sz="1617" b="1" dirty="0">
                <a:solidFill>
                  <a:srgbClr val="000000"/>
                </a:solidFill>
                <a:latin typeface="Book Antiqua"/>
              </a:rPr>
              <a:t>Recovery</a:t>
            </a:r>
          </a:p>
          <a:p>
            <a:pPr algn="ctr"/>
            <a:r>
              <a:rPr lang="en-US" sz="1617" b="1" dirty="0">
                <a:solidFill>
                  <a:srgbClr val="000000"/>
                </a:solidFill>
                <a:latin typeface="Book Antiqua"/>
              </a:rPr>
              <a:t>Manager</a:t>
            </a:r>
          </a:p>
          <a:p>
            <a:pPr algn="ctr"/>
            <a:r>
              <a:rPr lang="en-US" sz="1617" b="1" dirty="0">
                <a:solidFill>
                  <a:srgbClr val="000000"/>
                </a:solidFill>
                <a:latin typeface="Book Antiqua"/>
              </a:rPr>
              <a:t>(RM)</a:t>
            </a:r>
          </a:p>
        </p:txBody>
      </p:sp>
    </p:spTree>
    <p:extLst>
      <p:ext uri="{BB962C8B-B14F-4D97-AF65-F5344CB8AC3E}">
        <p14:creationId xmlns:p14="http://schemas.microsoft.com/office/powerpoint/2010/main" val="33546845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a:ln/>
        </p:spPr>
        <p:txBody>
          <a:bodyPr/>
          <a:lstStyle/>
          <a:p>
            <a:r>
              <a:rPr lang="en-US"/>
              <a:t>Distributed Transaction Execution</a:t>
            </a:r>
          </a:p>
        </p:txBody>
      </p:sp>
      <p:sp>
        <p:nvSpPr>
          <p:cNvPr id="48131" name="Rectangle 3"/>
          <p:cNvSpPr>
            <a:spLocks noChangeArrowheads="1"/>
          </p:cNvSpPr>
          <p:nvPr/>
        </p:nvSpPr>
        <p:spPr bwMode="auto">
          <a:xfrm>
            <a:off x="7938" y="2174576"/>
            <a:ext cx="1880320" cy="836317"/>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617" dirty="0" err="1">
                <a:solidFill>
                  <a:srgbClr val="000000"/>
                </a:solidFill>
                <a:latin typeface="Book Antiqua"/>
              </a:rPr>
              <a:t>Begin_transaction</a:t>
            </a:r>
            <a:r>
              <a:rPr lang="en-US" sz="1617" dirty="0">
                <a:solidFill>
                  <a:srgbClr val="000000"/>
                </a:solidFill>
                <a:latin typeface="Book Antiqua"/>
              </a:rPr>
              <a:t>,</a:t>
            </a:r>
          </a:p>
          <a:p>
            <a:r>
              <a:rPr lang="en-US" sz="1617" dirty="0">
                <a:solidFill>
                  <a:srgbClr val="000000"/>
                </a:solidFill>
                <a:latin typeface="Book Antiqua"/>
              </a:rPr>
              <a:t>Read, Write, EOT,</a:t>
            </a:r>
          </a:p>
          <a:p>
            <a:r>
              <a:rPr lang="en-US" sz="1617" dirty="0">
                <a:solidFill>
                  <a:srgbClr val="000000"/>
                </a:solidFill>
                <a:latin typeface="Book Antiqua"/>
              </a:rPr>
              <a:t>Abort</a:t>
            </a:r>
          </a:p>
        </p:txBody>
      </p:sp>
      <p:sp>
        <p:nvSpPr>
          <p:cNvPr id="48132" name="AutoShape 4"/>
          <p:cNvSpPr>
            <a:spLocks noChangeArrowheads="1"/>
          </p:cNvSpPr>
          <p:nvPr/>
        </p:nvSpPr>
        <p:spPr bwMode="auto">
          <a:xfrm>
            <a:off x="1495425" y="1666576"/>
            <a:ext cx="1714500" cy="469900"/>
          </a:xfrm>
          <a:prstGeom prst="roundRect">
            <a:avLst>
              <a:gd name="adj" fmla="val 33333"/>
            </a:avLst>
          </a:prstGeom>
          <a:solidFill>
            <a:schemeClr val="accent6">
              <a:lumMod val="20000"/>
              <a:lumOff val="80000"/>
            </a:schemeClr>
          </a:solidFill>
          <a:ln w="12700">
            <a:solidFill>
              <a:srgbClr val="000000"/>
            </a:solidFill>
            <a:round/>
            <a:headEnd/>
            <a:tailEnd/>
          </a:ln>
          <a:effectLst/>
        </p:spPr>
        <p:txBody>
          <a:bodyPr wrap="none" anchor="ctr">
            <a:prstTxWarp prst="textNoShape">
              <a:avLst/>
            </a:prstTxWarp>
          </a:bodyPr>
          <a:lstStyle/>
          <a:p>
            <a:endParaRPr lang="en-US" dirty="0">
              <a:latin typeface="Book Antiqua"/>
            </a:endParaRPr>
          </a:p>
        </p:txBody>
      </p:sp>
      <p:sp>
        <p:nvSpPr>
          <p:cNvPr id="48133" name="Rectangle 5"/>
          <p:cNvSpPr>
            <a:spLocks noChangeArrowheads="1"/>
          </p:cNvSpPr>
          <p:nvPr/>
        </p:nvSpPr>
        <p:spPr bwMode="auto">
          <a:xfrm>
            <a:off x="1530350" y="1728489"/>
            <a:ext cx="1644931" cy="311969"/>
          </a:xfrm>
          <a:prstGeom prst="rect">
            <a:avLst/>
          </a:prstGeom>
          <a:noFill/>
          <a:ln w="12700">
            <a:noFill/>
            <a:miter lim="800000"/>
            <a:headEnd/>
            <a:tailEnd/>
          </a:ln>
          <a:effectLst/>
        </p:spPr>
        <p:txBody>
          <a:bodyPr wrap="none" lIns="63624" tIns="31254" rIns="63624" bIns="31254">
            <a:prstTxWarp prst="textNoShape">
              <a:avLst/>
            </a:prstTxWarp>
            <a:spAutoFit/>
          </a:bodyPr>
          <a:lstStyle/>
          <a:p>
            <a:r>
              <a:rPr lang="en-US" sz="1617" dirty="0">
                <a:solidFill>
                  <a:srgbClr val="000000"/>
                </a:solidFill>
                <a:latin typeface="Book Antiqua"/>
              </a:rPr>
              <a:t>User application</a:t>
            </a:r>
          </a:p>
        </p:txBody>
      </p:sp>
      <p:sp>
        <p:nvSpPr>
          <p:cNvPr id="48135" name="Rectangle 7"/>
          <p:cNvSpPr>
            <a:spLocks noChangeArrowheads="1"/>
          </p:cNvSpPr>
          <p:nvPr/>
        </p:nvSpPr>
        <p:spPr bwMode="auto">
          <a:xfrm>
            <a:off x="2857819" y="2136476"/>
            <a:ext cx="1803376" cy="587466"/>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617" dirty="0">
                <a:solidFill>
                  <a:srgbClr val="000000"/>
                </a:solidFill>
                <a:latin typeface="Book Antiqua"/>
              </a:rPr>
              <a:t>Results &amp;</a:t>
            </a:r>
          </a:p>
          <a:p>
            <a:r>
              <a:rPr lang="en-US" sz="1617" dirty="0">
                <a:solidFill>
                  <a:srgbClr val="000000"/>
                </a:solidFill>
                <a:latin typeface="Book Antiqua"/>
              </a:rPr>
              <a:t>User notifications</a:t>
            </a:r>
          </a:p>
        </p:txBody>
      </p:sp>
      <p:sp>
        <p:nvSpPr>
          <p:cNvPr id="48136" name="Oval 8"/>
          <p:cNvSpPr>
            <a:spLocks noChangeArrowheads="1"/>
          </p:cNvSpPr>
          <p:nvPr/>
        </p:nvSpPr>
        <p:spPr bwMode="auto">
          <a:xfrm>
            <a:off x="6862763" y="2295226"/>
            <a:ext cx="2209800" cy="850900"/>
          </a:xfrm>
          <a:prstGeom prst="ellipse">
            <a:avLst/>
          </a:prstGeom>
          <a:solidFill>
            <a:schemeClr val="accent1">
              <a:lumMod val="40000"/>
              <a:lumOff val="60000"/>
            </a:schemeClr>
          </a:solidFill>
          <a:ln w="12700">
            <a:solidFill>
              <a:srgbClr val="000000"/>
            </a:solidFill>
            <a:round/>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8137" name="Rectangle 9"/>
          <p:cNvSpPr>
            <a:spLocks noChangeArrowheads="1"/>
          </p:cNvSpPr>
          <p:nvPr/>
        </p:nvSpPr>
        <p:spPr bwMode="auto">
          <a:xfrm>
            <a:off x="112713" y="3558876"/>
            <a:ext cx="1365250" cy="587466"/>
          </a:xfrm>
          <a:prstGeom prst="rect">
            <a:avLst/>
          </a:prstGeom>
          <a:noFill/>
          <a:ln w="12700">
            <a:noFill/>
            <a:miter lim="800000"/>
            <a:headEnd/>
            <a:tailEnd/>
          </a:ln>
          <a:effectLst/>
        </p:spPr>
        <p:txBody>
          <a:bodyPr lIns="90486" tIns="44449" rIns="90486" bIns="44449">
            <a:prstTxWarp prst="textNoShape">
              <a:avLst/>
            </a:prstTxWarp>
            <a:spAutoFit/>
          </a:bodyPr>
          <a:lstStyle/>
          <a:p>
            <a:r>
              <a:rPr lang="en-US" sz="1617" dirty="0">
                <a:solidFill>
                  <a:srgbClr val="000000"/>
                </a:solidFill>
                <a:latin typeface="Book Antiqua"/>
              </a:rPr>
              <a:t>Read, Write,</a:t>
            </a:r>
          </a:p>
          <a:p>
            <a:r>
              <a:rPr lang="en-US" sz="1617" dirty="0">
                <a:solidFill>
                  <a:srgbClr val="000000"/>
                </a:solidFill>
                <a:latin typeface="Book Antiqua"/>
              </a:rPr>
              <a:t>EOT, Abort</a:t>
            </a:r>
          </a:p>
        </p:txBody>
      </p:sp>
      <p:sp>
        <p:nvSpPr>
          <p:cNvPr id="48138" name="Line 10"/>
          <p:cNvSpPr>
            <a:spLocks noChangeShapeType="1"/>
          </p:cNvSpPr>
          <p:nvPr/>
        </p:nvSpPr>
        <p:spPr bwMode="auto">
          <a:xfrm>
            <a:off x="1943100" y="2142826"/>
            <a:ext cx="0" cy="7683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39" name="Line 11"/>
          <p:cNvSpPr>
            <a:spLocks noChangeShapeType="1"/>
          </p:cNvSpPr>
          <p:nvPr/>
        </p:nvSpPr>
        <p:spPr bwMode="auto">
          <a:xfrm flipV="1">
            <a:off x="2743200" y="2130126"/>
            <a:ext cx="0" cy="7810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40" name="Rectangle 12"/>
          <p:cNvSpPr>
            <a:spLocks noChangeArrowheads="1"/>
          </p:cNvSpPr>
          <p:nvPr/>
        </p:nvSpPr>
        <p:spPr bwMode="auto">
          <a:xfrm>
            <a:off x="1495425" y="2930226"/>
            <a:ext cx="1714500" cy="571500"/>
          </a:xfrm>
          <a:prstGeom prst="rect">
            <a:avLst/>
          </a:prstGeom>
          <a:solidFill>
            <a:schemeClr val="accent3">
              <a:lumMod val="75000"/>
            </a:schemeClr>
          </a:solidFill>
          <a:ln w="12700">
            <a:solidFill>
              <a:srgbClr val="000000"/>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8141" name="Rectangle 13"/>
          <p:cNvSpPr>
            <a:spLocks noChangeArrowheads="1"/>
          </p:cNvSpPr>
          <p:nvPr/>
        </p:nvSpPr>
        <p:spPr bwMode="auto">
          <a:xfrm>
            <a:off x="2050502" y="3028651"/>
            <a:ext cx="541812" cy="366765"/>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dirty="0">
                <a:solidFill>
                  <a:srgbClr val="000000"/>
                </a:solidFill>
                <a:latin typeface="Book Antiqua"/>
              </a:rPr>
              <a:t>TM</a:t>
            </a:r>
          </a:p>
        </p:txBody>
      </p:sp>
      <p:sp>
        <p:nvSpPr>
          <p:cNvPr id="48142" name="Rectangle 14"/>
          <p:cNvSpPr>
            <a:spLocks noChangeArrowheads="1"/>
          </p:cNvSpPr>
          <p:nvPr/>
        </p:nvSpPr>
        <p:spPr bwMode="auto">
          <a:xfrm>
            <a:off x="1495425" y="4314526"/>
            <a:ext cx="1714500" cy="558800"/>
          </a:xfrm>
          <a:prstGeom prst="rect">
            <a:avLst/>
          </a:prstGeom>
          <a:solidFill>
            <a:srgbClr val="FF8000"/>
          </a:solidFill>
          <a:ln w="12700">
            <a:solidFill>
              <a:srgbClr val="000000"/>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8143" name="Rectangle 15"/>
          <p:cNvSpPr>
            <a:spLocks noChangeArrowheads="1"/>
          </p:cNvSpPr>
          <p:nvPr/>
        </p:nvSpPr>
        <p:spPr bwMode="auto">
          <a:xfrm>
            <a:off x="2111882" y="4398664"/>
            <a:ext cx="468074" cy="366765"/>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dirty="0">
                <a:solidFill>
                  <a:srgbClr val="000000"/>
                </a:solidFill>
                <a:latin typeface="Book Antiqua"/>
              </a:rPr>
              <a:t>SC</a:t>
            </a:r>
          </a:p>
        </p:txBody>
      </p:sp>
      <p:sp>
        <p:nvSpPr>
          <p:cNvPr id="48144" name="Rectangle 16"/>
          <p:cNvSpPr>
            <a:spLocks noChangeArrowheads="1"/>
          </p:cNvSpPr>
          <p:nvPr/>
        </p:nvSpPr>
        <p:spPr bwMode="auto">
          <a:xfrm>
            <a:off x="1495425" y="5660726"/>
            <a:ext cx="1714500" cy="571500"/>
          </a:xfrm>
          <a:prstGeom prst="rect">
            <a:avLst/>
          </a:prstGeom>
          <a:solidFill>
            <a:srgbClr val="618FFD"/>
          </a:solidFill>
          <a:ln w="12700">
            <a:solidFill>
              <a:srgbClr val="000000"/>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8145" name="Rectangle 17"/>
          <p:cNvSpPr>
            <a:spLocks noChangeArrowheads="1"/>
          </p:cNvSpPr>
          <p:nvPr/>
        </p:nvSpPr>
        <p:spPr bwMode="auto">
          <a:xfrm>
            <a:off x="2043039" y="5759152"/>
            <a:ext cx="554636" cy="366765"/>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dirty="0">
                <a:solidFill>
                  <a:srgbClr val="000000"/>
                </a:solidFill>
                <a:latin typeface="Book Antiqua"/>
              </a:rPr>
              <a:t>RM</a:t>
            </a:r>
          </a:p>
        </p:txBody>
      </p:sp>
      <p:sp>
        <p:nvSpPr>
          <p:cNvPr id="48146" name="Line 18"/>
          <p:cNvSpPr>
            <a:spLocks noChangeShapeType="1"/>
          </p:cNvSpPr>
          <p:nvPr/>
        </p:nvSpPr>
        <p:spPr bwMode="auto">
          <a:xfrm>
            <a:off x="1924050" y="3533476"/>
            <a:ext cx="0" cy="7683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47" name="Line 19"/>
          <p:cNvSpPr>
            <a:spLocks noChangeShapeType="1"/>
          </p:cNvSpPr>
          <p:nvPr/>
        </p:nvSpPr>
        <p:spPr bwMode="auto">
          <a:xfrm>
            <a:off x="1905000" y="4886026"/>
            <a:ext cx="0" cy="7683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48" name="Line 20"/>
          <p:cNvSpPr>
            <a:spLocks noChangeShapeType="1"/>
          </p:cNvSpPr>
          <p:nvPr/>
        </p:nvSpPr>
        <p:spPr bwMode="auto">
          <a:xfrm flipV="1">
            <a:off x="2743200" y="3527126"/>
            <a:ext cx="0" cy="7810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49" name="Line 21"/>
          <p:cNvSpPr>
            <a:spLocks noChangeShapeType="1"/>
          </p:cNvSpPr>
          <p:nvPr/>
        </p:nvSpPr>
        <p:spPr bwMode="auto">
          <a:xfrm flipV="1">
            <a:off x="2743200" y="4873326"/>
            <a:ext cx="0" cy="7810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50" name="Line 22"/>
          <p:cNvSpPr>
            <a:spLocks noChangeShapeType="1"/>
          </p:cNvSpPr>
          <p:nvPr/>
        </p:nvSpPr>
        <p:spPr bwMode="auto">
          <a:xfrm>
            <a:off x="4991100" y="3533476"/>
            <a:ext cx="0" cy="7683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51" name="Line 23"/>
          <p:cNvSpPr>
            <a:spLocks noChangeShapeType="1"/>
          </p:cNvSpPr>
          <p:nvPr/>
        </p:nvSpPr>
        <p:spPr bwMode="auto">
          <a:xfrm>
            <a:off x="4972050" y="4886026"/>
            <a:ext cx="0" cy="7683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52" name="Line 24"/>
          <p:cNvSpPr>
            <a:spLocks noChangeShapeType="1"/>
          </p:cNvSpPr>
          <p:nvPr/>
        </p:nvSpPr>
        <p:spPr bwMode="auto">
          <a:xfrm flipV="1">
            <a:off x="5810250" y="3527126"/>
            <a:ext cx="0" cy="7810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53" name="Line 25"/>
          <p:cNvSpPr>
            <a:spLocks noChangeShapeType="1"/>
          </p:cNvSpPr>
          <p:nvPr/>
        </p:nvSpPr>
        <p:spPr bwMode="auto">
          <a:xfrm flipV="1">
            <a:off x="5810250" y="4873326"/>
            <a:ext cx="0" cy="7810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54" name="Rectangle 26"/>
          <p:cNvSpPr>
            <a:spLocks noChangeArrowheads="1"/>
          </p:cNvSpPr>
          <p:nvPr/>
        </p:nvSpPr>
        <p:spPr bwMode="auto">
          <a:xfrm>
            <a:off x="4562475" y="4314526"/>
            <a:ext cx="1714500" cy="558800"/>
          </a:xfrm>
          <a:prstGeom prst="rect">
            <a:avLst/>
          </a:prstGeom>
          <a:solidFill>
            <a:srgbClr val="FF8000"/>
          </a:solidFill>
          <a:ln w="12700">
            <a:solidFill>
              <a:srgbClr val="000000"/>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8155" name="Rectangle 27"/>
          <p:cNvSpPr>
            <a:spLocks noChangeArrowheads="1"/>
          </p:cNvSpPr>
          <p:nvPr/>
        </p:nvSpPr>
        <p:spPr bwMode="auto">
          <a:xfrm>
            <a:off x="5178932" y="4398664"/>
            <a:ext cx="468074" cy="366765"/>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dirty="0">
                <a:solidFill>
                  <a:srgbClr val="000000"/>
                </a:solidFill>
                <a:latin typeface="Book Antiqua"/>
              </a:rPr>
              <a:t>SC</a:t>
            </a:r>
          </a:p>
        </p:txBody>
      </p:sp>
      <p:sp>
        <p:nvSpPr>
          <p:cNvPr id="48156" name="Rectangle 28"/>
          <p:cNvSpPr>
            <a:spLocks noChangeArrowheads="1"/>
          </p:cNvSpPr>
          <p:nvPr/>
        </p:nvSpPr>
        <p:spPr bwMode="auto">
          <a:xfrm>
            <a:off x="4562475" y="5660726"/>
            <a:ext cx="1714500" cy="571500"/>
          </a:xfrm>
          <a:prstGeom prst="rect">
            <a:avLst/>
          </a:prstGeom>
          <a:solidFill>
            <a:srgbClr val="618FFD"/>
          </a:solidFill>
          <a:ln w="12700">
            <a:solidFill>
              <a:srgbClr val="000000"/>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8157" name="Rectangle 29"/>
          <p:cNvSpPr>
            <a:spLocks noChangeArrowheads="1"/>
          </p:cNvSpPr>
          <p:nvPr/>
        </p:nvSpPr>
        <p:spPr bwMode="auto">
          <a:xfrm>
            <a:off x="5110089" y="5759152"/>
            <a:ext cx="554636" cy="366765"/>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dirty="0">
                <a:solidFill>
                  <a:srgbClr val="000000"/>
                </a:solidFill>
                <a:latin typeface="Book Antiqua"/>
              </a:rPr>
              <a:t>RM</a:t>
            </a:r>
          </a:p>
        </p:txBody>
      </p:sp>
      <p:sp>
        <p:nvSpPr>
          <p:cNvPr id="48158" name="Rectangle 30"/>
          <p:cNvSpPr>
            <a:spLocks noChangeArrowheads="1"/>
          </p:cNvSpPr>
          <p:nvPr/>
        </p:nvSpPr>
        <p:spPr bwMode="auto">
          <a:xfrm>
            <a:off x="4562475" y="2949276"/>
            <a:ext cx="1714500" cy="571500"/>
          </a:xfrm>
          <a:prstGeom prst="rect">
            <a:avLst/>
          </a:prstGeom>
          <a:solidFill>
            <a:schemeClr val="accent3">
              <a:lumMod val="75000"/>
            </a:schemeClr>
          </a:solidFill>
          <a:ln w="12700">
            <a:solidFill>
              <a:srgbClr val="000000"/>
            </a:solid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8159" name="Rectangle 31"/>
          <p:cNvSpPr>
            <a:spLocks noChangeArrowheads="1"/>
          </p:cNvSpPr>
          <p:nvPr/>
        </p:nvSpPr>
        <p:spPr bwMode="auto">
          <a:xfrm>
            <a:off x="5117552" y="3047701"/>
            <a:ext cx="541812" cy="366765"/>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dirty="0">
                <a:solidFill>
                  <a:srgbClr val="000000"/>
                </a:solidFill>
                <a:latin typeface="Book Antiqua"/>
              </a:rPr>
              <a:t>TM</a:t>
            </a:r>
          </a:p>
        </p:txBody>
      </p:sp>
      <p:sp>
        <p:nvSpPr>
          <p:cNvPr id="48160" name="Line 32"/>
          <p:cNvSpPr>
            <a:spLocks noChangeShapeType="1"/>
          </p:cNvSpPr>
          <p:nvPr/>
        </p:nvSpPr>
        <p:spPr bwMode="auto">
          <a:xfrm>
            <a:off x="3219451" y="3209627"/>
            <a:ext cx="1333500" cy="1377950"/>
          </a:xfrm>
          <a:prstGeom prst="line">
            <a:avLst/>
          </a:prstGeom>
          <a:noFill/>
          <a:ln w="19050">
            <a:solidFill>
              <a:schemeClr val="tx2"/>
            </a:solidFill>
            <a:round/>
            <a:headEnd type="triangle" w="med" len="me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61" name="Line 33"/>
          <p:cNvSpPr>
            <a:spLocks noChangeShapeType="1"/>
          </p:cNvSpPr>
          <p:nvPr/>
        </p:nvSpPr>
        <p:spPr bwMode="auto">
          <a:xfrm flipH="1">
            <a:off x="3213100" y="3252490"/>
            <a:ext cx="1327150" cy="1341437"/>
          </a:xfrm>
          <a:prstGeom prst="line">
            <a:avLst/>
          </a:prstGeom>
          <a:noFill/>
          <a:ln w="19050">
            <a:solidFill>
              <a:schemeClr val="tx2"/>
            </a:solidFill>
            <a:round/>
            <a:headEnd type="triangle" w="med" len="me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62" name="Oval 34"/>
          <p:cNvSpPr>
            <a:spLocks noChangeArrowheads="1"/>
          </p:cNvSpPr>
          <p:nvPr/>
        </p:nvSpPr>
        <p:spPr bwMode="auto">
          <a:xfrm>
            <a:off x="6862763" y="3228677"/>
            <a:ext cx="2209800" cy="850900"/>
          </a:xfrm>
          <a:prstGeom prst="ellipse">
            <a:avLst/>
          </a:prstGeom>
          <a:solidFill>
            <a:schemeClr val="accent1">
              <a:lumMod val="40000"/>
              <a:lumOff val="60000"/>
            </a:schemeClr>
          </a:solidFill>
          <a:ln w="12700">
            <a:solidFill>
              <a:srgbClr val="000000"/>
            </a:solidFill>
            <a:round/>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8163" name="Oval 35"/>
          <p:cNvSpPr>
            <a:spLocks noChangeArrowheads="1"/>
          </p:cNvSpPr>
          <p:nvPr/>
        </p:nvSpPr>
        <p:spPr bwMode="auto">
          <a:xfrm>
            <a:off x="6862763" y="4182764"/>
            <a:ext cx="2209800" cy="850900"/>
          </a:xfrm>
          <a:prstGeom prst="ellipse">
            <a:avLst/>
          </a:prstGeom>
          <a:solidFill>
            <a:schemeClr val="accent1">
              <a:lumMod val="40000"/>
              <a:lumOff val="60000"/>
            </a:schemeClr>
          </a:solidFill>
          <a:ln w="12700">
            <a:solidFill>
              <a:srgbClr val="000000"/>
            </a:solidFill>
            <a:round/>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8164" name="Oval 36"/>
          <p:cNvSpPr>
            <a:spLocks noChangeArrowheads="1"/>
          </p:cNvSpPr>
          <p:nvPr/>
        </p:nvSpPr>
        <p:spPr bwMode="auto">
          <a:xfrm>
            <a:off x="6862763" y="5514677"/>
            <a:ext cx="2209800" cy="850900"/>
          </a:xfrm>
          <a:prstGeom prst="ellipse">
            <a:avLst/>
          </a:prstGeom>
          <a:solidFill>
            <a:schemeClr val="accent1">
              <a:lumMod val="40000"/>
              <a:lumOff val="60000"/>
            </a:schemeClr>
          </a:solidFill>
          <a:ln w="12700">
            <a:solidFill>
              <a:srgbClr val="000000"/>
            </a:solidFill>
            <a:round/>
            <a:headEnd/>
            <a:tailEnd/>
          </a:ln>
          <a:effectLst/>
        </p:spPr>
        <p:txBody>
          <a:bodyPr wrap="none" lIns="91439" tIns="45719" rIns="91439" bIns="45719" anchor="ctr">
            <a:prstTxWarp prst="textNoShape">
              <a:avLst/>
            </a:prstTxWarp>
          </a:bodyPr>
          <a:lstStyle/>
          <a:p>
            <a:endParaRPr lang="en-US" dirty="0">
              <a:latin typeface="Book Antiqua"/>
            </a:endParaRPr>
          </a:p>
        </p:txBody>
      </p:sp>
      <p:sp>
        <p:nvSpPr>
          <p:cNvPr id="48165" name="Rectangle 37"/>
          <p:cNvSpPr>
            <a:spLocks noChangeArrowheads="1"/>
          </p:cNvSpPr>
          <p:nvPr/>
        </p:nvSpPr>
        <p:spPr bwMode="auto">
          <a:xfrm>
            <a:off x="7289800" y="5559125"/>
            <a:ext cx="1355725" cy="761681"/>
          </a:xfrm>
          <a:prstGeom prst="rect">
            <a:avLst/>
          </a:prstGeom>
          <a:noFill/>
          <a:ln w="12700">
            <a:noFill/>
            <a:miter lim="800000"/>
            <a:headEnd/>
            <a:tailEnd/>
          </a:ln>
          <a:effectLst/>
        </p:spPr>
        <p:txBody>
          <a:bodyPr lIns="90486" tIns="44449" rIns="90486" bIns="44449">
            <a:prstTxWarp prst="textNoShape">
              <a:avLst/>
            </a:prstTxWarp>
            <a:spAutoFit/>
          </a:bodyPr>
          <a:lstStyle/>
          <a:p>
            <a:pPr algn="ctr">
              <a:lnSpc>
                <a:spcPct val="90000"/>
              </a:lnSpc>
            </a:pPr>
            <a:r>
              <a:rPr lang="en-US" sz="1617" dirty="0">
                <a:latin typeface="Book Antiqua"/>
              </a:rPr>
              <a:t>Local</a:t>
            </a:r>
          </a:p>
          <a:p>
            <a:pPr algn="ctr">
              <a:lnSpc>
                <a:spcPct val="90000"/>
              </a:lnSpc>
            </a:pPr>
            <a:r>
              <a:rPr lang="en-US" sz="1617" dirty="0">
                <a:latin typeface="Book Antiqua"/>
              </a:rPr>
              <a:t>Recovery</a:t>
            </a:r>
          </a:p>
          <a:p>
            <a:pPr algn="ctr">
              <a:lnSpc>
                <a:spcPct val="90000"/>
              </a:lnSpc>
            </a:pPr>
            <a:r>
              <a:rPr lang="en-US" sz="1617" dirty="0">
                <a:latin typeface="Book Antiqua"/>
              </a:rPr>
              <a:t>Protocol</a:t>
            </a:r>
          </a:p>
        </p:txBody>
      </p:sp>
      <p:sp>
        <p:nvSpPr>
          <p:cNvPr id="48166" name="Line 38"/>
          <p:cNvSpPr>
            <a:spLocks noChangeShapeType="1"/>
          </p:cNvSpPr>
          <p:nvPr/>
        </p:nvSpPr>
        <p:spPr bwMode="auto">
          <a:xfrm flipH="1">
            <a:off x="6286500" y="2752427"/>
            <a:ext cx="571500" cy="3492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67" name="Line 39"/>
          <p:cNvSpPr>
            <a:spLocks noChangeShapeType="1"/>
          </p:cNvSpPr>
          <p:nvPr/>
        </p:nvSpPr>
        <p:spPr bwMode="auto">
          <a:xfrm flipH="1" flipV="1">
            <a:off x="6286500" y="3374726"/>
            <a:ext cx="571500" cy="28575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68" name="Line 40"/>
          <p:cNvSpPr>
            <a:spLocks noChangeShapeType="1"/>
          </p:cNvSpPr>
          <p:nvPr/>
        </p:nvSpPr>
        <p:spPr bwMode="auto">
          <a:xfrm flipH="1">
            <a:off x="6286500" y="4593926"/>
            <a:ext cx="571500" cy="0"/>
          </a:xfrm>
          <a:prstGeom prst="line">
            <a:avLst/>
          </a:prstGeom>
          <a:noFill/>
          <a:ln w="19050">
            <a:solidFill>
              <a:schemeClr val="tx2"/>
            </a:solidFill>
            <a:round/>
            <a:headEnd/>
            <a:tailEnd type="triangl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69" name="Line 41"/>
          <p:cNvSpPr>
            <a:spLocks noChangeShapeType="1"/>
          </p:cNvSpPr>
          <p:nvPr/>
        </p:nvSpPr>
        <p:spPr bwMode="auto">
          <a:xfrm>
            <a:off x="6292850" y="5965526"/>
            <a:ext cx="539750" cy="0"/>
          </a:xfrm>
          <a:prstGeom prst="line">
            <a:avLst/>
          </a:prstGeom>
          <a:noFill/>
          <a:ln w="19050">
            <a:solidFill>
              <a:schemeClr val="tx2"/>
            </a:solidFill>
            <a:round/>
            <a:headEnd type="triangle" w="lg" len="lg"/>
            <a:tailEnd type="none" w="lg" len="lg"/>
          </a:ln>
          <a:effectLst/>
        </p:spPr>
        <p:txBody>
          <a:bodyPr wrap="none" lIns="91439" tIns="45719" rIns="91439" bIns="45719" anchor="ctr">
            <a:prstTxWarp prst="textNoShape">
              <a:avLst/>
            </a:prstTxWarp>
          </a:bodyPr>
          <a:lstStyle/>
          <a:p>
            <a:endParaRPr lang="en-US" dirty="0">
              <a:latin typeface="Book Antiqua"/>
            </a:endParaRPr>
          </a:p>
        </p:txBody>
      </p:sp>
      <p:sp>
        <p:nvSpPr>
          <p:cNvPr id="48170" name="Rectangle 42"/>
          <p:cNvSpPr>
            <a:spLocks noChangeArrowheads="1"/>
          </p:cNvSpPr>
          <p:nvPr/>
        </p:nvSpPr>
        <p:spPr bwMode="auto">
          <a:xfrm>
            <a:off x="6904866" y="4227215"/>
            <a:ext cx="2127182" cy="761681"/>
          </a:xfrm>
          <a:prstGeom prst="rect">
            <a:avLst/>
          </a:prstGeom>
          <a:noFill/>
          <a:ln w="12700">
            <a:noFill/>
            <a:miter lim="800000"/>
            <a:headEnd/>
            <a:tailEnd/>
          </a:ln>
          <a:effectLst/>
        </p:spPr>
        <p:txBody>
          <a:bodyPr wrap="none" lIns="90486" tIns="44449" rIns="90486" bIns="44449">
            <a:prstTxWarp prst="textNoShape">
              <a:avLst/>
            </a:prstTxWarp>
            <a:spAutoFit/>
          </a:bodyPr>
          <a:lstStyle/>
          <a:p>
            <a:pPr algn="ctr">
              <a:lnSpc>
                <a:spcPct val="90000"/>
              </a:lnSpc>
            </a:pPr>
            <a:r>
              <a:rPr lang="en-US" sz="1617" dirty="0">
                <a:solidFill>
                  <a:srgbClr val="000000"/>
                </a:solidFill>
                <a:latin typeface="Book Antiqua"/>
              </a:rPr>
              <a:t>Distributed</a:t>
            </a:r>
          </a:p>
          <a:p>
            <a:pPr algn="ctr">
              <a:lnSpc>
                <a:spcPct val="90000"/>
              </a:lnSpc>
            </a:pPr>
            <a:r>
              <a:rPr lang="en-US" sz="1617" dirty="0">
                <a:solidFill>
                  <a:srgbClr val="000000"/>
                </a:solidFill>
                <a:latin typeface="Book Antiqua"/>
              </a:rPr>
              <a:t>Concurrency Control</a:t>
            </a:r>
          </a:p>
          <a:p>
            <a:pPr algn="ctr">
              <a:lnSpc>
                <a:spcPct val="90000"/>
              </a:lnSpc>
            </a:pPr>
            <a:r>
              <a:rPr lang="en-US" sz="1617" dirty="0">
                <a:solidFill>
                  <a:srgbClr val="000000"/>
                </a:solidFill>
                <a:latin typeface="Book Antiqua"/>
              </a:rPr>
              <a:t>Protocol</a:t>
            </a:r>
          </a:p>
        </p:txBody>
      </p:sp>
      <p:sp>
        <p:nvSpPr>
          <p:cNvPr id="48171" name="Rectangle 43"/>
          <p:cNvSpPr>
            <a:spLocks noChangeArrowheads="1"/>
          </p:cNvSpPr>
          <p:nvPr/>
        </p:nvSpPr>
        <p:spPr bwMode="auto">
          <a:xfrm>
            <a:off x="7158942" y="3358851"/>
            <a:ext cx="1619031" cy="587466"/>
          </a:xfrm>
          <a:prstGeom prst="rect">
            <a:avLst/>
          </a:prstGeom>
          <a:noFill/>
          <a:ln w="12700">
            <a:noFill/>
            <a:miter lim="800000"/>
            <a:headEnd/>
            <a:tailEnd/>
          </a:ln>
          <a:effectLst/>
        </p:spPr>
        <p:txBody>
          <a:bodyPr wrap="none" lIns="90486" tIns="44449" rIns="90486" bIns="44449">
            <a:prstTxWarp prst="textNoShape">
              <a:avLst/>
            </a:prstTxWarp>
            <a:spAutoFit/>
          </a:bodyPr>
          <a:lstStyle/>
          <a:p>
            <a:pPr algn="ctr"/>
            <a:r>
              <a:rPr lang="en-US" sz="1617" dirty="0">
                <a:solidFill>
                  <a:srgbClr val="000000"/>
                </a:solidFill>
                <a:latin typeface="Book Antiqua"/>
              </a:rPr>
              <a:t>Replica Control</a:t>
            </a:r>
          </a:p>
          <a:p>
            <a:pPr algn="ctr"/>
            <a:r>
              <a:rPr lang="en-US" sz="1617" dirty="0">
                <a:solidFill>
                  <a:srgbClr val="000000"/>
                </a:solidFill>
                <a:latin typeface="Book Antiqua"/>
              </a:rPr>
              <a:t>Protocol</a:t>
            </a:r>
          </a:p>
        </p:txBody>
      </p:sp>
      <p:sp>
        <p:nvSpPr>
          <p:cNvPr id="48172" name="Rectangle 44"/>
          <p:cNvSpPr>
            <a:spLocks noChangeArrowheads="1"/>
          </p:cNvSpPr>
          <p:nvPr/>
        </p:nvSpPr>
        <p:spPr bwMode="auto">
          <a:xfrm>
            <a:off x="6855975" y="2376190"/>
            <a:ext cx="2224965" cy="761681"/>
          </a:xfrm>
          <a:prstGeom prst="rect">
            <a:avLst/>
          </a:prstGeom>
          <a:noFill/>
          <a:ln w="12700">
            <a:noFill/>
            <a:miter lim="800000"/>
            <a:headEnd/>
            <a:tailEnd/>
          </a:ln>
          <a:effectLst/>
        </p:spPr>
        <p:txBody>
          <a:bodyPr wrap="none" lIns="90486" tIns="44449" rIns="90486" bIns="44449">
            <a:prstTxWarp prst="textNoShape">
              <a:avLst/>
            </a:prstTxWarp>
            <a:spAutoFit/>
          </a:bodyPr>
          <a:lstStyle/>
          <a:p>
            <a:pPr algn="ctr">
              <a:lnSpc>
                <a:spcPct val="90000"/>
              </a:lnSpc>
            </a:pPr>
            <a:r>
              <a:rPr lang="en-US" sz="1617" dirty="0">
                <a:solidFill>
                  <a:srgbClr val="000000"/>
                </a:solidFill>
                <a:latin typeface="Book Antiqua"/>
              </a:rPr>
              <a:t>Distributed</a:t>
            </a:r>
          </a:p>
          <a:p>
            <a:pPr algn="ctr">
              <a:lnSpc>
                <a:spcPct val="90000"/>
              </a:lnSpc>
            </a:pPr>
            <a:r>
              <a:rPr lang="en-US" sz="1617" dirty="0">
                <a:solidFill>
                  <a:srgbClr val="000000"/>
                </a:solidFill>
                <a:latin typeface="Book Antiqua"/>
              </a:rPr>
              <a:t>Transaction Execution</a:t>
            </a:r>
          </a:p>
          <a:p>
            <a:pPr algn="ctr">
              <a:lnSpc>
                <a:spcPct val="90000"/>
              </a:lnSpc>
            </a:pPr>
            <a:r>
              <a:rPr lang="en-US" sz="1617" dirty="0">
                <a:solidFill>
                  <a:srgbClr val="000000"/>
                </a:solidFill>
                <a:latin typeface="Book Antiqua"/>
              </a:rPr>
              <a:t>Model</a:t>
            </a:r>
          </a:p>
        </p:txBody>
      </p:sp>
    </p:spTree>
    <p:extLst>
      <p:ext uri="{BB962C8B-B14F-4D97-AF65-F5344CB8AC3E}">
        <p14:creationId xmlns:p14="http://schemas.microsoft.com/office/powerpoint/2010/main" val="16975002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lstStyle/>
          <a:p>
            <a:pPr algn="just"/>
            <a:r>
              <a:rPr lang="en-US" altLang="en-US" sz="2900" b="1"/>
              <a:t>Concurrency Control  </a:t>
            </a:r>
          </a:p>
        </p:txBody>
      </p:sp>
      <p:sp>
        <p:nvSpPr>
          <p:cNvPr id="250883" name="Rectangle 3"/>
          <p:cNvSpPr>
            <a:spLocks noGrp="1" noChangeArrowheads="1"/>
          </p:cNvSpPr>
          <p:nvPr>
            <p:ph idx="1"/>
          </p:nvPr>
        </p:nvSpPr>
        <p:spPr>
          <a:xfrm>
            <a:off x="553430" y="2365683"/>
            <a:ext cx="7545541" cy="4824984"/>
          </a:xfrm>
        </p:spPr>
        <p:txBody>
          <a:bodyPr/>
          <a:lstStyle/>
          <a:p>
            <a:pPr algn="just">
              <a:lnSpc>
                <a:spcPct val="90000"/>
              </a:lnSpc>
            </a:pPr>
            <a:r>
              <a:rPr lang="en-US" altLang="en-US" sz="2400" b="1" dirty="0"/>
              <a:t>Concurrency (Throughput)</a:t>
            </a:r>
          </a:p>
          <a:p>
            <a:pPr lvl="1" algn="just">
              <a:lnSpc>
                <a:spcPct val="90000"/>
              </a:lnSpc>
            </a:pPr>
            <a:r>
              <a:rPr lang="en-US" altLang="en-US" sz="2000" b="1" dirty="0"/>
              <a:t>Process of managing simultaneous operations on the database without having them interfere with one another.</a:t>
            </a:r>
          </a:p>
          <a:p>
            <a:pPr algn="just">
              <a:lnSpc>
                <a:spcPct val="20000"/>
              </a:lnSpc>
              <a:buFont typeface="Monotype Sorts" pitchFamily="2" charset="2"/>
              <a:buNone/>
            </a:pPr>
            <a:endParaRPr lang="en-US" altLang="en-US" sz="2400" b="1" dirty="0"/>
          </a:p>
          <a:p>
            <a:pPr lvl="1" algn="just">
              <a:lnSpc>
                <a:spcPct val="90000"/>
              </a:lnSpc>
            </a:pPr>
            <a:r>
              <a:rPr lang="en-US" altLang="en-US" sz="2000" b="1" dirty="0"/>
              <a:t>Prevents interference when two or more users are accessing database simultaneously and at least one is updating data.</a:t>
            </a:r>
          </a:p>
          <a:p>
            <a:pPr lvl="1" algn="just">
              <a:lnSpc>
                <a:spcPct val="90000"/>
              </a:lnSpc>
            </a:pPr>
            <a:r>
              <a:rPr lang="en-US" altLang="en-US" sz="2000" b="1" dirty="0"/>
              <a:t>Although two transactions may be correct in themselves, interleaving of operations may produce an incorrect result.</a:t>
            </a:r>
          </a:p>
        </p:txBody>
      </p:sp>
      <p:sp>
        <p:nvSpPr>
          <p:cNvPr id="4" name="Slide Number Placeholder 3"/>
          <p:cNvSpPr>
            <a:spLocks noGrp="1"/>
          </p:cNvSpPr>
          <p:nvPr>
            <p:ph type="sldNum" sz="quarter" idx="12"/>
          </p:nvPr>
        </p:nvSpPr>
        <p:spPr/>
        <p:txBody>
          <a:bodyPr/>
          <a:lstStyle/>
          <a:p>
            <a:fld id="{1FBDD8D0-A2BD-4813-8646-C86B4671B170}" type="slidenum">
              <a:rPr lang="en-GB" altLang="en-US"/>
              <a:pPr/>
              <a:t>22</a:t>
            </a:fld>
            <a:endParaRPr lang="en-GB" altLang="en-US"/>
          </a:p>
        </p:txBody>
      </p:sp>
    </p:spTree>
    <p:extLst>
      <p:ext uri="{BB962C8B-B14F-4D97-AF65-F5344CB8AC3E}">
        <p14:creationId xmlns:p14="http://schemas.microsoft.com/office/powerpoint/2010/main" val="1073926505"/>
      </p:ext>
    </p:extLst>
  </p:cSld>
  <p:clrMapOvr>
    <a:masterClrMapping/>
  </p:clrMapOvr>
  <p:transition>
    <p:wipe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pPr algn="just"/>
            <a:r>
              <a:rPr lang="en-US" altLang="en-US" sz="2900" b="1"/>
              <a:t>Need for Concurrency Control</a:t>
            </a:r>
            <a:endParaRPr lang="en-US" altLang="en-US" b="1"/>
          </a:p>
        </p:txBody>
      </p:sp>
      <p:sp>
        <p:nvSpPr>
          <p:cNvPr id="251907" name="Rectangle 3"/>
          <p:cNvSpPr>
            <a:spLocks noGrp="1" noChangeArrowheads="1"/>
          </p:cNvSpPr>
          <p:nvPr>
            <p:ph idx="1"/>
          </p:nvPr>
        </p:nvSpPr>
        <p:spPr>
          <a:xfrm>
            <a:off x="671514" y="2371725"/>
            <a:ext cx="7048635" cy="4114800"/>
          </a:xfrm>
        </p:spPr>
        <p:txBody>
          <a:bodyPr/>
          <a:lstStyle/>
          <a:p>
            <a:pPr algn="just"/>
            <a:r>
              <a:rPr lang="en-US" altLang="en-US" b="1" dirty="0"/>
              <a:t>Three examples of potential problems caused by concurrency: </a:t>
            </a:r>
          </a:p>
          <a:p>
            <a:pPr lvl="1" algn="just"/>
            <a:r>
              <a:rPr lang="en-US" altLang="en-US" b="1" dirty="0"/>
              <a:t>	Lost update problem.</a:t>
            </a:r>
          </a:p>
          <a:p>
            <a:pPr lvl="1" algn="just"/>
            <a:r>
              <a:rPr lang="en-US" altLang="en-US" b="1" dirty="0"/>
              <a:t>	Uncommitted dependency problem.</a:t>
            </a:r>
          </a:p>
          <a:p>
            <a:pPr lvl="1" algn="just"/>
            <a:r>
              <a:rPr lang="en-US" altLang="en-US" b="1" dirty="0"/>
              <a:t>	Inconsistent analysis problem. </a:t>
            </a:r>
            <a:endParaRPr lang="en-US" altLang="en-US" sz="2500" b="1" dirty="0"/>
          </a:p>
        </p:txBody>
      </p:sp>
      <p:sp>
        <p:nvSpPr>
          <p:cNvPr id="4" name="Slide Number Placeholder 3"/>
          <p:cNvSpPr>
            <a:spLocks noGrp="1"/>
          </p:cNvSpPr>
          <p:nvPr>
            <p:ph type="sldNum" sz="quarter" idx="12"/>
          </p:nvPr>
        </p:nvSpPr>
        <p:spPr/>
        <p:txBody>
          <a:bodyPr/>
          <a:lstStyle/>
          <a:p>
            <a:fld id="{021B1FE7-6767-4D2E-9F16-610802F702F8}" type="slidenum">
              <a:rPr lang="en-GB" altLang="en-US"/>
              <a:pPr/>
              <a:t>23</a:t>
            </a:fld>
            <a:endParaRPr lang="en-GB" altLang="en-US"/>
          </a:p>
        </p:txBody>
      </p:sp>
    </p:spTree>
    <p:extLst>
      <p:ext uri="{BB962C8B-B14F-4D97-AF65-F5344CB8AC3E}">
        <p14:creationId xmlns:p14="http://schemas.microsoft.com/office/powerpoint/2010/main" val="311850204"/>
      </p:ext>
    </p:extLst>
  </p:cSld>
  <p:clrMapOvr>
    <a:masterClrMapping/>
  </p:clrMapOvr>
  <p:transition>
    <p:wipe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pPr algn="just"/>
            <a:r>
              <a:rPr lang="en-US" altLang="en-US" sz="2900" b="1"/>
              <a:t>Lost Update Problem</a:t>
            </a:r>
          </a:p>
        </p:txBody>
      </p:sp>
      <p:sp>
        <p:nvSpPr>
          <p:cNvPr id="363523" name="Rectangle 3"/>
          <p:cNvSpPr>
            <a:spLocks noGrp="1" noChangeArrowheads="1"/>
          </p:cNvSpPr>
          <p:nvPr>
            <p:ph idx="1"/>
          </p:nvPr>
        </p:nvSpPr>
        <p:spPr>
          <a:xfrm>
            <a:off x="671514" y="2410188"/>
            <a:ext cx="7061697" cy="4076337"/>
          </a:xfrm>
        </p:spPr>
        <p:txBody>
          <a:bodyPr/>
          <a:lstStyle/>
          <a:p>
            <a:pPr algn="just"/>
            <a:r>
              <a:rPr lang="en-US" altLang="en-US" sz="2400" b="1" dirty="0" smtClean="0"/>
              <a:t>Occurs </a:t>
            </a:r>
            <a:r>
              <a:rPr lang="en-US" altLang="en-US" sz="2400" b="1" dirty="0"/>
              <a:t>when successfully completed update by one transaction is overwritten by another transaction.</a:t>
            </a:r>
          </a:p>
          <a:p>
            <a:pPr algn="just"/>
            <a:r>
              <a:rPr lang="en-US" altLang="en-US" sz="2400" b="1" dirty="0" smtClean="0"/>
              <a:t>And </a:t>
            </a:r>
            <a:r>
              <a:rPr lang="en-US" altLang="en-US" sz="2400" b="1" dirty="0"/>
              <a:t>ultimate result is not correct.</a:t>
            </a:r>
          </a:p>
        </p:txBody>
      </p:sp>
      <p:sp>
        <p:nvSpPr>
          <p:cNvPr id="4" name="Slide Number Placeholder 3"/>
          <p:cNvSpPr>
            <a:spLocks noGrp="1"/>
          </p:cNvSpPr>
          <p:nvPr>
            <p:ph type="sldNum" sz="quarter" idx="12"/>
          </p:nvPr>
        </p:nvSpPr>
        <p:spPr/>
        <p:txBody>
          <a:bodyPr/>
          <a:lstStyle/>
          <a:p>
            <a:fld id="{0F725EC4-362A-4F93-B9A1-39E3E470765D}" type="slidenum">
              <a:rPr lang="en-GB" altLang="en-US"/>
              <a:pPr/>
              <a:t>24</a:t>
            </a:fld>
            <a:endParaRPr lang="en-GB" altLang="en-US"/>
          </a:p>
        </p:txBody>
      </p:sp>
    </p:spTree>
    <p:extLst>
      <p:ext uri="{BB962C8B-B14F-4D97-AF65-F5344CB8AC3E}">
        <p14:creationId xmlns:p14="http://schemas.microsoft.com/office/powerpoint/2010/main" val="3011262183"/>
      </p:ext>
    </p:extLst>
  </p:cSld>
  <p:clrMapOvr>
    <a:masterClrMapping/>
  </p:clrMapOvr>
  <p:transition>
    <p:wipe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pPr algn="just"/>
            <a:r>
              <a:rPr lang="en-US" altLang="en-US" sz="2900" b="1"/>
              <a:t>Lost Update Problem</a:t>
            </a:r>
          </a:p>
        </p:txBody>
      </p:sp>
      <p:sp>
        <p:nvSpPr>
          <p:cNvPr id="253955" name="Rectangle 3"/>
          <p:cNvSpPr>
            <a:spLocks noGrp="1" noChangeArrowheads="1"/>
          </p:cNvSpPr>
          <p:nvPr>
            <p:ph idx="1"/>
          </p:nvPr>
        </p:nvSpPr>
        <p:spPr>
          <a:xfrm>
            <a:off x="304800" y="5270500"/>
            <a:ext cx="8458200" cy="1219200"/>
          </a:xfrm>
        </p:spPr>
        <p:txBody>
          <a:bodyPr/>
          <a:lstStyle/>
          <a:p>
            <a:pPr algn="just"/>
            <a:r>
              <a:rPr lang="en-US" altLang="en-US" sz="2400" b="1" dirty="0"/>
              <a:t>Loss of T</a:t>
            </a:r>
            <a:r>
              <a:rPr lang="en-US" altLang="en-US" sz="2400" b="1" baseline="-25000" dirty="0"/>
              <a:t>2</a:t>
            </a:r>
            <a:r>
              <a:rPr lang="en-US" altLang="en-US" sz="2400" b="1" dirty="0"/>
              <a:t>’s update avoided by preventing T</a:t>
            </a:r>
            <a:r>
              <a:rPr lang="en-US" altLang="en-US" sz="2400" b="1" baseline="-25000" dirty="0"/>
              <a:t>1</a:t>
            </a:r>
            <a:r>
              <a:rPr lang="en-US" altLang="en-US" sz="2400" b="1" dirty="0"/>
              <a:t> from reading </a:t>
            </a:r>
            <a:r>
              <a:rPr lang="en-US" altLang="en-US" sz="2400" b="1" dirty="0" err="1"/>
              <a:t>bal</a:t>
            </a:r>
            <a:r>
              <a:rPr lang="en-US" altLang="en-US" sz="2400" b="1" baseline="-25000" dirty="0" err="1"/>
              <a:t>x</a:t>
            </a:r>
            <a:r>
              <a:rPr lang="en-US" altLang="en-US" sz="2400" b="1" dirty="0"/>
              <a:t> until after update</a:t>
            </a:r>
            <a:r>
              <a:rPr lang="en-US" altLang="en-US" b="1" dirty="0"/>
              <a:t>.</a:t>
            </a:r>
            <a:endParaRPr lang="en-US" altLang="en-US" dirty="0"/>
          </a:p>
        </p:txBody>
      </p:sp>
      <p:sp>
        <p:nvSpPr>
          <p:cNvPr id="5" name="Slide Number Placeholder 3"/>
          <p:cNvSpPr>
            <a:spLocks noGrp="1"/>
          </p:cNvSpPr>
          <p:nvPr>
            <p:ph type="sldNum" sz="quarter" idx="12"/>
          </p:nvPr>
        </p:nvSpPr>
        <p:spPr/>
        <p:txBody>
          <a:bodyPr/>
          <a:lstStyle/>
          <a:p>
            <a:fld id="{362F0283-FE21-49DF-827E-F329DC8A59F0}" type="slidenum">
              <a:rPr lang="en-GB" altLang="en-US"/>
              <a:pPr/>
              <a:t>25</a:t>
            </a:fld>
            <a:endParaRPr lang="en-GB" altLang="en-US"/>
          </a:p>
        </p:txBody>
      </p:sp>
      <p:pic>
        <p:nvPicPr>
          <p:cNvPr id="253956" name="Picture 4" descr="DS3-Figure 19-0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2259874"/>
            <a:ext cx="6061166" cy="3178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303272"/>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539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395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pPr algn="just"/>
            <a:r>
              <a:rPr lang="en-US" altLang="en-US" sz="2900" b="1"/>
              <a:t>Lost Update Problem</a:t>
            </a:r>
          </a:p>
        </p:txBody>
      </p:sp>
      <p:sp>
        <p:nvSpPr>
          <p:cNvPr id="252931" name="Rectangle 3"/>
          <p:cNvSpPr>
            <a:spLocks noGrp="1" noChangeArrowheads="1"/>
          </p:cNvSpPr>
          <p:nvPr>
            <p:ph idx="1"/>
          </p:nvPr>
        </p:nvSpPr>
        <p:spPr>
          <a:xfrm>
            <a:off x="762000" y="2438400"/>
            <a:ext cx="7245531" cy="4419600"/>
          </a:xfrm>
        </p:spPr>
        <p:txBody>
          <a:bodyPr/>
          <a:lstStyle/>
          <a:p>
            <a:pPr algn="just"/>
            <a:r>
              <a:rPr lang="en-US" altLang="en-US" sz="2000" b="1" dirty="0"/>
              <a:t>Successfully completed update (by T2) is overridden by another user (by T1).</a:t>
            </a:r>
          </a:p>
          <a:p>
            <a:pPr algn="just"/>
            <a:r>
              <a:rPr lang="en-US" altLang="en-US" sz="2000" b="1" dirty="0"/>
              <a:t>T</a:t>
            </a:r>
            <a:r>
              <a:rPr lang="en-US" altLang="en-US" sz="2000" b="1" baseline="-25000" dirty="0"/>
              <a:t>1</a:t>
            </a:r>
            <a:r>
              <a:rPr lang="en-US" altLang="en-US" sz="2000" b="1" dirty="0"/>
              <a:t> withdrawing £10 from an account with </a:t>
            </a:r>
            <a:r>
              <a:rPr lang="en-US" altLang="en-US" sz="2000" b="1" dirty="0" err="1"/>
              <a:t>bal</a:t>
            </a:r>
            <a:r>
              <a:rPr lang="en-US" altLang="en-US" sz="2000" b="1" baseline="-25000" dirty="0" err="1"/>
              <a:t>x</a:t>
            </a:r>
            <a:r>
              <a:rPr lang="en-US" altLang="en-US" sz="2000" b="1" dirty="0"/>
              <a:t>, initially £100.</a:t>
            </a:r>
          </a:p>
          <a:p>
            <a:pPr algn="just"/>
            <a:r>
              <a:rPr lang="en-US" altLang="en-US" sz="2000" b="1" dirty="0"/>
              <a:t>T</a:t>
            </a:r>
            <a:r>
              <a:rPr lang="en-US" altLang="en-US" sz="2000" b="1" baseline="-25000" dirty="0"/>
              <a:t>2</a:t>
            </a:r>
            <a:r>
              <a:rPr lang="en-US" altLang="en-US" sz="2000" b="1" dirty="0"/>
              <a:t> depositing £100 into same account. </a:t>
            </a:r>
          </a:p>
          <a:p>
            <a:pPr algn="just"/>
            <a:r>
              <a:rPr lang="en-US" altLang="en-US" sz="2000" b="1" dirty="0"/>
              <a:t>Serially, final balance would be £190 </a:t>
            </a:r>
          </a:p>
          <a:p>
            <a:pPr algn="just"/>
            <a:r>
              <a:rPr lang="en-US" altLang="en-US" sz="2000" b="1" dirty="0"/>
              <a:t>BUT due to lost update it becomes £ 90.</a:t>
            </a:r>
          </a:p>
        </p:txBody>
      </p:sp>
      <p:sp>
        <p:nvSpPr>
          <p:cNvPr id="4" name="Slide Number Placeholder 3"/>
          <p:cNvSpPr>
            <a:spLocks noGrp="1"/>
          </p:cNvSpPr>
          <p:nvPr>
            <p:ph type="sldNum" sz="quarter" idx="12"/>
          </p:nvPr>
        </p:nvSpPr>
        <p:spPr/>
        <p:txBody>
          <a:bodyPr/>
          <a:lstStyle/>
          <a:p>
            <a:fld id="{2114106D-DBF9-4558-ABBA-254B4AD3F4E2}" type="slidenum">
              <a:rPr lang="en-GB" altLang="en-US"/>
              <a:pPr/>
              <a:t>26</a:t>
            </a:fld>
            <a:endParaRPr lang="en-GB" altLang="en-US"/>
          </a:p>
        </p:txBody>
      </p:sp>
    </p:spTree>
    <p:extLst>
      <p:ext uri="{BB962C8B-B14F-4D97-AF65-F5344CB8AC3E}">
        <p14:creationId xmlns:p14="http://schemas.microsoft.com/office/powerpoint/2010/main" val="3039899865"/>
      </p:ext>
    </p:extLst>
  </p:cSld>
  <p:clrMapOvr>
    <a:masterClrMapping/>
  </p:clrMapOvr>
  <p:transition>
    <p:wipe di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lstStyle/>
          <a:p>
            <a:pPr algn="just"/>
            <a:r>
              <a:rPr lang="en-US" altLang="en-US" sz="2900" b="1"/>
              <a:t>Uncommitted Dependency Problem</a:t>
            </a:r>
            <a:endParaRPr lang="en-US" altLang="en-US"/>
          </a:p>
        </p:txBody>
      </p:sp>
      <p:sp>
        <p:nvSpPr>
          <p:cNvPr id="254979" name="Rectangle 3"/>
          <p:cNvSpPr>
            <a:spLocks noGrp="1" noChangeArrowheads="1"/>
          </p:cNvSpPr>
          <p:nvPr>
            <p:ph idx="1"/>
          </p:nvPr>
        </p:nvSpPr>
        <p:spPr>
          <a:xfrm>
            <a:off x="671514" y="2371725"/>
            <a:ext cx="7048635" cy="4114800"/>
          </a:xfrm>
        </p:spPr>
        <p:txBody>
          <a:bodyPr/>
          <a:lstStyle/>
          <a:p>
            <a:pPr algn="just"/>
            <a:r>
              <a:rPr lang="en-US" altLang="en-US" sz="2000" b="1" dirty="0"/>
              <a:t>Occurs when one transaction can see intermediate results of another transaction before it has committed. </a:t>
            </a:r>
          </a:p>
        </p:txBody>
      </p:sp>
      <p:sp>
        <p:nvSpPr>
          <p:cNvPr id="4" name="Slide Number Placeholder 3"/>
          <p:cNvSpPr>
            <a:spLocks noGrp="1"/>
          </p:cNvSpPr>
          <p:nvPr>
            <p:ph type="sldNum" sz="quarter" idx="12"/>
          </p:nvPr>
        </p:nvSpPr>
        <p:spPr/>
        <p:txBody>
          <a:bodyPr/>
          <a:lstStyle/>
          <a:p>
            <a:fld id="{749DE3D8-5BE9-40E7-AEAB-6E4F5D8DC7B3}" type="slidenum">
              <a:rPr lang="en-GB" altLang="en-US"/>
              <a:pPr/>
              <a:t>27</a:t>
            </a:fld>
            <a:endParaRPr lang="en-GB" altLang="en-US"/>
          </a:p>
        </p:txBody>
      </p:sp>
    </p:spTree>
    <p:extLst>
      <p:ext uri="{BB962C8B-B14F-4D97-AF65-F5344CB8AC3E}">
        <p14:creationId xmlns:p14="http://schemas.microsoft.com/office/powerpoint/2010/main" val="2719620309"/>
      </p:ext>
    </p:extLst>
  </p:cSld>
  <p:clrMapOvr>
    <a:masterClrMapping/>
  </p:clrMapOvr>
  <p:transition>
    <p:wipe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pPr algn="just"/>
            <a:r>
              <a:rPr lang="en-US" altLang="en-US" sz="2900" b="1"/>
              <a:t>Uncommitted Dependency Problem</a:t>
            </a:r>
            <a:endParaRPr lang="en-US" altLang="en-US"/>
          </a:p>
        </p:txBody>
      </p:sp>
      <p:sp>
        <p:nvSpPr>
          <p:cNvPr id="256003" name="Rectangle 3"/>
          <p:cNvSpPr>
            <a:spLocks noGrp="1" noChangeArrowheads="1"/>
          </p:cNvSpPr>
          <p:nvPr>
            <p:ph idx="1"/>
          </p:nvPr>
        </p:nvSpPr>
        <p:spPr>
          <a:xfrm>
            <a:off x="762000" y="5664200"/>
            <a:ext cx="7532914" cy="1066800"/>
          </a:xfrm>
        </p:spPr>
        <p:txBody>
          <a:bodyPr/>
          <a:lstStyle/>
          <a:p>
            <a:pPr algn="just"/>
            <a:r>
              <a:rPr lang="en-US" altLang="en-US" sz="2000" b="1" dirty="0"/>
              <a:t>Problem avoided by preventing T</a:t>
            </a:r>
            <a:r>
              <a:rPr lang="en-US" altLang="en-US" sz="2000" b="1" baseline="-25000" dirty="0"/>
              <a:t>3</a:t>
            </a:r>
            <a:r>
              <a:rPr lang="en-US" altLang="en-US" sz="2000" b="1" dirty="0"/>
              <a:t> from reading </a:t>
            </a:r>
            <a:r>
              <a:rPr lang="en-US" altLang="en-US" sz="2000" b="1" dirty="0" err="1"/>
              <a:t>bal</a:t>
            </a:r>
            <a:r>
              <a:rPr lang="en-US" altLang="en-US" sz="2000" b="1" baseline="-25000" dirty="0" err="1"/>
              <a:t>x</a:t>
            </a:r>
            <a:r>
              <a:rPr lang="en-US" altLang="en-US" sz="2000" b="1" dirty="0"/>
              <a:t> until after T</a:t>
            </a:r>
            <a:r>
              <a:rPr lang="en-US" altLang="en-US" sz="2000" b="1" baseline="-25000" dirty="0"/>
              <a:t>4</a:t>
            </a:r>
            <a:r>
              <a:rPr lang="en-US" altLang="en-US" sz="2000" b="1" dirty="0"/>
              <a:t> commits or aborts.</a:t>
            </a:r>
          </a:p>
        </p:txBody>
      </p:sp>
      <p:sp>
        <p:nvSpPr>
          <p:cNvPr id="5" name="Slide Number Placeholder 3"/>
          <p:cNvSpPr>
            <a:spLocks noGrp="1"/>
          </p:cNvSpPr>
          <p:nvPr>
            <p:ph type="sldNum" sz="quarter" idx="12"/>
          </p:nvPr>
        </p:nvSpPr>
        <p:spPr/>
        <p:txBody>
          <a:bodyPr/>
          <a:lstStyle/>
          <a:p>
            <a:fld id="{9EA18D1B-06DE-4516-938D-7F251CFC50F9}" type="slidenum">
              <a:rPr lang="en-GB" altLang="en-US"/>
              <a:pPr/>
              <a:t>28</a:t>
            </a:fld>
            <a:endParaRPr lang="en-GB" altLang="en-US"/>
          </a:p>
        </p:txBody>
      </p:sp>
      <p:pic>
        <p:nvPicPr>
          <p:cNvPr id="256004" name="Picture 4" descr="DS3-Figure 19-0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5211" y="2391433"/>
            <a:ext cx="6021977" cy="3175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701102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560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600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pPr algn="just"/>
            <a:r>
              <a:rPr lang="en-US" altLang="en-US" sz="2900" b="1"/>
              <a:t>Concurrency Control</a:t>
            </a:r>
          </a:p>
        </p:txBody>
      </p:sp>
      <p:sp>
        <p:nvSpPr>
          <p:cNvPr id="259075" name="Rectangle 3"/>
          <p:cNvSpPr>
            <a:spLocks noGrp="1" noChangeArrowheads="1"/>
          </p:cNvSpPr>
          <p:nvPr>
            <p:ph idx="1"/>
          </p:nvPr>
        </p:nvSpPr>
        <p:spPr>
          <a:xfrm>
            <a:off x="671514" y="2371725"/>
            <a:ext cx="7009446" cy="4114800"/>
          </a:xfrm>
        </p:spPr>
        <p:txBody>
          <a:bodyPr/>
          <a:lstStyle/>
          <a:p>
            <a:pPr algn="just"/>
            <a:r>
              <a:rPr lang="en-US" altLang="en-US" sz="2000" b="1" dirty="0"/>
              <a:t>A control or mechanism that avoids or manages any kind or interference during the execution of concurrent (simultaneous) transactions.</a:t>
            </a:r>
          </a:p>
        </p:txBody>
      </p:sp>
      <p:sp>
        <p:nvSpPr>
          <p:cNvPr id="4" name="Slide Number Placeholder 3"/>
          <p:cNvSpPr>
            <a:spLocks noGrp="1"/>
          </p:cNvSpPr>
          <p:nvPr>
            <p:ph type="sldNum" sz="quarter" idx="12"/>
          </p:nvPr>
        </p:nvSpPr>
        <p:spPr/>
        <p:txBody>
          <a:bodyPr/>
          <a:lstStyle/>
          <a:p>
            <a:fld id="{AD0E3D0E-2215-4255-839F-C4AAE60A2C93}" type="slidenum">
              <a:rPr lang="en-GB" altLang="en-US"/>
              <a:pPr/>
              <a:t>29</a:t>
            </a:fld>
            <a:endParaRPr lang="en-GB" altLang="en-US"/>
          </a:p>
        </p:txBody>
      </p:sp>
    </p:spTree>
    <p:extLst>
      <p:ext uri="{BB962C8B-B14F-4D97-AF65-F5344CB8AC3E}">
        <p14:creationId xmlns:p14="http://schemas.microsoft.com/office/powerpoint/2010/main" val="3624123915"/>
      </p:ext>
    </p:extLst>
  </p:cSld>
  <p:clrMapOvr>
    <a:masterClrMapping/>
  </p:clrMapOvr>
  <p:transition>
    <p:wipe di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pPr algn="just"/>
            <a:r>
              <a:rPr lang="en-US" altLang="en-US" sz="2900" b="1"/>
              <a:t>Concurrency Control Techniques</a:t>
            </a:r>
          </a:p>
        </p:txBody>
      </p:sp>
      <p:sp>
        <p:nvSpPr>
          <p:cNvPr id="273411" name="Rectangle 3"/>
          <p:cNvSpPr>
            <a:spLocks noGrp="1" noChangeArrowheads="1"/>
          </p:cNvSpPr>
          <p:nvPr>
            <p:ph idx="1"/>
          </p:nvPr>
        </p:nvSpPr>
        <p:spPr>
          <a:xfrm>
            <a:off x="671514" y="2371725"/>
            <a:ext cx="7127012" cy="4114800"/>
          </a:xfrm>
        </p:spPr>
        <p:txBody>
          <a:bodyPr/>
          <a:lstStyle/>
          <a:p>
            <a:pPr algn="just"/>
            <a:r>
              <a:rPr lang="en-US" altLang="en-US" sz="2000" b="1" dirty="0"/>
              <a:t>Two basic concurrency control techniques:</a:t>
            </a:r>
          </a:p>
          <a:p>
            <a:pPr lvl="1" algn="just"/>
            <a:r>
              <a:rPr lang="en-US" altLang="en-US" sz="2000" b="1" dirty="0"/>
              <a:t>	 Locking,</a:t>
            </a:r>
          </a:p>
          <a:p>
            <a:pPr lvl="1" algn="just"/>
            <a:r>
              <a:rPr lang="en-US" altLang="en-US" sz="2000" b="1" dirty="0"/>
              <a:t>	 Timestamping.</a:t>
            </a:r>
          </a:p>
          <a:p>
            <a:pPr algn="just"/>
            <a:r>
              <a:rPr lang="en-US" altLang="en-US" sz="2000" b="1" dirty="0"/>
              <a:t>Both are conservative approaches: delay transactions in case they conflict with other transactions. </a:t>
            </a:r>
          </a:p>
          <a:p>
            <a:pPr algn="just"/>
            <a:r>
              <a:rPr lang="en-US" altLang="en-US" sz="2000" b="1" dirty="0"/>
              <a:t>Optimistic methods assume conflict is rare and only check for conflicts at commit.</a:t>
            </a:r>
            <a:endParaRPr lang="en-US" altLang="en-US" sz="2000" dirty="0"/>
          </a:p>
        </p:txBody>
      </p:sp>
      <p:sp>
        <p:nvSpPr>
          <p:cNvPr id="4" name="Slide Number Placeholder 3"/>
          <p:cNvSpPr>
            <a:spLocks noGrp="1"/>
          </p:cNvSpPr>
          <p:nvPr>
            <p:ph type="sldNum" sz="quarter" idx="12"/>
          </p:nvPr>
        </p:nvSpPr>
        <p:spPr/>
        <p:txBody>
          <a:bodyPr/>
          <a:lstStyle/>
          <a:p>
            <a:fld id="{4D5E2BEA-4ABB-4B6E-92BB-68970EC85B31}" type="slidenum">
              <a:rPr lang="en-GB" altLang="en-US"/>
              <a:pPr/>
              <a:t>30</a:t>
            </a:fld>
            <a:endParaRPr lang="en-GB" altLang="en-US"/>
          </a:p>
        </p:txBody>
      </p:sp>
    </p:spTree>
    <p:extLst>
      <p:ext uri="{BB962C8B-B14F-4D97-AF65-F5344CB8AC3E}">
        <p14:creationId xmlns:p14="http://schemas.microsoft.com/office/powerpoint/2010/main" val="2849384804"/>
      </p:ext>
    </p:extLst>
  </p:cSld>
  <p:clrMapOvr>
    <a:masterClrMapping/>
  </p:clrMapOvr>
  <p:transition>
    <p:wipe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lstStyle/>
          <a:p>
            <a:pPr algn="just"/>
            <a:r>
              <a:rPr lang="en-US" altLang="en-US" sz="2900" b="1"/>
              <a:t>Locking</a:t>
            </a:r>
          </a:p>
        </p:txBody>
      </p:sp>
      <p:sp>
        <p:nvSpPr>
          <p:cNvPr id="274435" name="Rectangle 3"/>
          <p:cNvSpPr>
            <a:spLocks noGrp="1" noChangeArrowheads="1"/>
          </p:cNvSpPr>
          <p:nvPr>
            <p:ph idx="1"/>
          </p:nvPr>
        </p:nvSpPr>
        <p:spPr>
          <a:xfrm>
            <a:off x="762000" y="2351313"/>
            <a:ext cx="6954883" cy="4258491"/>
          </a:xfrm>
        </p:spPr>
        <p:txBody>
          <a:bodyPr/>
          <a:lstStyle/>
          <a:p>
            <a:pPr algn="just">
              <a:lnSpc>
                <a:spcPct val="90000"/>
              </a:lnSpc>
              <a:buFont typeface="Monotype Sorts" pitchFamily="2" charset="2"/>
              <a:buNone/>
            </a:pPr>
            <a:r>
              <a:rPr lang="en-US" altLang="en-US" sz="2800" b="1" dirty="0"/>
              <a:t>	</a:t>
            </a:r>
            <a:r>
              <a:rPr lang="en-US" altLang="en-US" sz="2000" b="1" dirty="0"/>
              <a:t>Transaction uses locks to deny access to other transactions and so prevent incorrect updates.</a:t>
            </a:r>
          </a:p>
          <a:p>
            <a:pPr algn="just">
              <a:lnSpc>
                <a:spcPct val="20000"/>
              </a:lnSpc>
              <a:buFont typeface="Monotype Sorts" pitchFamily="2" charset="2"/>
              <a:buNone/>
            </a:pPr>
            <a:endParaRPr lang="en-US" altLang="en-US" sz="2000" b="1" dirty="0"/>
          </a:p>
          <a:p>
            <a:pPr algn="just">
              <a:lnSpc>
                <a:spcPct val="90000"/>
              </a:lnSpc>
            </a:pPr>
            <a:r>
              <a:rPr lang="en-US" altLang="en-US" sz="2000" b="1" dirty="0"/>
              <a:t>Most widely used approach to ensure </a:t>
            </a:r>
            <a:r>
              <a:rPr lang="en-US" altLang="en-US" sz="2000" b="1" dirty="0" err="1"/>
              <a:t>serializability</a:t>
            </a:r>
            <a:r>
              <a:rPr lang="en-US" altLang="en-US" sz="2000" b="1" dirty="0"/>
              <a:t>.</a:t>
            </a:r>
          </a:p>
          <a:p>
            <a:pPr algn="just">
              <a:lnSpc>
                <a:spcPct val="90000"/>
              </a:lnSpc>
            </a:pPr>
            <a:r>
              <a:rPr lang="en-US" altLang="en-US" sz="2000" b="1" dirty="0"/>
              <a:t>Generally, a transaction must claim a </a:t>
            </a:r>
            <a:r>
              <a:rPr lang="en-US" altLang="en-US" sz="2000" b="1" i="1" dirty="0"/>
              <a:t>shared </a:t>
            </a:r>
            <a:r>
              <a:rPr lang="en-US" altLang="en-US" sz="2000" b="1" dirty="0"/>
              <a:t>(</a:t>
            </a:r>
            <a:r>
              <a:rPr lang="en-US" altLang="en-US" sz="2000" b="1" i="1" dirty="0"/>
              <a:t>read</a:t>
            </a:r>
            <a:r>
              <a:rPr lang="en-US" altLang="en-US" sz="2000" b="1" dirty="0"/>
              <a:t>) or </a:t>
            </a:r>
            <a:r>
              <a:rPr lang="en-US" altLang="en-US" sz="2000" b="1" i="1" dirty="0"/>
              <a:t>exclusive </a:t>
            </a:r>
            <a:r>
              <a:rPr lang="en-US" altLang="en-US" sz="2000" b="1" dirty="0"/>
              <a:t>(</a:t>
            </a:r>
            <a:r>
              <a:rPr lang="en-US" altLang="en-US" sz="2000" b="1" i="1" dirty="0"/>
              <a:t>write</a:t>
            </a:r>
            <a:r>
              <a:rPr lang="en-US" altLang="en-US" sz="2000" b="1" dirty="0"/>
              <a:t>) lock on a data item before read or write. </a:t>
            </a:r>
          </a:p>
          <a:p>
            <a:pPr algn="just">
              <a:lnSpc>
                <a:spcPct val="90000"/>
              </a:lnSpc>
            </a:pPr>
            <a:r>
              <a:rPr lang="en-US" altLang="en-US" sz="2000" b="1" dirty="0"/>
              <a:t>Lock prevents another transaction from modifying item or even reading it, in the case of a write lock. </a:t>
            </a:r>
          </a:p>
        </p:txBody>
      </p:sp>
      <p:sp>
        <p:nvSpPr>
          <p:cNvPr id="4" name="Slide Number Placeholder 3"/>
          <p:cNvSpPr>
            <a:spLocks noGrp="1"/>
          </p:cNvSpPr>
          <p:nvPr>
            <p:ph type="sldNum" sz="quarter" idx="12"/>
          </p:nvPr>
        </p:nvSpPr>
        <p:spPr/>
        <p:txBody>
          <a:bodyPr/>
          <a:lstStyle/>
          <a:p>
            <a:fld id="{A3EC0EAE-F785-4DA0-805C-F13DFD92AC2B}" type="slidenum">
              <a:rPr lang="en-GB" altLang="en-US"/>
              <a:pPr/>
              <a:t>31</a:t>
            </a:fld>
            <a:endParaRPr lang="en-GB" altLang="en-US"/>
          </a:p>
        </p:txBody>
      </p:sp>
    </p:spTree>
    <p:extLst>
      <p:ext uri="{BB962C8B-B14F-4D97-AF65-F5344CB8AC3E}">
        <p14:creationId xmlns:p14="http://schemas.microsoft.com/office/powerpoint/2010/main" val="3898817512"/>
      </p:ext>
    </p:extLst>
  </p:cSld>
  <p:clrMapOvr>
    <a:masterClrMapping/>
  </p:clrMapOvr>
  <p:transition>
    <p:wipe di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a:lstStyle/>
          <a:p>
            <a:pPr algn="just"/>
            <a:r>
              <a:rPr lang="en-US" altLang="en-US" sz="2900" b="1"/>
              <a:t>Locking - Basic Rules</a:t>
            </a:r>
            <a:endParaRPr lang="en-US" altLang="en-US" b="1"/>
          </a:p>
        </p:txBody>
      </p:sp>
      <p:sp>
        <p:nvSpPr>
          <p:cNvPr id="275459" name="Rectangle 3"/>
          <p:cNvSpPr>
            <a:spLocks noGrp="1" noChangeArrowheads="1"/>
          </p:cNvSpPr>
          <p:nvPr>
            <p:ph idx="1"/>
          </p:nvPr>
        </p:nvSpPr>
        <p:spPr>
          <a:xfrm>
            <a:off x="762000" y="2371725"/>
            <a:ext cx="7049589" cy="4114800"/>
          </a:xfrm>
        </p:spPr>
        <p:txBody>
          <a:bodyPr/>
          <a:lstStyle/>
          <a:p>
            <a:pPr algn="just">
              <a:lnSpc>
                <a:spcPct val="90000"/>
              </a:lnSpc>
            </a:pPr>
            <a:r>
              <a:rPr lang="en-US" altLang="en-US" sz="2000" b="1" dirty="0"/>
              <a:t>If transaction has shared lock on item, can read but not update item.</a:t>
            </a:r>
          </a:p>
          <a:p>
            <a:pPr algn="just">
              <a:lnSpc>
                <a:spcPct val="90000"/>
              </a:lnSpc>
            </a:pPr>
            <a:r>
              <a:rPr lang="en-US" altLang="en-US" sz="2000" b="1" dirty="0"/>
              <a:t>If transaction has exclusive lock on item, can both read and update item.</a:t>
            </a:r>
          </a:p>
          <a:p>
            <a:pPr algn="just">
              <a:lnSpc>
                <a:spcPct val="90000"/>
              </a:lnSpc>
            </a:pPr>
            <a:r>
              <a:rPr lang="en-US" altLang="en-US" sz="2000" b="1" dirty="0"/>
              <a:t>Reads cannot conflict, so more than one transaction can hold shared locks simultaneously on same item. </a:t>
            </a:r>
          </a:p>
          <a:p>
            <a:pPr algn="just">
              <a:lnSpc>
                <a:spcPct val="90000"/>
              </a:lnSpc>
            </a:pPr>
            <a:r>
              <a:rPr lang="en-US" altLang="en-US" sz="2000" b="1" dirty="0"/>
              <a:t>Exclusive lock gives transaction exclusive access to that item.</a:t>
            </a:r>
          </a:p>
        </p:txBody>
      </p:sp>
      <p:sp>
        <p:nvSpPr>
          <p:cNvPr id="4" name="Slide Number Placeholder 3"/>
          <p:cNvSpPr>
            <a:spLocks noGrp="1"/>
          </p:cNvSpPr>
          <p:nvPr>
            <p:ph type="sldNum" sz="quarter" idx="12"/>
          </p:nvPr>
        </p:nvSpPr>
        <p:spPr/>
        <p:txBody>
          <a:bodyPr/>
          <a:lstStyle/>
          <a:p>
            <a:fld id="{201E8034-3DAB-4A5E-A6E4-B790143C443B}" type="slidenum">
              <a:rPr lang="en-GB" altLang="en-US"/>
              <a:pPr/>
              <a:t>32</a:t>
            </a:fld>
            <a:endParaRPr lang="en-GB" altLang="en-US"/>
          </a:p>
        </p:txBody>
      </p:sp>
    </p:spTree>
    <p:extLst>
      <p:ext uri="{BB962C8B-B14F-4D97-AF65-F5344CB8AC3E}">
        <p14:creationId xmlns:p14="http://schemas.microsoft.com/office/powerpoint/2010/main" val="2034709505"/>
      </p:ext>
    </p:extLst>
  </p:cSld>
  <p:clrMapOvr>
    <a:masterClrMapping/>
  </p:clrMapOvr>
  <p:transition>
    <p:wipe di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noFill/>
          <a:ln/>
        </p:spPr>
        <p:txBody>
          <a:bodyPr/>
          <a:lstStyle/>
          <a:p>
            <a:r>
              <a:rPr lang="en-US"/>
              <a:t>Locking-Based Algorithms</a:t>
            </a:r>
          </a:p>
        </p:txBody>
      </p:sp>
      <p:sp>
        <p:nvSpPr>
          <p:cNvPr id="70660" name="Rectangle 4"/>
          <p:cNvSpPr>
            <a:spLocks noGrp="1" noChangeArrowheads="1"/>
          </p:cNvSpPr>
          <p:nvPr>
            <p:ph idx="1"/>
          </p:nvPr>
        </p:nvSpPr>
        <p:spPr>
          <a:noFill/>
          <a:ln/>
        </p:spPr>
        <p:txBody>
          <a:bodyPr/>
          <a:lstStyle/>
          <a:p>
            <a:pPr algn="just"/>
            <a:r>
              <a:rPr lang="en-US" sz="1800" dirty="0"/>
              <a:t>Transactions indicate their intentions by requesting locks from the scheduler (called </a:t>
            </a:r>
            <a:r>
              <a:rPr lang="en-US" sz="1800" dirty="0">
                <a:solidFill>
                  <a:srgbClr val="FF0000"/>
                </a:solidFill>
              </a:rPr>
              <a:t>lock manager</a:t>
            </a:r>
            <a:r>
              <a:rPr lang="en-US" sz="1800" dirty="0"/>
              <a:t>).</a:t>
            </a:r>
          </a:p>
          <a:p>
            <a:pPr algn="just"/>
            <a:r>
              <a:rPr lang="en-US" sz="1800" dirty="0"/>
              <a:t>Locks are either </a:t>
            </a:r>
            <a:r>
              <a:rPr lang="en-US" sz="1800" dirty="0">
                <a:solidFill>
                  <a:srgbClr val="FF0000"/>
                </a:solidFill>
              </a:rPr>
              <a:t>read lock</a:t>
            </a:r>
            <a:r>
              <a:rPr lang="en-US" sz="1800" dirty="0"/>
              <a:t> (</a:t>
            </a:r>
            <a:r>
              <a:rPr lang="en-US" sz="1800" i="1" dirty="0" err="1"/>
              <a:t>rl</a:t>
            </a:r>
            <a:r>
              <a:rPr lang="en-US" sz="1800" dirty="0"/>
              <a:t>) [also called </a:t>
            </a:r>
            <a:r>
              <a:rPr lang="en-US" sz="1800" dirty="0">
                <a:solidFill>
                  <a:srgbClr val="FF0000"/>
                </a:solidFill>
              </a:rPr>
              <a:t>shared lock</a:t>
            </a:r>
            <a:r>
              <a:rPr lang="en-US" sz="1800" dirty="0"/>
              <a:t>] or </a:t>
            </a:r>
            <a:r>
              <a:rPr lang="en-US" sz="1800" dirty="0">
                <a:solidFill>
                  <a:srgbClr val="FF0000"/>
                </a:solidFill>
              </a:rPr>
              <a:t>write lock</a:t>
            </a:r>
            <a:r>
              <a:rPr lang="en-US" sz="1800" dirty="0"/>
              <a:t> (</a:t>
            </a:r>
            <a:r>
              <a:rPr lang="en-US" sz="1800" i="1" dirty="0" err="1"/>
              <a:t>wl</a:t>
            </a:r>
            <a:r>
              <a:rPr lang="en-US" sz="1800" dirty="0"/>
              <a:t>) [also called </a:t>
            </a:r>
            <a:r>
              <a:rPr lang="en-US" sz="1800" dirty="0">
                <a:solidFill>
                  <a:srgbClr val="FF0000"/>
                </a:solidFill>
              </a:rPr>
              <a:t>exclusive lock</a:t>
            </a:r>
            <a:r>
              <a:rPr lang="en-US" sz="1800" dirty="0"/>
              <a:t>]</a:t>
            </a:r>
          </a:p>
          <a:p>
            <a:pPr algn="just"/>
            <a:r>
              <a:rPr lang="en-US" sz="1800" dirty="0"/>
              <a:t>Read locks and write locks conflict (because Read and Write operations are incompatible</a:t>
            </a:r>
          </a:p>
          <a:p>
            <a:pPr algn="just">
              <a:buFont typeface="Monotype Sorts" charset="2"/>
              <a:buNone/>
            </a:pPr>
            <a:r>
              <a:rPr lang="en-US" sz="1800" dirty="0"/>
              <a:t>			</a:t>
            </a:r>
            <a:r>
              <a:rPr lang="en-US" sz="1800" b="1" dirty="0"/>
              <a:t>   </a:t>
            </a:r>
            <a:r>
              <a:rPr lang="en-US" sz="1800" b="1" i="1" dirty="0" err="1"/>
              <a:t>rl</a:t>
            </a:r>
            <a:r>
              <a:rPr lang="en-US" sz="1800" b="1" dirty="0"/>
              <a:t>	 </a:t>
            </a:r>
            <a:r>
              <a:rPr lang="en-US" sz="1800" b="1" i="1" dirty="0" err="1"/>
              <a:t>wl</a:t>
            </a:r>
            <a:endParaRPr lang="en-US" sz="1800" b="1" i="1" dirty="0"/>
          </a:p>
          <a:p>
            <a:pPr algn="just">
              <a:buFont typeface="Monotype Sorts" charset="2"/>
              <a:buNone/>
            </a:pPr>
            <a:r>
              <a:rPr lang="en-US" sz="1800" b="1" dirty="0"/>
              <a:t>		</a:t>
            </a:r>
            <a:r>
              <a:rPr lang="en-US" sz="1800" b="1" i="1" dirty="0" err="1"/>
              <a:t>rl</a:t>
            </a:r>
            <a:r>
              <a:rPr lang="en-US" sz="1800" b="1" dirty="0"/>
              <a:t>	 yes	no</a:t>
            </a:r>
          </a:p>
          <a:p>
            <a:pPr algn="just">
              <a:buFont typeface="Monotype Sorts" charset="2"/>
              <a:buNone/>
            </a:pPr>
            <a:r>
              <a:rPr lang="en-US" sz="1800" b="1" dirty="0"/>
              <a:t>		</a:t>
            </a:r>
            <a:r>
              <a:rPr lang="en-US" sz="1800" b="1" i="1" dirty="0" err="1"/>
              <a:t>wl</a:t>
            </a:r>
            <a:r>
              <a:rPr lang="en-US" sz="1800" b="1" dirty="0"/>
              <a:t>	 no	no</a:t>
            </a:r>
          </a:p>
          <a:p>
            <a:pPr algn="just"/>
            <a:r>
              <a:rPr lang="en-US" sz="1800" b="1" dirty="0"/>
              <a:t>Locking works nicely to </a:t>
            </a:r>
            <a:r>
              <a:rPr lang="en-US" sz="1800" dirty="0"/>
              <a:t>allow concurrent processing of transactions.</a:t>
            </a:r>
          </a:p>
        </p:txBody>
      </p:sp>
      <p:sp>
        <p:nvSpPr>
          <p:cNvPr id="70659" name="Rectangle 3"/>
          <p:cNvSpPr>
            <a:spLocks noChangeArrowheads="1"/>
          </p:cNvSpPr>
          <p:nvPr/>
        </p:nvSpPr>
        <p:spPr bwMode="auto">
          <a:xfrm>
            <a:off x="1485900" y="1574800"/>
            <a:ext cx="6667500" cy="381000"/>
          </a:xfrm>
          <a:prstGeom prst="rect">
            <a:avLst/>
          </a:prstGeom>
          <a:noFill/>
          <a:ln w="12700">
            <a:no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mc:AlternateContent xmlns:mc="http://schemas.openxmlformats.org/markup-compatibility/2006">
        <mc:Choice xmlns:p14="http://schemas.microsoft.com/office/powerpoint/2010/main" Requires="p14">
          <p:contentPart p14:bwMode="auto" r:id="rId3">
            <p14:nvContentPartPr>
              <p14:cNvPr id="2" name="Ink 1"/>
              <p14:cNvContentPartPr/>
              <p14:nvPr/>
            </p14:nvContentPartPr>
            <p14:xfrm>
              <a:off x="1185120" y="3372480"/>
              <a:ext cx="3175560" cy="2088720"/>
            </p14:xfrm>
          </p:contentPart>
        </mc:Choice>
        <mc:Fallback>
          <p:pic>
            <p:nvPicPr>
              <p:cNvPr id="2" name="Ink 1"/>
              <p:cNvPicPr/>
              <p:nvPr/>
            </p:nvPicPr>
            <p:blipFill>
              <a:blip r:embed="rId4"/>
              <a:stretch>
                <a:fillRect/>
              </a:stretch>
            </p:blipFill>
            <p:spPr>
              <a:xfrm>
                <a:off x="1175760" y="3363120"/>
                <a:ext cx="3194280" cy="2107440"/>
              </a:xfrm>
              <a:prstGeom prst="rect">
                <a:avLst/>
              </a:prstGeom>
            </p:spPr>
          </p:pic>
        </mc:Fallback>
      </mc:AlternateContent>
    </p:spTree>
    <p:extLst>
      <p:ext uri="{BB962C8B-B14F-4D97-AF65-F5344CB8AC3E}">
        <p14:creationId xmlns:p14="http://schemas.microsoft.com/office/powerpoint/2010/main" val="12985604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noFill/>
          <a:ln/>
        </p:spPr>
        <p:txBody>
          <a:bodyPr/>
          <a:lstStyle/>
          <a:p>
            <a:r>
              <a:rPr lang="en-US"/>
              <a:t>Strict 2PL</a:t>
            </a:r>
          </a:p>
        </p:txBody>
      </p:sp>
      <p:sp>
        <p:nvSpPr>
          <p:cNvPr id="74756" name="Rectangle 4"/>
          <p:cNvSpPr>
            <a:spLocks noChangeArrowheads="1"/>
          </p:cNvSpPr>
          <p:nvPr/>
        </p:nvSpPr>
        <p:spPr bwMode="auto">
          <a:xfrm>
            <a:off x="1435100" y="1983722"/>
            <a:ext cx="6743700" cy="387670"/>
          </a:xfrm>
          <a:prstGeom prst="rect">
            <a:avLst/>
          </a:prstGeom>
          <a:noFill/>
          <a:ln w="12700">
            <a:noFill/>
            <a:miter lim="800000"/>
            <a:headEnd/>
            <a:tailEnd/>
          </a:ln>
          <a:effectLst/>
        </p:spPr>
        <p:txBody>
          <a:bodyPr lIns="63499" tIns="25400" rIns="63499" bIns="25400">
            <a:prstTxWarp prst="textNoShape">
              <a:avLst/>
            </a:prstTxWarp>
            <a:spAutoFit/>
          </a:bodyPr>
          <a:lstStyle/>
          <a:p>
            <a:pPr marL="431778" indent="-431778">
              <a:lnSpc>
                <a:spcPct val="111000"/>
              </a:lnSpc>
              <a:spcBef>
                <a:spcPct val="55000"/>
              </a:spcBef>
              <a:tabLst>
                <a:tab pos="482575" algn="l"/>
                <a:tab pos="2743060" algn="l"/>
                <a:tab pos="3657413" algn="l"/>
              </a:tabLst>
            </a:pPr>
            <a:r>
              <a:rPr lang="en-US" sz="1969" dirty="0">
                <a:solidFill>
                  <a:schemeClr val="tx2"/>
                </a:solidFill>
                <a:latin typeface="Book Antiqua"/>
              </a:rPr>
              <a:t>Hold locks until the end.</a:t>
            </a:r>
          </a:p>
        </p:txBody>
      </p:sp>
      <p:sp>
        <p:nvSpPr>
          <p:cNvPr id="74758" name="Rectangle 6"/>
          <p:cNvSpPr>
            <a:spLocks noChangeArrowheads="1"/>
          </p:cNvSpPr>
          <p:nvPr/>
        </p:nvSpPr>
        <p:spPr bwMode="auto">
          <a:xfrm>
            <a:off x="5794825" y="3241918"/>
            <a:ext cx="1477966"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solidFill>
                  <a:srgbClr val="000000"/>
                </a:solidFill>
                <a:latin typeface="Book Antiqua"/>
              </a:rPr>
              <a:t>Obtain lock</a:t>
            </a:r>
          </a:p>
        </p:txBody>
      </p:sp>
      <p:sp>
        <p:nvSpPr>
          <p:cNvPr id="74759" name="Rectangle 7"/>
          <p:cNvSpPr>
            <a:spLocks noChangeArrowheads="1"/>
          </p:cNvSpPr>
          <p:nvPr/>
        </p:nvSpPr>
        <p:spPr bwMode="auto">
          <a:xfrm>
            <a:off x="5854009" y="3841993"/>
            <a:ext cx="1546895"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solidFill>
                  <a:srgbClr val="000000"/>
                </a:solidFill>
                <a:latin typeface="Book Antiqua"/>
              </a:rPr>
              <a:t>Release lock</a:t>
            </a:r>
          </a:p>
        </p:txBody>
      </p:sp>
      <p:sp>
        <p:nvSpPr>
          <p:cNvPr id="74761" name="Rectangle 9"/>
          <p:cNvSpPr>
            <a:spLocks noChangeArrowheads="1"/>
          </p:cNvSpPr>
          <p:nvPr/>
        </p:nvSpPr>
        <p:spPr bwMode="auto">
          <a:xfrm>
            <a:off x="2431630" y="4934193"/>
            <a:ext cx="977829"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solidFill>
                  <a:srgbClr val="000000"/>
                </a:solidFill>
                <a:latin typeface="Book Antiqua"/>
              </a:rPr>
              <a:t>BEGIN</a:t>
            </a:r>
          </a:p>
        </p:txBody>
      </p:sp>
      <p:sp>
        <p:nvSpPr>
          <p:cNvPr id="74762" name="Rectangle 10"/>
          <p:cNvSpPr>
            <a:spLocks noChangeArrowheads="1"/>
          </p:cNvSpPr>
          <p:nvPr/>
        </p:nvSpPr>
        <p:spPr bwMode="auto">
          <a:xfrm>
            <a:off x="5348745" y="4934193"/>
            <a:ext cx="742188"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solidFill>
                  <a:srgbClr val="000000"/>
                </a:solidFill>
                <a:latin typeface="Book Antiqua"/>
              </a:rPr>
              <a:t>END</a:t>
            </a:r>
          </a:p>
        </p:txBody>
      </p:sp>
      <p:sp>
        <p:nvSpPr>
          <p:cNvPr id="74763" name="Rectangle 11"/>
          <p:cNvSpPr>
            <a:spLocks noChangeArrowheads="1"/>
          </p:cNvSpPr>
          <p:nvPr/>
        </p:nvSpPr>
        <p:spPr bwMode="auto">
          <a:xfrm>
            <a:off x="6610161" y="4762743"/>
            <a:ext cx="1498805" cy="695829"/>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solidFill>
                  <a:srgbClr val="000000"/>
                </a:solidFill>
                <a:latin typeface="Book Antiqua"/>
              </a:rPr>
              <a:t>Transaction</a:t>
            </a:r>
          </a:p>
          <a:p>
            <a:r>
              <a:rPr lang="en-US" sz="1969" dirty="0">
                <a:solidFill>
                  <a:srgbClr val="000000"/>
                </a:solidFill>
                <a:latin typeface="Book Antiqua"/>
              </a:rPr>
              <a:t>duration</a:t>
            </a:r>
          </a:p>
        </p:txBody>
      </p:sp>
      <p:sp>
        <p:nvSpPr>
          <p:cNvPr id="74764" name="Rectangle 12"/>
          <p:cNvSpPr>
            <a:spLocks noChangeArrowheads="1"/>
          </p:cNvSpPr>
          <p:nvPr/>
        </p:nvSpPr>
        <p:spPr bwMode="auto">
          <a:xfrm>
            <a:off x="4030929" y="5302333"/>
            <a:ext cx="1232707" cy="998861"/>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solidFill>
                  <a:srgbClr val="000000"/>
                </a:solidFill>
                <a:latin typeface="Book Antiqua"/>
              </a:rPr>
              <a:t>period of</a:t>
            </a:r>
          </a:p>
          <a:p>
            <a:r>
              <a:rPr lang="en-US" sz="1969" dirty="0">
                <a:solidFill>
                  <a:srgbClr val="000000"/>
                </a:solidFill>
                <a:latin typeface="Book Antiqua"/>
              </a:rPr>
              <a:t>data item</a:t>
            </a:r>
          </a:p>
          <a:p>
            <a:r>
              <a:rPr lang="en-US" sz="1969" dirty="0">
                <a:solidFill>
                  <a:srgbClr val="000000"/>
                </a:solidFill>
                <a:latin typeface="Book Antiqua"/>
              </a:rPr>
              <a:t>use</a:t>
            </a:r>
          </a:p>
        </p:txBody>
      </p:sp>
      <p:sp>
        <p:nvSpPr>
          <p:cNvPr id="74770" name="Line 18"/>
          <p:cNvSpPr>
            <a:spLocks noChangeShapeType="1"/>
          </p:cNvSpPr>
          <p:nvPr/>
        </p:nvSpPr>
        <p:spPr bwMode="auto">
          <a:xfrm>
            <a:off x="3946525" y="2937118"/>
            <a:ext cx="0" cy="2000250"/>
          </a:xfrm>
          <a:prstGeom prst="line">
            <a:avLst/>
          </a:prstGeom>
          <a:noFill/>
          <a:ln w="12700">
            <a:solidFill>
              <a:schemeClr val="hlink"/>
            </a:solidFill>
            <a:prstDash val="dash"/>
            <a:round/>
            <a:headEnd/>
            <a:tailEnd/>
          </a:ln>
          <a:effectLst/>
        </p:spPr>
        <p:txBody>
          <a:bodyPr wrap="none" lIns="91439" tIns="45719" rIns="91439" bIns="45719" anchor="ctr">
            <a:prstTxWarp prst="textNoShape">
              <a:avLst/>
            </a:prstTxWarp>
          </a:bodyPr>
          <a:lstStyle/>
          <a:p>
            <a:endParaRPr lang="en-US" sz="1969" dirty="0">
              <a:latin typeface="Book Antiqua"/>
            </a:endParaRPr>
          </a:p>
        </p:txBody>
      </p:sp>
      <p:sp>
        <p:nvSpPr>
          <p:cNvPr id="74771" name="Line 19"/>
          <p:cNvSpPr>
            <a:spLocks noChangeShapeType="1"/>
          </p:cNvSpPr>
          <p:nvPr/>
        </p:nvSpPr>
        <p:spPr bwMode="auto">
          <a:xfrm>
            <a:off x="2482850" y="4937368"/>
            <a:ext cx="3816350" cy="0"/>
          </a:xfrm>
          <a:prstGeom prst="line">
            <a:avLst/>
          </a:prstGeom>
          <a:noFill/>
          <a:ln w="12700">
            <a:solidFill>
              <a:schemeClr val="tx1"/>
            </a:solidFill>
            <a:round/>
            <a:headEnd/>
            <a:tailEnd type="triangle" w="med" len="med"/>
          </a:ln>
          <a:effectLst/>
        </p:spPr>
        <p:txBody>
          <a:bodyPr wrap="none" lIns="91439" tIns="45719" rIns="91439" bIns="45719" anchor="ctr">
            <a:prstTxWarp prst="textNoShape">
              <a:avLst/>
            </a:prstTxWarp>
          </a:bodyPr>
          <a:lstStyle/>
          <a:p>
            <a:endParaRPr lang="en-US" sz="1969" dirty="0">
              <a:latin typeface="Book Antiqua"/>
            </a:endParaRPr>
          </a:p>
        </p:txBody>
      </p:sp>
      <p:sp>
        <p:nvSpPr>
          <p:cNvPr id="74772" name="Line 20"/>
          <p:cNvSpPr>
            <a:spLocks noChangeShapeType="1"/>
          </p:cNvSpPr>
          <p:nvPr/>
        </p:nvSpPr>
        <p:spPr bwMode="auto">
          <a:xfrm flipV="1">
            <a:off x="2476500" y="2879968"/>
            <a:ext cx="0" cy="2057400"/>
          </a:xfrm>
          <a:prstGeom prst="line">
            <a:avLst/>
          </a:prstGeom>
          <a:noFill/>
          <a:ln w="12700">
            <a:solidFill>
              <a:schemeClr val="tx1"/>
            </a:solidFill>
            <a:round/>
            <a:headEnd/>
            <a:tailEnd type="triangle" w="med" len="med"/>
          </a:ln>
          <a:effectLst/>
        </p:spPr>
        <p:txBody>
          <a:bodyPr wrap="none" lIns="91439" tIns="45719" rIns="91439" bIns="45719" anchor="ctr">
            <a:prstTxWarp prst="textNoShape">
              <a:avLst/>
            </a:prstTxWarp>
          </a:bodyPr>
          <a:lstStyle/>
          <a:p>
            <a:endParaRPr lang="en-US" sz="1969" dirty="0">
              <a:latin typeface="Book Antiqua"/>
            </a:endParaRPr>
          </a:p>
        </p:txBody>
      </p:sp>
      <p:sp>
        <p:nvSpPr>
          <p:cNvPr id="74780" name="Line 28"/>
          <p:cNvSpPr>
            <a:spLocks noChangeShapeType="1"/>
          </p:cNvSpPr>
          <p:nvPr/>
        </p:nvSpPr>
        <p:spPr bwMode="auto">
          <a:xfrm>
            <a:off x="5343525" y="3089518"/>
            <a:ext cx="0" cy="1847850"/>
          </a:xfrm>
          <a:prstGeom prst="line">
            <a:avLst/>
          </a:prstGeom>
          <a:noFill/>
          <a:ln w="19050">
            <a:solidFill>
              <a:schemeClr val="tx2"/>
            </a:solidFill>
            <a:round/>
            <a:headEnd/>
            <a:tailEnd type="triangle" w="med" len="med"/>
          </a:ln>
          <a:effectLst/>
        </p:spPr>
        <p:txBody>
          <a:bodyPr wrap="none" lIns="91439" tIns="45719" rIns="91439" bIns="45719" anchor="ctr">
            <a:prstTxWarp prst="textNoShape">
              <a:avLst/>
            </a:prstTxWarp>
          </a:bodyPr>
          <a:lstStyle/>
          <a:p>
            <a:endParaRPr lang="en-US" sz="1969" dirty="0">
              <a:latin typeface="Book Antiqua"/>
            </a:endParaRPr>
          </a:p>
        </p:txBody>
      </p:sp>
      <p:sp>
        <p:nvSpPr>
          <p:cNvPr id="74783" name="Line 31"/>
          <p:cNvSpPr>
            <a:spLocks noChangeShapeType="1"/>
          </p:cNvSpPr>
          <p:nvPr/>
        </p:nvSpPr>
        <p:spPr bwMode="auto">
          <a:xfrm>
            <a:off x="2592388" y="4472231"/>
            <a:ext cx="444500" cy="0"/>
          </a:xfrm>
          <a:prstGeom prst="line">
            <a:avLst/>
          </a:prstGeom>
          <a:noFill/>
          <a:ln w="19050">
            <a:solidFill>
              <a:schemeClr val="tx2"/>
            </a:solidFill>
            <a:round/>
            <a:headEnd w="lg" len="lg"/>
            <a:tailEnd w="lg" len="lg"/>
          </a:ln>
          <a:effectLst/>
        </p:spPr>
        <p:txBody>
          <a:bodyPr wrap="none" anchor="ctr">
            <a:prstTxWarp prst="textNoShape">
              <a:avLst/>
            </a:prstTxWarp>
          </a:bodyPr>
          <a:lstStyle/>
          <a:p>
            <a:endParaRPr lang="en-US" sz="1969" dirty="0">
              <a:latin typeface="Book Antiqua"/>
            </a:endParaRPr>
          </a:p>
        </p:txBody>
      </p:sp>
      <p:sp>
        <p:nvSpPr>
          <p:cNvPr id="74784" name="Line 32"/>
          <p:cNvSpPr>
            <a:spLocks noChangeShapeType="1"/>
          </p:cNvSpPr>
          <p:nvPr/>
        </p:nvSpPr>
        <p:spPr bwMode="auto">
          <a:xfrm>
            <a:off x="3049588" y="4015031"/>
            <a:ext cx="444500" cy="0"/>
          </a:xfrm>
          <a:prstGeom prst="line">
            <a:avLst/>
          </a:prstGeom>
          <a:noFill/>
          <a:ln w="19050">
            <a:solidFill>
              <a:schemeClr val="tx2"/>
            </a:solidFill>
            <a:round/>
            <a:headEnd w="lg" len="lg"/>
            <a:tailEnd w="lg" len="lg"/>
          </a:ln>
          <a:effectLst/>
        </p:spPr>
        <p:txBody>
          <a:bodyPr wrap="none" anchor="ctr">
            <a:prstTxWarp prst="textNoShape">
              <a:avLst/>
            </a:prstTxWarp>
          </a:bodyPr>
          <a:lstStyle/>
          <a:p>
            <a:endParaRPr lang="en-US" sz="1969" dirty="0">
              <a:latin typeface="Book Antiqua"/>
            </a:endParaRPr>
          </a:p>
        </p:txBody>
      </p:sp>
      <p:sp>
        <p:nvSpPr>
          <p:cNvPr id="74785" name="Line 33"/>
          <p:cNvSpPr>
            <a:spLocks noChangeShapeType="1"/>
          </p:cNvSpPr>
          <p:nvPr/>
        </p:nvSpPr>
        <p:spPr bwMode="auto">
          <a:xfrm>
            <a:off x="3506788" y="3557831"/>
            <a:ext cx="444500" cy="0"/>
          </a:xfrm>
          <a:prstGeom prst="line">
            <a:avLst/>
          </a:prstGeom>
          <a:noFill/>
          <a:ln w="19050">
            <a:solidFill>
              <a:schemeClr val="tx2"/>
            </a:solidFill>
            <a:round/>
            <a:headEnd w="lg" len="lg"/>
            <a:tailEnd w="lg" len="lg"/>
          </a:ln>
          <a:effectLst/>
        </p:spPr>
        <p:txBody>
          <a:bodyPr wrap="none" anchor="ctr">
            <a:prstTxWarp prst="textNoShape">
              <a:avLst/>
            </a:prstTxWarp>
          </a:bodyPr>
          <a:lstStyle/>
          <a:p>
            <a:endParaRPr lang="en-US" sz="1969" dirty="0">
              <a:latin typeface="Book Antiqua"/>
            </a:endParaRPr>
          </a:p>
        </p:txBody>
      </p:sp>
      <p:sp>
        <p:nvSpPr>
          <p:cNvPr id="74786" name="Line 34"/>
          <p:cNvSpPr>
            <a:spLocks noChangeShapeType="1"/>
          </p:cNvSpPr>
          <p:nvPr/>
        </p:nvSpPr>
        <p:spPr bwMode="auto">
          <a:xfrm flipV="1">
            <a:off x="3951288" y="3100631"/>
            <a:ext cx="0" cy="457200"/>
          </a:xfrm>
          <a:prstGeom prst="line">
            <a:avLst/>
          </a:prstGeom>
          <a:noFill/>
          <a:ln w="19050">
            <a:solidFill>
              <a:schemeClr val="tx2"/>
            </a:solidFill>
            <a:round/>
            <a:headEnd w="lg" len="lg"/>
            <a:tailEnd type="triangle" w="lg" len="lg"/>
          </a:ln>
          <a:effectLst/>
        </p:spPr>
        <p:txBody>
          <a:bodyPr wrap="none" anchor="ctr">
            <a:prstTxWarp prst="textNoShape">
              <a:avLst/>
            </a:prstTxWarp>
          </a:bodyPr>
          <a:lstStyle/>
          <a:p>
            <a:endParaRPr lang="en-US" sz="1969" dirty="0">
              <a:latin typeface="Book Antiqua"/>
            </a:endParaRPr>
          </a:p>
        </p:txBody>
      </p:sp>
      <p:sp>
        <p:nvSpPr>
          <p:cNvPr id="74787" name="Line 35"/>
          <p:cNvSpPr>
            <a:spLocks noChangeShapeType="1"/>
          </p:cNvSpPr>
          <p:nvPr/>
        </p:nvSpPr>
        <p:spPr bwMode="auto">
          <a:xfrm flipV="1">
            <a:off x="3505200" y="3556244"/>
            <a:ext cx="0" cy="457200"/>
          </a:xfrm>
          <a:prstGeom prst="line">
            <a:avLst/>
          </a:prstGeom>
          <a:noFill/>
          <a:ln w="19050">
            <a:solidFill>
              <a:schemeClr val="tx2"/>
            </a:solidFill>
            <a:round/>
            <a:headEnd w="lg" len="lg"/>
            <a:tailEnd type="triangle" w="lg" len="lg"/>
          </a:ln>
          <a:effectLst/>
        </p:spPr>
        <p:txBody>
          <a:bodyPr wrap="none" anchor="ctr">
            <a:prstTxWarp prst="textNoShape">
              <a:avLst/>
            </a:prstTxWarp>
          </a:bodyPr>
          <a:lstStyle/>
          <a:p>
            <a:endParaRPr lang="en-US" sz="1969" dirty="0">
              <a:latin typeface="Book Antiqua"/>
            </a:endParaRPr>
          </a:p>
        </p:txBody>
      </p:sp>
      <p:sp>
        <p:nvSpPr>
          <p:cNvPr id="74788" name="Line 36"/>
          <p:cNvSpPr>
            <a:spLocks noChangeShapeType="1"/>
          </p:cNvSpPr>
          <p:nvPr/>
        </p:nvSpPr>
        <p:spPr bwMode="auto">
          <a:xfrm flipV="1">
            <a:off x="2590800" y="4461119"/>
            <a:ext cx="0" cy="457200"/>
          </a:xfrm>
          <a:prstGeom prst="line">
            <a:avLst/>
          </a:prstGeom>
          <a:noFill/>
          <a:ln w="19050">
            <a:solidFill>
              <a:schemeClr val="tx2"/>
            </a:solidFill>
            <a:round/>
            <a:headEnd w="lg" len="lg"/>
            <a:tailEnd type="triangle" w="lg" len="lg"/>
          </a:ln>
          <a:effectLst/>
        </p:spPr>
        <p:txBody>
          <a:bodyPr wrap="none" anchor="ctr">
            <a:prstTxWarp prst="textNoShape">
              <a:avLst/>
            </a:prstTxWarp>
          </a:bodyPr>
          <a:lstStyle/>
          <a:p>
            <a:endParaRPr lang="en-US" sz="1969" dirty="0">
              <a:latin typeface="Book Antiqua"/>
            </a:endParaRPr>
          </a:p>
        </p:txBody>
      </p:sp>
      <p:sp>
        <p:nvSpPr>
          <p:cNvPr id="74789" name="Line 37"/>
          <p:cNvSpPr>
            <a:spLocks noChangeShapeType="1"/>
          </p:cNvSpPr>
          <p:nvPr/>
        </p:nvSpPr>
        <p:spPr bwMode="auto">
          <a:xfrm flipV="1">
            <a:off x="3048000" y="4015031"/>
            <a:ext cx="0" cy="457200"/>
          </a:xfrm>
          <a:prstGeom prst="line">
            <a:avLst/>
          </a:prstGeom>
          <a:noFill/>
          <a:ln w="19050">
            <a:solidFill>
              <a:schemeClr val="tx2"/>
            </a:solidFill>
            <a:round/>
            <a:headEnd w="lg" len="lg"/>
            <a:tailEnd type="triangle" w="lg" len="lg"/>
          </a:ln>
          <a:effectLst/>
        </p:spPr>
        <p:txBody>
          <a:bodyPr wrap="none" anchor="ctr">
            <a:prstTxWarp prst="textNoShape">
              <a:avLst/>
            </a:prstTxWarp>
          </a:bodyPr>
          <a:lstStyle/>
          <a:p>
            <a:endParaRPr lang="en-US" sz="1969" dirty="0">
              <a:latin typeface="Book Antiqua"/>
            </a:endParaRPr>
          </a:p>
        </p:txBody>
      </p:sp>
      <p:sp>
        <p:nvSpPr>
          <p:cNvPr id="74791" name="Line 39"/>
          <p:cNvSpPr>
            <a:spLocks noChangeShapeType="1"/>
          </p:cNvSpPr>
          <p:nvPr/>
        </p:nvSpPr>
        <p:spPr bwMode="auto">
          <a:xfrm>
            <a:off x="3951289" y="3089518"/>
            <a:ext cx="1389062" cy="0"/>
          </a:xfrm>
          <a:prstGeom prst="line">
            <a:avLst/>
          </a:prstGeom>
          <a:noFill/>
          <a:ln w="19050">
            <a:solidFill>
              <a:schemeClr val="tx2"/>
            </a:solidFill>
            <a:round/>
            <a:headEnd/>
            <a:tailEnd/>
          </a:ln>
          <a:effectLst/>
        </p:spPr>
        <p:txBody>
          <a:bodyPr wrap="none" lIns="91439" tIns="45719" rIns="91439" bIns="45719" anchor="ctr">
            <a:prstTxWarp prst="textNoShape">
              <a:avLst/>
            </a:prstTxWarp>
          </a:bodyPr>
          <a:lstStyle/>
          <a:p>
            <a:endParaRPr lang="en-US" sz="1969" dirty="0">
              <a:latin typeface="Book Antiqua"/>
            </a:endParaRPr>
          </a:p>
        </p:txBody>
      </p:sp>
      <p:sp>
        <p:nvSpPr>
          <p:cNvPr id="74792" name="Line 40"/>
          <p:cNvSpPr>
            <a:spLocks noChangeShapeType="1"/>
          </p:cNvSpPr>
          <p:nvPr/>
        </p:nvSpPr>
        <p:spPr bwMode="auto">
          <a:xfrm flipV="1">
            <a:off x="5791200" y="3165718"/>
            <a:ext cx="0" cy="457200"/>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74793" name="Line 41"/>
          <p:cNvSpPr>
            <a:spLocks noChangeShapeType="1"/>
          </p:cNvSpPr>
          <p:nvPr/>
        </p:nvSpPr>
        <p:spPr bwMode="auto">
          <a:xfrm>
            <a:off x="5791200" y="3775318"/>
            <a:ext cx="0" cy="457200"/>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31" name="Text Box 49"/>
          <p:cNvSpPr txBox="1">
            <a:spLocks noChangeArrowheads="1"/>
          </p:cNvSpPr>
          <p:nvPr/>
        </p:nvSpPr>
        <p:spPr bwMode="auto">
          <a:xfrm rot="-5400000">
            <a:off x="1380080" y="3634073"/>
            <a:ext cx="1513554" cy="395363"/>
          </a:xfrm>
          <a:prstGeom prst="rect">
            <a:avLst/>
          </a:prstGeom>
          <a:noFill/>
          <a:ln w="12700">
            <a:noFill/>
            <a:miter lim="800000"/>
            <a:headEnd/>
            <a:tailEnd/>
          </a:ln>
          <a:effectLst/>
        </p:spPr>
        <p:txBody>
          <a:bodyPr wrap="none" lIns="91439" tIns="45719" rIns="91439" bIns="45719">
            <a:prstTxWarp prst="textNoShape">
              <a:avLst/>
            </a:prstTxWarp>
            <a:spAutoFit/>
          </a:bodyPr>
          <a:lstStyle/>
          <a:p>
            <a:r>
              <a:rPr lang="en-US" sz="1969" dirty="0">
                <a:solidFill>
                  <a:schemeClr val="tx2"/>
                </a:solidFill>
                <a:latin typeface="Book Antiqua"/>
              </a:rPr>
              <a:t>No. of locks</a:t>
            </a:r>
          </a:p>
        </p:txBody>
      </p:sp>
      <p:sp>
        <p:nvSpPr>
          <p:cNvPr id="2" name="Right Brace 1"/>
          <p:cNvSpPr/>
          <p:nvPr/>
        </p:nvSpPr>
        <p:spPr bwMode="auto">
          <a:xfrm rot="5400000">
            <a:off x="4413001" y="4448720"/>
            <a:ext cx="409894" cy="1408292"/>
          </a:xfrm>
          <a:prstGeom prst="rightBrace">
            <a:avLst/>
          </a:prstGeom>
          <a:noFill/>
          <a:ln w="19050">
            <a:solidFill>
              <a:schemeClr val="tx2"/>
            </a:solidFill>
          </a:ln>
          <a:effectLst/>
          <a:extLst/>
        </p:spPr>
        <p:txBody>
          <a:bodyPr vert="horz" wrap="square" lIns="64294" tIns="32147" rIns="64294" bIns="32147" numCol="1" rtlCol="0" anchor="t" anchorCtr="0" compatLnSpc="1">
            <a:prstTxWarp prst="textNoShape">
              <a:avLst/>
            </a:prstTxWarp>
          </a:bodyPr>
          <a:lstStyle/>
          <a:p>
            <a:pPr algn="ctr" defTabSz="642915" eaLnBrk="1" hangingPunct="1"/>
            <a:endParaRPr lang="en-US" sz="2109" dirty="0">
              <a:solidFill>
                <a:srgbClr val="263750"/>
              </a:solidFill>
              <a:latin typeface="Book Antiqua"/>
              <a:ea typeface="ヒラギノ明朝 ProN W3" charset="0"/>
              <a:cs typeface="ヒラギノ明朝 ProN W3" charset="0"/>
              <a:sym typeface="Palatino" charset="0"/>
            </a:endParaRPr>
          </a:p>
        </p:txBody>
      </p:sp>
    </p:spTree>
    <p:extLst>
      <p:ext uri="{BB962C8B-B14F-4D97-AF65-F5344CB8AC3E}">
        <p14:creationId xmlns:p14="http://schemas.microsoft.com/office/powerpoint/2010/main" val="17366675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noFill/>
          <a:ln/>
        </p:spPr>
        <p:txBody>
          <a:bodyPr/>
          <a:lstStyle/>
          <a:p>
            <a:r>
              <a:rPr lang="en-US"/>
              <a:t>Centralized 2PL</a:t>
            </a:r>
          </a:p>
        </p:txBody>
      </p:sp>
      <p:sp>
        <p:nvSpPr>
          <p:cNvPr id="76803" name="Rectangle 3"/>
          <p:cNvSpPr>
            <a:spLocks noGrp="1" noChangeArrowheads="1"/>
          </p:cNvSpPr>
          <p:nvPr>
            <p:ph idx="1"/>
          </p:nvPr>
        </p:nvSpPr>
        <p:spPr>
          <a:xfrm>
            <a:off x="945062" y="2433007"/>
            <a:ext cx="6479177" cy="534193"/>
          </a:xfrm>
          <a:noFill/>
          <a:ln/>
        </p:spPr>
        <p:txBody>
          <a:bodyPr/>
          <a:lstStyle/>
          <a:p>
            <a:r>
              <a:rPr lang="en-US" sz="1600" dirty="0"/>
              <a:t>There is only one 2PL scheduler in the distributed system.</a:t>
            </a:r>
          </a:p>
          <a:p>
            <a:r>
              <a:rPr lang="en-US" sz="1600" dirty="0"/>
              <a:t>Lock requests are issued to the central scheduler.</a:t>
            </a:r>
          </a:p>
        </p:txBody>
      </p:sp>
      <p:sp>
        <p:nvSpPr>
          <p:cNvPr id="76804" name="Rectangle 4"/>
          <p:cNvSpPr>
            <a:spLocks noChangeArrowheads="1"/>
          </p:cNvSpPr>
          <p:nvPr/>
        </p:nvSpPr>
        <p:spPr bwMode="auto">
          <a:xfrm>
            <a:off x="457200" y="3293741"/>
            <a:ext cx="2822549" cy="695829"/>
          </a:xfrm>
          <a:prstGeom prst="rect">
            <a:avLst/>
          </a:prstGeom>
          <a:noFill/>
          <a:ln w="12700">
            <a:noFill/>
            <a:miter lim="800000"/>
            <a:headEnd/>
            <a:tailEnd/>
          </a:ln>
          <a:effectLst/>
        </p:spPr>
        <p:txBody>
          <a:bodyPr wrap="square" lIns="90486" tIns="44449" rIns="90486" bIns="44449">
            <a:prstTxWarp prst="textNoShape">
              <a:avLst/>
            </a:prstTxWarp>
            <a:spAutoFit/>
          </a:bodyPr>
          <a:lstStyle/>
          <a:p>
            <a:pPr algn="ctr"/>
            <a:r>
              <a:rPr lang="en-US" sz="1969" dirty="0">
                <a:latin typeface="Book Antiqua"/>
              </a:rPr>
              <a:t>Data Processors at </a:t>
            </a:r>
          </a:p>
          <a:p>
            <a:pPr algn="ctr"/>
            <a:r>
              <a:rPr lang="en-US" sz="1969" u="sng" dirty="0">
                <a:latin typeface="Book Antiqua"/>
              </a:rPr>
              <a:t>  participating sites </a:t>
            </a:r>
          </a:p>
        </p:txBody>
      </p:sp>
      <p:sp>
        <p:nvSpPr>
          <p:cNvPr id="76805" name="Rectangle 5"/>
          <p:cNvSpPr>
            <a:spLocks noChangeArrowheads="1"/>
          </p:cNvSpPr>
          <p:nvPr/>
        </p:nvSpPr>
        <p:spPr bwMode="auto">
          <a:xfrm>
            <a:off x="3279749" y="3338268"/>
            <a:ext cx="2140006"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pPr algn="ctr"/>
            <a:r>
              <a:rPr lang="en-US" sz="1969" u="sng" dirty="0">
                <a:latin typeface="Book Antiqua"/>
              </a:rPr>
              <a:t>Coordinating TM</a:t>
            </a:r>
          </a:p>
        </p:txBody>
      </p:sp>
      <p:sp>
        <p:nvSpPr>
          <p:cNvPr id="76806" name="Rectangle 6"/>
          <p:cNvSpPr>
            <a:spLocks noChangeArrowheads="1"/>
          </p:cNvSpPr>
          <p:nvPr/>
        </p:nvSpPr>
        <p:spPr bwMode="auto">
          <a:xfrm>
            <a:off x="6266457" y="3346981"/>
            <a:ext cx="1938028"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pPr algn="ctr"/>
            <a:r>
              <a:rPr lang="en-US" sz="1969" u="sng" dirty="0">
                <a:latin typeface="Book Antiqua"/>
              </a:rPr>
              <a:t>Central Site LM</a:t>
            </a:r>
          </a:p>
        </p:txBody>
      </p:sp>
      <p:pic>
        <p:nvPicPr>
          <p:cNvPr id="76807" name="Picture 7"/>
          <p:cNvPicPr>
            <a:picLocks noChangeArrowheads="1"/>
          </p:cNvPicPr>
          <p:nvPr/>
        </p:nvPicPr>
        <p:blipFill>
          <a:blip r:embed="rId3"/>
          <a:srcRect/>
          <a:stretch>
            <a:fillRect/>
          </a:stretch>
        </p:blipFill>
        <p:spPr bwMode="auto">
          <a:xfrm>
            <a:off x="3987801" y="5484728"/>
            <a:ext cx="393700" cy="342900"/>
          </a:xfrm>
          <a:prstGeom prst="rect">
            <a:avLst/>
          </a:prstGeom>
          <a:noFill/>
          <a:ln w="127000">
            <a:noFill/>
            <a:miter lim="800000"/>
            <a:headEnd/>
            <a:tailEnd/>
          </a:ln>
          <a:effectLst/>
        </p:spPr>
      </p:pic>
      <p:sp>
        <p:nvSpPr>
          <p:cNvPr id="76808" name="Line 8"/>
          <p:cNvSpPr>
            <a:spLocks noChangeShapeType="1"/>
          </p:cNvSpPr>
          <p:nvPr/>
        </p:nvSpPr>
        <p:spPr bwMode="auto">
          <a:xfrm>
            <a:off x="4893971" y="3945096"/>
            <a:ext cx="1211749" cy="460718"/>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76809" name="Line 9"/>
          <p:cNvSpPr>
            <a:spLocks noChangeShapeType="1"/>
          </p:cNvSpPr>
          <p:nvPr/>
        </p:nvSpPr>
        <p:spPr bwMode="auto">
          <a:xfrm flipH="1">
            <a:off x="4788096" y="4854104"/>
            <a:ext cx="1264974" cy="226470"/>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76810" name="Line 10"/>
          <p:cNvSpPr>
            <a:spLocks noChangeShapeType="1"/>
          </p:cNvSpPr>
          <p:nvPr/>
        </p:nvSpPr>
        <p:spPr bwMode="auto">
          <a:xfrm flipH="1">
            <a:off x="3279749" y="5129128"/>
            <a:ext cx="1298870" cy="267988"/>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76811" name="Line 11"/>
          <p:cNvSpPr>
            <a:spLocks noChangeShapeType="1"/>
          </p:cNvSpPr>
          <p:nvPr/>
        </p:nvSpPr>
        <p:spPr bwMode="auto">
          <a:xfrm>
            <a:off x="3432177" y="5620029"/>
            <a:ext cx="1835150" cy="355600"/>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76812" name="Line 12"/>
          <p:cNvSpPr>
            <a:spLocks noChangeShapeType="1"/>
          </p:cNvSpPr>
          <p:nvPr/>
        </p:nvSpPr>
        <p:spPr bwMode="auto">
          <a:xfrm>
            <a:off x="5565822" y="6156400"/>
            <a:ext cx="1556342" cy="329652"/>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76813" name="Rectangle 13"/>
          <p:cNvSpPr>
            <a:spLocks noChangeArrowheads="1"/>
          </p:cNvSpPr>
          <p:nvPr/>
        </p:nvSpPr>
        <p:spPr bwMode="auto">
          <a:xfrm rot="780000">
            <a:off x="4916601" y="3808972"/>
            <a:ext cx="1681548"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latin typeface="Book Antiqua"/>
              </a:rPr>
              <a:t>Lock Request</a:t>
            </a:r>
          </a:p>
        </p:txBody>
      </p:sp>
      <p:sp>
        <p:nvSpPr>
          <p:cNvPr id="76814" name="Rectangle 14"/>
          <p:cNvSpPr>
            <a:spLocks noChangeArrowheads="1"/>
          </p:cNvSpPr>
          <p:nvPr/>
        </p:nvSpPr>
        <p:spPr bwMode="auto">
          <a:xfrm rot="20940000">
            <a:off x="4563754" y="4485822"/>
            <a:ext cx="1712004"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latin typeface="Book Antiqua"/>
              </a:rPr>
              <a:t>Lock Granted</a:t>
            </a:r>
          </a:p>
        </p:txBody>
      </p:sp>
      <p:sp>
        <p:nvSpPr>
          <p:cNvPr id="76815" name="Rectangle 15"/>
          <p:cNvSpPr>
            <a:spLocks noChangeArrowheads="1"/>
          </p:cNvSpPr>
          <p:nvPr/>
        </p:nvSpPr>
        <p:spPr bwMode="auto">
          <a:xfrm rot="20880000">
            <a:off x="2921105" y="4884174"/>
            <a:ext cx="1320871"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solidFill>
                  <a:schemeClr val="tx2"/>
                </a:solidFill>
                <a:latin typeface="Book Antiqua"/>
              </a:rPr>
              <a:t>Operation</a:t>
            </a:r>
          </a:p>
        </p:txBody>
      </p:sp>
      <p:sp>
        <p:nvSpPr>
          <p:cNvPr id="76816" name="Rectangle 16"/>
          <p:cNvSpPr>
            <a:spLocks noChangeArrowheads="1"/>
          </p:cNvSpPr>
          <p:nvPr/>
        </p:nvSpPr>
        <p:spPr bwMode="auto">
          <a:xfrm rot="660000">
            <a:off x="3020866" y="5813300"/>
            <a:ext cx="2122373"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solidFill>
                  <a:schemeClr val="tx2"/>
                </a:solidFill>
                <a:latin typeface="Book Antiqua"/>
              </a:rPr>
              <a:t>End of Operation</a:t>
            </a:r>
          </a:p>
        </p:txBody>
      </p:sp>
      <p:sp>
        <p:nvSpPr>
          <p:cNvPr id="76817" name="Rectangle 17"/>
          <p:cNvSpPr>
            <a:spLocks noChangeArrowheads="1"/>
          </p:cNvSpPr>
          <p:nvPr/>
        </p:nvSpPr>
        <p:spPr bwMode="auto">
          <a:xfrm rot="660000">
            <a:off x="3755662" y="6114622"/>
            <a:ext cx="3359891"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smtClean="0">
                <a:solidFill>
                  <a:srgbClr val="005C5C"/>
                </a:solidFill>
                <a:latin typeface="Book Antiqua"/>
              </a:rPr>
              <a:t>                          </a:t>
            </a:r>
            <a:r>
              <a:rPr lang="en-US" sz="1969" dirty="0" smtClean="0">
                <a:latin typeface="Book Antiqua"/>
              </a:rPr>
              <a:t>Release</a:t>
            </a:r>
            <a:r>
              <a:rPr lang="en-US" sz="1969" dirty="0" smtClean="0">
                <a:solidFill>
                  <a:srgbClr val="005C5C"/>
                </a:solidFill>
                <a:latin typeface="Book Antiqua"/>
              </a:rPr>
              <a:t> </a:t>
            </a:r>
            <a:r>
              <a:rPr lang="en-US" sz="1969" dirty="0">
                <a:latin typeface="Book Antiqua"/>
              </a:rPr>
              <a:t>Locks</a:t>
            </a:r>
          </a:p>
        </p:txBody>
      </p:sp>
    </p:spTree>
    <p:extLst>
      <p:ext uri="{BB962C8B-B14F-4D97-AF65-F5344CB8AC3E}">
        <p14:creationId xmlns:p14="http://schemas.microsoft.com/office/powerpoint/2010/main" val="582029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noFill/>
          <a:ln/>
        </p:spPr>
        <p:txBody>
          <a:bodyPr/>
          <a:lstStyle/>
          <a:p>
            <a:r>
              <a:rPr lang="en-US"/>
              <a:t>Distributed 2PL</a:t>
            </a:r>
          </a:p>
        </p:txBody>
      </p:sp>
      <p:sp>
        <p:nvSpPr>
          <p:cNvPr id="78852" name="Rectangle 4"/>
          <p:cNvSpPr>
            <a:spLocks noGrp="1" noChangeArrowheads="1"/>
          </p:cNvSpPr>
          <p:nvPr>
            <p:ph idx="1"/>
          </p:nvPr>
        </p:nvSpPr>
        <p:spPr>
          <a:xfrm>
            <a:off x="838202" y="2362202"/>
            <a:ext cx="7064828" cy="3724275"/>
          </a:xfrm>
          <a:noFill/>
          <a:ln/>
        </p:spPr>
        <p:txBody>
          <a:bodyPr/>
          <a:lstStyle/>
          <a:p>
            <a:pPr algn="just">
              <a:lnSpc>
                <a:spcPct val="100000"/>
              </a:lnSpc>
              <a:spcBef>
                <a:spcPct val="60000"/>
              </a:spcBef>
            </a:pPr>
            <a:r>
              <a:rPr lang="en-US" dirty="0"/>
              <a:t>2PL schedulers are placed at each site. Each scheduler handles lock requests for data at that site.</a:t>
            </a:r>
          </a:p>
          <a:p>
            <a:pPr algn="just">
              <a:lnSpc>
                <a:spcPct val="100000"/>
              </a:lnSpc>
              <a:spcBef>
                <a:spcPct val="60000"/>
              </a:spcBef>
            </a:pPr>
            <a:r>
              <a:rPr lang="en-US" dirty="0"/>
              <a:t>A transaction may read any of the replicated copies of item </a:t>
            </a:r>
            <a:r>
              <a:rPr lang="en-US" i="1" dirty="0"/>
              <a:t>x</a:t>
            </a:r>
            <a:r>
              <a:rPr lang="en-US" dirty="0"/>
              <a:t>, by obtaining a read lock on one of the copies of </a:t>
            </a:r>
            <a:r>
              <a:rPr lang="en-US" i="1" dirty="0"/>
              <a:t>x</a:t>
            </a:r>
            <a:r>
              <a:rPr lang="en-US" dirty="0"/>
              <a:t>. Writing into </a:t>
            </a:r>
            <a:r>
              <a:rPr lang="en-US" i="1" dirty="0"/>
              <a:t>x</a:t>
            </a:r>
            <a:r>
              <a:rPr lang="en-US" dirty="0"/>
              <a:t> requires obtaining write locks for all copies of </a:t>
            </a:r>
            <a:r>
              <a:rPr lang="en-US" i="1" dirty="0"/>
              <a:t>x</a:t>
            </a:r>
            <a:r>
              <a:rPr lang="en-US" dirty="0"/>
              <a:t>.</a:t>
            </a:r>
          </a:p>
        </p:txBody>
      </p:sp>
      <p:sp>
        <p:nvSpPr>
          <p:cNvPr id="78851" name="Rectangle 3"/>
          <p:cNvSpPr>
            <a:spLocks noChangeArrowheads="1"/>
          </p:cNvSpPr>
          <p:nvPr/>
        </p:nvSpPr>
        <p:spPr bwMode="auto">
          <a:xfrm>
            <a:off x="1485900" y="1574800"/>
            <a:ext cx="6667500" cy="381000"/>
          </a:xfrm>
          <a:prstGeom prst="rect">
            <a:avLst/>
          </a:prstGeom>
          <a:noFill/>
          <a:ln w="12700">
            <a:noFill/>
            <a:miter lim="800000"/>
            <a:headEnd/>
            <a:tailEnd/>
          </a:ln>
          <a:effectLst/>
        </p:spPr>
        <p:txBody>
          <a:bodyPr wrap="none" lIns="91439" tIns="45719" rIns="91439" bIns="45719" anchor="ctr">
            <a:prstTxWarp prst="textNoShape">
              <a:avLst/>
            </a:prstTxWarp>
          </a:bodyPr>
          <a:lstStyle/>
          <a:p>
            <a:endParaRPr lang="en-US" dirty="0">
              <a:latin typeface="Book Antiqua"/>
            </a:endParaRPr>
          </a:p>
        </p:txBody>
      </p:sp>
    </p:spTree>
    <p:extLst>
      <p:ext uri="{BB962C8B-B14F-4D97-AF65-F5344CB8AC3E}">
        <p14:creationId xmlns:p14="http://schemas.microsoft.com/office/powerpoint/2010/main" val="22672150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noFill/>
          <a:ln/>
        </p:spPr>
        <p:txBody>
          <a:bodyPr/>
          <a:lstStyle/>
          <a:p>
            <a:r>
              <a:rPr lang="en-US"/>
              <a:t>Distributed 2PL Execution</a:t>
            </a:r>
          </a:p>
        </p:txBody>
      </p:sp>
      <p:sp>
        <p:nvSpPr>
          <p:cNvPr id="80899" name="Rectangle 3"/>
          <p:cNvSpPr>
            <a:spLocks noChangeArrowheads="1"/>
          </p:cNvSpPr>
          <p:nvPr/>
        </p:nvSpPr>
        <p:spPr bwMode="auto">
          <a:xfrm>
            <a:off x="1326476" y="1651000"/>
            <a:ext cx="2140006"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u="sng" dirty="0">
                <a:solidFill>
                  <a:srgbClr val="000000"/>
                </a:solidFill>
                <a:latin typeface="Book Antiqua"/>
              </a:rPr>
              <a:t>Coordinating TM</a:t>
            </a:r>
          </a:p>
        </p:txBody>
      </p:sp>
      <p:sp>
        <p:nvSpPr>
          <p:cNvPr id="80900" name="Rectangle 4"/>
          <p:cNvSpPr>
            <a:spLocks noChangeArrowheads="1"/>
          </p:cNvSpPr>
          <p:nvPr/>
        </p:nvSpPr>
        <p:spPr bwMode="auto">
          <a:xfrm>
            <a:off x="3709549" y="1651000"/>
            <a:ext cx="2188096"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u="sng" dirty="0">
                <a:solidFill>
                  <a:srgbClr val="000000"/>
                </a:solidFill>
                <a:latin typeface="Book Antiqua"/>
              </a:rPr>
              <a:t>Participating LMs</a:t>
            </a:r>
          </a:p>
        </p:txBody>
      </p:sp>
      <p:sp>
        <p:nvSpPr>
          <p:cNvPr id="80901" name="Rectangle 5"/>
          <p:cNvSpPr>
            <a:spLocks noChangeArrowheads="1"/>
          </p:cNvSpPr>
          <p:nvPr/>
        </p:nvSpPr>
        <p:spPr bwMode="auto">
          <a:xfrm>
            <a:off x="6113464" y="1651000"/>
            <a:ext cx="2143212"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u="sng" dirty="0">
                <a:solidFill>
                  <a:srgbClr val="000000"/>
                </a:solidFill>
                <a:latin typeface="Book Antiqua"/>
              </a:rPr>
              <a:t>Participating DPs</a:t>
            </a:r>
          </a:p>
        </p:txBody>
      </p:sp>
      <p:pic>
        <p:nvPicPr>
          <p:cNvPr id="80902" name="Picture 6"/>
          <p:cNvPicPr>
            <a:picLocks noChangeArrowheads="1"/>
          </p:cNvPicPr>
          <p:nvPr/>
        </p:nvPicPr>
        <p:blipFill>
          <a:blip r:embed="rId3"/>
          <a:srcRect/>
          <a:stretch>
            <a:fillRect/>
          </a:stretch>
        </p:blipFill>
        <p:spPr bwMode="auto">
          <a:xfrm>
            <a:off x="2120900" y="4730750"/>
            <a:ext cx="393700" cy="330200"/>
          </a:xfrm>
          <a:prstGeom prst="rect">
            <a:avLst/>
          </a:prstGeom>
          <a:noFill/>
          <a:ln w="127000">
            <a:noFill/>
            <a:miter lim="800000"/>
            <a:headEnd/>
            <a:tailEnd/>
          </a:ln>
          <a:effectLst/>
        </p:spPr>
      </p:pic>
      <p:sp>
        <p:nvSpPr>
          <p:cNvPr id="80903" name="Line 7"/>
          <p:cNvSpPr>
            <a:spLocks noChangeShapeType="1"/>
          </p:cNvSpPr>
          <p:nvPr/>
        </p:nvSpPr>
        <p:spPr bwMode="auto">
          <a:xfrm>
            <a:off x="2349500" y="2559050"/>
            <a:ext cx="2501900" cy="673100"/>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80904" name="Line 8"/>
          <p:cNvSpPr>
            <a:spLocks noChangeShapeType="1"/>
          </p:cNvSpPr>
          <p:nvPr/>
        </p:nvSpPr>
        <p:spPr bwMode="auto">
          <a:xfrm>
            <a:off x="5016500" y="3282950"/>
            <a:ext cx="2063750" cy="539750"/>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80905" name="Line 9"/>
          <p:cNvSpPr>
            <a:spLocks noChangeShapeType="1"/>
          </p:cNvSpPr>
          <p:nvPr/>
        </p:nvSpPr>
        <p:spPr bwMode="auto">
          <a:xfrm flipH="1">
            <a:off x="2343150" y="3968751"/>
            <a:ext cx="4743450" cy="577850"/>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80906" name="Line 10"/>
          <p:cNvSpPr>
            <a:spLocks noChangeShapeType="1"/>
          </p:cNvSpPr>
          <p:nvPr/>
        </p:nvSpPr>
        <p:spPr bwMode="auto">
          <a:xfrm>
            <a:off x="2349500" y="5283200"/>
            <a:ext cx="2501900" cy="673100"/>
          </a:xfrm>
          <a:prstGeom prst="line">
            <a:avLst/>
          </a:prstGeom>
          <a:noFill/>
          <a:ln w="19050">
            <a:solidFill>
              <a:schemeClr val="tx2"/>
            </a:solidFill>
            <a:round/>
            <a:headEnd w="lg" len="lg"/>
            <a:tailEnd type="triangle" w="lg" len="lg"/>
          </a:ln>
          <a:effectLst/>
        </p:spPr>
        <p:txBody>
          <a:bodyPr wrap="none" lIns="91439" tIns="45719" rIns="91439" bIns="45719" anchor="ctr">
            <a:prstTxWarp prst="textNoShape">
              <a:avLst/>
            </a:prstTxWarp>
          </a:bodyPr>
          <a:lstStyle/>
          <a:p>
            <a:endParaRPr lang="en-US" sz="1969" dirty="0">
              <a:latin typeface="Book Antiqua"/>
            </a:endParaRPr>
          </a:p>
        </p:txBody>
      </p:sp>
      <p:sp>
        <p:nvSpPr>
          <p:cNvPr id="80907" name="Rectangle 11"/>
          <p:cNvSpPr>
            <a:spLocks noChangeArrowheads="1"/>
          </p:cNvSpPr>
          <p:nvPr/>
        </p:nvSpPr>
        <p:spPr bwMode="auto">
          <a:xfrm rot="840000">
            <a:off x="2715228" y="2496795"/>
            <a:ext cx="1681548"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latin typeface="Book Antiqua"/>
              </a:rPr>
              <a:t>Lock Request</a:t>
            </a:r>
          </a:p>
        </p:txBody>
      </p:sp>
      <p:sp>
        <p:nvSpPr>
          <p:cNvPr id="80908" name="Rectangle 12"/>
          <p:cNvSpPr>
            <a:spLocks noChangeArrowheads="1"/>
          </p:cNvSpPr>
          <p:nvPr/>
        </p:nvSpPr>
        <p:spPr bwMode="auto">
          <a:xfrm rot="840000">
            <a:off x="5365716" y="3163545"/>
            <a:ext cx="1320871"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solidFill>
                  <a:schemeClr val="tx2"/>
                </a:solidFill>
                <a:latin typeface="Book Antiqua"/>
              </a:rPr>
              <a:t>Operation</a:t>
            </a:r>
          </a:p>
        </p:txBody>
      </p:sp>
      <p:sp>
        <p:nvSpPr>
          <p:cNvPr id="80909" name="Rectangle 13"/>
          <p:cNvSpPr>
            <a:spLocks noChangeArrowheads="1"/>
          </p:cNvSpPr>
          <p:nvPr/>
        </p:nvSpPr>
        <p:spPr bwMode="auto">
          <a:xfrm rot="21240000">
            <a:off x="3383816" y="3944595"/>
            <a:ext cx="2122373"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solidFill>
                  <a:schemeClr val="tx2"/>
                </a:solidFill>
                <a:latin typeface="Book Antiqua"/>
              </a:rPr>
              <a:t>End of Operation</a:t>
            </a:r>
          </a:p>
        </p:txBody>
      </p:sp>
      <p:sp>
        <p:nvSpPr>
          <p:cNvPr id="80910" name="Rectangle 14"/>
          <p:cNvSpPr>
            <a:spLocks noChangeArrowheads="1"/>
          </p:cNvSpPr>
          <p:nvPr/>
        </p:nvSpPr>
        <p:spPr bwMode="auto">
          <a:xfrm rot="840000">
            <a:off x="2663378" y="5220945"/>
            <a:ext cx="1734446" cy="392798"/>
          </a:xfrm>
          <a:prstGeom prst="rect">
            <a:avLst/>
          </a:prstGeom>
          <a:noFill/>
          <a:ln w="12700">
            <a:noFill/>
            <a:miter lim="800000"/>
            <a:headEnd/>
            <a:tailEnd/>
          </a:ln>
          <a:effectLst/>
        </p:spPr>
        <p:txBody>
          <a:bodyPr wrap="none" lIns="90486" tIns="44449" rIns="90486" bIns="44449">
            <a:prstTxWarp prst="textNoShape">
              <a:avLst/>
            </a:prstTxWarp>
            <a:spAutoFit/>
          </a:bodyPr>
          <a:lstStyle/>
          <a:p>
            <a:r>
              <a:rPr lang="en-US" sz="1969" dirty="0">
                <a:latin typeface="Book Antiqua"/>
              </a:rPr>
              <a:t>Release Locks</a:t>
            </a:r>
          </a:p>
        </p:txBody>
      </p:sp>
    </p:spTree>
    <p:extLst>
      <p:ext uri="{BB962C8B-B14F-4D97-AF65-F5344CB8AC3E}">
        <p14:creationId xmlns:p14="http://schemas.microsoft.com/office/powerpoint/2010/main" val="9312751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Theme1">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85C8782E-8FD1-4DD5-B1D4-2219BDDE01B3}" vid="{796131F4-60EA-4B71-AF3A-7C794936D8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299</TotalTime>
  <Words>1135</Words>
  <Application>Microsoft Office PowerPoint</Application>
  <PresentationFormat>On-screen Show (4:3)</PresentationFormat>
  <Paragraphs>304</Paragraphs>
  <Slides>37</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Arial</vt:lpstr>
      <vt:lpstr>Book Antiqua</vt:lpstr>
      <vt:lpstr>Calibri</vt:lpstr>
      <vt:lpstr>Garamond</vt:lpstr>
      <vt:lpstr>Monotype Sorts</vt:lpstr>
      <vt:lpstr>Palatino</vt:lpstr>
      <vt:lpstr>Symbol</vt:lpstr>
      <vt:lpstr>Times New Roman</vt:lpstr>
      <vt:lpstr>Wingdings</vt:lpstr>
      <vt:lpstr>ヒラギノ明朝 ProN W3</vt:lpstr>
      <vt:lpstr>Theme1</vt:lpstr>
      <vt:lpstr>Parallel &amp; Distributed Computing Lecture 20: Concurrency Control </vt:lpstr>
      <vt:lpstr>Mutual exclusion </vt:lpstr>
      <vt:lpstr>Mutual exclusion in single computer system Vs. distributed system</vt:lpstr>
      <vt:lpstr>Mutual exclusion in single computer system Vs. distributed system</vt:lpstr>
      <vt:lpstr>Mutual exclusion in single computer system Vs. distributed system</vt:lpstr>
      <vt:lpstr>Mutual exclusion in single computer system Vs. distributed system</vt:lpstr>
      <vt:lpstr>Algorithms </vt:lpstr>
      <vt:lpstr>Mutual exclusion in single computer system Vs. distributed system</vt:lpstr>
      <vt:lpstr>Transaction Support</vt:lpstr>
      <vt:lpstr>Example Transaction</vt:lpstr>
      <vt:lpstr>Example Database</vt:lpstr>
      <vt:lpstr>Example Transaction – SQL Version</vt:lpstr>
      <vt:lpstr>Termination of Transactions</vt:lpstr>
      <vt:lpstr>Example Transaction – Reads &amp; Writes</vt:lpstr>
      <vt:lpstr>Transaction Support</vt:lpstr>
      <vt:lpstr>State Transition Diagram for Transaction </vt:lpstr>
      <vt:lpstr>Properties of Transactions </vt:lpstr>
      <vt:lpstr>DBMS Transaction Subsystem</vt:lpstr>
      <vt:lpstr>Architecture Revisited</vt:lpstr>
      <vt:lpstr>Centralized Transaction Execution</vt:lpstr>
      <vt:lpstr>Distributed Transaction Execution</vt:lpstr>
      <vt:lpstr>Concurrency Control  </vt:lpstr>
      <vt:lpstr>Need for Concurrency Control</vt:lpstr>
      <vt:lpstr>Lost Update Problem</vt:lpstr>
      <vt:lpstr>Lost Update Problem</vt:lpstr>
      <vt:lpstr>Lost Update Problem</vt:lpstr>
      <vt:lpstr>Uncommitted Dependency Problem</vt:lpstr>
      <vt:lpstr>Uncommitted Dependency Problem</vt:lpstr>
      <vt:lpstr>Concurrency Control</vt:lpstr>
      <vt:lpstr>Concurrency Control Techniques</vt:lpstr>
      <vt:lpstr>Locking</vt:lpstr>
      <vt:lpstr>Locking - Basic Rules</vt:lpstr>
      <vt:lpstr>Locking-Based Algorithms</vt:lpstr>
      <vt:lpstr>Strict 2PL</vt:lpstr>
      <vt:lpstr>Centralized 2PL</vt:lpstr>
      <vt:lpstr>Distributed 2PL</vt:lpstr>
      <vt:lpstr>Distributed 2PL Execution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Farhad Muhammad Riaz</dc:creator>
  <cp:lastModifiedBy>Moorche</cp:lastModifiedBy>
  <cp:revision>20</cp:revision>
  <dcterms:created xsi:type="dcterms:W3CDTF">2016-01-10T08:53:57Z</dcterms:created>
  <dcterms:modified xsi:type="dcterms:W3CDTF">2023-05-22T06:43:15Z</dcterms:modified>
</cp:coreProperties>
</file>