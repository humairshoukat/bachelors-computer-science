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 id="2147483679" r:id="rId2"/>
  </p:sldMasterIdLst>
  <p:notesMasterIdLst>
    <p:notesMasterId r:id="rId26"/>
  </p:notesMasterIdLst>
  <p:sldIdLst>
    <p:sldId id="338" r:id="rId3"/>
    <p:sldId id="336" r:id="rId4"/>
    <p:sldId id="337" r:id="rId5"/>
    <p:sldId id="331" r:id="rId6"/>
    <p:sldId id="332" r:id="rId7"/>
    <p:sldId id="333" r:id="rId8"/>
    <p:sldId id="334" r:id="rId9"/>
    <p:sldId id="339" r:id="rId10"/>
    <p:sldId id="340" r:id="rId11"/>
    <p:sldId id="341" r:id="rId12"/>
    <p:sldId id="342" r:id="rId13"/>
    <p:sldId id="343" r:id="rId14"/>
    <p:sldId id="344" r:id="rId15"/>
    <p:sldId id="345" r:id="rId16"/>
    <p:sldId id="346" r:id="rId17"/>
    <p:sldId id="347" r:id="rId18"/>
    <p:sldId id="348" r:id="rId19"/>
    <p:sldId id="349" r:id="rId20"/>
    <p:sldId id="350" r:id="rId21"/>
    <p:sldId id="351" r:id="rId22"/>
    <p:sldId id="352" r:id="rId23"/>
    <p:sldId id="353" r:id="rId24"/>
    <p:sldId id="32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709" autoAdjust="0"/>
  </p:normalViewPr>
  <p:slideViewPr>
    <p:cSldViewPr snapToGrid="0">
      <p:cViewPr varScale="1">
        <p:scale>
          <a:sx n="63" d="100"/>
          <a:sy n="63" d="100"/>
        </p:scale>
        <p:origin x="151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13793" units="1/cm"/>
          <inkml:channelProperty channel="T" name="resolution" value="1" units="1/dev"/>
        </inkml:channelProperties>
      </inkml:inkSource>
      <inkml:timestamp xml:id="ts0" timeString="2023-03-09T12:30:23.032"/>
    </inkml:context>
    <inkml:brush xml:id="br0">
      <inkml:brushProperty name="width" value="0.05292" units="cm"/>
      <inkml:brushProperty name="height" value="0.05292" units="cm"/>
      <inkml:brushProperty name="color" value="#FF0000"/>
    </inkml:brush>
  </inkml:definitions>
  <inkml:trace contextRef="#ctx0" brushRef="#br0">15013 4742 0,'39'0'110,"0"0"-95,39 0 1,1-78 0,38 39-16,40-40 15,-39 40 1,38 0 0,-38 0-16,0 0 15,-79 39 1,0 0-1,39 0 1,1 0-16,-1 0 16,1 0-1,-1 0 1,-39 0-16,40 0 16,-1 0-1,0 0 1,-38 0-1,38 0-15,0 0 16,40 0 0,-40 0-1,1 0-15,-1 39 16,1-39 0,38 0-1,-38 0 1,38 39-16,-38-39 15,38 0 1,-78 0 0,40 39-16,-1-39 15,-39 0 1,-39 39 0,79 1-1,-40-1 1,0-39-1,0 39 1,40 39-16,-40-78 16,39 40-1,1-1 1,-40-39-16,39 78 16,1-39-1,-40 40 1,39-79-1,-78 39-15,39 0 16,1 0 0,38 1-1,-39-1-15,-39 0 16,79-39 0,-79 78-1,39-78 1,0 40-16,0-40 15,0 78 1,1 0 0,-1-39 15,0 1-15,0-1-1,0 39-15,-39-39 16,40 1-1,-1-1 1,-39 0-16,0 0 31,39 0-15,-39 1 0,0-80 15,0 119 406,0-40-437,0 39 16,0 1 0,0 38-1,0-38-15,0-1 16,-39 40-1,39-79 1,0 39 0,0-38-16,0-1 15,0 0 1,0 0 0,0 0-16,0 1 15,0 77 1,-39-78 15,39 1-31,0-1 16,-40 0 15,40 0-31,0 0 16,0 1-1,-39-1 1,0 0-1,39 39-15,-39-38 32,39-1-17,0 0-15,0 39 16,-39-38 0,-1 38-1,40-39 1,-39 40-16,39-40 15,0 0 17,-39-39-32,39 39 15,0 0 1,-39 1 0,39-1-16,-79 0 15,40 0 16,0 0-31,0-39 16,0 40 0,-1-1-1,1-39 1,0 39-16,0 0 16,0-39 15,-1 0-31,1 39 31,0-39-15,0 0-1,0 0-15,-79 40 16,79 38 0,-39-78-1,-1 78-15,40-78 16,-39 79-1,38-79 1,1 39 0,0 0-16,-39-39 31,38 0-15,1 0-16,-39 39 15,39-39 16,-40 0-31,40 0 16,0 0 0,0 0-1,-40 0 1,40 0-16,0 0 16,-40 0-1,1 0 1,39 0-16,-40 0 15,1 0 1,0 0 0,-1 0-16,40 0 15,0 0 1,-40 0 0,40 0-1,-39 0-15,39 0 16,-79 0-1,79-39 1,0 0-16,-40 39 16,40 0-1,0 0 1,-40-39 0,40 39-16,0 0 15,0 0 1,-40-40-1,40 40-15,-39 0 16,-1 0 0,40 0-1,-39 0 1,39-39-16,-1 39 16,40-39-1,-39 39 1,-39 0-16,39-39 15,-40 0 1,40 39 0,0-39-1,-39-1-15,38 1 16,1 0 0,-39 39-1,78-39 1,-79 0-16,40 39 15,-39-118 1,39 79 0,-40-40-16,1 1 15,39 39 1,-1 0 0,40-1-1,0 1 282,0-39-281,0-1-1,0 1 1,0 0-16,-39-1 16,39 1-1,0-1 1,0 1-16,0 0 15,-39-1 1,39 1 0,0-1-16,0 1 15,-39 39 1,39 0 0,0-1-1,0-38 48,0 0-48,0-1 1,0-38 0,-39 38-16,39 1 15,0 39 1,0-1-1,0 1-15,0 0 16,0 0 0,0 0-1,0-79 1,0 40-16,0-40 16,0 40-1,0 38 1,0 1-16,0 0 15,39-39 79,39-40-94,-39 40 16,40-1-1,-40 1 1,-39 0 0,39 78-16,-39-40 62,39 40-46,1-78-1,-1 78-15,-39-39 16,39 0 0,0-1-1,0 40 1,40-39 156,-40 39-157,0 0 17,0 0-32,1 0 31</inkml:trace>
  <inkml:trace contextRef="#ctx0" brushRef="#br0" timeOffset="8733.83">17678 6114 0</inkml:trace>
  <inkml:trace contextRef="#ctx0" brushRef="#br0" timeOffset="13592.87">17247 5683 0,'39'0'187,"0"0"-171,0 0 0,1 0 30,-1 0-14,0 0-17,0 0-15,0 0 32,1 0-17,-1 0-15,39 0 16,-39 0-1,1 0 1,-1 0-16,0 0 16,0 0-1,0 0 1,1 0 0,-1 0-16,0 0 15,-39-39 1,78 39-1,-38 0 1,-1 0 0,39 0 15,-39 0 0,40 0-15,-40-39-16,0 39 15,0-40 1,1 40 0,-40 40 187,0-1-188,0 0 1,0 0 0,0 0-1,0 40-15,0-1 16,0-39 0,0 1-1,0 38 1,0-39-16,0 40 31,0-40-15,0 0-1,0 0 1,0 0 0,0 1-16,0-1 15,0 0 1,0 0-1,0 0 1,0 1-16,0 38 31,39 0-15,-39-38 0,0-1-1,39 0 1,-39 0-1,0 40 1,39-79 0,-39 39-1,0 0-15,0 0 16,0 0 0,39 1-1,-39-1 1,0 0-16,0 0 15,0 0 1,0 1 0,0-1-1,0 0 1,0 0 15,0 0 0,0 1-15,0-1-16,0 0 47,0 0-31,0 0 15,0 1-16,0-1 32,0 39-31,0-39 31,0 1 0,0-1-32,0 0 17,-78-39 155,-40 0-187,40 0 16,-79 0-1,79 0 1,-1 0-16,40 0 16,0 0 30,-79 0-30,79 0 0,-39 0-1,-1 0-15,40 0 16,-39 0 0,39 0-1,-1 0 1,1 0-1,0 0 1,0 0 0,0 0-16,-1 0 31,1 0-15,0 0 15,0 0-16,0 0 32,-1 0-31,1 0 15,0 0-15,0 0-1,-40 0 48,40 0-32,39-39 63,-39 39-78,39-39-1,0-1 16,0 1-15,0 0 0,0 0 15,-39 0-31,39-1 16,0 1 15,0 0-16,-39 0 17,39 0-17,0-1 1,0 1 15,0 0 0,0 0-15,0 0 0,0-1-1,-40-38 17,40 39-17,0 0 16,0-1-15,0 1 31,0 0-31,0 0 30,0 0-46,0-1 32,0-38-1,0 39-15,0 0-1,-39-1 1,39 1-16,0 0 15,0 0 1,0 0 31,-39-1-16,39 1-15,0 0-1,0 0 17,0 0-17,0-1 17,0 1-32,39 39 109,0 0-109,1-39 16,-1 39-1,0-39 16,0 39-15,-39-39 0,0-1 15,79 1 0,-79 0-15,39 0-16,-39 0 31,0-1 47,0 1-78,0 0 16,39 0-1,0 39 1</inkml:trace>
  <inkml:trace contextRef="#ctx0" brushRef="#br0" timeOffset="21795.43">21127 5174 0,'79'-79'125,"117"79"-109,-79-78-1,-38 39 1,-1 39-16,-39 0 16,40 0-1,-40 0 1,0 0-16,0 0 15,0 0 1,1 0 0,38 0-1,-39 0-15,0 0 16,1 0 0,38 0-1,0 0-15,-38 0 16,38 0-1,40 0 1,-40 0 0,0-40-16,1 40 15,-1 0 1,1 0 0,38 0-16,-38 0 15,38 0 1,1 0-1,-1 0 1,1 0-16,-79 0 16,0 0-1,40 0 1,-40 0-16,0 40 16,40-40-1,-1 39 1,0-39-1,1 39-15,-1 0 16,-39-39 0,1 39-1,-1 1-15,0-40 16,0 39 15,0 0-15,1 0-1,-1 0 1,0 1 0,0-1-1,0 0 1,1 39 0,38-39-1,-39 40 1,-39-40-1,39 39 1,1 40-16,-1-40 16,0-38-1,0 38 1,0 0 0,-39-38-16,0-1 15,39 0 1,-39 39-1,0-38-15,40 38 16,-1 40 0,-39-79-1,0 0-15,0 0 16,0 0 0,0 1-1,0 38 1,0 0-16,0 1 15,0-1 1,0 1 0,0-40-16,-39 78 15,39-77 1,0-1 0,-40 0-1,40 0-15,-78 40 16,39-40-1,0 0 1,0 39-16,-1-78 16,1 79-1,0-40 1,-39 39 0,38-38-16,1-1 15,-39 39 1,39-39-1,-40 40-15,40-79 16,0 78 0,0-78-1,-1 79 1,-38-40-16,39 0 16,-79 0-1,118 0 1,-39-39-16,0 40 15,-40-40 32,40 0-31,0 39 0,-39-39-1,38 0 16,-77 0-15,38 0 0,1 0-1,-40 0 1,40 0 0,0 0-16,-1 0 15,40 0 1,-39 0-1,38 0 1,-77 0-16,78 0 16,-40 0-1,-38 0 1,38 0-16,1 0 16,-1 0-1,-38 0 1,78 0-1,-40 0-15,40 0 16,-39-39 0,-1 39-1,1 0-15,0 0 32,38 0-17,1 0 1,-39 0-16,39-40 31,-40 40-15,1 0-16,39-39 15,-40 39 1,1-39 0,-1 39-1,40 0-15,-39-39 16,39 0-1,-40-1 1,40 40 0,-39-78-16,38 78 15,-77-118 1,78 79 0,-1-39-16,-38-1 15,39 40 1,0-39-1,-1-1 1,1 1 0,0 0-1,0 38 1,39-38 0,-39 39-1,39 0 1,0-1-1,0 1-15,0-39 16,0-40 0,0 1-1,0 38-15,0-38 16,0 38 0,0 1-1,0-1 1,0 1-16,0 0 15,0-40 1,39-39 0,-39-39-16,0-78 15,39 0 1,0 78 0,-39-40-1,39 158-15,-39 39 16,0 0-1,40 39 48,38-79-47,40 40-16,38-39 15,-38-1 1,0 40-1,-79 39-15,39 0 16,-39 0 15,-39 39 32,-39 0 31,0-39-79,-39 79-15</inkml:trace>
  <inkml:trace contextRef="#ctx0" brushRef="#br0" timeOffset="24935.81">14817 12464 0,'39'0'62,"39"-39"-62,-39 39 16,40-39 0,-1 0-1,40 39-15,-1-40 16,79 40-1,-78-39 1,-40 39-16,40 0 16,-40 0-1,40 0 1,-1 0 0,-38-39-16,38 39 15,-38 0 1,-1 0-1,40 0-15,-40-39 16,1 39 0,-40 0-1,39 0-15,1 0 16,-1 0 0,0 0-1,-38 0 1,-1 0-16,78 0 15,-38 0 1,-1 0 0,1 0-16,-1 0 15,40 0 1,-1 0 0,-38 0-1,-1 0-15,0 0 16,-38 39-1,38 0 1,0 0-16,1-39 16,-40 79-1,39-79 1,-38 39-16,38 39 16,0 1-1,-39-1 1,1 1-1,38-1-15,-39 40 16,0-40 0,-39 0-1,40 1-15,-1-1 16,-39 40 0,0-79-1,39 39 1,-39 40-16,0 39 15,0 0 1,0-1 0,0-38-16,0 0 15,0-40 1,0-39 62,0 40-62,-39-79-1,0 78 1,-1 0-16,1-38 16,0 38-1,0-78 1,-40 39 31,-38 79-32,39-79-15,-79 118 16,0-40 0,39-38-1,1-1-15,78-39 16,-1-39 15,40 39-15,-117-39-1,78 40 1,-1-1 0,-38-39-16,-40 78 15,79-39 1,-39-39-1,39 0 1,-79 0 0,40 0-1,-1 0 1,-78 0-16,40 0 16,-40 0-1,79-39 1,-1 39-16,-38-78 15,-1 78 1,40-79 0,-40 40-1,40-39-15,-1 39 16,-38 39 0,38-40-1,1-38-15,-1 39 16,1-40-1,0 1 1,-1 39 0,1-39-16,39-1 15,0 40 1,-1-39 0,-38-1-16,39 1 15,0-40 1,-1 40-1,1-1-15,39 40 16,0-39 0,0-40-1,0 79 1,0-39-16,0 38 16,0-38-1,0 0 1,0-1-16,0 40 15,0-39 1,0-40 0,0 40-1,0-1-15,0 40 16,0 0 15</inkml:trace>
  <inkml:trace contextRef="#ctx0" brushRef="#br0" timeOffset="27763.74">21206 12386 0,'0'0'0,"235"-39"15,-39-1 1,0 1-16,-39 39 16,-40-39-1,40 0 1,78 39 0,40-39-16,-40 39 15,39 0 1,-39 0-1,-39 0-15,-117 0 16,38 0 0,-38 0-1,-1 0-15,1 0 16,-40 39 0,39 0-1,40 0 1,-40-39-16,1 39 15,-40 1 1,39-1 0,-39-39-16,1 39 15,77 0 1,-78 40 0,40-1-1,-40 0-15,39 40 16,1-79-1,-40 40 1,39 38-16,-39 1 16,1-40-1,-1 1 1,0 38 0,0 1-16,0 78 15,-39-39 1,0-40-1,0 1-15,0 39 16,0-40 0,0-38-1,0-1 1,0-39-16,0 40 16,0-1-1,-39 40 1,-39-40-16,39 39 15,-40-38 1,40-40 0,0-39-1,-79 78 1,-78-38 0,40-1-1,-80 78-15,1-38 16,78-40-1,1 0 1,-40 0-16,78-39 16,-39 0-1,40 0 1,-40 0 0,0 0-16,39 0 15,1 0 1,38 0-1,40 0-15,-39 0 16,-1 0 0,1 0-1,-40 0-15,1 0 16,-1 0 0,1 0-1,38 0 1,-38 0-16,38-39 15,1 0 1,-40-39 0,1 38-16,-1-38 15,40 0 1,-40-79 0,79 78-1,-39 1-15,38 0 16,-38-40-1,39 1 1,39-1-16,-39 0 16,39-78-1,0-78 1,39-40 0,78-38-16,-38 77 15,-1 118 1,1-39-1,-40 118-15,78 0 16,40 38 0</inkml:trace>
  <inkml:trace contextRef="#ctx0" brushRef="#br0" timeOffset="32700.86">16345 10661 0,'39'0'31,"1"0"-15,-1 0-1,0 0 1,39 0-16,-38 0 16,-1 0-1,0 0 1,0 0-1,0 0 1,1 0 0,38 0-1,-39 0 1,0 0 15,1 0-31,-1 0 47,-39 39-31,39 1-1,0-1 17,0 0-32,-39 39 15,79-38 1,-79-1-1,39 39 1,-39 1-16,39-1 16,0-39-1,-39 40 1,0-40-16,0 0 16,0 0 15,0 40-16,0-40 1,0 39 0,-39-78-1,39 39-15,0 1 32,-39-40-1,0 39-31,0-39 15,39 39 1,-40-39 0,1 0 15,0 39-15,-39-39-1,-1 0-15,40 39 16,0-39-1,-40 0 1,40 0-16,0 0 16,0 0-1,0 0 1,-1 0 0,1 0-16,-39 0 31,39 0-16,-40 0 17,40-39-1,39 0-31,0 0 47,0 0-32,0-1 1,0 1 0,0-78-1,0-1-15,0 0 16,0 1 0,0-1-1,0 40 1</inkml:trace>
  <inkml:trace contextRef="#ctx0" brushRef="#br0" timeOffset="34341.41">16463 8662 0,'0'0'0,"39"0"63,39 0-48,-38 0 1,38-39 0,0 39-16,-38 0 15,38 0 1,-39 0 0,0 0-16,1 39 46,-1 0-30,0 40 15,-39-40-15,39 39-16,-39 1 16,79-1-1,-79 0 1,39 1-1,-39-40-15,39 39 16,-39-38 0,0-1-1,39 39-15,-39-39 32,0 40-1,0-40-16,0 79 1,-78-79 0,78 0-16,-39 0 15,39 0 1,-40-39 15,1 0 16,-39 40-31,-40-40-1,40 39 1,-1-39 0,-38 0-16,78 0 15,-1 0 1,1 0-1,-39 0-15,39 0 16,-1-39 0,-38-1-1,78 1 1,-78 0-16,78 0 16,-40 0 15,40-1-31,0 1 15,0 0 1,0-39 0,0 38-1,0-38-15,0-40 16,0 40 0,0 0-1,0-40-15,40 40 16,-1-1-1,39 1 1,-39 78 0</inkml:trace>
  <inkml:trace contextRef="#ctx0" brushRef="#br0" timeOffset="35903.8">22146 8858 0,'0'0'0,"0"-39"16,79 39 0,-40 0-1,0 0-15,40 0 16,-40 0 0,0 0-1,0 0-15,40 0 16,-40 0-1,0 0 1,79 39 0,-79-39-16,0 78 15,0-38 1,0-1 0,1 39-1,-1-39 1,-39 1-1,39 38 1,0 0-16,-39-38 16,0 38-1,0 0 1,0-38-16,0-1 16,0 39-1,0 1 1,0-40-1,0 0-15,0 39 16,0-38 0,0-1-1,-78-39 32,-1 39-31,-38-39-16,38 0 15,-38 0 1,78 0 0,-1 0-16,-38 0 15,39 0 1,-40-39 0,40-40-1,0 40-15,-39-78 16,38 38-1,1 1 1,0-1-16,0 1 16,39 0-1,0-1 1,0 1 0,0-1-16</inkml:trace>
  <inkml:trace contextRef="#ctx0" brushRef="#br0" timeOffset="37122.46">22656 10348 0,'39'0'31,"0"0"-15,1 0-1,38 39 1,-39 0-16,0-39 16,79 39-1,-79 40 1,40-40 0,-40 39-16,0 1 15,-39-1 1,0 0-1,39-38-15,-39 38 16,0-39 0,0 40-1,0-40-15,0 39 16,0-39 0,-39 1-1,0 38 1,0 0-1,-1-38 17,1-40-32,0 0 15,39 39 1,-78-39 0,-1 0-1,-38 0-15,38 39 16,1-39-1,39 0 1,-1 0-16,-38 0 16,0-39-1,38 39 1,1-79 0,0-77-16,0-1 15,39 0 1,0 39-1,0-38-15,78-1 16,-39 78 0,1 79-1,-1 0 1</inkml:trace>
  <inkml:trace contextRef="#ctx0" brushRef="#br0" timeOffset="39387.97">14660 8584 0,'-39'0'63,"-1"0"-32,1 0-16,0 0-15,-39 0 16,38 0 0,1 0-1,0 0-15,0 0 16,39 39 15,0 0 16,0 0-31,0 0-16,0 1 15,0-1 1,0 39 0,0 1-1,0 38-15,0 1 16,0-40-1,0-39 1,0 1-16,0 38 16,0-39-1,0 0 1,0 1 0,0 77-16,0-78 15,0 40 1,0-1-1,0-39-15,0 40 16,0-1 0,0 1-1,0-1 1,0-39-16,0 40 16,0-1-1,0 0 1,0-38-16,0 38 15,0 0 1,0 1 0,0-1-1,0 1-15,0-40 16,0 39 0,0 40-1,0-79-15,0 0 16,0 0-1,0 40 1,0-40 0,0 0 15,0 0-31,0 1 31,0-1-15,0 0-1,0 0-15,0 0 47,39-39-47,0 0 94,0 0-78,1 40 31,38-1-32,-39-39-15,0 78 16,1-78 15,-40 39-15,39-39 15,0 0-15,-39-78 93</inkml:trace>
  <inkml:trace contextRef="#ctx0" brushRef="#br0" timeOffset="41731.52">14385 4468 0,'0'-39'31,"0"0"-31,0-1 16,0 1-1,0 0 1,40 0-1,-40 0-15,39-1 16,0 40 0,39-78-1,1 78-15,-1 0 16,40-39 0,-40 39-1,1 0 1,-1 0-16,0 0 15,40 0 1,39 0 0,-1 0-16,40 0 15,-78 39 1,39-39 0,-40 39-1,1-39-15,0 39 16,-1-39-1,-38 40 1,-40-40-16,-39-40 47,78 40 172,1 0-204,38-39 1,79 39 0,196-39-1,39-39-15,79 38 16,-1 1-1,-38 39 1,-40-78-16,-78 39 16,78-1-1,-117 1 1,-40 39 0,-39 0-16,-39 0 15,0 0 1,39 0-1,-78 0-15,0 0 16,39 79 0,-79-40-1,1-39-15,-40 0 16,40 39 0,-79-39-1,40 0 1,-79 39 31,39-39 62,0 39-109,39 1 16,-38-40-1,-1 39 1,39 0-16,1-39 16,-1 0-1,40 39 1,-1-39-1,-38 0-15,-40 0 16,39 0 0,-78 39 62,39-39-78,-39 79 15,40-40 1,-1 0 0,0 79-16,0-79 15,0 39 1,-39 1 0,0-40-1,0 0-15,0 0 16,0 1-1,-39-40 32</inkml:trace>
  <inkml:trace contextRef="#ctx0" brushRef="#br0" timeOffset="43700.14">24106 16306 0,'0'39'63,"0"0"-63,0 0 15,0 40 16,0-40-15,-78 39-16,39 1 16,39-1-1,-39-78 1,-1 78-16,1-78 16,-78 0 15,-1 40-16,0-40-15,1 39 16,-1-39 0,-39 0-1,79 0-15,0 0 16,-1 0 0,-38 0-1,-1 0 1,0 0-16,1 0 15,-40 0 1,-39 39 0,39 0-16,-156 40 15,-1-40 1,-39 39 0,1 1-1,38-1-15,0 40 16,40-40-1,0-39 1,38-39-16,1 0 16,0 0-1,39 0 1,-78 0 0,117 0-16,-39 0 15,-39 0 1,78 39-1,-39 1-15,78-40 16,1 0 0,78 0-1,-1 0 1,-38 0-16,0 0 16,-40 0-1,0 0 1,40 0-1,0 0-15,38 0 16,1 0 0,-39 0-1,39 0-15,-1 0 16,1 0 0,0 0-1,-39 0 1,38 0-1,1 0 1,-39 0 0,39-40-16,-40-38 15,1 39 1,39-79 0,-40 40-16,40 39 15,-39-40 1,-1 1-1</inkml:trace>
</inkml:ink>
</file>

<file path=ppt/ink/ink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13793" units="1/cm"/>
          <inkml:channelProperty channel="T" name="resolution" value="1" units="1/dev"/>
        </inkml:channelProperties>
      </inkml:inkSource>
      <inkml:timestamp xml:id="ts0" timeString="2023-03-09T12:31:32.231"/>
    </inkml:context>
    <inkml:brush xml:id="br0">
      <inkml:brushProperty name="width" value="0.05292" units="cm"/>
      <inkml:brushProperty name="height" value="0.05292" units="cm"/>
      <inkml:brushProperty name="color" value="#FF0000"/>
    </inkml:brush>
  </inkml:definitions>
  <inkml:trace contextRef="#ctx0" brushRef="#br0">15169 5487 0,'0'-39'94,"79"39"-63,-40 0-15,39-78-1,1 38-15,38 40 16,1 0-1,39 0 1,-40 0-16,1 0 16,-40 0-1,-39 0 1,1 0-16,38 0 16,40 0-1,-40 0 1,0 0-1,1 0-15,-1 40 16,1-1 0,-40-39-1,39 39-15,1 0 16,-40-39 0,-39 39-1,0 0 1,39-39-16,0 0 422,79 79-422,-40-40 15,1 39 1,-1 40 0,79 0-16,0 38 15,-1 1 1,1 39-1,39 39 1,-39-39-16,-39-39 16,-1 0-1,-78-39 1,79 38-16,-40-38 16,-39-40-1,1 1 1,-1-1-16,0 1 15,0-40 1,-39 39 0,79 1-1,-40 38-15,0-38 16,0-1 0,0 40-1,1 38-15,-40-38 16,39-40-1,0 1 1,-39 38 0,0-78-16,0 79 15,0-40 1,0 1 0,0-1-16,0-39 15,0 40 1,39 38-1,-39-38 1,39 38-16,-39 40 16,40-39-1,-40 39 1,0-40-16,0 1 16,0-40-1,39 40 1,-39-40-1,0 1-15,0 38 16,0-38 0,39 38-1,-39-38-15,0 38 16,0 1 0,0-40-1,0 1 1,0 38-16,0-78 15,0 40 1,0-40 0,0 39-16,-78 1 15,38-1 1,40 0 0,-39 1-16,0-1 15,0 1 1,39-1-1,-39 40 1,-1-1-16,1-38 16,39-40-1,-39 0 1,0 39 15,0-38-15,-40-1-1,40 0-15,-39 0 16,38-39 15,40 39-31,-39-39 16,-39 0 15,-1 0-15,1 40-1,39-40 1,-79 0 0,40 0-16,0 0 15,-1 0 1,-78 0 0,1 39-16,38-39 15,0 0 1,1 0-1,38 0-15,1 0 16,0 0 0,-1 0-1,-38 0 1,38 0-16,-38 0 16,38 0-1,40 0 1,0 0-16,-40 0 47,1 0-47,-40 0 15,40 0 1,0 0 0,-1 0-1,1 0-15,-1 0 16,40 0-1,-39 0 1,-1 0-16,1 0 16,-40 0-1,40 0 1,0 0-16,-1 0 16,40 0-1,0 0 1,-39 0-1,38 0-15,1 0 16,0-39 0,0 39-1,0 0-15,-40-40 16,40 1 0,-39 39-1,-1-39 1,40-39-16,-39 38 15,-40 1 1,79 0 0,-40 0-16,1 0 15,39-40 1,-40 1 0,79-1-1,-78-77-15,0 38 16,38 0-1,-38 1 1,39-40-16,0 39 16,-40 1-1,1-79 1,39 78 0,-40-38-16,1-1 15,78 118 1,0-40 218,0-117-218,0-39-1,0-79-15,0 1 16,0-1 0,0 40-1,39 78 1,0-79-16,0 119 16,1-1-1,-40 39 1,0 40-16,0-40 15,39 1 1,0-1 0,0 1-1,-39-1-15,0 40 16,39-1 0,-39 1-1,40-40-15,-40 40 16,0-1-1,39 1 1,-39 0-16,0-1 16,0-38-1,39 117 1,-39-40 0,39 1-16,-39 0 15,39 0 16,-39-40-31,40 1 16,-1 0 0,0-40-1,-39 0 1,39 1-16,40-1 16,-79 40-1,39-1 1,39 1-16,-78 0 15,118-1 1,-1 1 0,-38 39-16,-1-40 15,40 40 1,-40-39 0,1 39-1,-1-40-15,-39 79 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DF9EE5-29F7-4936-BB9E-C496A010A518}" type="datetimeFigureOut">
              <a:rPr lang="en-US" smtClean="0"/>
              <a:t>10/8/2023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85E8A-A197-49EA-96E2-2AD1E68BD263}" type="slidenum">
              <a:rPr lang="en-US" smtClean="0"/>
              <a:t>‹#›</a:t>
            </a:fld>
            <a:endParaRPr lang="en-US"/>
          </a:p>
        </p:txBody>
      </p:sp>
    </p:spTree>
    <p:extLst>
      <p:ext uri="{BB962C8B-B14F-4D97-AF65-F5344CB8AC3E}">
        <p14:creationId xmlns:p14="http://schemas.microsoft.com/office/powerpoint/2010/main" val="1664205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z="1800" b="0" i="0" dirty="0">
                <a:solidFill>
                  <a:srgbClr val="262626"/>
                </a:solidFill>
                <a:effectLst/>
                <a:latin typeface="NewBaskerville-Roman"/>
              </a:rPr>
              <a:t>Parallelization based on individual processes with their own memory spaces can be distributed memory on different nodes of a computer or within a node. Stream</a:t>
            </a:r>
            <a:br>
              <a:rPr lang="en-US" sz="1800" b="0" i="0" dirty="0">
                <a:solidFill>
                  <a:srgbClr val="262626"/>
                </a:solidFill>
                <a:effectLst/>
                <a:latin typeface="NewBaskerville-Roman"/>
              </a:rPr>
            </a:br>
            <a:r>
              <a:rPr lang="en-US" sz="1800" b="0" i="0" dirty="0">
                <a:solidFill>
                  <a:srgbClr val="262626"/>
                </a:solidFill>
                <a:effectLst/>
                <a:latin typeface="NewBaskerville-Roman"/>
              </a:rPr>
              <a:t>processing is generally associated with GPUs. The model for modern hardware and application software will help you better understand how to plan to port your application to current parallel hardware.</a:t>
            </a:r>
            <a:r>
              <a:rPr lang="en-US" dirty="0"/>
              <a:t> </a:t>
            </a:r>
            <a:br>
              <a:rPr lang="en-US" dirty="0"/>
            </a:br>
            <a:endParaRPr lang="LID4096" dirty="0"/>
          </a:p>
        </p:txBody>
      </p:sp>
      <p:sp>
        <p:nvSpPr>
          <p:cNvPr id="4" name="Slide Number Placeholder 3"/>
          <p:cNvSpPr>
            <a:spLocks noGrp="1"/>
          </p:cNvSpPr>
          <p:nvPr>
            <p:ph type="sldNum" sz="quarter" idx="5"/>
          </p:nvPr>
        </p:nvSpPr>
        <p:spPr/>
        <p:txBody>
          <a:bodyPr/>
          <a:lstStyle/>
          <a:p>
            <a:fld id="{EAD85E8A-A197-49EA-96E2-2AD1E68BD263}" type="slidenum">
              <a:rPr lang="en-US" smtClean="0"/>
              <a:t>2</a:t>
            </a:fld>
            <a:endParaRPr lang="en-US"/>
          </a:p>
        </p:txBody>
      </p:sp>
    </p:spTree>
    <p:extLst>
      <p:ext uri="{BB962C8B-B14F-4D97-AF65-F5344CB8AC3E}">
        <p14:creationId xmlns:p14="http://schemas.microsoft.com/office/powerpoint/2010/main" val="291266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Vectorization—Work on more than one unit of data at a time</a:t>
            </a:r>
            <a:br>
              <a:rPr lang="en-US" dirty="0"/>
            </a:br>
            <a:r>
              <a:rPr lang="en-US" dirty="0"/>
              <a:t>– Threads —Deploy more than one compute pathway to engage more processing cores</a:t>
            </a:r>
            <a:br>
              <a:rPr lang="en-US" dirty="0"/>
            </a:br>
            <a:r>
              <a:rPr lang="en-US" dirty="0"/>
              <a:t>– Processes—Separate program instances to spread out the calculation into separate memory spaces</a:t>
            </a:r>
            <a:br>
              <a:rPr lang="en-US" dirty="0"/>
            </a:br>
            <a:r>
              <a:rPr lang="en-US" dirty="0"/>
              <a:t>– Off-loading the calculation to GPUs—Send the data to the graphics processor to</a:t>
            </a:r>
            <a:br>
              <a:rPr lang="en-US" dirty="0"/>
            </a:br>
            <a:r>
              <a:rPr lang="en-US" dirty="0"/>
              <a:t>calculate </a:t>
            </a:r>
            <a:br>
              <a:rPr lang="en-US" dirty="0"/>
            </a:br>
            <a:endParaRPr lang="LID4096" dirty="0"/>
          </a:p>
        </p:txBody>
      </p:sp>
      <p:sp>
        <p:nvSpPr>
          <p:cNvPr id="4" name="Slide Number Placeholder 3"/>
          <p:cNvSpPr>
            <a:spLocks noGrp="1"/>
          </p:cNvSpPr>
          <p:nvPr>
            <p:ph type="sldNum" sz="quarter" idx="5"/>
          </p:nvPr>
        </p:nvSpPr>
        <p:spPr/>
        <p:txBody>
          <a:bodyPr/>
          <a:lstStyle/>
          <a:p>
            <a:fld id="{EAD85E8A-A197-49EA-96E2-2AD1E68BD263}" type="slidenum">
              <a:rPr lang="en-US" smtClean="0"/>
              <a:t>3</a:t>
            </a:fld>
            <a:endParaRPr lang="en-US"/>
          </a:p>
        </p:txBody>
      </p:sp>
    </p:spTree>
    <p:extLst>
      <p:ext uri="{BB962C8B-B14F-4D97-AF65-F5344CB8AC3E}">
        <p14:creationId xmlns:p14="http://schemas.microsoft.com/office/powerpoint/2010/main" val="3060904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0B4F17-C843-4DBB-B859-C77EA1F01CA2}" type="datetime1">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2794847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D6111C-B94E-42B8-B445-5EB7C98BDEFA}" type="datetime1">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2722358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AEB5BEB-004C-45AF-9D38-AF2A5B6958D8}" type="datetime1">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3569526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3F3847-5007-47F7-9DE7-1A8B40CDBD7A}" type="datetime1">
              <a:rPr lang="en-US" smtClean="0"/>
              <a:t>10/8/2023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518931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38C468-910D-4313-A10C-FCB0AD170BFD}" type="datetime1">
              <a:rPr lang="en-US" smtClean="0"/>
              <a:t>10/8/2023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1419815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B9082A-79BD-433F-9B5F-8BCD4EAA65BE}" type="datetime1">
              <a:rPr lang="en-US" smtClean="0"/>
              <a:t>10/8/2023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3992130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A1E931-F403-4304-9F63-1E06B9CECA24}" type="datetime1">
              <a:rPr lang="en-US" smtClean="0"/>
              <a:t>10/8/2023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426305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D999AFF-1278-442B-856D-5DA176929955}" type="datetime1">
              <a:rPr lang="en-US" smtClean="0"/>
              <a:t>10/8/2023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50081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5896CE0-495C-4667-B550-99C326EA790F}" type="datetime1">
              <a:rPr lang="en-US" smtClean="0"/>
              <a:t>10/8/2023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1292012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0B1E5B-267A-4BE7-9081-5F0AACC5A54F}" type="datetime1">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3898936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BFDB41-B124-4EA0-B637-71E64E804772}" type="datetime1">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12D027-24A8-4AF6-867F-FA52C9C9E1D1}" type="slidenum">
              <a:rPr lang="en-US" smtClean="0"/>
              <a:t>‹#›</a:t>
            </a:fld>
            <a:endParaRPr lang="en-US"/>
          </a:p>
        </p:txBody>
      </p:sp>
    </p:spTree>
    <p:extLst>
      <p:ext uri="{BB962C8B-B14F-4D97-AF65-F5344CB8AC3E}">
        <p14:creationId xmlns:p14="http://schemas.microsoft.com/office/powerpoint/2010/main" val="20865852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C697DB89-CDD6-472D-8A6C-DAA95BB1FA3E}"/>
              </a:ext>
            </a:extLst>
          </p:cNvPr>
          <p:cNvGrpSpPr>
            <a:grpSpLocks/>
          </p:cNvGrpSpPr>
          <p:nvPr/>
        </p:nvGrpSpPr>
        <p:grpSpPr bwMode="auto">
          <a:xfrm>
            <a:off x="0" y="0"/>
            <a:ext cx="5867400" cy="6858000"/>
            <a:chOff x="0" y="0"/>
            <a:chExt cx="3696" cy="4320"/>
          </a:xfrm>
        </p:grpSpPr>
        <p:sp>
          <p:nvSpPr>
            <p:cNvPr id="5" name="Rectangle 3">
              <a:extLst>
                <a:ext uri="{FF2B5EF4-FFF2-40B4-BE49-F238E27FC236}">
                  <a16:creationId xmlns:a16="http://schemas.microsoft.com/office/drawing/2014/main" id="{2D1A2CC5-F66F-4FF1-9C12-E4C07F549013}"/>
                </a:ext>
              </a:extLst>
            </p:cNvPr>
            <p:cNvSpPr>
              <a:spLocks noChangeArrowheads="1"/>
            </p:cNvSpPr>
            <p:nvPr/>
          </p:nvSpPr>
          <p:spPr bwMode="auto">
            <a:xfrm>
              <a:off x="0" y="0"/>
              <a:ext cx="2880" cy="432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PK" altLang="en-PK" sz="2400" b="0" i="0" u="none" strike="noStrike" kern="1200" cap="none" spc="0" normalizeH="0" baseline="0" noProof="0">
                <a:ln>
                  <a:noFill/>
                </a:ln>
                <a:solidFill>
                  <a:srgbClr val="003366"/>
                </a:solidFill>
                <a:effectLst/>
                <a:uLnTx/>
                <a:uFillTx/>
                <a:latin typeface="Times New Roman" panose="02020603050405020304" pitchFamily="18" charset="0"/>
                <a:ea typeface="+mn-ea"/>
                <a:cs typeface="+mn-cs"/>
              </a:endParaRPr>
            </a:p>
          </p:txBody>
        </p:sp>
        <p:sp>
          <p:nvSpPr>
            <p:cNvPr id="6" name="AutoShape 4">
              <a:extLst>
                <a:ext uri="{FF2B5EF4-FFF2-40B4-BE49-F238E27FC236}">
                  <a16:creationId xmlns:a16="http://schemas.microsoft.com/office/drawing/2014/main" id="{94194141-4B13-4C0B-9E9E-4B6DF58F22B6}"/>
                </a:ext>
              </a:extLst>
            </p:cNvPr>
            <p:cNvSpPr>
              <a:spLocks noChangeArrowheads="1"/>
            </p:cNvSpPr>
            <p:nvPr/>
          </p:nvSpPr>
          <p:spPr bwMode="white">
            <a:xfrm>
              <a:off x="432" y="624"/>
              <a:ext cx="3264" cy="1200"/>
            </a:xfrm>
            <a:prstGeom prst="roundRect">
              <a:avLst>
                <a:gd name="adj" fmla="val 50000"/>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PK" altLang="en-PK" sz="2400" b="0" i="0" u="none" strike="noStrike" kern="1200" cap="none" spc="0" normalizeH="0" baseline="0" noProof="0">
                <a:ln>
                  <a:noFill/>
                </a:ln>
                <a:solidFill>
                  <a:srgbClr val="003366"/>
                </a:solidFill>
                <a:effectLst/>
                <a:uLnTx/>
                <a:uFillTx/>
                <a:latin typeface="Times New Roman" panose="02020603050405020304" pitchFamily="18" charset="0"/>
                <a:ea typeface="+mn-ea"/>
                <a:cs typeface="+mn-cs"/>
              </a:endParaRPr>
            </a:p>
          </p:txBody>
        </p:sp>
      </p:grpSp>
      <p:grpSp>
        <p:nvGrpSpPr>
          <p:cNvPr id="7" name="Group 5">
            <a:extLst>
              <a:ext uri="{FF2B5EF4-FFF2-40B4-BE49-F238E27FC236}">
                <a16:creationId xmlns:a16="http://schemas.microsoft.com/office/drawing/2014/main" id="{4CCC10C4-1070-49FF-9EC0-FC19F4D37B5A}"/>
              </a:ext>
            </a:extLst>
          </p:cNvPr>
          <p:cNvGrpSpPr>
            <a:grpSpLocks/>
          </p:cNvGrpSpPr>
          <p:nvPr/>
        </p:nvGrpSpPr>
        <p:grpSpPr bwMode="auto">
          <a:xfrm>
            <a:off x="3632200" y="4889500"/>
            <a:ext cx="4876800" cy="319088"/>
            <a:chOff x="2288" y="3080"/>
            <a:chExt cx="3072" cy="201"/>
          </a:xfrm>
        </p:grpSpPr>
        <p:sp>
          <p:nvSpPr>
            <p:cNvPr id="8" name="AutoShape 6">
              <a:extLst>
                <a:ext uri="{FF2B5EF4-FFF2-40B4-BE49-F238E27FC236}">
                  <a16:creationId xmlns:a16="http://schemas.microsoft.com/office/drawing/2014/main" id="{95304FCF-25DE-4BD8-A83B-51D9A6ECE647}"/>
                </a:ext>
              </a:extLst>
            </p:cNvPr>
            <p:cNvSpPr>
              <a:spLocks noChangeArrowheads="1"/>
            </p:cNvSpPr>
            <p:nvPr/>
          </p:nvSpPr>
          <p:spPr bwMode="auto">
            <a:xfrm flipH="1">
              <a:off x="2288" y="3080"/>
              <a:ext cx="2914" cy="200"/>
            </a:xfrm>
            <a:prstGeom prst="roundRect">
              <a:avLst>
                <a:gd name="adj" fmla="val 0"/>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altLang="en-PK" sz="1800" b="0" i="0" u="none" strike="noStrike" kern="1200" cap="none" spc="0" normalizeH="0" baseline="0" noProof="0">
                <a:ln>
                  <a:noFill/>
                </a:ln>
                <a:solidFill>
                  <a:srgbClr val="003366"/>
                </a:solidFill>
                <a:effectLst/>
                <a:uLnTx/>
                <a:uFillTx/>
                <a:latin typeface="Arial" panose="020B0604020202020204" pitchFamily="34" charset="0"/>
                <a:ea typeface="+mn-ea"/>
                <a:cs typeface="+mn-cs"/>
              </a:endParaRPr>
            </a:p>
          </p:txBody>
        </p:sp>
        <p:sp>
          <p:nvSpPr>
            <p:cNvPr id="9" name="AutoShape 7">
              <a:extLst>
                <a:ext uri="{FF2B5EF4-FFF2-40B4-BE49-F238E27FC236}">
                  <a16:creationId xmlns:a16="http://schemas.microsoft.com/office/drawing/2014/main" id="{16389DA0-8CD8-4422-9A8F-A93463A81D39}"/>
                </a:ext>
              </a:extLst>
            </p:cNvPr>
            <p:cNvSpPr>
              <a:spLocks noChangeArrowheads="1"/>
            </p:cNvSpPr>
            <p:nvPr/>
          </p:nvSpPr>
          <p:spPr bwMode="auto">
            <a:xfrm>
              <a:off x="5196" y="3080"/>
              <a:ext cx="164" cy="201"/>
            </a:xfrm>
            <a:prstGeom prst="flowChartDelay">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altLang="en-PK" sz="1800" b="0" i="0" u="none" strike="noStrike" kern="1200" cap="none" spc="0" normalizeH="0" baseline="0" noProof="0">
                <a:ln>
                  <a:noFill/>
                </a:ln>
                <a:solidFill>
                  <a:srgbClr val="003366"/>
                </a:solidFill>
                <a:effectLst/>
                <a:uLnTx/>
                <a:uFillTx/>
                <a:latin typeface="Arial" panose="020B0604020202020204" pitchFamily="34" charset="0"/>
                <a:ea typeface="+mn-ea"/>
                <a:cs typeface="+mn-cs"/>
              </a:endParaRPr>
            </a:p>
          </p:txBody>
        </p:sp>
      </p:grpSp>
      <p:sp>
        <p:nvSpPr>
          <p:cNvPr id="5128" name="Rectangle 8"/>
          <p:cNvSpPr>
            <a:spLocks noGrp="1" noChangeArrowheads="1"/>
          </p:cNvSpPr>
          <p:nvPr>
            <p:ph type="subTitle" idx="1"/>
          </p:nvPr>
        </p:nvSpPr>
        <p:spPr>
          <a:xfrm>
            <a:off x="4673601" y="2927350"/>
            <a:ext cx="4013200" cy="1822450"/>
          </a:xfrm>
        </p:spPr>
        <p:txBody>
          <a:bodyPr anchor="b"/>
          <a:lstStyle>
            <a:lvl1pPr marL="0" indent="0">
              <a:buFont typeface="Wingdings" pitchFamily="2" charset="2"/>
              <a:buNone/>
              <a:defRPr>
                <a:solidFill>
                  <a:schemeClr val="tx2"/>
                </a:solidFill>
              </a:defRPr>
            </a:lvl1pPr>
          </a:lstStyle>
          <a:p>
            <a:r>
              <a:rPr lang="en-US"/>
              <a:t>Click to edit Master subtitle style</a:t>
            </a:r>
          </a:p>
        </p:txBody>
      </p:sp>
      <p:sp>
        <p:nvSpPr>
          <p:cNvPr id="5132" name="AutoShape 12"/>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r>
              <a:rPr lang="en-US"/>
              <a:t>Click to edit Master title style</a:t>
            </a:r>
          </a:p>
        </p:txBody>
      </p:sp>
      <p:sp>
        <p:nvSpPr>
          <p:cNvPr id="10" name="Date Placeholder 9">
            <a:extLst>
              <a:ext uri="{FF2B5EF4-FFF2-40B4-BE49-F238E27FC236}">
                <a16:creationId xmlns:a16="http://schemas.microsoft.com/office/drawing/2014/main" id="{E9144541-1081-4B27-9E4B-DD51FC1DCE6A}"/>
              </a:ext>
            </a:extLst>
          </p:cNvPr>
          <p:cNvSpPr>
            <a:spLocks noGrp="1" noChangeArrowheads="1"/>
          </p:cNvSpPr>
          <p:nvPr>
            <p:ph type="dt" sz="quarter" idx="10"/>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00B4F17-C843-4DBB-B859-C77EA1F01CA2}" type="datetime1">
              <a:rPr kumimoji="0" lang="en-US" sz="1400" b="0" i="0" u="none" strike="noStrike" kern="1200" cap="none" spc="0" normalizeH="0" baseline="0" noProof="0" smtClean="0">
                <a:ln>
                  <a:noFill/>
                </a:ln>
                <a:solidFill>
                  <a:srgbClr val="FFFFFF"/>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10/8/2023</a:t>
            </a:fld>
            <a:endParaRPr kumimoji="0" lang="en-US" sz="1400" b="0" i="0" u="none" strike="noStrike" kern="1200" cap="none" spc="0" normalizeH="0" baseline="0" noProof="0">
              <a:ln>
                <a:noFill/>
              </a:ln>
              <a:solidFill>
                <a:srgbClr val="FFFFFF"/>
              </a:solidFill>
              <a:effectLst/>
              <a:uLnTx/>
              <a:uFillTx/>
              <a:latin typeface="Arial" charset="0"/>
              <a:ea typeface="+mn-ea"/>
              <a:cs typeface="+mn-cs"/>
            </a:endParaRPr>
          </a:p>
        </p:txBody>
      </p:sp>
      <p:sp>
        <p:nvSpPr>
          <p:cNvPr id="11" name="Footer Placeholder 10">
            <a:extLst>
              <a:ext uri="{FF2B5EF4-FFF2-40B4-BE49-F238E27FC236}">
                <a16:creationId xmlns:a16="http://schemas.microsoft.com/office/drawing/2014/main" id="{97755DD8-7CD3-439F-A290-5D547A54A737}"/>
              </a:ext>
            </a:extLst>
          </p:cNvPr>
          <p:cNvSpPr>
            <a:spLocks noGrp="1" noChangeArrowheads="1"/>
          </p:cNvSpPr>
          <p:nvPr>
            <p:ph type="ftr" sz="quarter" idx="11"/>
          </p:nvPr>
        </p:nvSpPr>
        <p:spPr/>
        <p:txBody>
          <a:bodyPr/>
          <a:lstStyle>
            <a:lvl1pPr algn="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12" name="Slide Number Placeholder 11">
            <a:extLst>
              <a:ext uri="{FF2B5EF4-FFF2-40B4-BE49-F238E27FC236}">
                <a16:creationId xmlns:a16="http://schemas.microsoft.com/office/drawing/2014/main" id="{2137CD04-9D5B-417F-A66B-C38A4D2D5246}"/>
              </a:ext>
            </a:extLst>
          </p:cNvPr>
          <p:cNvSpPr>
            <a:spLocks noGrp="1" noChangeArrowheads="1"/>
          </p:cNvSpPr>
          <p:nvPr>
            <p:ph type="sldNum" sz="quarter" idx="12"/>
          </p:nvPr>
        </p:nvSpPr>
        <p:spPr>
          <a:xfrm>
            <a:off x="76202" y="6248400"/>
            <a:ext cx="587375" cy="488950"/>
          </a:xfrm>
        </p:spPr>
        <p:txBody>
          <a:bodyP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3857694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6D41561C-CEBF-48F4-9E28-C4482E17CA74}"/>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CD6111C-B94E-42B8-B445-5EB7C98BDEFA}"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2">
            <a:extLst>
              <a:ext uri="{FF2B5EF4-FFF2-40B4-BE49-F238E27FC236}">
                <a16:creationId xmlns:a16="http://schemas.microsoft.com/office/drawing/2014/main" id="{0E5660E3-240B-41E3-888C-1B88C6F558A9}"/>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3">
            <a:extLst>
              <a:ext uri="{FF2B5EF4-FFF2-40B4-BE49-F238E27FC236}">
                <a16:creationId xmlns:a16="http://schemas.microsoft.com/office/drawing/2014/main" id="{59180715-2C5B-4D99-B35D-5CB9C8F567D7}"/>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7463943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11">
            <a:extLst>
              <a:ext uri="{FF2B5EF4-FFF2-40B4-BE49-F238E27FC236}">
                <a16:creationId xmlns:a16="http://schemas.microsoft.com/office/drawing/2014/main" id="{9AE7B7F9-9B63-4C99-B240-FC12E76B5802}"/>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AEB5BEB-004C-45AF-9D38-AF2A5B6958D8}"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2">
            <a:extLst>
              <a:ext uri="{FF2B5EF4-FFF2-40B4-BE49-F238E27FC236}">
                <a16:creationId xmlns:a16="http://schemas.microsoft.com/office/drawing/2014/main" id="{6EDBDB97-8B17-4504-8ADA-64F907DF670C}"/>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3">
            <a:extLst>
              <a:ext uri="{FF2B5EF4-FFF2-40B4-BE49-F238E27FC236}">
                <a16:creationId xmlns:a16="http://schemas.microsoft.com/office/drawing/2014/main" id="{331478AB-4749-4D3C-8589-3B6D14C30A9C}"/>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42019047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2" y="2362204"/>
            <a:ext cx="3770313"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0914" y="2362204"/>
            <a:ext cx="3770312"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38D3B876-73DB-429F-B4A5-ACDB21507ACA}"/>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13F3847-5007-47F7-9DE7-1A8B40CDBD7A}"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2">
            <a:extLst>
              <a:ext uri="{FF2B5EF4-FFF2-40B4-BE49-F238E27FC236}">
                <a16:creationId xmlns:a16="http://schemas.microsoft.com/office/drawing/2014/main" id="{B730567E-7D9B-4A0A-8C19-E932DA0EC6FD}"/>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7" name="Rectangle 13">
            <a:extLst>
              <a:ext uri="{FF2B5EF4-FFF2-40B4-BE49-F238E27FC236}">
                <a16:creationId xmlns:a16="http://schemas.microsoft.com/office/drawing/2014/main" id="{E332F7B6-D444-4E55-96A6-522A403CFEE0}"/>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283735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23D9AB9F-2A0C-4FBB-B382-9C21E1687AF2}"/>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538C468-910D-4313-A10C-FCB0AD170BFD}"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8" name="Rectangle 12">
            <a:extLst>
              <a:ext uri="{FF2B5EF4-FFF2-40B4-BE49-F238E27FC236}">
                <a16:creationId xmlns:a16="http://schemas.microsoft.com/office/drawing/2014/main" id="{DA914F3E-D7BB-499F-8AAC-D29CA4F04513}"/>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9" name="Rectangle 13">
            <a:extLst>
              <a:ext uri="{FF2B5EF4-FFF2-40B4-BE49-F238E27FC236}">
                <a16:creationId xmlns:a16="http://schemas.microsoft.com/office/drawing/2014/main" id="{07F3BCB4-F714-4117-802E-711CF7676F4A}"/>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551300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F582D231-FDF6-426E-A616-698440509C70}"/>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6B9082A-79BD-433F-9B5F-8BCD4EAA65BE}"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4" name="Rectangle 12">
            <a:extLst>
              <a:ext uri="{FF2B5EF4-FFF2-40B4-BE49-F238E27FC236}">
                <a16:creationId xmlns:a16="http://schemas.microsoft.com/office/drawing/2014/main" id="{0EDCA115-9E3C-40D4-8912-F4E20DB6BA21}"/>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3">
            <a:extLst>
              <a:ext uri="{FF2B5EF4-FFF2-40B4-BE49-F238E27FC236}">
                <a16:creationId xmlns:a16="http://schemas.microsoft.com/office/drawing/2014/main" id="{2499D514-9105-4111-8B91-F8810A02CA1E}"/>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2299158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2939D947-A124-40F1-A1CD-BD82F65EC023}"/>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FA1E931-F403-4304-9F63-1E06B9CECA24}"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3" name="Rectangle 12">
            <a:extLst>
              <a:ext uri="{FF2B5EF4-FFF2-40B4-BE49-F238E27FC236}">
                <a16:creationId xmlns:a16="http://schemas.microsoft.com/office/drawing/2014/main" id="{3EDE26CF-7FFF-494A-9127-8D239D271FE7}"/>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4" name="Rectangle 13">
            <a:extLst>
              <a:ext uri="{FF2B5EF4-FFF2-40B4-BE49-F238E27FC236}">
                <a16:creationId xmlns:a16="http://schemas.microsoft.com/office/drawing/2014/main" id="{008D1E9E-3392-4D0F-B80B-A17511304F48}"/>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5713883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11">
            <a:extLst>
              <a:ext uri="{FF2B5EF4-FFF2-40B4-BE49-F238E27FC236}">
                <a16:creationId xmlns:a16="http://schemas.microsoft.com/office/drawing/2014/main" id="{E3958604-85A8-4A4E-97A7-ABA204D8DF83}"/>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D999AFF-1278-442B-856D-5DA176929955}"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2">
            <a:extLst>
              <a:ext uri="{FF2B5EF4-FFF2-40B4-BE49-F238E27FC236}">
                <a16:creationId xmlns:a16="http://schemas.microsoft.com/office/drawing/2014/main" id="{84B8F9BB-0FC1-41C7-ADBB-7B2886ABC111}"/>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7" name="Rectangle 13">
            <a:extLst>
              <a:ext uri="{FF2B5EF4-FFF2-40B4-BE49-F238E27FC236}">
                <a16:creationId xmlns:a16="http://schemas.microsoft.com/office/drawing/2014/main" id="{0CABE9D4-E092-4117-9D3B-3D8D4681F1E9}"/>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6881627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11">
            <a:extLst>
              <a:ext uri="{FF2B5EF4-FFF2-40B4-BE49-F238E27FC236}">
                <a16:creationId xmlns:a16="http://schemas.microsoft.com/office/drawing/2014/main" id="{ED75601F-C8A4-4A90-80B4-5F520901F0CD}"/>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5896CE0-495C-4667-B550-99C326EA790F}"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2">
            <a:extLst>
              <a:ext uri="{FF2B5EF4-FFF2-40B4-BE49-F238E27FC236}">
                <a16:creationId xmlns:a16="http://schemas.microsoft.com/office/drawing/2014/main" id="{72DF7F1E-3D7B-4FB8-A9F7-B9D427D05816}"/>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7" name="Rectangle 13">
            <a:extLst>
              <a:ext uri="{FF2B5EF4-FFF2-40B4-BE49-F238E27FC236}">
                <a16:creationId xmlns:a16="http://schemas.microsoft.com/office/drawing/2014/main" id="{7AFB0A65-4C06-4F69-91E5-B374EC5B4499}"/>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7930748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564D6AB3-0BE0-4AE2-A565-F6DB7E10D854}"/>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540B1E5B-267A-4BE7-9081-5F0AACC5A54F}"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2">
            <a:extLst>
              <a:ext uri="{FF2B5EF4-FFF2-40B4-BE49-F238E27FC236}">
                <a16:creationId xmlns:a16="http://schemas.microsoft.com/office/drawing/2014/main" id="{984E88F6-7B9B-48EF-88D1-8B85462701E2}"/>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3">
            <a:extLst>
              <a:ext uri="{FF2B5EF4-FFF2-40B4-BE49-F238E27FC236}">
                <a16:creationId xmlns:a16="http://schemas.microsoft.com/office/drawing/2014/main" id="{6AFD07A6-C54B-4303-8783-79A5AA51DF0A}"/>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6911018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762004"/>
            <a:ext cx="1981200" cy="53244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762004"/>
            <a:ext cx="5791200" cy="53244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BE454C69-05BB-4376-BF5B-F23F07E40E4A}"/>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5BFDB41-B124-4EA0-B637-71E64E804772}"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2">
            <a:extLst>
              <a:ext uri="{FF2B5EF4-FFF2-40B4-BE49-F238E27FC236}">
                <a16:creationId xmlns:a16="http://schemas.microsoft.com/office/drawing/2014/main" id="{4BE95B74-3904-4687-A858-1857057DFA2E}"/>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3">
            <a:extLst>
              <a:ext uri="{FF2B5EF4-FFF2-40B4-BE49-F238E27FC236}">
                <a16:creationId xmlns:a16="http://schemas.microsoft.com/office/drawing/2014/main" id="{001F3940-CBCF-4E25-ACC0-395A595B0371}"/>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9311580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p>
            <a:r>
              <a:rPr lang="en-US"/>
              <a:t>Click to edit Master title style</a:t>
            </a:r>
          </a:p>
        </p:txBody>
      </p:sp>
      <p:sp>
        <p:nvSpPr>
          <p:cNvPr id="3" name="Table Placeholder 2"/>
          <p:cNvSpPr>
            <a:spLocks noGrp="1"/>
          </p:cNvSpPr>
          <p:nvPr>
            <p:ph type="tbl" idx="1"/>
          </p:nvPr>
        </p:nvSpPr>
        <p:spPr>
          <a:xfrm>
            <a:off x="838202" y="2362204"/>
            <a:ext cx="7693025" cy="3724275"/>
          </a:xfrm>
        </p:spPr>
        <p:txBody>
          <a:bodyPr/>
          <a:lstStyle/>
          <a:p>
            <a:pPr lvl="0"/>
            <a:r>
              <a:rPr lang="en-US" noProof="0"/>
              <a:t>Click icon to add table</a:t>
            </a:r>
          </a:p>
        </p:txBody>
      </p:sp>
      <p:sp>
        <p:nvSpPr>
          <p:cNvPr id="4" name="Rectangle 11">
            <a:extLst>
              <a:ext uri="{FF2B5EF4-FFF2-40B4-BE49-F238E27FC236}">
                <a16:creationId xmlns:a16="http://schemas.microsoft.com/office/drawing/2014/main" id="{BF77D68F-D4CE-414A-BDA9-E33AB488CC07}"/>
              </a:ext>
            </a:extLst>
          </p:cNvPr>
          <p:cNvSpPr>
            <a:spLocks noGrp="1" noChangeArrowheads="1"/>
          </p:cNvSpPr>
          <p:nvPr>
            <p:ph type="dt" sz="half" idx="10"/>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C9712A5-15C0-46B1-B4C5-317166927FB6}"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5" name="Rectangle 12">
            <a:extLst>
              <a:ext uri="{FF2B5EF4-FFF2-40B4-BE49-F238E27FC236}">
                <a16:creationId xmlns:a16="http://schemas.microsoft.com/office/drawing/2014/main" id="{2B1A1324-E8FC-418E-94C0-85F2BD7D6EDE}"/>
              </a:ext>
            </a:extLst>
          </p:cNvPr>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6" name="Rectangle 13">
            <a:extLst>
              <a:ext uri="{FF2B5EF4-FFF2-40B4-BE49-F238E27FC236}">
                <a16:creationId xmlns:a16="http://schemas.microsoft.com/office/drawing/2014/main" id="{E9B9D749-3CF9-4C82-90AE-BA2A543AFDF7}"/>
              </a:ext>
            </a:extLst>
          </p:cNvPr>
          <p:cNvSpPr>
            <a:spLocks noGrp="1" noChangeArrowheads="1"/>
          </p:cNvSpPr>
          <p:nvPr>
            <p:ph type="sldNum" sz="quarter" idx="12"/>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86258667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9712A5-15C0-46B1-B4C5-317166927FB6}" type="datetime1">
              <a:rPr lang="en-US" smtClean="0"/>
              <a:t>10/8/2023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12D027-24A8-4AF6-867F-FA52C9C9E1D1}" type="slidenum">
              <a:rPr lang="en-US" smtClean="0"/>
              <a:t>‹#›</a:t>
            </a:fld>
            <a:endParaRPr lang="en-US"/>
          </a:p>
        </p:txBody>
      </p:sp>
    </p:spTree>
    <p:extLst>
      <p:ext uri="{BB962C8B-B14F-4D97-AF65-F5344CB8AC3E}">
        <p14:creationId xmlns:p14="http://schemas.microsoft.com/office/powerpoint/2010/main" val="43850419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B2A3329E-0904-47A4-ACB5-5B91293A5AE5}"/>
              </a:ext>
            </a:extLst>
          </p:cNvPr>
          <p:cNvGrpSpPr>
            <a:grpSpLocks/>
          </p:cNvGrpSpPr>
          <p:nvPr/>
        </p:nvGrpSpPr>
        <p:grpSpPr bwMode="auto">
          <a:xfrm>
            <a:off x="0" y="0"/>
            <a:ext cx="7620000" cy="6858000"/>
            <a:chOff x="0" y="0"/>
            <a:chExt cx="4800" cy="4320"/>
          </a:xfrm>
        </p:grpSpPr>
        <p:grpSp>
          <p:nvGrpSpPr>
            <p:cNvPr id="1032" name="Group 3">
              <a:extLst>
                <a:ext uri="{FF2B5EF4-FFF2-40B4-BE49-F238E27FC236}">
                  <a16:creationId xmlns:a16="http://schemas.microsoft.com/office/drawing/2014/main" id="{0FF77DB7-AD29-49C8-93AA-EA0184FC38B0}"/>
                </a:ext>
              </a:extLst>
            </p:cNvPr>
            <p:cNvGrpSpPr>
              <a:grpSpLocks/>
            </p:cNvGrpSpPr>
            <p:nvPr/>
          </p:nvGrpSpPr>
          <p:grpSpPr bwMode="auto">
            <a:xfrm>
              <a:off x="0" y="0"/>
              <a:ext cx="2016" cy="4320"/>
              <a:chOff x="0" y="0"/>
              <a:chExt cx="2016" cy="4320"/>
            </a:xfrm>
          </p:grpSpPr>
          <p:sp>
            <p:nvSpPr>
              <p:cNvPr id="1036" name="Rectangle 4">
                <a:extLst>
                  <a:ext uri="{FF2B5EF4-FFF2-40B4-BE49-F238E27FC236}">
                    <a16:creationId xmlns:a16="http://schemas.microsoft.com/office/drawing/2014/main" id="{D438BB5E-926C-4E0C-9E77-FE8E0784A033}"/>
                  </a:ext>
                </a:extLst>
              </p:cNvPr>
              <p:cNvSpPr>
                <a:spLocks noChangeArrowheads="1"/>
              </p:cNvSpPr>
              <p:nvPr/>
            </p:nvSpPr>
            <p:spPr bwMode="auto">
              <a:xfrm>
                <a:off x="0" y="0"/>
                <a:ext cx="480" cy="432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altLang="en-PK" sz="1800" b="0" i="0" u="none" strike="noStrike" kern="1200" cap="none" spc="0" normalizeH="0" baseline="0" noProof="0">
                  <a:ln>
                    <a:noFill/>
                  </a:ln>
                  <a:solidFill>
                    <a:srgbClr val="003366"/>
                  </a:solidFill>
                  <a:effectLst/>
                  <a:uLnTx/>
                  <a:uFillTx/>
                  <a:latin typeface="Arial" panose="020B0604020202020204" pitchFamily="34" charset="0"/>
                  <a:ea typeface="+mn-ea"/>
                  <a:cs typeface="+mn-cs"/>
                </a:endParaRPr>
              </a:p>
            </p:txBody>
          </p:sp>
          <p:sp>
            <p:nvSpPr>
              <p:cNvPr id="1037" name="Freeform 5">
                <a:extLst>
                  <a:ext uri="{FF2B5EF4-FFF2-40B4-BE49-F238E27FC236}">
                    <a16:creationId xmlns:a16="http://schemas.microsoft.com/office/drawing/2014/main" id="{95302D45-DF44-4885-8F20-439784359D8D}"/>
                  </a:ext>
                </a:extLst>
              </p:cNvPr>
              <p:cNvSpPr>
                <a:spLocks/>
              </p:cNvSpPr>
              <p:nvPr/>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xtLst>
                <a:ext uri="{91240B29-F687-4F45-9708-019B960494DF}">
                  <a14:hiddenLine xmlns:a14="http://schemas.microsoft.com/office/drawing/2010/main" w="9525" cap="flat" cmpd="sng">
                    <a:solidFill>
                      <a:srgbClr val="000000"/>
                    </a:solidFill>
                    <a:prstDash val="solid"/>
                    <a:miter lim="800000"/>
                    <a:headEnd type="none" w="med" len="med"/>
                    <a:tailEnd type="none" w="med" len="me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sz="1800" b="0" i="0" u="none" strike="noStrike" kern="1200" cap="none" spc="0" normalizeH="0" baseline="0" noProof="0">
                  <a:ln>
                    <a:noFill/>
                  </a:ln>
                  <a:solidFill>
                    <a:srgbClr val="003366"/>
                  </a:solidFill>
                  <a:effectLst/>
                  <a:uLnTx/>
                  <a:uFillTx/>
                  <a:latin typeface="Arial"/>
                  <a:ea typeface="+mn-ea"/>
                  <a:cs typeface="+mn-cs"/>
                </a:endParaRPr>
              </a:p>
            </p:txBody>
          </p:sp>
        </p:grpSp>
        <p:grpSp>
          <p:nvGrpSpPr>
            <p:cNvPr id="1033" name="Group 6">
              <a:extLst>
                <a:ext uri="{FF2B5EF4-FFF2-40B4-BE49-F238E27FC236}">
                  <a16:creationId xmlns:a16="http://schemas.microsoft.com/office/drawing/2014/main" id="{165704AF-ADD4-4E42-9951-9885E2AF3F0F}"/>
                </a:ext>
              </a:extLst>
            </p:cNvPr>
            <p:cNvGrpSpPr>
              <a:grpSpLocks/>
            </p:cNvGrpSpPr>
            <p:nvPr/>
          </p:nvGrpSpPr>
          <p:grpSpPr bwMode="auto">
            <a:xfrm>
              <a:off x="144" y="1248"/>
              <a:ext cx="4656" cy="201"/>
              <a:chOff x="144" y="1248"/>
              <a:chExt cx="4656" cy="201"/>
            </a:xfrm>
          </p:grpSpPr>
          <p:sp>
            <p:nvSpPr>
              <p:cNvPr id="1034" name="AutoShape 7">
                <a:extLst>
                  <a:ext uri="{FF2B5EF4-FFF2-40B4-BE49-F238E27FC236}">
                    <a16:creationId xmlns:a16="http://schemas.microsoft.com/office/drawing/2014/main" id="{AD015C4F-F9D0-48B2-8315-4799ABF1D801}"/>
                  </a:ext>
                </a:extLst>
              </p:cNvPr>
              <p:cNvSpPr>
                <a:spLocks noChangeArrowheads="1"/>
              </p:cNvSpPr>
              <p:nvPr/>
            </p:nvSpPr>
            <p:spPr bwMode="auto">
              <a:xfrm>
                <a:off x="384" y="1248"/>
                <a:ext cx="4416" cy="200"/>
              </a:xfrm>
              <a:prstGeom prst="roundRect">
                <a:avLst>
                  <a:gd name="adj" fmla="val 0"/>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altLang="en-PK" sz="1800" b="0" i="0" u="none" strike="noStrike" kern="1200" cap="none" spc="0" normalizeH="0" baseline="0" noProof="0">
                  <a:ln>
                    <a:noFill/>
                  </a:ln>
                  <a:solidFill>
                    <a:srgbClr val="003366"/>
                  </a:solidFill>
                  <a:effectLst/>
                  <a:uLnTx/>
                  <a:uFillTx/>
                  <a:latin typeface="Arial" panose="020B0604020202020204" pitchFamily="34" charset="0"/>
                  <a:ea typeface="+mn-ea"/>
                  <a:cs typeface="+mn-cs"/>
                </a:endParaRPr>
              </a:p>
            </p:txBody>
          </p:sp>
          <p:sp>
            <p:nvSpPr>
              <p:cNvPr id="1035" name="AutoShape 8">
                <a:extLst>
                  <a:ext uri="{FF2B5EF4-FFF2-40B4-BE49-F238E27FC236}">
                    <a16:creationId xmlns:a16="http://schemas.microsoft.com/office/drawing/2014/main" id="{7C227202-0AB4-426A-A6CB-F2C45BDC74EA}"/>
                  </a:ext>
                </a:extLst>
              </p:cNvPr>
              <p:cNvSpPr>
                <a:spLocks noChangeArrowheads="1"/>
              </p:cNvSpPr>
              <p:nvPr/>
            </p:nvSpPr>
            <p:spPr bwMode="auto">
              <a:xfrm flipH="1">
                <a:off x="144" y="1248"/>
                <a:ext cx="248" cy="201"/>
              </a:xfrm>
              <a:prstGeom prst="flowChartDelay">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K" altLang="en-PK" sz="1800" b="0" i="0" u="none" strike="noStrike" kern="1200" cap="none" spc="0" normalizeH="0" baseline="0" noProof="0">
                  <a:ln>
                    <a:noFill/>
                  </a:ln>
                  <a:solidFill>
                    <a:srgbClr val="003366"/>
                  </a:solidFill>
                  <a:effectLst/>
                  <a:uLnTx/>
                  <a:uFillTx/>
                  <a:latin typeface="Arial" panose="020B0604020202020204" pitchFamily="34" charset="0"/>
                  <a:ea typeface="+mn-ea"/>
                  <a:cs typeface="+mn-cs"/>
                </a:endParaRPr>
              </a:p>
            </p:txBody>
          </p:sp>
        </p:grpSp>
      </p:grpSp>
      <p:sp>
        <p:nvSpPr>
          <p:cNvPr id="1027" name="AutoShape 9">
            <a:extLst>
              <a:ext uri="{FF2B5EF4-FFF2-40B4-BE49-F238E27FC236}">
                <a16:creationId xmlns:a16="http://schemas.microsoft.com/office/drawing/2014/main" id="{A90FCFEC-9F9D-4254-8D92-7B25B6EE3A30}"/>
              </a:ext>
            </a:extLst>
          </p:cNvPr>
          <p:cNvSpPr>
            <a:spLocks noGrp="1" noChangeArrowheads="1"/>
          </p:cNvSpPr>
          <p:nvPr>
            <p:ph type="title"/>
          </p:nvPr>
        </p:nvSpPr>
        <p:spPr bwMode="auto">
          <a:xfrm>
            <a:off x="762000" y="762000"/>
            <a:ext cx="7924800" cy="1143000"/>
          </a:xfrm>
          <a:prstGeom prst="roundRect">
            <a:avLst>
              <a:gd name="adj" fmla="val 21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pPr lvl="0"/>
            <a:r>
              <a:rPr lang="en-US" altLang="en-PK"/>
              <a:t>Click to edit Master title style</a:t>
            </a:r>
          </a:p>
        </p:txBody>
      </p:sp>
      <p:sp>
        <p:nvSpPr>
          <p:cNvPr id="1028" name="Rectangle 10">
            <a:extLst>
              <a:ext uri="{FF2B5EF4-FFF2-40B4-BE49-F238E27FC236}">
                <a16:creationId xmlns:a16="http://schemas.microsoft.com/office/drawing/2014/main" id="{B398F237-95A9-4BFF-B4A1-C78F7FF69C6E}"/>
              </a:ext>
            </a:extLst>
          </p:cNvPr>
          <p:cNvSpPr>
            <a:spLocks noGrp="1" noChangeArrowheads="1"/>
          </p:cNvSpPr>
          <p:nvPr>
            <p:ph type="body" idx="1"/>
          </p:nvPr>
        </p:nvSpPr>
        <p:spPr bwMode="auto">
          <a:xfrm>
            <a:off x="838202" y="2362204"/>
            <a:ext cx="7693025"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PK"/>
              <a:t>Edit Master text styles</a:t>
            </a:r>
          </a:p>
          <a:p>
            <a:pPr lvl="1"/>
            <a:r>
              <a:rPr lang="en-US" altLang="en-PK"/>
              <a:t>Second level</a:t>
            </a:r>
          </a:p>
          <a:p>
            <a:pPr lvl="2"/>
            <a:r>
              <a:rPr lang="en-US" altLang="en-PK"/>
              <a:t>Third level</a:t>
            </a:r>
          </a:p>
          <a:p>
            <a:pPr lvl="3"/>
            <a:r>
              <a:rPr lang="en-US" altLang="en-PK"/>
              <a:t>Fourth level</a:t>
            </a:r>
          </a:p>
          <a:p>
            <a:pPr lvl="4"/>
            <a:r>
              <a:rPr lang="en-US" altLang="en-PK"/>
              <a:t>Fifth level</a:t>
            </a:r>
          </a:p>
        </p:txBody>
      </p:sp>
      <p:sp>
        <p:nvSpPr>
          <p:cNvPr id="4107" name="Rectangle 11">
            <a:extLst>
              <a:ext uri="{FF2B5EF4-FFF2-40B4-BE49-F238E27FC236}">
                <a16:creationId xmlns:a16="http://schemas.microsoft.com/office/drawing/2014/main" id="{1D379FF3-7792-4E0A-B32B-CDBBF4ABCF0C}"/>
              </a:ext>
            </a:extLst>
          </p:cNvPr>
          <p:cNvSpPr>
            <a:spLocks noGrp="1" noChangeArrowheads="1"/>
          </p:cNvSpPr>
          <p:nvPr>
            <p:ph type="dt" sz="half" idx="2"/>
          </p:nvPr>
        </p:nvSpPr>
        <p:spPr bwMode="auto">
          <a:xfrm>
            <a:off x="2438402" y="6248404"/>
            <a:ext cx="2130425"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atin typeface="Arial"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C9712A5-15C0-46B1-B4C5-317166927FB6}" type="datetime1">
              <a:rPr kumimoji="0" lang="en-US" sz="1400" b="0" i="0" u="none" strike="noStrike" kern="1200" cap="none" spc="0" normalizeH="0" baseline="0" noProof="0" smtClean="0">
                <a:ln>
                  <a:noFill/>
                </a:ln>
                <a:solidFill>
                  <a:srgbClr val="003366"/>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10/8/2023</a:t>
            </a:fld>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4108" name="Rectangle 12">
            <a:extLst>
              <a:ext uri="{FF2B5EF4-FFF2-40B4-BE49-F238E27FC236}">
                <a16:creationId xmlns:a16="http://schemas.microsoft.com/office/drawing/2014/main" id="{5F8406A0-86DE-4CF8-BE66-1FC1EC81C117}"/>
              </a:ext>
            </a:extLst>
          </p:cNvPr>
          <p:cNvSpPr>
            <a:spLocks noGrp="1" noChangeArrowheads="1"/>
          </p:cNvSpPr>
          <p:nvPr>
            <p:ph type="ftr" sz="quarter" idx="3"/>
          </p:nvPr>
        </p:nvSpPr>
        <p:spPr bwMode="auto">
          <a:xfrm>
            <a:off x="5791200" y="6248404"/>
            <a:ext cx="2897188"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Arial"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3366"/>
              </a:solidFill>
              <a:effectLst/>
              <a:uLnTx/>
              <a:uFillTx/>
              <a:latin typeface="Arial" charset="0"/>
              <a:ea typeface="+mn-ea"/>
              <a:cs typeface="+mn-cs"/>
            </a:endParaRPr>
          </a:p>
        </p:txBody>
      </p:sp>
      <p:sp>
        <p:nvSpPr>
          <p:cNvPr id="4109" name="Rectangle 13">
            <a:extLst>
              <a:ext uri="{FF2B5EF4-FFF2-40B4-BE49-F238E27FC236}">
                <a16:creationId xmlns:a16="http://schemas.microsoft.com/office/drawing/2014/main" id="{B08A31F9-D76D-43DC-8BDE-F2140B37C315}"/>
              </a:ext>
            </a:extLst>
          </p:cNvPr>
          <p:cNvSpPr>
            <a:spLocks noGrp="1" noChangeArrowheads="1"/>
          </p:cNvSpPr>
          <p:nvPr>
            <p:ph type="sldNum" sz="quarter" idx="4"/>
          </p:nvPr>
        </p:nvSpPr>
        <p:spPr bwMode="auto">
          <a:xfrm>
            <a:off x="84140" y="6242050"/>
            <a:ext cx="587375" cy="488950"/>
          </a:xfrm>
          <a:prstGeom prst="rect">
            <a:avLst/>
          </a:prstGeom>
          <a:noFill/>
          <a:ln w="9525">
            <a:noFill/>
            <a:miter lim="800000"/>
            <a:headEnd/>
            <a:tailEnd/>
          </a:ln>
          <a:effectLst/>
        </p:spPr>
        <p:txBody>
          <a:bodyPr vert="horz" wrap="square" lIns="91440" tIns="45720" rIns="91440" bIns="45720" numCol="1" anchor="b" anchorCtr="1" compatLnSpc="1">
            <a:prstTxWarp prst="textNoShape">
              <a:avLst/>
            </a:prstTxWarp>
          </a:bodyPr>
          <a:lstStyle>
            <a:lvl1pPr eaLnBrk="1" hangingPunct="1">
              <a:defRPr sz="2600" b="1">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012D027-24A8-4AF6-867F-FA52C9C9E1D1}" type="slidenum">
              <a:rPr kumimoji="0" lang="en-US" sz="26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26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97205444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hf sldNum="0" hdr="0" ftr="0" dt="0"/>
  <p:txStyles>
    <p:titleStyle>
      <a:lvl1pPr algn="l" rtl="0" eaLnBrk="1" fontAlgn="base" hangingPunct="1">
        <a:lnSpc>
          <a:spcPct val="90000"/>
        </a:lnSpc>
        <a:spcBef>
          <a:spcPct val="0"/>
        </a:spcBef>
        <a:spcAft>
          <a:spcPct val="0"/>
        </a:spcAft>
        <a:defRPr sz="3600" b="1">
          <a:solidFill>
            <a:schemeClr val="tx2"/>
          </a:solidFill>
          <a:latin typeface="+mj-lt"/>
          <a:ea typeface="+mj-ea"/>
          <a:cs typeface="+mj-cs"/>
        </a:defRPr>
      </a:lvl1pPr>
      <a:lvl2pPr algn="l" rtl="0" eaLnBrk="1" fontAlgn="base" hangingPunct="1">
        <a:lnSpc>
          <a:spcPct val="90000"/>
        </a:lnSpc>
        <a:spcBef>
          <a:spcPct val="0"/>
        </a:spcBef>
        <a:spcAft>
          <a:spcPct val="0"/>
        </a:spcAft>
        <a:defRPr sz="3600" b="1">
          <a:solidFill>
            <a:schemeClr val="tx2"/>
          </a:solidFill>
          <a:latin typeface="Arial" charset="0"/>
        </a:defRPr>
      </a:lvl2pPr>
      <a:lvl3pPr algn="l" rtl="0" eaLnBrk="1" fontAlgn="base" hangingPunct="1">
        <a:lnSpc>
          <a:spcPct val="90000"/>
        </a:lnSpc>
        <a:spcBef>
          <a:spcPct val="0"/>
        </a:spcBef>
        <a:spcAft>
          <a:spcPct val="0"/>
        </a:spcAft>
        <a:defRPr sz="3600" b="1">
          <a:solidFill>
            <a:schemeClr val="tx2"/>
          </a:solidFill>
          <a:latin typeface="Arial" charset="0"/>
        </a:defRPr>
      </a:lvl3pPr>
      <a:lvl4pPr algn="l" rtl="0" eaLnBrk="1" fontAlgn="base" hangingPunct="1">
        <a:lnSpc>
          <a:spcPct val="90000"/>
        </a:lnSpc>
        <a:spcBef>
          <a:spcPct val="0"/>
        </a:spcBef>
        <a:spcAft>
          <a:spcPct val="0"/>
        </a:spcAft>
        <a:defRPr sz="3600" b="1">
          <a:solidFill>
            <a:schemeClr val="tx2"/>
          </a:solidFill>
          <a:latin typeface="Arial" charset="0"/>
        </a:defRPr>
      </a:lvl4pPr>
      <a:lvl5pPr algn="l" rtl="0" eaLnBrk="1" fontAlgn="base" hangingPunct="1">
        <a:lnSpc>
          <a:spcPct val="90000"/>
        </a:lnSpc>
        <a:spcBef>
          <a:spcPct val="0"/>
        </a:spcBef>
        <a:spcAft>
          <a:spcPct val="0"/>
        </a:spcAft>
        <a:defRPr sz="3600" b="1">
          <a:solidFill>
            <a:schemeClr val="tx2"/>
          </a:solidFill>
          <a:latin typeface="Arial" charset="0"/>
        </a:defRPr>
      </a:lvl5pPr>
      <a:lvl6pPr marL="457200" algn="l" rtl="0" eaLnBrk="1" fontAlgn="base" hangingPunct="1">
        <a:lnSpc>
          <a:spcPct val="90000"/>
        </a:lnSpc>
        <a:spcBef>
          <a:spcPct val="0"/>
        </a:spcBef>
        <a:spcAft>
          <a:spcPct val="0"/>
        </a:spcAft>
        <a:defRPr sz="3600" b="1">
          <a:solidFill>
            <a:schemeClr val="tx2"/>
          </a:solidFill>
          <a:latin typeface="Arial" charset="0"/>
        </a:defRPr>
      </a:lvl6pPr>
      <a:lvl7pPr marL="914400" algn="l" rtl="0" eaLnBrk="1" fontAlgn="base" hangingPunct="1">
        <a:lnSpc>
          <a:spcPct val="90000"/>
        </a:lnSpc>
        <a:spcBef>
          <a:spcPct val="0"/>
        </a:spcBef>
        <a:spcAft>
          <a:spcPct val="0"/>
        </a:spcAft>
        <a:defRPr sz="3600" b="1">
          <a:solidFill>
            <a:schemeClr val="tx2"/>
          </a:solidFill>
          <a:latin typeface="Arial" charset="0"/>
        </a:defRPr>
      </a:lvl7pPr>
      <a:lvl8pPr marL="1371600" algn="l" rtl="0" eaLnBrk="1" fontAlgn="base" hangingPunct="1">
        <a:lnSpc>
          <a:spcPct val="90000"/>
        </a:lnSpc>
        <a:spcBef>
          <a:spcPct val="0"/>
        </a:spcBef>
        <a:spcAft>
          <a:spcPct val="0"/>
        </a:spcAft>
        <a:defRPr sz="3600" b="1">
          <a:solidFill>
            <a:schemeClr val="tx2"/>
          </a:solidFill>
          <a:latin typeface="Arial" charset="0"/>
        </a:defRPr>
      </a:lvl8pPr>
      <a:lvl9pPr marL="1828800" algn="l" rtl="0" eaLnBrk="1" fontAlgn="base" hangingPunct="1">
        <a:lnSpc>
          <a:spcPct val="90000"/>
        </a:lnSpc>
        <a:spcBef>
          <a:spcPct val="0"/>
        </a:spcBef>
        <a:spcAft>
          <a:spcPct val="0"/>
        </a:spcAft>
        <a:defRPr sz="3600" b="1">
          <a:solidFill>
            <a:schemeClr val="tx2"/>
          </a:solidFill>
          <a:latin typeface="Arial" charset="0"/>
        </a:defRPr>
      </a:lvl9pPr>
    </p:titleStyle>
    <p:bodyStyle>
      <a:lvl1pPr marL="342900" indent="-342900" algn="l" rtl="0" eaLnBrk="1" fontAlgn="base" hangingPunct="1">
        <a:spcBef>
          <a:spcPct val="20000"/>
        </a:spcBef>
        <a:spcAft>
          <a:spcPct val="0"/>
        </a:spcAft>
        <a:buClr>
          <a:schemeClr val="tx1"/>
        </a:buClr>
        <a:buSzPct val="75000"/>
        <a:buFont typeface="Wingdings" panose="05000000000000000000" pitchFamily="2" charset="2"/>
        <a:buChar char="l"/>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SzPct val="75000"/>
        <a:buChar char="–"/>
        <a:defRPr sz="2400">
          <a:solidFill>
            <a:schemeClr val="tx1"/>
          </a:solidFill>
          <a:latin typeface="+mn-lt"/>
        </a:defRPr>
      </a:lvl2pPr>
      <a:lvl3pPr marL="1143000" indent="-228600" algn="l" rtl="0" eaLnBrk="1" fontAlgn="base" hangingPunct="1">
        <a:spcBef>
          <a:spcPct val="20000"/>
        </a:spcBef>
        <a:spcAft>
          <a:spcPct val="0"/>
        </a:spcAft>
        <a:buClr>
          <a:schemeClr val="tx1"/>
        </a:buClr>
        <a:buSzPct val="75000"/>
        <a:buFont typeface="Wingdings" panose="05000000000000000000" pitchFamily="2" charset="2"/>
        <a:buChar char="l"/>
        <a:defRPr sz="2000">
          <a:solidFill>
            <a:schemeClr val="tx1"/>
          </a:solidFill>
          <a:latin typeface="+mn-lt"/>
        </a:defRPr>
      </a:lvl3pPr>
      <a:lvl4pPr marL="1600200" indent="-228600" algn="l" rtl="0" eaLnBrk="1" fontAlgn="base" hangingPunct="1">
        <a:spcBef>
          <a:spcPct val="20000"/>
        </a:spcBef>
        <a:spcAft>
          <a:spcPct val="0"/>
        </a:spcAft>
        <a:buClr>
          <a:schemeClr val="tx1"/>
        </a:buClr>
        <a:buSzPct val="80000"/>
        <a:buChar char="–"/>
        <a:defRPr sz="2000">
          <a:solidFill>
            <a:schemeClr val="tx1"/>
          </a:solidFill>
          <a:latin typeface="+mn-lt"/>
        </a:defRPr>
      </a:lvl4pPr>
      <a:lvl5pPr marL="2057400" indent="-228600" algn="l" rtl="0" eaLnBrk="1" fontAlgn="base" hangingPunct="1">
        <a:spcBef>
          <a:spcPct val="20000"/>
        </a:spcBef>
        <a:spcAft>
          <a:spcPct val="0"/>
        </a:spcAft>
        <a:buClr>
          <a:schemeClr val="tx1"/>
        </a:buClr>
        <a:buSzPct val="65000"/>
        <a:buFont typeface="Wingdings" panose="05000000000000000000" pitchFamily="2" charset="2"/>
        <a:buChar char="l"/>
        <a:defRPr sz="2000">
          <a:solidFill>
            <a:schemeClr val="tx1"/>
          </a:solidFill>
          <a:latin typeface="+mn-lt"/>
        </a:defRPr>
      </a:lvl5pPr>
      <a:lvl6pPr marL="25146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Farhad.Muhammad@numl.edu.pk" TargetMode="Externa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tiff"/><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5.tiff"/><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8AC916-7461-472A-83D2-C4792120EBB9}"/>
              </a:ext>
            </a:extLst>
          </p:cNvPr>
          <p:cNvSpPr txBox="1"/>
          <p:nvPr/>
        </p:nvSpPr>
        <p:spPr>
          <a:xfrm>
            <a:off x="4038278" y="5819024"/>
            <a:ext cx="5528603"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3366">
                    <a:lumMod val="75000"/>
                  </a:srgbClr>
                </a:solidFill>
                <a:effectLst/>
                <a:uLnTx/>
                <a:uFillTx/>
                <a:latin typeface="Times New Roman" panose="02020603050405020304" pitchFamily="18" charset="0"/>
                <a:ea typeface="+mn-ea"/>
                <a:cs typeface="Times New Roman" panose="02020603050405020304" pitchFamily="18" charset="0"/>
              </a:rPr>
              <a:t>Department of Computer Science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3366">
                    <a:lumMod val="75000"/>
                  </a:srgbClr>
                </a:solidFill>
                <a:effectLst/>
                <a:uLnTx/>
                <a:uFillTx/>
                <a:latin typeface="Times New Roman" panose="02020603050405020304" pitchFamily="18" charset="0"/>
                <a:ea typeface="+mn-ea"/>
                <a:cs typeface="Times New Roman" panose="02020603050405020304" pitchFamily="18" charset="0"/>
              </a:rPr>
              <a:t>NUML, Islamabad</a:t>
            </a:r>
          </a:p>
        </p:txBody>
      </p:sp>
      <p:sp>
        <p:nvSpPr>
          <p:cNvPr id="4" name="Subtitle 3"/>
          <p:cNvSpPr>
            <a:spLocks noGrp="1"/>
          </p:cNvSpPr>
          <p:nvPr>
            <p:ph type="subTitle" idx="1"/>
          </p:nvPr>
        </p:nvSpPr>
        <p:spPr/>
        <p:txBody>
          <a:bodyPr/>
          <a:lstStyle/>
          <a:p>
            <a:r>
              <a:rPr lang="en-US" b="1" dirty="0" err="1">
                <a:solidFill>
                  <a:schemeClr val="tx1">
                    <a:lumMod val="75000"/>
                  </a:schemeClr>
                </a:solidFill>
              </a:rPr>
              <a:t>Farhad</a:t>
            </a:r>
            <a:r>
              <a:rPr lang="en-US" b="1" dirty="0">
                <a:solidFill>
                  <a:schemeClr val="tx1">
                    <a:lumMod val="75000"/>
                  </a:schemeClr>
                </a:solidFill>
              </a:rPr>
              <a:t> M. </a:t>
            </a:r>
            <a:r>
              <a:rPr lang="en-US" b="1" dirty="0" err="1">
                <a:solidFill>
                  <a:schemeClr val="tx1">
                    <a:lumMod val="75000"/>
                  </a:schemeClr>
                </a:solidFill>
              </a:rPr>
              <a:t>Riaz</a:t>
            </a:r>
            <a:endParaRPr lang="en-US" b="1" dirty="0">
              <a:solidFill>
                <a:schemeClr val="tx1">
                  <a:lumMod val="75000"/>
                </a:schemeClr>
              </a:solidFill>
            </a:endParaRPr>
          </a:p>
          <a:p>
            <a:r>
              <a:rPr lang="en-US" sz="1800" b="1" dirty="0">
                <a:solidFill>
                  <a:schemeClr val="tx1">
                    <a:lumMod val="75000"/>
                  </a:schemeClr>
                </a:solidFill>
                <a:hlinkClick r:id="rId2"/>
              </a:rPr>
              <a:t>Farhad.Muhammad@numl.edu.pk</a:t>
            </a:r>
            <a:r>
              <a:rPr lang="en-US" b="1" dirty="0">
                <a:solidFill>
                  <a:schemeClr val="tx1">
                    <a:lumMod val="75000"/>
                  </a:schemeClr>
                </a:solidFill>
              </a:rPr>
              <a:t> </a:t>
            </a:r>
          </a:p>
        </p:txBody>
      </p:sp>
      <p:sp>
        <p:nvSpPr>
          <p:cNvPr id="7" name="Title 6"/>
          <p:cNvSpPr>
            <a:spLocks noGrp="1"/>
          </p:cNvSpPr>
          <p:nvPr>
            <p:ph type="ctrTitle" sz="quarter"/>
          </p:nvPr>
        </p:nvSpPr>
        <p:spPr/>
        <p:txBody>
          <a:bodyPr/>
          <a:lstStyle/>
          <a:p>
            <a:pPr algn="r"/>
            <a:r>
              <a:rPr lang="en-US" sz="2800" dirty="0"/>
              <a:t>Parallel &amp; Distributed Computing</a:t>
            </a:r>
            <a:br>
              <a:rPr lang="en-US" sz="2800" dirty="0"/>
            </a:br>
            <a:r>
              <a:rPr lang="en-US" sz="2800" dirty="0"/>
              <a:t>Lecture 6:</a:t>
            </a:r>
            <a:br>
              <a:rPr lang="en-US" sz="2800" dirty="0"/>
            </a:br>
            <a:r>
              <a:rPr lang="en-US" sz="2800" dirty="0">
                <a:latin typeface="+mn-lt"/>
                <a:cs typeface="Times New Roman" panose="02020603050405020304" pitchFamily="18" charset="0"/>
              </a:rPr>
              <a:t>Parallel Programming Models</a:t>
            </a:r>
            <a:endParaRPr lang="en-US" sz="2800" dirty="0">
              <a:latin typeface="+mn-lt"/>
            </a:endParaRPr>
          </a:p>
        </p:txBody>
      </p:sp>
      <p:pic>
        <p:nvPicPr>
          <p:cNvPr id="8" name="Picture 2" descr="NUML Logo PNG Vector (EPS) Free Download">
            <a:extLst>
              <a:ext uri="{FF2B5EF4-FFF2-40B4-BE49-F238E27FC236}">
                <a16:creationId xmlns:a16="http://schemas.microsoft.com/office/drawing/2014/main" id="{2D3C8850-28E9-44A6-8D9F-53E8176364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244" y="1050131"/>
            <a:ext cx="1927513" cy="1785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588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E8CB3-0C31-BB78-24BE-9325FCCD77B8}"/>
              </a:ext>
            </a:extLst>
          </p:cNvPr>
          <p:cNvSpPr>
            <a:spLocks noGrp="1"/>
          </p:cNvSpPr>
          <p:nvPr>
            <p:ph type="title"/>
          </p:nvPr>
        </p:nvSpPr>
        <p:spPr/>
        <p:txBody>
          <a:bodyPr/>
          <a:lstStyle/>
          <a:p>
            <a:r>
              <a:rPr lang="en-US" dirty="0"/>
              <a:t>How does parallel computing works?</a:t>
            </a:r>
            <a:endParaRPr lang="LID4096" dirty="0"/>
          </a:p>
        </p:txBody>
      </p:sp>
      <p:sp>
        <p:nvSpPr>
          <p:cNvPr id="3" name="Content Placeholder 2">
            <a:extLst>
              <a:ext uri="{FF2B5EF4-FFF2-40B4-BE49-F238E27FC236}">
                <a16:creationId xmlns:a16="http://schemas.microsoft.com/office/drawing/2014/main" id="{24D6E677-3580-6C71-05D3-DC58FAB808F2}"/>
              </a:ext>
            </a:extLst>
          </p:cNvPr>
          <p:cNvSpPr>
            <a:spLocks noGrp="1"/>
          </p:cNvSpPr>
          <p:nvPr>
            <p:ph idx="1"/>
          </p:nvPr>
        </p:nvSpPr>
        <p:spPr>
          <a:xfrm>
            <a:off x="885824" y="1825625"/>
            <a:ext cx="4686301" cy="4518025"/>
          </a:xfrm>
        </p:spPr>
        <p:txBody>
          <a:bodyPr>
            <a:noAutofit/>
          </a:bodyPr>
          <a:lstStyle/>
          <a:p>
            <a:pPr algn="just"/>
            <a:r>
              <a:rPr lang="en-US" sz="2000" dirty="0">
                <a:latin typeface="Arial" panose="020B0604020202020204" pitchFamily="34" charset="0"/>
                <a:cs typeface="Arial" panose="020B0604020202020204" pitchFamily="34" charset="0"/>
              </a:rPr>
              <a:t>As a developer, you are responsible for the application software layer, which includes your source code. </a:t>
            </a:r>
          </a:p>
          <a:p>
            <a:pPr algn="just"/>
            <a:r>
              <a:rPr lang="en-US" sz="2000" dirty="0">
                <a:latin typeface="Arial" panose="020B0604020202020204" pitchFamily="34" charset="0"/>
                <a:cs typeface="Arial" panose="020B0604020202020204" pitchFamily="34" charset="0"/>
              </a:rPr>
              <a:t>In the source code, you make choices about the programming language and parallel software interfaces you use to leverage the underlying hardware. </a:t>
            </a:r>
          </a:p>
          <a:p>
            <a:pPr algn="just"/>
            <a:r>
              <a:rPr lang="en-US" sz="2000" dirty="0">
                <a:latin typeface="Arial" panose="020B0604020202020204" pitchFamily="34" charset="0"/>
                <a:cs typeface="Arial" panose="020B0604020202020204" pitchFamily="34" charset="0"/>
              </a:rPr>
              <a:t>Additionally, you decide how to break up your work into parallel units. </a:t>
            </a:r>
          </a:p>
          <a:p>
            <a:pPr algn="just"/>
            <a:r>
              <a:rPr lang="en-US" sz="2000" dirty="0">
                <a:latin typeface="Arial" panose="020B0604020202020204" pitchFamily="34" charset="0"/>
                <a:cs typeface="Arial" panose="020B0604020202020204" pitchFamily="34" charset="0"/>
              </a:rPr>
              <a:t>Approaches a developer can take into</a:t>
            </a:r>
          </a:p>
          <a:p>
            <a:pPr lvl="1" algn="just"/>
            <a:r>
              <a:rPr lang="en-US" sz="2000" dirty="0">
                <a:latin typeface="Arial" panose="020B0604020202020204" pitchFamily="34" charset="0"/>
                <a:cs typeface="Arial" panose="020B0604020202020204" pitchFamily="34" charset="0"/>
              </a:rPr>
              <a:t>Process-based parallelization</a:t>
            </a:r>
          </a:p>
          <a:p>
            <a:pPr lvl="1" algn="just"/>
            <a:r>
              <a:rPr lang="en-US" sz="2000" dirty="0">
                <a:latin typeface="Arial" panose="020B0604020202020204" pitchFamily="34" charset="0"/>
                <a:cs typeface="Arial" panose="020B0604020202020204" pitchFamily="34" charset="0"/>
              </a:rPr>
              <a:t>Thread-based parallelization</a:t>
            </a:r>
          </a:p>
          <a:p>
            <a:pPr lvl="1" algn="just"/>
            <a:r>
              <a:rPr lang="en-US" sz="2000" dirty="0">
                <a:latin typeface="Arial" panose="020B0604020202020204" pitchFamily="34" charset="0"/>
                <a:cs typeface="Arial" panose="020B0604020202020204" pitchFamily="34" charset="0"/>
              </a:rPr>
              <a:t>Vectorization</a:t>
            </a:r>
          </a:p>
          <a:p>
            <a:pPr lvl="1" algn="just"/>
            <a:r>
              <a:rPr lang="en-US" sz="2000" dirty="0">
                <a:latin typeface="Arial" panose="020B0604020202020204" pitchFamily="34" charset="0"/>
                <a:cs typeface="Arial" panose="020B0604020202020204" pitchFamily="34" charset="0"/>
              </a:rPr>
              <a:t>Stream (GPU) processing</a:t>
            </a:r>
            <a:endParaRPr lang="LID4096"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14BEDA4-2865-0322-3420-C7C2B21D3279}"/>
              </a:ext>
            </a:extLst>
          </p:cNvPr>
          <p:cNvPicPr>
            <a:picLocks noChangeAspect="1"/>
          </p:cNvPicPr>
          <p:nvPr/>
        </p:nvPicPr>
        <p:blipFill>
          <a:blip r:embed="rId3"/>
          <a:stretch>
            <a:fillRect/>
          </a:stretch>
        </p:blipFill>
        <p:spPr>
          <a:xfrm>
            <a:off x="5572125" y="1947864"/>
            <a:ext cx="2805113" cy="3400425"/>
          </a:xfrm>
          <a:prstGeom prst="rect">
            <a:avLst/>
          </a:prstGeom>
        </p:spPr>
      </p:pic>
    </p:spTree>
    <p:extLst>
      <p:ext uri="{BB962C8B-B14F-4D97-AF65-F5344CB8AC3E}">
        <p14:creationId xmlns:p14="http://schemas.microsoft.com/office/powerpoint/2010/main" val="3958897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1C426-B848-9A9A-9072-5FD4A4A73919}"/>
              </a:ext>
            </a:extLst>
          </p:cNvPr>
          <p:cNvSpPr>
            <a:spLocks noGrp="1"/>
          </p:cNvSpPr>
          <p:nvPr>
            <p:ph type="title"/>
          </p:nvPr>
        </p:nvSpPr>
        <p:spPr/>
        <p:txBody>
          <a:bodyPr/>
          <a:lstStyle/>
          <a:p>
            <a:r>
              <a:rPr lang="en-US" dirty="0"/>
              <a:t>Example for Sample Application</a:t>
            </a:r>
            <a:endParaRPr lang="LID4096" dirty="0"/>
          </a:p>
        </p:txBody>
      </p:sp>
      <p:sp>
        <p:nvSpPr>
          <p:cNvPr id="3" name="Content Placeholder 2">
            <a:extLst>
              <a:ext uri="{FF2B5EF4-FFF2-40B4-BE49-F238E27FC236}">
                <a16:creationId xmlns:a16="http://schemas.microsoft.com/office/drawing/2014/main" id="{65D376F5-2D00-1957-2B3D-44DD901546C2}"/>
              </a:ext>
            </a:extLst>
          </p:cNvPr>
          <p:cNvSpPr>
            <a:spLocks noGrp="1"/>
          </p:cNvSpPr>
          <p:nvPr>
            <p:ph idx="1"/>
          </p:nvPr>
        </p:nvSpPr>
        <p:spPr>
          <a:xfrm>
            <a:off x="628650" y="1690689"/>
            <a:ext cx="7715250" cy="4828094"/>
          </a:xfrm>
        </p:spPr>
        <p:txBody>
          <a:bodyPr>
            <a:normAutofit fontScale="85000" lnSpcReduction="20000"/>
          </a:bodyPr>
          <a:lstStyle/>
          <a:p>
            <a:pPr algn="just"/>
            <a:r>
              <a:rPr lang="en-US" sz="3200" dirty="0">
                <a:latin typeface="Arial" panose="020B0604020202020204" pitchFamily="34" charset="0"/>
                <a:cs typeface="Arial" panose="020B0604020202020204" pitchFamily="34" charset="0"/>
              </a:rPr>
              <a:t>Perform the computation on a regular two-dimensional (2D) grid of rectangular elements or cells. </a:t>
            </a:r>
          </a:p>
          <a:p>
            <a:pPr algn="just"/>
            <a:r>
              <a:rPr lang="en-US" sz="3200" dirty="0">
                <a:latin typeface="Arial" panose="020B0604020202020204" pitchFamily="34" charset="0"/>
                <a:cs typeface="Arial" panose="020B0604020202020204" pitchFamily="34" charset="0"/>
              </a:rPr>
              <a:t>The steps prepare for the calculation are</a:t>
            </a:r>
          </a:p>
          <a:p>
            <a:pPr lvl="1" algn="just"/>
            <a:r>
              <a:rPr lang="en-US" sz="2800" dirty="0">
                <a:latin typeface="Arial" panose="020B0604020202020204" pitchFamily="34" charset="0"/>
                <a:cs typeface="Arial" panose="020B0604020202020204" pitchFamily="34" charset="0"/>
              </a:rPr>
              <a:t>Discretize (break up) the problem into smaller cells or elements</a:t>
            </a:r>
          </a:p>
          <a:p>
            <a:pPr lvl="1" algn="just"/>
            <a:r>
              <a:rPr lang="en-US" sz="2800" dirty="0">
                <a:latin typeface="Arial" panose="020B0604020202020204" pitchFamily="34" charset="0"/>
                <a:cs typeface="Arial" panose="020B0604020202020204" pitchFamily="34" charset="0"/>
              </a:rPr>
              <a:t>Define a computational kernel (operation) to conduct on each element</a:t>
            </a:r>
          </a:p>
          <a:p>
            <a:pPr lvl="1" algn="just"/>
            <a:r>
              <a:rPr lang="en-US" sz="2800" dirty="0">
                <a:latin typeface="Arial" panose="020B0604020202020204" pitchFamily="34" charset="0"/>
                <a:cs typeface="Arial" panose="020B0604020202020204" pitchFamily="34" charset="0"/>
              </a:rPr>
              <a:t>Add the following layers of parallelization on CPUs and GPUs to perform the</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calculation:</a:t>
            </a:r>
          </a:p>
          <a:p>
            <a:pPr lvl="2" algn="just"/>
            <a:r>
              <a:rPr lang="en-US" sz="2400" dirty="0">
                <a:latin typeface="Arial" panose="020B0604020202020204" pitchFamily="34" charset="0"/>
                <a:cs typeface="Arial" panose="020B0604020202020204" pitchFamily="34" charset="0"/>
              </a:rPr>
              <a:t>Vectorization</a:t>
            </a:r>
          </a:p>
          <a:p>
            <a:pPr lvl="2" algn="just"/>
            <a:r>
              <a:rPr lang="en-US" sz="2400" dirty="0">
                <a:latin typeface="Arial" panose="020B0604020202020204" pitchFamily="34" charset="0"/>
                <a:cs typeface="Arial" panose="020B0604020202020204" pitchFamily="34" charset="0"/>
              </a:rPr>
              <a:t>Threads </a:t>
            </a:r>
          </a:p>
          <a:p>
            <a:pPr lvl="2" algn="just"/>
            <a:r>
              <a:rPr lang="en-US" sz="2400" dirty="0">
                <a:latin typeface="Arial" panose="020B0604020202020204" pitchFamily="34" charset="0"/>
                <a:cs typeface="Arial" panose="020B0604020202020204" pitchFamily="34" charset="0"/>
              </a:rPr>
              <a:t>Processes </a:t>
            </a:r>
          </a:p>
          <a:p>
            <a:pPr lvl="2" algn="just"/>
            <a:r>
              <a:rPr lang="en-US" sz="2400" dirty="0">
                <a:latin typeface="Arial" panose="020B0604020202020204" pitchFamily="34" charset="0"/>
                <a:cs typeface="Arial" panose="020B0604020202020204" pitchFamily="34" charset="0"/>
              </a:rPr>
              <a:t>Off-loading the calculation to GPUs</a:t>
            </a:r>
            <a:endParaRPr lang="LID4096"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90148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dirty="0"/>
              <a:t>Complexity</a:t>
            </a:r>
            <a:endParaRPr lang="en-US" dirty="0"/>
          </a:p>
        </p:txBody>
      </p:sp>
      <p:sp>
        <p:nvSpPr>
          <p:cNvPr id="8" name="Content Placeholder 7"/>
          <p:cNvSpPr>
            <a:spLocks noGrp="1"/>
          </p:cNvSpPr>
          <p:nvPr>
            <p:ph idx="1"/>
          </p:nvPr>
        </p:nvSpPr>
        <p:spPr>
          <a:xfrm>
            <a:off x="628650" y="1825624"/>
            <a:ext cx="7886700" cy="4646613"/>
          </a:xfrm>
        </p:spPr>
        <p:txBody>
          <a:bodyPr>
            <a:noAutofit/>
          </a:bodyPr>
          <a:lstStyle/>
          <a:p>
            <a:pPr algn="just"/>
            <a:r>
              <a:rPr lang="en-US" sz="2000" dirty="0">
                <a:latin typeface="Arial" panose="020B0604020202020204" pitchFamily="34" charset="0"/>
                <a:cs typeface="Arial" panose="020B0604020202020204" pitchFamily="34" charset="0"/>
              </a:rPr>
              <a:t>In general, parallel applications are much more complex than corresponding serial applications. </a:t>
            </a:r>
          </a:p>
          <a:p>
            <a:pPr algn="just"/>
            <a:r>
              <a:rPr lang="en-US" sz="2000" dirty="0">
                <a:latin typeface="Arial" panose="020B0604020202020204" pitchFamily="34" charset="0"/>
                <a:cs typeface="Arial" panose="020B0604020202020204" pitchFamily="34" charset="0"/>
              </a:rPr>
              <a:t>Not only do you have multiple instruction streams executing at the same time, but you also have data flowing between them. </a:t>
            </a:r>
          </a:p>
          <a:p>
            <a:pPr algn="just"/>
            <a:r>
              <a:rPr lang="en-US" sz="2000" dirty="0">
                <a:latin typeface="Arial" panose="020B0604020202020204" pitchFamily="34" charset="0"/>
                <a:cs typeface="Arial" panose="020B0604020202020204" pitchFamily="34" charset="0"/>
              </a:rPr>
              <a:t>The costs of complexity are measured in programmer time in virtually every aspect of the software development cycle:</a:t>
            </a:r>
          </a:p>
          <a:p>
            <a:pPr lvl="1" algn="just"/>
            <a:r>
              <a:rPr lang="en-US" sz="2000" dirty="0">
                <a:latin typeface="Arial" panose="020B0604020202020204" pitchFamily="34" charset="0"/>
                <a:cs typeface="Arial" panose="020B0604020202020204" pitchFamily="34" charset="0"/>
              </a:rPr>
              <a:t>Design</a:t>
            </a:r>
          </a:p>
          <a:p>
            <a:pPr lvl="1" algn="just"/>
            <a:r>
              <a:rPr lang="en-US" sz="2000" dirty="0">
                <a:latin typeface="Arial" panose="020B0604020202020204" pitchFamily="34" charset="0"/>
                <a:cs typeface="Arial" panose="020B0604020202020204" pitchFamily="34" charset="0"/>
              </a:rPr>
              <a:t>Coding</a:t>
            </a:r>
          </a:p>
          <a:p>
            <a:pPr lvl="1" algn="just"/>
            <a:r>
              <a:rPr lang="en-US" sz="2000" dirty="0">
                <a:latin typeface="Arial" panose="020B0604020202020204" pitchFamily="34" charset="0"/>
                <a:cs typeface="Arial" panose="020B0604020202020204" pitchFamily="34" charset="0"/>
              </a:rPr>
              <a:t>Debugging</a:t>
            </a:r>
          </a:p>
          <a:p>
            <a:pPr lvl="1" algn="just"/>
            <a:r>
              <a:rPr lang="en-US" sz="2000" dirty="0">
                <a:latin typeface="Arial" panose="020B0604020202020204" pitchFamily="34" charset="0"/>
                <a:cs typeface="Arial" panose="020B0604020202020204" pitchFamily="34" charset="0"/>
              </a:rPr>
              <a:t>Tuning</a:t>
            </a:r>
          </a:p>
          <a:p>
            <a:pPr lvl="1" algn="just"/>
            <a:r>
              <a:rPr lang="en-US" sz="2000" dirty="0">
                <a:latin typeface="Arial" panose="020B0604020202020204" pitchFamily="34" charset="0"/>
                <a:cs typeface="Arial" panose="020B0604020202020204" pitchFamily="34" charset="0"/>
              </a:rPr>
              <a:t>Maintenance</a:t>
            </a:r>
          </a:p>
          <a:p>
            <a:pPr algn="just"/>
            <a:r>
              <a:rPr lang="en-US" sz="2000" dirty="0">
                <a:latin typeface="Arial" panose="020B0604020202020204" pitchFamily="34" charset="0"/>
                <a:cs typeface="Arial" panose="020B0604020202020204" pitchFamily="34" charset="0"/>
              </a:rPr>
              <a:t>Adhering to "good" software development practices is essential when working with parallel applications - especially if somebody besides you will have to work with the software.</a:t>
            </a:r>
          </a:p>
        </p:txBody>
      </p:sp>
      <p:sp>
        <p:nvSpPr>
          <p:cNvPr id="2" name="Slide Number Placeholder 1"/>
          <p:cNvSpPr>
            <a:spLocks noGrp="1"/>
          </p:cNvSpPr>
          <p:nvPr>
            <p:ph type="sldNum" sz="quarter" idx="12"/>
          </p:nvPr>
        </p:nvSpPr>
        <p:spPr>
          <a:prstGeom prst="rect">
            <a:avLst/>
          </a:prstGeom>
        </p:spPr>
        <p:txBody>
          <a:bodyPr vert="horz" wrap="square" lIns="91440" tIns="45720" rIns="91440" bIns="45720" numCol="1" rtlCol="0" anchor="ctr" anchorCtr="1" compatLnSpc="1">
            <a:prstTxWarp prst="textNoShape">
              <a:avLst/>
            </a:prstTxWarp>
          </a:bodyPr>
          <a:lstStyle>
            <a:defPPr>
              <a:defRPr lang="de-DE"/>
            </a:defPPr>
            <a:lvl1pPr marL="0" algn="r" defTabSz="914400" rtl="0" eaLnBrk="1" latinLnBrk="0" hangingPunct="1">
              <a:defRPr sz="1200" kern="1200">
                <a:solidFill>
                  <a:schemeClr val="tx1">
                    <a:tint val="75000"/>
                  </a:schemeClr>
                </a:solidFill>
                <a:latin typeface="Univers Com 55"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6AE60A-B69C-4790-82F7-3882EDF23186}" type="slidenum">
              <a:rPr lang="de-DE" smtClean="0"/>
              <a:pPr/>
              <a:t>4</a:t>
            </a:fld>
            <a:endParaRPr lang="de-DE"/>
          </a:p>
        </p:txBody>
      </p:sp>
    </p:spTree>
    <p:extLst>
      <p:ext uri="{BB962C8B-B14F-4D97-AF65-F5344CB8AC3E}">
        <p14:creationId xmlns:p14="http://schemas.microsoft.com/office/powerpoint/2010/main" val="487996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Portability</a:t>
            </a:r>
          </a:p>
        </p:txBody>
      </p:sp>
      <p:sp>
        <p:nvSpPr>
          <p:cNvPr id="3" name="Content Placeholder 2"/>
          <p:cNvSpPr>
            <a:spLocks noGrp="1"/>
          </p:cNvSpPr>
          <p:nvPr>
            <p:ph idx="1"/>
          </p:nvPr>
        </p:nvSpPr>
        <p:spPr/>
        <p:txBody>
          <a:bodyPr>
            <a:normAutofit fontScale="77500" lnSpcReduction="20000"/>
          </a:bodyPr>
          <a:lstStyle/>
          <a:p>
            <a:pPr algn="just"/>
            <a:r>
              <a:rPr lang="en-US" dirty="0">
                <a:latin typeface="Arial" panose="020B0604020202020204" pitchFamily="34" charset="0"/>
                <a:cs typeface="Arial" panose="020B0604020202020204" pitchFamily="34" charset="0"/>
              </a:rPr>
              <a:t>Thanks to standardization in several APIs, such as MPI, POSIX threads, and OpenMP, portability issues with parallel programs are not as serious as in years past. </a:t>
            </a:r>
          </a:p>
          <a:p>
            <a:pPr algn="just"/>
            <a:r>
              <a:rPr lang="en-US" dirty="0">
                <a:latin typeface="Arial" panose="020B0604020202020204" pitchFamily="34" charset="0"/>
                <a:cs typeface="Arial" panose="020B0604020202020204" pitchFamily="34" charset="0"/>
              </a:rPr>
              <a:t>All of the usual portability issues associated with serial programs apply to parallel programs. For example, if you use vendor "enhancements" to Fortran, C or C++, portability will be a problem. </a:t>
            </a:r>
          </a:p>
          <a:p>
            <a:pPr algn="just"/>
            <a:r>
              <a:rPr lang="en-US" dirty="0">
                <a:latin typeface="Arial" panose="020B0604020202020204" pitchFamily="34" charset="0"/>
                <a:cs typeface="Arial" panose="020B0604020202020204" pitchFamily="34" charset="0"/>
              </a:rPr>
              <a:t>Even though standards exist for several APIs, implementations will differ in a number of details, sometimes to the point of requiring code modifications in order to effect portability. </a:t>
            </a:r>
          </a:p>
          <a:p>
            <a:pPr algn="just"/>
            <a:r>
              <a:rPr lang="en-US" dirty="0">
                <a:latin typeface="Arial" panose="020B0604020202020204" pitchFamily="34" charset="0"/>
                <a:cs typeface="Arial" panose="020B0604020202020204" pitchFamily="34" charset="0"/>
              </a:rPr>
              <a:t>Operating systems can play a key role in code portability issues. </a:t>
            </a:r>
          </a:p>
          <a:p>
            <a:pPr algn="just"/>
            <a:r>
              <a:rPr lang="en-US" dirty="0">
                <a:latin typeface="Arial" panose="020B0604020202020204" pitchFamily="34" charset="0"/>
                <a:cs typeface="Arial" panose="020B0604020202020204" pitchFamily="34" charset="0"/>
              </a:rPr>
              <a:t>Hardware architectures are characteristically highly variable and can affect portability.</a:t>
            </a:r>
          </a:p>
        </p:txBody>
      </p:sp>
      <p:sp>
        <p:nvSpPr>
          <p:cNvPr id="4" name="Slide Number Placeholder 3"/>
          <p:cNvSpPr>
            <a:spLocks noGrp="1"/>
          </p:cNvSpPr>
          <p:nvPr>
            <p:ph type="sldNum" sz="quarter" idx="12"/>
          </p:nvPr>
        </p:nvSpPr>
        <p:spPr>
          <a:prstGeom prst="rect">
            <a:avLst/>
          </a:prstGeom>
        </p:spPr>
        <p:txBody>
          <a:bodyPr vert="horz" wrap="square" lIns="91440" tIns="45720" rIns="91440" bIns="45720" numCol="1" rtlCol="0" anchor="ctr" anchorCtr="1" compatLnSpc="1">
            <a:prstTxWarp prst="textNoShape">
              <a:avLst/>
            </a:prstTxWarp>
          </a:bodyPr>
          <a:lstStyle>
            <a:defPPr>
              <a:defRPr lang="de-DE"/>
            </a:defPPr>
            <a:lvl1pPr marL="0" algn="r" defTabSz="914400" rtl="0" eaLnBrk="1" latinLnBrk="0" hangingPunct="1">
              <a:defRPr sz="1200" kern="1200">
                <a:solidFill>
                  <a:schemeClr val="tx1">
                    <a:tint val="75000"/>
                  </a:schemeClr>
                </a:solidFill>
                <a:latin typeface="Univers Com 55"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6AE60A-B69C-4790-82F7-3882EDF23186}" type="slidenum">
              <a:rPr lang="de-DE" smtClean="0"/>
              <a:pPr/>
              <a:t>5</a:t>
            </a:fld>
            <a:endParaRPr lang="de-DE"/>
          </a:p>
        </p:txBody>
      </p:sp>
    </p:spTree>
    <p:extLst>
      <p:ext uri="{BB962C8B-B14F-4D97-AF65-F5344CB8AC3E}">
        <p14:creationId xmlns:p14="http://schemas.microsoft.com/office/powerpoint/2010/main" val="657486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Resource Requirements</a:t>
            </a:r>
          </a:p>
        </p:txBody>
      </p:sp>
      <p:sp>
        <p:nvSpPr>
          <p:cNvPr id="3" name="Content Placeholder 2"/>
          <p:cNvSpPr>
            <a:spLocks noGrp="1"/>
          </p:cNvSpPr>
          <p:nvPr>
            <p:ph idx="1"/>
          </p:nvPr>
        </p:nvSpPr>
        <p:spPr/>
        <p:txBody>
          <a:bodyPr>
            <a:noAutofit/>
          </a:bodyPr>
          <a:lstStyle/>
          <a:p>
            <a:pPr algn="just"/>
            <a:r>
              <a:rPr lang="en-US" sz="2000" dirty="0">
                <a:latin typeface="Arial" panose="020B0604020202020204" pitchFamily="34" charset="0"/>
                <a:cs typeface="Arial" panose="020B0604020202020204" pitchFamily="34" charset="0"/>
              </a:rPr>
              <a:t>The primary intent of parallel programming is to decrease execution wall clock time, however in order to accomplish this, more CPU time is required. For example, a parallel code that runs in 1 hour on 8 processors actually uses 8 hours of CPU time. </a:t>
            </a:r>
          </a:p>
          <a:p>
            <a:pPr algn="just"/>
            <a:r>
              <a:rPr lang="en-US" sz="2000" dirty="0">
                <a:latin typeface="Arial" panose="020B0604020202020204" pitchFamily="34" charset="0"/>
                <a:cs typeface="Arial" panose="020B0604020202020204" pitchFamily="34" charset="0"/>
              </a:rPr>
              <a:t>The amount of memory required can be greater for parallel codes than serial codes, due to the need to replicate data and for overheads associated with parallel support libraries and subsystems. </a:t>
            </a:r>
          </a:p>
          <a:p>
            <a:pPr algn="just"/>
            <a:r>
              <a:rPr lang="en-US" sz="2000" dirty="0">
                <a:latin typeface="Arial" panose="020B0604020202020204" pitchFamily="34" charset="0"/>
                <a:cs typeface="Arial" panose="020B0604020202020204" pitchFamily="34" charset="0"/>
              </a:rPr>
              <a:t>For short running parallel programs, there can actually be a decrease in performance compared to a similar serial implementation. The overhead costs associated with setting up the parallel environment, task creation, communications and task termination can comprise a significant portion of the total execution time for short runs.</a:t>
            </a:r>
          </a:p>
        </p:txBody>
      </p:sp>
      <p:sp>
        <p:nvSpPr>
          <p:cNvPr id="4" name="Slide Number Placeholder 3"/>
          <p:cNvSpPr>
            <a:spLocks noGrp="1"/>
          </p:cNvSpPr>
          <p:nvPr>
            <p:ph type="sldNum" sz="quarter" idx="12"/>
          </p:nvPr>
        </p:nvSpPr>
        <p:spPr>
          <a:prstGeom prst="rect">
            <a:avLst/>
          </a:prstGeom>
        </p:spPr>
        <p:txBody>
          <a:bodyPr vert="horz" wrap="square" lIns="91440" tIns="45720" rIns="91440" bIns="45720" numCol="1" rtlCol="0" anchor="ctr" anchorCtr="1" compatLnSpc="1">
            <a:prstTxWarp prst="textNoShape">
              <a:avLst/>
            </a:prstTxWarp>
          </a:bodyPr>
          <a:lstStyle>
            <a:defPPr>
              <a:defRPr lang="de-DE"/>
            </a:defPPr>
            <a:lvl1pPr marL="0" algn="r" defTabSz="914400" rtl="0" eaLnBrk="1" latinLnBrk="0" hangingPunct="1">
              <a:defRPr sz="1200" kern="1200">
                <a:solidFill>
                  <a:schemeClr val="tx1">
                    <a:tint val="75000"/>
                  </a:schemeClr>
                </a:solidFill>
                <a:latin typeface="Univers Com 55"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6AE60A-B69C-4790-82F7-3882EDF23186}" type="slidenum">
              <a:rPr lang="de-DE" smtClean="0"/>
              <a:pPr/>
              <a:t>6</a:t>
            </a:fld>
            <a:endParaRPr lang="de-DE"/>
          </a:p>
        </p:txBody>
      </p:sp>
    </p:spTree>
    <p:extLst>
      <p:ext uri="{BB962C8B-B14F-4D97-AF65-F5344CB8AC3E}">
        <p14:creationId xmlns:p14="http://schemas.microsoft.com/office/powerpoint/2010/main" val="1218421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Scalability</a:t>
            </a:r>
          </a:p>
        </p:txBody>
      </p:sp>
      <p:sp>
        <p:nvSpPr>
          <p:cNvPr id="3" name="Content Placeholder 2"/>
          <p:cNvSpPr>
            <a:spLocks noGrp="1"/>
          </p:cNvSpPr>
          <p:nvPr>
            <p:ph idx="1"/>
          </p:nvPr>
        </p:nvSpPr>
        <p:spPr>
          <a:xfrm>
            <a:off x="471487" y="1584324"/>
            <a:ext cx="5829300" cy="4530726"/>
          </a:xfrm>
        </p:spPr>
        <p:txBody>
          <a:bodyPr>
            <a:noAutofit/>
          </a:bodyPr>
          <a:lstStyle/>
          <a:p>
            <a:pPr algn="just"/>
            <a:r>
              <a:rPr lang="en-US" sz="1800" dirty="0">
                <a:latin typeface="Arial" panose="020B0604020202020204" pitchFamily="34" charset="0"/>
                <a:cs typeface="Arial" panose="020B0604020202020204" pitchFamily="34" charset="0"/>
              </a:rPr>
              <a:t>Two types of scaling based on time to solution: strong scaling and weak scaling.</a:t>
            </a:r>
          </a:p>
          <a:p>
            <a:pPr algn="just"/>
            <a:r>
              <a:rPr lang="en-US" sz="1800" dirty="0">
                <a:latin typeface="Arial" panose="020B0604020202020204" pitchFamily="34" charset="0"/>
                <a:cs typeface="Arial" panose="020B0604020202020204" pitchFamily="34" charset="0"/>
              </a:rPr>
              <a:t>Strong scaling:</a:t>
            </a:r>
          </a:p>
          <a:p>
            <a:pPr lvl="1" algn="just"/>
            <a:r>
              <a:rPr lang="en-US" sz="1800" dirty="0">
                <a:latin typeface="Arial" panose="020B0604020202020204" pitchFamily="34" charset="0"/>
                <a:cs typeface="Arial" panose="020B0604020202020204" pitchFamily="34" charset="0"/>
              </a:rPr>
              <a:t>The total problem size stays fixed as more processors are added.</a:t>
            </a:r>
          </a:p>
          <a:p>
            <a:pPr lvl="1" algn="just"/>
            <a:r>
              <a:rPr lang="en-US" sz="1800" dirty="0">
                <a:latin typeface="Arial" panose="020B0604020202020204" pitchFamily="34" charset="0"/>
                <a:cs typeface="Arial" panose="020B0604020202020204" pitchFamily="34" charset="0"/>
              </a:rPr>
              <a:t>Goal is to run the same problem size faster</a:t>
            </a:r>
          </a:p>
          <a:p>
            <a:pPr lvl="1" algn="just"/>
            <a:r>
              <a:rPr lang="en-US" sz="1800" dirty="0">
                <a:latin typeface="Arial" panose="020B0604020202020204" pitchFamily="34" charset="0"/>
                <a:cs typeface="Arial" panose="020B0604020202020204" pitchFamily="34" charset="0"/>
              </a:rPr>
              <a:t>Perfect scaling means problem is solved in 1/P time (compared to serial)</a:t>
            </a:r>
          </a:p>
          <a:p>
            <a:pPr algn="just"/>
            <a:r>
              <a:rPr lang="en-US" sz="1800" dirty="0">
                <a:latin typeface="Arial" panose="020B0604020202020204" pitchFamily="34" charset="0"/>
                <a:cs typeface="Arial" panose="020B0604020202020204" pitchFamily="34" charset="0"/>
              </a:rPr>
              <a:t>Weak scaling:</a:t>
            </a:r>
          </a:p>
          <a:p>
            <a:pPr lvl="1" algn="just"/>
            <a:r>
              <a:rPr lang="en-US" sz="1800" dirty="0">
                <a:latin typeface="Arial" panose="020B0604020202020204" pitchFamily="34" charset="0"/>
                <a:cs typeface="Arial" panose="020B0604020202020204" pitchFamily="34" charset="0"/>
              </a:rPr>
              <a:t>The problem size per processor stays fixed as more processors are added. The total problem size is proportional to the number of processors used.</a:t>
            </a:r>
          </a:p>
          <a:p>
            <a:pPr lvl="1" algn="just"/>
            <a:r>
              <a:rPr lang="en-US" sz="1800" dirty="0">
                <a:latin typeface="Arial" panose="020B0604020202020204" pitchFamily="34" charset="0"/>
                <a:cs typeface="Arial" panose="020B0604020202020204" pitchFamily="34" charset="0"/>
              </a:rPr>
              <a:t>Goal is to run larger problem in same amount of time</a:t>
            </a:r>
          </a:p>
          <a:p>
            <a:pPr lvl="1" algn="just"/>
            <a:r>
              <a:rPr lang="en-US" sz="1800" dirty="0">
                <a:latin typeface="Arial" panose="020B0604020202020204" pitchFamily="34" charset="0"/>
                <a:cs typeface="Arial" panose="020B0604020202020204" pitchFamily="34" charset="0"/>
              </a:rPr>
              <a:t>Perfect scaling means problem </a:t>
            </a:r>
            <a:r>
              <a:rPr lang="en-US" sz="1800" dirty="0" err="1">
                <a:latin typeface="Arial" panose="020B0604020202020204" pitchFamily="34" charset="0"/>
                <a:cs typeface="Arial" panose="020B0604020202020204" pitchFamily="34" charset="0"/>
              </a:rPr>
              <a:t>Px</a:t>
            </a:r>
            <a:r>
              <a:rPr lang="en-US" sz="1800" dirty="0">
                <a:latin typeface="Arial" panose="020B0604020202020204" pitchFamily="34" charset="0"/>
                <a:cs typeface="Arial" panose="020B0604020202020204" pitchFamily="34" charset="0"/>
              </a:rPr>
              <a:t> runs in same time as single processor run</a:t>
            </a:r>
          </a:p>
        </p:txBody>
      </p:sp>
      <p:sp>
        <p:nvSpPr>
          <p:cNvPr id="4" name="Slide Number Placeholder 3"/>
          <p:cNvSpPr>
            <a:spLocks noGrp="1"/>
          </p:cNvSpPr>
          <p:nvPr>
            <p:ph type="sldNum" sz="quarter" idx="12"/>
          </p:nvPr>
        </p:nvSpPr>
        <p:spPr/>
        <p:txBody>
          <a:bodyPr/>
          <a:lstStyle/>
          <a:p>
            <a:fld id="{6C6AE60A-B69C-4790-82F7-3882EDF23186}" type="slidenum">
              <a:rPr lang="de-DE" smtClean="0"/>
              <a:pPr/>
              <a:t>7</a:t>
            </a:fld>
            <a:endParaRPr lang="de-DE"/>
          </a:p>
        </p:txBody>
      </p:sp>
      <p:pic>
        <p:nvPicPr>
          <p:cNvPr id="5" name="Content Placeholder 4"/>
          <p:cNvPicPr>
            <a:picLocks noGrp="1" noChangeAspect="1"/>
          </p:cNvPicPr>
          <p:nvPr>
            <p:ph sz="half" idx="4294967295"/>
          </p:nvPr>
        </p:nvPicPr>
        <p:blipFill>
          <a:blip r:embed="rId2"/>
          <a:stretch>
            <a:fillRect/>
          </a:stretch>
        </p:blipFill>
        <p:spPr>
          <a:xfrm>
            <a:off x="6457950" y="1825625"/>
            <a:ext cx="2443162" cy="4306888"/>
          </a:xfrm>
        </p:spPr>
      </p:pic>
    </p:spTree>
    <p:extLst>
      <p:ext uri="{BB962C8B-B14F-4D97-AF65-F5344CB8AC3E}">
        <p14:creationId xmlns:p14="http://schemas.microsoft.com/office/powerpoint/2010/main" val="2140372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1225" y="483236"/>
            <a:ext cx="4779010" cy="696595"/>
          </a:xfrm>
          <a:prstGeom prst="rect">
            <a:avLst/>
          </a:prstGeom>
        </p:spPr>
        <p:txBody>
          <a:bodyPr vert="horz" wrap="square" lIns="0" tIns="13335" rIns="0" bIns="0" rtlCol="0">
            <a:spAutoFit/>
          </a:bodyPr>
          <a:lstStyle/>
          <a:p>
            <a:pPr marL="12700">
              <a:spcBef>
                <a:spcPts val="105"/>
              </a:spcBef>
            </a:pPr>
            <a:r>
              <a:rPr dirty="0"/>
              <a:t>Parallel</a:t>
            </a:r>
            <a:r>
              <a:rPr spc="-85" dirty="0"/>
              <a:t> </a:t>
            </a:r>
            <a:r>
              <a:rPr dirty="0"/>
              <a:t>Computers</a:t>
            </a:r>
          </a:p>
        </p:txBody>
      </p:sp>
      <p:sp>
        <p:nvSpPr>
          <p:cNvPr id="3" name="object 3"/>
          <p:cNvSpPr txBox="1"/>
          <p:nvPr/>
        </p:nvSpPr>
        <p:spPr>
          <a:xfrm>
            <a:off x="535941" y="2106289"/>
            <a:ext cx="6424294" cy="2169183"/>
          </a:xfrm>
          <a:prstGeom prst="rect">
            <a:avLst/>
          </a:prstGeom>
        </p:spPr>
        <p:txBody>
          <a:bodyPr vert="horz" wrap="square" lIns="0" tIns="113664" rIns="0" bIns="0" rtlCol="0">
            <a:spAutoFit/>
          </a:bodyPr>
          <a:lstStyle/>
          <a:p>
            <a:pPr marL="355600" indent="-342900">
              <a:spcBef>
                <a:spcPts val="894"/>
              </a:spcBef>
              <a:buFontTx/>
              <a:buChar char="•"/>
              <a:tabLst>
                <a:tab pos="354965" algn="l"/>
                <a:tab pos="355600" algn="l"/>
              </a:tabLst>
            </a:pPr>
            <a:r>
              <a:rPr sz="3200" dirty="0">
                <a:solidFill>
                  <a:prstClr val="black"/>
                </a:solidFill>
                <a:latin typeface="Arial"/>
                <a:cs typeface="Arial"/>
              </a:rPr>
              <a:t>Programming </a:t>
            </a:r>
            <a:r>
              <a:rPr sz="3200" spc="-5" dirty="0">
                <a:solidFill>
                  <a:prstClr val="black"/>
                </a:solidFill>
                <a:latin typeface="Arial"/>
                <a:cs typeface="Arial"/>
              </a:rPr>
              <a:t>mode</a:t>
            </a:r>
            <a:r>
              <a:rPr sz="3200" spc="-125" dirty="0">
                <a:solidFill>
                  <a:prstClr val="black"/>
                </a:solidFill>
                <a:latin typeface="Arial"/>
                <a:cs typeface="Arial"/>
              </a:rPr>
              <a:t> </a:t>
            </a:r>
            <a:r>
              <a:rPr sz="3200" dirty="0">
                <a:solidFill>
                  <a:prstClr val="black"/>
                </a:solidFill>
                <a:latin typeface="Arial"/>
                <a:cs typeface="Arial"/>
              </a:rPr>
              <a:t>types</a:t>
            </a:r>
          </a:p>
          <a:p>
            <a:pPr marL="756285" lvl="1" indent="-287020">
              <a:spcBef>
                <a:spcPts val="690"/>
              </a:spcBef>
              <a:buFontTx/>
              <a:buChar char="–"/>
              <a:tabLst>
                <a:tab pos="756920" algn="l"/>
              </a:tabLst>
            </a:pPr>
            <a:r>
              <a:rPr sz="2800" spc="-5" dirty="0">
                <a:solidFill>
                  <a:prstClr val="black"/>
                </a:solidFill>
                <a:latin typeface="Arial"/>
                <a:cs typeface="Arial"/>
              </a:rPr>
              <a:t>Shared</a:t>
            </a:r>
            <a:r>
              <a:rPr lang="en-US" sz="2800" spc="-5" dirty="0">
                <a:solidFill>
                  <a:prstClr val="black"/>
                </a:solidFill>
                <a:latin typeface="Arial"/>
                <a:cs typeface="Arial"/>
              </a:rPr>
              <a:t> Memory</a:t>
            </a:r>
            <a:endParaRPr sz="2800" dirty="0">
              <a:solidFill>
                <a:prstClr val="black"/>
              </a:solidFill>
              <a:latin typeface="Arial"/>
              <a:cs typeface="Arial"/>
            </a:endParaRPr>
          </a:p>
          <a:p>
            <a:pPr marL="756285" lvl="1" indent="-287020">
              <a:spcBef>
                <a:spcPts val="670"/>
              </a:spcBef>
              <a:buFontTx/>
              <a:buChar char="–"/>
              <a:tabLst>
                <a:tab pos="756920" algn="l"/>
              </a:tabLst>
            </a:pPr>
            <a:r>
              <a:rPr lang="en-US" sz="2800" spc="-5" dirty="0">
                <a:solidFill>
                  <a:prstClr val="black"/>
                </a:solidFill>
                <a:latin typeface="Arial"/>
                <a:cs typeface="Arial"/>
              </a:rPr>
              <a:t>Distributed Memory</a:t>
            </a:r>
          </a:p>
          <a:p>
            <a:pPr marL="756285" lvl="1" indent="-287020">
              <a:spcBef>
                <a:spcPts val="670"/>
              </a:spcBef>
              <a:buFontTx/>
              <a:buChar char="–"/>
              <a:tabLst>
                <a:tab pos="756920" algn="l"/>
              </a:tabLst>
            </a:pPr>
            <a:r>
              <a:rPr lang="en-US" sz="2800" spc="-5" dirty="0">
                <a:solidFill>
                  <a:prstClr val="black"/>
                </a:solidFill>
                <a:latin typeface="Arial"/>
                <a:cs typeface="Arial"/>
              </a:rPr>
              <a:t>Hybrid Model</a:t>
            </a:r>
            <a:endParaRPr sz="2800" dirty="0">
              <a:solidFill>
                <a:prstClr val="black"/>
              </a:solidFill>
              <a:latin typeface="Arial"/>
              <a:cs typeface="Arial"/>
            </a:endParaRPr>
          </a:p>
        </p:txBody>
      </p:sp>
    </p:spTree>
    <p:extLst>
      <p:ext uri="{BB962C8B-B14F-4D97-AF65-F5344CB8AC3E}">
        <p14:creationId xmlns:p14="http://schemas.microsoft.com/office/powerpoint/2010/main" val="992819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 Programing Models</a:t>
            </a:r>
          </a:p>
        </p:txBody>
      </p:sp>
      <p:sp>
        <p:nvSpPr>
          <p:cNvPr id="3" name="Content Placeholder 2"/>
          <p:cNvSpPr>
            <a:spLocks noGrp="1"/>
          </p:cNvSpPr>
          <p:nvPr>
            <p:ph idx="1"/>
          </p:nvPr>
        </p:nvSpPr>
        <p:spPr>
          <a:xfrm>
            <a:off x="628650" y="1825625"/>
            <a:ext cx="7500938" cy="4351338"/>
          </a:xfrm>
        </p:spPr>
        <p:txBody>
          <a:bodyPr>
            <a:normAutofit fontScale="77500" lnSpcReduction="20000"/>
          </a:bodyPr>
          <a:lstStyle/>
          <a:p>
            <a:pPr algn="just"/>
            <a:r>
              <a:rPr lang="en-US" dirty="0"/>
              <a:t>Parallel programming models exist as an abstraction above hardware and memory architectures</a:t>
            </a:r>
          </a:p>
          <a:p>
            <a:pPr algn="just"/>
            <a:r>
              <a:rPr lang="en-US" dirty="0"/>
              <a:t>These models are NOT specific to a particular type of machine or memory architecture</a:t>
            </a:r>
          </a:p>
          <a:p>
            <a:pPr algn="just"/>
            <a:r>
              <a:rPr lang="en-US" dirty="0"/>
              <a:t>These models can (theoretically) be implemented on any underlying hardware</a:t>
            </a:r>
          </a:p>
          <a:p>
            <a:pPr algn="just"/>
            <a:r>
              <a:rPr lang="en-US" dirty="0"/>
              <a:t>Examples from past</a:t>
            </a:r>
          </a:p>
          <a:p>
            <a:pPr lvl="1" algn="just"/>
            <a:r>
              <a:rPr lang="en-US" b="1" dirty="0"/>
              <a:t>SHARED memory model on a DISTRIBUTED memory machine</a:t>
            </a:r>
            <a:r>
              <a:rPr lang="en-US" dirty="0"/>
              <a:t>. Kendall Square Research (KSR) ALLCACHE approach, “virtual shared memory"</a:t>
            </a:r>
          </a:p>
          <a:p>
            <a:pPr lvl="1" algn="just"/>
            <a:r>
              <a:rPr lang="en-US" b="1" dirty="0"/>
              <a:t>DISTRIBUTED memory model on a SHARED memory machine</a:t>
            </a:r>
            <a:r>
              <a:rPr lang="en-US" dirty="0"/>
              <a:t>. Message Passing Interface (MPI) on SGI Origin 2000, employed the CC-NUMA type of shared memory architecture, however, MPI commonly done over a network of distributed memory machines</a:t>
            </a:r>
          </a:p>
          <a:p>
            <a:pPr algn="just"/>
            <a:r>
              <a:rPr lang="en-US" b="1" dirty="0"/>
              <a:t>Which model to use?</a:t>
            </a:r>
          </a:p>
          <a:p>
            <a:pPr lvl="1" algn="just"/>
            <a:r>
              <a:rPr lang="en-US" dirty="0"/>
              <a:t>Combination of what is available and personal choice</a:t>
            </a:r>
            <a:endParaRPr lang="en-US" b="1" dirty="0"/>
          </a:p>
          <a:p>
            <a:pPr algn="just"/>
            <a:endParaRPr lang="en-US" dirty="0"/>
          </a:p>
        </p:txBody>
      </p:sp>
    </p:spTree>
    <p:extLst>
      <p:ext uri="{BB962C8B-B14F-4D97-AF65-F5344CB8AC3E}">
        <p14:creationId xmlns:p14="http://schemas.microsoft.com/office/powerpoint/2010/main" val="4240131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16304" y="360935"/>
            <a:ext cx="7112000" cy="696595"/>
          </a:xfrm>
          <a:prstGeom prst="rect">
            <a:avLst/>
          </a:prstGeom>
        </p:spPr>
        <p:txBody>
          <a:bodyPr vert="horz" wrap="square" lIns="0" tIns="13335" rIns="0" bIns="0" rtlCol="0">
            <a:spAutoFit/>
          </a:bodyPr>
          <a:lstStyle/>
          <a:p>
            <a:pPr marL="12700">
              <a:spcBef>
                <a:spcPts val="105"/>
              </a:spcBef>
            </a:pPr>
            <a:r>
              <a:rPr dirty="0"/>
              <a:t>Shared Memory</a:t>
            </a:r>
            <a:r>
              <a:rPr spc="-310" dirty="0"/>
              <a:t> </a:t>
            </a:r>
            <a:r>
              <a:rPr dirty="0"/>
              <a:t>Architecture</a:t>
            </a:r>
          </a:p>
        </p:txBody>
      </p:sp>
      <p:sp>
        <p:nvSpPr>
          <p:cNvPr id="4" name="object 4"/>
          <p:cNvSpPr txBox="1"/>
          <p:nvPr/>
        </p:nvSpPr>
        <p:spPr>
          <a:xfrm>
            <a:off x="258876" y="1238760"/>
            <a:ext cx="8439150" cy="3397885"/>
          </a:xfrm>
          <a:prstGeom prst="rect">
            <a:avLst/>
          </a:prstGeom>
        </p:spPr>
        <p:txBody>
          <a:bodyPr vert="horz" wrap="square" lIns="0" tIns="53975" rIns="0" bIns="0" rtlCol="0">
            <a:spAutoFit/>
          </a:bodyPr>
          <a:lstStyle/>
          <a:p>
            <a:pPr marL="353695" marR="5080" indent="-341630" algn="just">
              <a:lnSpc>
                <a:spcPts val="2590"/>
              </a:lnSpc>
              <a:spcBef>
                <a:spcPts val="425"/>
              </a:spcBef>
              <a:buFontTx/>
              <a:buChar char="•"/>
              <a:tabLst>
                <a:tab pos="353695" algn="l"/>
                <a:tab pos="354330" algn="l"/>
                <a:tab pos="2018030" algn="l"/>
                <a:tab pos="2816860" algn="l"/>
                <a:tab pos="3703954" algn="l"/>
                <a:tab pos="4789170" algn="l"/>
                <a:tab pos="5180965" algn="l"/>
                <a:tab pos="6133465" algn="l"/>
                <a:tab pos="7374255" algn="l"/>
                <a:tab pos="8021955" algn="l"/>
              </a:tabLst>
            </a:pPr>
            <a:r>
              <a:rPr sz="2400" spc="-5" dirty="0">
                <a:solidFill>
                  <a:prstClr val="black"/>
                </a:solidFill>
                <a:latin typeface="Arial"/>
                <a:cs typeface="Arial"/>
              </a:rPr>
              <a:t>Process</a:t>
            </a:r>
            <a:r>
              <a:rPr sz="2400" spc="-15" dirty="0">
                <a:solidFill>
                  <a:prstClr val="black"/>
                </a:solidFill>
                <a:latin typeface="Arial"/>
                <a:cs typeface="Arial"/>
              </a:rPr>
              <a:t>o</a:t>
            </a:r>
            <a:r>
              <a:rPr sz="2400" dirty="0">
                <a:solidFill>
                  <a:prstClr val="black"/>
                </a:solidFill>
                <a:latin typeface="Arial"/>
                <a:cs typeface="Arial"/>
              </a:rPr>
              <a:t>rs	</a:t>
            </a:r>
            <a:r>
              <a:rPr sz="2400" spc="-5" dirty="0">
                <a:solidFill>
                  <a:prstClr val="black"/>
                </a:solidFill>
                <a:latin typeface="Arial"/>
                <a:cs typeface="Arial"/>
              </a:rPr>
              <a:t>have</a:t>
            </a:r>
            <a:r>
              <a:rPr sz="2400" dirty="0">
                <a:solidFill>
                  <a:prstClr val="black"/>
                </a:solidFill>
                <a:latin typeface="Arial"/>
                <a:cs typeface="Arial"/>
              </a:rPr>
              <a:t>	d</a:t>
            </a:r>
            <a:r>
              <a:rPr sz="2400" spc="-5" dirty="0">
                <a:solidFill>
                  <a:prstClr val="black"/>
                </a:solidFill>
                <a:latin typeface="Arial"/>
                <a:cs typeface="Arial"/>
              </a:rPr>
              <a:t>ir</a:t>
            </a:r>
            <a:r>
              <a:rPr sz="2400" dirty="0">
                <a:solidFill>
                  <a:prstClr val="black"/>
                </a:solidFill>
                <a:latin typeface="Arial"/>
                <a:cs typeface="Arial"/>
              </a:rPr>
              <a:t>ect	access	</a:t>
            </a:r>
            <a:r>
              <a:rPr sz="2400" spc="-10" dirty="0">
                <a:solidFill>
                  <a:prstClr val="black"/>
                </a:solidFill>
                <a:latin typeface="Arial"/>
                <a:cs typeface="Arial"/>
              </a:rPr>
              <a:t>t</a:t>
            </a:r>
            <a:r>
              <a:rPr sz="2400" dirty="0">
                <a:solidFill>
                  <a:prstClr val="black"/>
                </a:solidFill>
                <a:latin typeface="Arial"/>
                <a:cs typeface="Arial"/>
              </a:rPr>
              <a:t>o	</a:t>
            </a:r>
            <a:r>
              <a:rPr sz="2400" spc="-5" dirty="0">
                <a:solidFill>
                  <a:prstClr val="black"/>
                </a:solidFill>
                <a:latin typeface="Arial"/>
                <a:cs typeface="Arial"/>
              </a:rPr>
              <a:t>glo</a:t>
            </a:r>
            <a:r>
              <a:rPr sz="2400" dirty="0">
                <a:solidFill>
                  <a:prstClr val="black"/>
                </a:solidFill>
                <a:latin typeface="Arial"/>
                <a:cs typeface="Arial"/>
              </a:rPr>
              <a:t>b</a:t>
            </a:r>
            <a:r>
              <a:rPr sz="2400" spc="-5" dirty="0">
                <a:solidFill>
                  <a:prstClr val="black"/>
                </a:solidFill>
                <a:latin typeface="Arial"/>
                <a:cs typeface="Arial"/>
              </a:rPr>
              <a:t>al</a:t>
            </a:r>
            <a:r>
              <a:rPr sz="2400" dirty="0">
                <a:solidFill>
                  <a:prstClr val="black"/>
                </a:solidFill>
                <a:latin typeface="Arial"/>
                <a:cs typeface="Arial"/>
              </a:rPr>
              <a:t>	mem</a:t>
            </a:r>
            <a:r>
              <a:rPr sz="2400" spc="-5" dirty="0">
                <a:solidFill>
                  <a:prstClr val="black"/>
                </a:solidFill>
                <a:latin typeface="Arial"/>
                <a:cs typeface="Arial"/>
              </a:rPr>
              <a:t>ory</a:t>
            </a:r>
            <a:r>
              <a:rPr sz="2400" dirty="0">
                <a:solidFill>
                  <a:prstClr val="black"/>
                </a:solidFill>
                <a:latin typeface="Arial"/>
                <a:cs typeface="Arial"/>
              </a:rPr>
              <a:t>	</a:t>
            </a:r>
            <a:r>
              <a:rPr sz="2400" spc="-10" dirty="0">
                <a:solidFill>
                  <a:prstClr val="black"/>
                </a:solidFill>
                <a:latin typeface="Arial"/>
                <a:cs typeface="Arial"/>
              </a:rPr>
              <a:t>an</a:t>
            </a:r>
            <a:r>
              <a:rPr sz="2400" spc="-5" dirty="0">
                <a:solidFill>
                  <a:prstClr val="black"/>
                </a:solidFill>
                <a:latin typeface="Arial"/>
                <a:cs typeface="Arial"/>
              </a:rPr>
              <a:t>d</a:t>
            </a:r>
            <a:r>
              <a:rPr sz="2400" dirty="0">
                <a:solidFill>
                  <a:prstClr val="black"/>
                </a:solidFill>
                <a:latin typeface="Arial"/>
                <a:cs typeface="Arial"/>
              </a:rPr>
              <a:t>	</a:t>
            </a:r>
            <a:r>
              <a:rPr sz="2400" spc="-10" dirty="0">
                <a:solidFill>
                  <a:prstClr val="black"/>
                </a:solidFill>
                <a:latin typeface="Arial"/>
                <a:cs typeface="Arial"/>
              </a:rPr>
              <a:t>I/O  </a:t>
            </a:r>
            <a:r>
              <a:rPr sz="2400" spc="-5" dirty="0">
                <a:solidFill>
                  <a:prstClr val="black"/>
                </a:solidFill>
                <a:latin typeface="Arial"/>
                <a:cs typeface="Arial"/>
              </a:rPr>
              <a:t>through bus or </a:t>
            </a:r>
            <a:r>
              <a:rPr sz="2400" dirty="0">
                <a:solidFill>
                  <a:prstClr val="black"/>
                </a:solidFill>
                <a:latin typeface="Arial"/>
                <a:cs typeface="Arial"/>
              </a:rPr>
              <a:t>fast </a:t>
            </a:r>
            <a:r>
              <a:rPr sz="2400" spc="-5" dirty="0">
                <a:solidFill>
                  <a:prstClr val="black"/>
                </a:solidFill>
                <a:latin typeface="Arial"/>
                <a:cs typeface="Arial"/>
              </a:rPr>
              <a:t>switching</a:t>
            </a:r>
            <a:r>
              <a:rPr sz="2400" spc="30" dirty="0">
                <a:solidFill>
                  <a:prstClr val="black"/>
                </a:solidFill>
                <a:latin typeface="Arial"/>
                <a:cs typeface="Arial"/>
              </a:rPr>
              <a:t> </a:t>
            </a:r>
            <a:r>
              <a:rPr sz="2400" spc="-5" dirty="0">
                <a:solidFill>
                  <a:prstClr val="black"/>
                </a:solidFill>
                <a:latin typeface="Arial"/>
                <a:cs typeface="Arial"/>
              </a:rPr>
              <a:t>network</a:t>
            </a:r>
            <a:endParaRPr sz="2400" dirty="0">
              <a:solidFill>
                <a:prstClr val="black"/>
              </a:solidFill>
              <a:latin typeface="Arial"/>
              <a:cs typeface="Arial"/>
            </a:endParaRPr>
          </a:p>
          <a:p>
            <a:pPr marL="353695" marR="5080" indent="-341630" algn="just">
              <a:lnSpc>
                <a:spcPts val="2590"/>
              </a:lnSpc>
              <a:spcBef>
                <a:spcPts val="585"/>
              </a:spcBef>
              <a:buFontTx/>
              <a:buChar char="•"/>
              <a:tabLst>
                <a:tab pos="353695" algn="l"/>
                <a:tab pos="354330" algn="l"/>
                <a:tab pos="1605280" algn="l"/>
                <a:tab pos="3450590" algn="l"/>
                <a:tab pos="4938395" algn="l"/>
                <a:tab pos="6833234" algn="l"/>
              </a:tabLst>
            </a:pPr>
            <a:r>
              <a:rPr sz="2400" spc="-5" dirty="0">
                <a:solidFill>
                  <a:prstClr val="black"/>
                </a:solidFill>
                <a:latin typeface="Arial"/>
                <a:cs typeface="Arial"/>
              </a:rPr>
              <a:t>C</a:t>
            </a:r>
            <a:r>
              <a:rPr sz="2400" spc="-15" dirty="0">
                <a:solidFill>
                  <a:prstClr val="black"/>
                </a:solidFill>
                <a:latin typeface="Arial"/>
                <a:cs typeface="Arial"/>
              </a:rPr>
              <a:t>a</a:t>
            </a:r>
            <a:r>
              <a:rPr sz="2400" spc="5" dirty="0">
                <a:solidFill>
                  <a:prstClr val="black"/>
                </a:solidFill>
                <a:latin typeface="Arial"/>
                <a:cs typeface="Arial"/>
              </a:rPr>
              <a:t>c</a:t>
            </a:r>
            <a:r>
              <a:rPr sz="2400" spc="-5" dirty="0">
                <a:solidFill>
                  <a:prstClr val="black"/>
                </a:solidFill>
                <a:latin typeface="Arial"/>
                <a:cs typeface="Arial"/>
              </a:rPr>
              <a:t>he</a:t>
            </a:r>
            <a:r>
              <a:rPr sz="2400" dirty="0">
                <a:solidFill>
                  <a:prstClr val="black"/>
                </a:solidFill>
                <a:latin typeface="Arial"/>
                <a:cs typeface="Arial"/>
              </a:rPr>
              <a:t>	</a:t>
            </a:r>
            <a:r>
              <a:rPr sz="2400" spc="-5" dirty="0">
                <a:solidFill>
                  <a:prstClr val="black"/>
                </a:solidFill>
                <a:latin typeface="Arial"/>
                <a:cs typeface="Arial"/>
              </a:rPr>
              <a:t>Coher</a:t>
            </a:r>
            <a:r>
              <a:rPr sz="2400" spc="5" dirty="0">
                <a:solidFill>
                  <a:prstClr val="black"/>
                </a:solidFill>
                <a:latin typeface="Arial"/>
                <a:cs typeface="Arial"/>
              </a:rPr>
              <a:t>e</a:t>
            </a:r>
            <a:r>
              <a:rPr sz="2400" spc="-5" dirty="0">
                <a:solidFill>
                  <a:prstClr val="black"/>
                </a:solidFill>
                <a:latin typeface="Arial"/>
                <a:cs typeface="Arial"/>
              </a:rPr>
              <a:t>ncy</a:t>
            </a:r>
            <a:r>
              <a:rPr sz="2400" dirty="0">
                <a:solidFill>
                  <a:prstClr val="black"/>
                </a:solidFill>
                <a:latin typeface="Arial"/>
                <a:cs typeface="Arial"/>
              </a:rPr>
              <a:t>	Pro</a:t>
            </a:r>
            <a:r>
              <a:rPr sz="2400" spc="5" dirty="0">
                <a:solidFill>
                  <a:prstClr val="black"/>
                </a:solidFill>
                <a:latin typeface="Arial"/>
                <a:cs typeface="Arial"/>
              </a:rPr>
              <a:t>t</a:t>
            </a:r>
            <a:r>
              <a:rPr sz="2400" spc="-5" dirty="0">
                <a:solidFill>
                  <a:prstClr val="black"/>
                </a:solidFill>
                <a:latin typeface="Arial"/>
                <a:cs typeface="Arial"/>
              </a:rPr>
              <a:t>ocol</a:t>
            </a:r>
            <a:r>
              <a:rPr sz="2400" dirty="0">
                <a:solidFill>
                  <a:prstClr val="black"/>
                </a:solidFill>
                <a:latin typeface="Arial"/>
                <a:cs typeface="Arial"/>
              </a:rPr>
              <a:t>	</a:t>
            </a:r>
            <a:r>
              <a:rPr sz="2400" spc="-5" dirty="0">
                <a:solidFill>
                  <a:prstClr val="black"/>
                </a:solidFill>
                <a:latin typeface="Arial"/>
                <a:cs typeface="Arial"/>
              </a:rPr>
              <a:t>gu</a:t>
            </a:r>
            <a:r>
              <a:rPr sz="2400" spc="-15" dirty="0">
                <a:solidFill>
                  <a:prstClr val="black"/>
                </a:solidFill>
                <a:latin typeface="Arial"/>
                <a:cs typeface="Arial"/>
              </a:rPr>
              <a:t>a</a:t>
            </a:r>
            <a:r>
              <a:rPr sz="2400" spc="-5" dirty="0">
                <a:solidFill>
                  <a:prstClr val="black"/>
                </a:solidFill>
                <a:latin typeface="Arial"/>
                <a:cs typeface="Arial"/>
              </a:rPr>
              <a:t>r</a:t>
            </a:r>
            <a:r>
              <a:rPr sz="2400" spc="5" dirty="0">
                <a:solidFill>
                  <a:prstClr val="black"/>
                </a:solidFill>
                <a:latin typeface="Arial"/>
                <a:cs typeface="Arial"/>
              </a:rPr>
              <a:t>a</a:t>
            </a:r>
            <a:r>
              <a:rPr sz="2400" spc="-5" dirty="0">
                <a:solidFill>
                  <a:prstClr val="black"/>
                </a:solidFill>
                <a:latin typeface="Arial"/>
                <a:cs typeface="Arial"/>
              </a:rPr>
              <a:t>ntees</a:t>
            </a:r>
            <a:r>
              <a:rPr sz="2400" dirty="0">
                <a:solidFill>
                  <a:prstClr val="black"/>
                </a:solidFill>
                <a:latin typeface="Arial"/>
                <a:cs typeface="Arial"/>
              </a:rPr>
              <a:t>	</a:t>
            </a:r>
            <a:r>
              <a:rPr sz="2400" spc="-5" dirty="0">
                <a:solidFill>
                  <a:prstClr val="black"/>
                </a:solidFill>
                <a:latin typeface="Arial"/>
                <a:cs typeface="Arial"/>
              </a:rPr>
              <a:t>consistency  of </a:t>
            </a:r>
            <a:r>
              <a:rPr sz="2400" dirty="0">
                <a:solidFill>
                  <a:prstClr val="black"/>
                </a:solidFill>
                <a:latin typeface="Arial"/>
                <a:cs typeface="Arial"/>
              </a:rPr>
              <a:t>memory </a:t>
            </a:r>
            <a:r>
              <a:rPr sz="2400" spc="-5" dirty="0">
                <a:solidFill>
                  <a:prstClr val="black"/>
                </a:solidFill>
                <a:latin typeface="Arial"/>
                <a:cs typeface="Arial"/>
              </a:rPr>
              <a:t>and </a:t>
            </a:r>
            <a:r>
              <a:rPr sz="2400" dirty="0">
                <a:solidFill>
                  <a:prstClr val="black"/>
                </a:solidFill>
                <a:latin typeface="Arial"/>
                <a:cs typeface="Arial"/>
              </a:rPr>
              <a:t>I/O</a:t>
            </a:r>
            <a:r>
              <a:rPr sz="2400" spc="-30" dirty="0">
                <a:solidFill>
                  <a:prstClr val="black"/>
                </a:solidFill>
                <a:latin typeface="Arial"/>
                <a:cs typeface="Arial"/>
              </a:rPr>
              <a:t> </a:t>
            </a:r>
            <a:r>
              <a:rPr sz="2400" spc="-5" dirty="0">
                <a:solidFill>
                  <a:prstClr val="black"/>
                </a:solidFill>
                <a:latin typeface="Arial"/>
                <a:cs typeface="Arial"/>
              </a:rPr>
              <a:t>accesses</a:t>
            </a:r>
            <a:endParaRPr sz="2400" dirty="0">
              <a:solidFill>
                <a:prstClr val="black"/>
              </a:solidFill>
              <a:latin typeface="Arial"/>
              <a:cs typeface="Arial"/>
            </a:endParaRPr>
          </a:p>
          <a:p>
            <a:pPr marL="353695" indent="-341630" algn="just">
              <a:spcBef>
                <a:spcPts val="250"/>
              </a:spcBef>
              <a:buFontTx/>
              <a:buChar char="•"/>
              <a:tabLst>
                <a:tab pos="353695" algn="l"/>
                <a:tab pos="354330" algn="l"/>
              </a:tabLst>
            </a:pPr>
            <a:r>
              <a:rPr sz="2400" spc="-5" dirty="0">
                <a:solidFill>
                  <a:prstClr val="black"/>
                </a:solidFill>
                <a:latin typeface="Arial"/>
                <a:cs typeface="Arial"/>
              </a:rPr>
              <a:t>Each processor also has </a:t>
            </a:r>
            <a:r>
              <a:rPr sz="2400" dirty="0">
                <a:solidFill>
                  <a:prstClr val="black"/>
                </a:solidFill>
                <a:latin typeface="Arial"/>
                <a:cs typeface="Arial"/>
              </a:rPr>
              <a:t>its </a:t>
            </a:r>
            <a:r>
              <a:rPr sz="2400" spc="-5" dirty="0">
                <a:solidFill>
                  <a:prstClr val="black"/>
                </a:solidFill>
                <a:latin typeface="Arial"/>
                <a:cs typeface="Arial"/>
              </a:rPr>
              <a:t>own memory</a:t>
            </a:r>
            <a:r>
              <a:rPr sz="2400" spc="65" dirty="0">
                <a:solidFill>
                  <a:prstClr val="black"/>
                </a:solidFill>
                <a:latin typeface="Arial"/>
                <a:cs typeface="Arial"/>
              </a:rPr>
              <a:t> </a:t>
            </a:r>
            <a:r>
              <a:rPr sz="2400" spc="-5" dirty="0">
                <a:solidFill>
                  <a:prstClr val="black"/>
                </a:solidFill>
                <a:latin typeface="Arial"/>
                <a:cs typeface="Arial"/>
              </a:rPr>
              <a:t>(cache)</a:t>
            </a:r>
            <a:endParaRPr sz="2400" dirty="0">
              <a:solidFill>
                <a:prstClr val="black"/>
              </a:solidFill>
              <a:latin typeface="Arial"/>
              <a:cs typeface="Arial"/>
            </a:endParaRPr>
          </a:p>
          <a:p>
            <a:pPr marL="353695" indent="-341630" algn="just">
              <a:spcBef>
                <a:spcPts val="290"/>
              </a:spcBef>
              <a:buFontTx/>
              <a:buChar char="•"/>
              <a:tabLst>
                <a:tab pos="353695" algn="l"/>
                <a:tab pos="354330" algn="l"/>
              </a:tabLst>
            </a:pPr>
            <a:r>
              <a:rPr sz="2400" spc="-5" dirty="0">
                <a:solidFill>
                  <a:prstClr val="black"/>
                </a:solidFill>
                <a:latin typeface="Arial"/>
                <a:cs typeface="Arial"/>
              </a:rPr>
              <a:t>Data </a:t>
            </a:r>
            <a:r>
              <a:rPr sz="2400" dirty="0">
                <a:solidFill>
                  <a:prstClr val="black"/>
                </a:solidFill>
                <a:latin typeface="Arial"/>
                <a:cs typeface="Arial"/>
              </a:rPr>
              <a:t>structures </a:t>
            </a:r>
            <a:r>
              <a:rPr sz="2400" spc="-5" dirty="0">
                <a:solidFill>
                  <a:prstClr val="black"/>
                </a:solidFill>
                <a:latin typeface="Arial"/>
                <a:cs typeface="Arial"/>
              </a:rPr>
              <a:t>are shared in global address</a:t>
            </a:r>
            <a:r>
              <a:rPr sz="2400" spc="90" dirty="0">
                <a:solidFill>
                  <a:prstClr val="black"/>
                </a:solidFill>
                <a:latin typeface="Arial"/>
                <a:cs typeface="Arial"/>
              </a:rPr>
              <a:t> </a:t>
            </a:r>
            <a:r>
              <a:rPr sz="2400" spc="-5" dirty="0">
                <a:solidFill>
                  <a:prstClr val="black"/>
                </a:solidFill>
                <a:latin typeface="Arial"/>
                <a:cs typeface="Arial"/>
              </a:rPr>
              <a:t>space</a:t>
            </a:r>
            <a:endParaRPr sz="2400" dirty="0">
              <a:solidFill>
                <a:prstClr val="black"/>
              </a:solidFill>
              <a:latin typeface="Arial"/>
              <a:cs typeface="Arial"/>
            </a:endParaRPr>
          </a:p>
          <a:p>
            <a:pPr marL="353695" indent="-341630" algn="just">
              <a:spcBef>
                <a:spcPts val="285"/>
              </a:spcBef>
              <a:buFontTx/>
              <a:buChar char="•"/>
              <a:tabLst>
                <a:tab pos="353695" algn="l"/>
                <a:tab pos="354330" algn="l"/>
              </a:tabLst>
            </a:pPr>
            <a:r>
              <a:rPr sz="2400" spc="-5" dirty="0">
                <a:solidFill>
                  <a:prstClr val="black"/>
                </a:solidFill>
                <a:latin typeface="Arial"/>
                <a:cs typeface="Arial"/>
              </a:rPr>
              <a:t>Concurrent access </a:t>
            </a:r>
            <a:r>
              <a:rPr sz="2400" dirty="0">
                <a:solidFill>
                  <a:prstClr val="black"/>
                </a:solidFill>
                <a:latin typeface="Arial"/>
                <a:cs typeface="Arial"/>
              </a:rPr>
              <a:t>to </a:t>
            </a:r>
            <a:r>
              <a:rPr sz="2400" spc="-5" dirty="0">
                <a:solidFill>
                  <a:prstClr val="black"/>
                </a:solidFill>
                <a:latin typeface="Arial"/>
                <a:cs typeface="Arial"/>
              </a:rPr>
              <a:t>shared </a:t>
            </a:r>
            <a:r>
              <a:rPr sz="2400" dirty="0">
                <a:solidFill>
                  <a:prstClr val="black"/>
                </a:solidFill>
                <a:latin typeface="Arial"/>
                <a:cs typeface="Arial"/>
              </a:rPr>
              <a:t>memory must </a:t>
            </a:r>
            <a:r>
              <a:rPr sz="2400" spc="-5" dirty="0">
                <a:solidFill>
                  <a:prstClr val="black"/>
                </a:solidFill>
                <a:latin typeface="Arial"/>
                <a:cs typeface="Arial"/>
              </a:rPr>
              <a:t>be</a:t>
            </a:r>
            <a:r>
              <a:rPr sz="2400" spc="50" dirty="0">
                <a:solidFill>
                  <a:prstClr val="black"/>
                </a:solidFill>
                <a:latin typeface="Arial"/>
                <a:cs typeface="Arial"/>
              </a:rPr>
              <a:t> </a:t>
            </a:r>
            <a:r>
              <a:rPr sz="2400" spc="-5" dirty="0">
                <a:solidFill>
                  <a:prstClr val="black"/>
                </a:solidFill>
                <a:latin typeface="Arial"/>
                <a:cs typeface="Arial"/>
              </a:rPr>
              <a:t>coordinated</a:t>
            </a:r>
            <a:endParaRPr sz="2400" dirty="0">
              <a:solidFill>
                <a:prstClr val="black"/>
              </a:solidFill>
              <a:latin typeface="Arial"/>
              <a:cs typeface="Arial"/>
            </a:endParaRPr>
          </a:p>
          <a:p>
            <a:pPr marL="353695" indent="-341630" algn="just">
              <a:spcBef>
                <a:spcPts val="290"/>
              </a:spcBef>
              <a:buFontTx/>
              <a:buChar char="•"/>
              <a:tabLst>
                <a:tab pos="353695" algn="l"/>
                <a:tab pos="354330" algn="l"/>
              </a:tabLst>
            </a:pPr>
            <a:r>
              <a:rPr sz="2400" spc="-5" dirty="0">
                <a:solidFill>
                  <a:prstClr val="black"/>
                </a:solidFill>
                <a:latin typeface="Arial"/>
                <a:cs typeface="Arial"/>
              </a:rPr>
              <a:t>Programming</a:t>
            </a:r>
            <a:r>
              <a:rPr sz="2400" spc="10" dirty="0">
                <a:solidFill>
                  <a:prstClr val="black"/>
                </a:solidFill>
                <a:latin typeface="Arial"/>
                <a:cs typeface="Arial"/>
              </a:rPr>
              <a:t> </a:t>
            </a:r>
            <a:r>
              <a:rPr sz="2400" spc="-5" dirty="0">
                <a:solidFill>
                  <a:prstClr val="black"/>
                </a:solidFill>
                <a:latin typeface="Arial"/>
                <a:cs typeface="Arial"/>
              </a:rPr>
              <a:t>Models</a:t>
            </a:r>
            <a:endParaRPr sz="2400" dirty="0">
              <a:solidFill>
                <a:prstClr val="black"/>
              </a:solidFill>
              <a:latin typeface="Arial"/>
              <a:cs typeface="Arial"/>
            </a:endParaRPr>
          </a:p>
          <a:p>
            <a:pPr marL="469900" algn="just">
              <a:spcBef>
                <a:spcPts val="245"/>
              </a:spcBef>
              <a:tabLst>
                <a:tab pos="754380" algn="l"/>
              </a:tabLst>
            </a:pPr>
            <a:r>
              <a:rPr sz="2000" dirty="0">
                <a:solidFill>
                  <a:prstClr val="black"/>
                </a:solidFill>
                <a:latin typeface="Arial"/>
                <a:cs typeface="Arial"/>
              </a:rPr>
              <a:t>–	Multithreading (Thread</a:t>
            </a:r>
            <a:r>
              <a:rPr sz="2000" spc="-65" dirty="0">
                <a:solidFill>
                  <a:prstClr val="black"/>
                </a:solidFill>
                <a:latin typeface="Arial"/>
                <a:cs typeface="Arial"/>
              </a:rPr>
              <a:t> </a:t>
            </a:r>
            <a:r>
              <a:rPr sz="2000" dirty="0">
                <a:solidFill>
                  <a:prstClr val="black"/>
                </a:solidFill>
                <a:latin typeface="Arial"/>
                <a:cs typeface="Arial"/>
              </a:rPr>
              <a:t>Libraries)</a:t>
            </a:r>
          </a:p>
        </p:txBody>
      </p:sp>
      <p:sp>
        <p:nvSpPr>
          <p:cNvPr id="5" name="object 5"/>
          <p:cNvSpPr txBox="1"/>
          <p:nvPr/>
        </p:nvSpPr>
        <p:spPr>
          <a:xfrm>
            <a:off x="716076" y="4640962"/>
            <a:ext cx="1315720" cy="330835"/>
          </a:xfrm>
          <a:prstGeom prst="rect">
            <a:avLst/>
          </a:prstGeom>
        </p:spPr>
        <p:txBody>
          <a:bodyPr vert="horz" wrap="square" lIns="0" tIns="12700" rIns="0" bIns="0" rtlCol="0">
            <a:spAutoFit/>
          </a:bodyPr>
          <a:lstStyle/>
          <a:p>
            <a:pPr marL="12700">
              <a:spcBef>
                <a:spcPts val="100"/>
              </a:spcBef>
              <a:tabLst>
                <a:tab pos="297180" algn="l"/>
              </a:tabLst>
            </a:pPr>
            <a:r>
              <a:rPr sz="2000" dirty="0">
                <a:solidFill>
                  <a:prstClr val="black"/>
                </a:solidFill>
                <a:latin typeface="Arial"/>
                <a:cs typeface="Arial"/>
              </a:rPr>
              <a:t>–	OpenMP</a:t>
            </a:r>
            <a:endParaRPr sz="2000">
              <a:solidFill>
                <a:prstClr val="black"/>
              </a:solidFill>
              <a:latin typeface="Arial"/>
              <a:cs typeface="Arial"/>
            </a:endParaRPr>
          </a:p>
        </p:txBody>
      </p:sp>
      <p:sp>
        <p:nvSpPr>
          <p:cNvPr id="6" name="object 6"/>
          <p:cNvSpPr/>
          <p:nvPr/>
        </p:nvSpPr>
        <p:spPr>
          <a:xfrm>
            <a:off x="3055622" y="4765547"/>
            <a:ext cx="1061085" cy="327660"/>
          </a:xfrm>
          <a:custGeom>
            <a:avLst/>
            <a:gdLst/>
            <a:ahLst/>
            <a:cxnLst/>
            <a:rect l="l" t="t" r="r" b="b"/>
            <a:pathLst>
              <a:path w="1061085" h="327660">
                <a:moveTo>
                  <a:pt x="0" y="634"/>
                </a:moveTo>
                <a:lnTo>
                  <a:pt x="0" y="253"/>
                </a:lnTo>
                <a:lnTo>
                  <a:pt x="254" y="0"/>
                </a:lnTo>
                <a:lnTo>
                  <a:pt x="635" y="0"/>
                </a:lnTo>
                <a:lnTo>
                  <a:pt x="1060069" y="0"/>
                </a:lnTo>
                <a:lnTo>
                  <a:pt x="1060450" y="0"/>
                </a:lnTo>
                <a:lnTo>
                  <a:pt x="1060704" y="253"/>
                </a:lnTo>
                <a:lnTo>
                  <a:pt x="1060704" y="634"/>
                </a:lnTo>
                <a:lnTo>
                  <a:pt x="1060704" y="327025"/>
                </a:lnTo>
                <a:lnTo>
                  <a:pt x="1060704" y="327406"/>
                </a:lnTo>
                <a:lnTo>
                  <a:pt x="1060450" y="327659"/>
                </a:lnTo>
                <a:lnTo>
                  <a:pt x="1060069" y="327659"/>
                </a:lnTo>
                <a:lnTo>
                  <a:pt x="635" y="327659"/>
                </a:lnTo>
                <a:lnTo>
                  <a:pt x="254" y="327659"/>
                </a:lnTo>
                <a:lnTo>
                  <a:pt x="0" y="327406"/>
                </a:lnTo>
                <a:lnTo>
                  <a:pt x="0" y="327025"/>
                </a:lnTo>
                <a:lnTo>
                  <a:pt x="0" y="634"/>
                </a:lnTo>
                <a:close/>
              </a:path>
            </a:pathLst>
          </a:custGeom>
          <a:ln w="9525">
            <a:solidFill>
              <a:srgbClr val="000000"/>
            </a:solidFill>
          </a:ln>
        </p:spPr>
        <p:txBody>
          <a:bodyPr wrap="square" lIns="0" tIns="0" rIns="0" bIns="0" rtlCol="0"/>
          <a:lstStyle/>
          <a:p>
            <a:endParaRPr>
              <a:solidFill>
                <a:prstClr val="black"/>
              </a:solidFill>
              <a:latin typeface="Calibri"/>
            </a:endParaRPr>
          </a:p>
        </p:txBody>
      </p:sp>
      <p:sp>
        <p:nvSpPr>
          <p:cNvPr id="7" name="object 7"/>
          <p:cNvSpPr txBox="1"/>
          <p:nvPr/>
        </p:nvSpPr>
        <p:spPr>
          <a:xfrm>
            <a:off x="3428746" y="4710545"/>
            <a:ext cx="314960" cy="366767"/>
          </a:xfrm>
          <a:prstGeom prst="rect">
            <a:avLst/>
          </a:prstGeom>
        </p:spPr>
        <p:txBody>
          <a:bodyPr vert="horz" wrap="square" lIns="0" tIns="27940" rIns="0" bIns="0" rtlCol="0">
            <a:spAutoFit/>
          </a:bodyPr>
          <a:lstStyle/>
          <a:p>
            <a:pPr>
              <a:spcBef>
                <a:spcPts val="220"/>
              </a:spcBef>
            </a:pPr>
            <a:r>
              <a:rPr sz="2200" spc="-10" dirty="0">
                <a:solidFill>
                  <a:prstClr val="black"/>
                </a:solidFill>
                <a:latin typeface="Comic Sans MS"/>
                <a:cs typeface="Comic Sans MS"/>
              </a:rPr>
              <a:t>P0</a:t>
            </a:r>
            <a:endParaRPr sz="2200">
              <a:solidFill>
                <a:prstClr val="black"/>
              </a:solidFill>
              <a:latin typeface="Comic Sans MS"/>
              <a:cs typeface="Comic Sans MS"/>
            </a:endParaRPr>
          </a:p>
        </p:txBody>
      </p:sp>
      <p:sp>
        <p:nvSpPr>
          <p:cNvPr id="8" name="object 8"/>
          <p:cNvSpPr/>
          <p:nvPr/>
        </p:nvSpPr>
        <p:spPr>
          <a:xfrm>
            <a:off x="3137918" y="5099303"/>
            <a:ext cx="922019" cy="326390"/>
          </a:xfrm>
          <a:custGeom>
            <a:avLst/>
            <a:gdLst/>
            <a:ahLst/>
            <a:cxnLst/>
            <a:rect l="l" t="t" r="r" b="b"/>
            <a:pathLst>
              <a:path w="922020" h="326389">
                <a:moveTo>
                  <a:pt x="0" y="2032"/>
                </a:moveTo>
                <a:lnTo>
                  <a:pt x="0" y="889"/>
                </a:lnTo>
                <a:lnTo>
                  <a:pt x="888" y="0"/>
                </a:lnTo>
                <a:lnTo>
                  <a:pt x="2031" y="0"/>
                </a:lnTo>
                <a:lnTo>
                  <a:pt x="919987" y="0"/>
                </a:lnTo>
                <a:lnTo>
                  <a:pt x="921131" y="0"/>
                </a:lnTo>
                <a:lnTo>
                  <a:pt x="922019" y="889"/>
                </a:lnTo>
                <a:lnTo>
                  <a:pt x="922019" y="2032"/>
                </a:lnTo>
                <a:lnTo>
                  <a:pt x="922019" y="324104"/>
                </a:lnTo>
                <a:lnTo>
                  <a:pt x="922019" y="325247"/>
                </a:lnTo>
                <a:lnTo>
                  <a:pt x="921131" y="326136"/>
                </a:lnTo>
                <a:lnTo>
                  <a:pt x="919987" y="326136"/>
                </a:lnTo>
                <a:lnTo>
                  <a:pt x="2031" y="326136"/>
                </a:lnTo>
                <a:lnTo>
                  <a:pt x="888" y="326136"/>
                </a:lnTo>
                <a:lnTo>
                  <a:pt x="0" y="325247"/>
                </a:lnTo>
                <a:lnTo>
                  <a:pt x="0" y="324104"/>
                </a:lnTo>
                <a:lnTo>
                  <a:pt x="0" y="2032"/>
                </a:lnTo>
                <a:close/>
              </a:path>
            </a:pathLst>
          </a:custGeom>
          <a:ln w="9525">
            <a:solidFill>
              <a:srgbClr val="000000"/>
            </a:solidFill>
          </a:ln>
        </p:spPr>
        <p:txBody>
          <a:bodyPr wrap="square" lIns="0" tIns="0" rIns="0" bIns="0" rtlCol="0"/>
          <a:lstStyle/>
          <a:p>
            <a:endParaRPr>
              <a:solidFill>
                <a:prstClr val="black"/>
              </a:solidFill>
              <a:latin typeface="Calibri"/>
            </a:endParaRPr>
          </a:p>
        </p:txBody>
      </p:sp>
      <p:sp>
        <p:nvSpPr>
          <p:cNvPr id="9" name="object 9"/>
          <p:cNvSpPr txBox="1"/>
          <p:nvPr/>
        </p:nvSpPr>
        <p:spPr>
          <a:xfrm>
            <a:off x="3215004" y="5044047"/>
            <a:ext cx="769620" cy="366767"/>
          </a:xfrm>
          <a:prstGeom prst="rect">
            <a:avLst/>
          </a:prstGeom>
        </p:spPr>
        <p:txBody>
          <a:bodyPr vert="horz" wrap="square" lIns="0" tIns="27940" rIns="0" bIns="0" rtlCol="0">
            <a:spAutoFit/>
          </a:bodyPr>
          <a:lstStyle/>
          <a:p>
            <a:pPr>
              <a:spcBef>
                <a:spcPts val="220"/>
              </a:spcBef>
            </a:pPr>
            <a:r>
              <a:rPr sz="2200" spc="-5" dirty="0">
                <a:solidFill>
                  <a:prstClr val="black"/>
                </a:solidFill>
                <a:latin typeface="Comic Sans MS"/>
                <a:cs typeface="Comic Sans MS"/>
              </a:rPr>
              <a:t>Cac</a:t>
            </a:r>
            <a:r>
              <a:rPr sz="2200" dirty="0">
                <a:solidFill>
                  <a:prstClr val="black"/>
                </a:solidFill>
                <a:latin typeface="Comic Sans MS"/>
                <a:cs typeface="Comic Sans MS"/>
              </a:rPr>
              <a:t>h</a:t>
            </a:r>
            <a:r>
              <a:rPr sz="2200" spc="-5" dirty="0">
                <a:solidFill>
                  <a:prstClr val="black"/>
                </a:solidFill>
                <a:latin typeface="Comic Sans MS"/>
                <a:cs typeface="Comic Sans MS"/>
              </a:rPr>
              <a:t>e</a:t>
            </a:r>
            <a:endParaRPr sz="2200">
              <a:solidFill>
                <a:prstClr val="black"/>
              </a:solidFill>
              <a:latin typeface="Comic Sans MS"/>
              <a:cs typeface="Comic Sans MS"/>
            </a:endParaRPr>
          </a:p>
        </p:txBody>
      </p:sp>
      <p:sp>
        <p:nvSpPr>
          <p:cNvPr id="10" name="object 10"/>
          <p:cNvSpPr/>
          <p:nvPr/>
        </p:nvSpPr>
        <p:spPr>
          <a:xfrm>
            <a:off x="3055622" y="4759454"/>
            <a:ext cx="1061085" cy="338455"/>
          </a:xfrm>
          <a:custGeom>
            <a:avLst/>
            <a:gdLst/>
            <a:ahLst/>
            <a:cxnLst/>
            <a:rect l="l" t="t" r="r" b="b"/>
            <a:pathLst>
              <a:path w="1061085" h="338454">
                <a:moveTo>
                  <a:pt x="0" y="762"/>
                </a:moveTo>
                <a:lnTo>
                  <a:pt x="0" y="254"/>
                </a:lnTo>
                <a:lnTo>
                  <a:pt x="254" y="0"/>
                </a:lnTo>
                <a:lnTo>
                  <a:pt x="762" y="0"/>
                </a:lnTo>
                <a:lnTo>
                  <a:pt x="1059942" y="0"/>
                </a:lnTo>
                <a:lnTo>
                  <a:pt x="1060450" y="0"/>
                </a:lnTo>
                <a:lnTo>
                  <a:pt x="1060704" y="254"/>
                </a:lnTo>
                <a:lnTo>
                  <a:pt x="1060704" y="762"/>
                </a:lnTo>
                <a:lnTo>
                  <a:pt x="1060704" y="337566"/>
                </a:lnTo>
                <a:lnTo>
                  <a:pt x="1060704" y="338074"/>
                </a:lnTo>
                <a:lnTo>
                  <a:pt x="1060450" y="338328"/>
                </a:lnTo>
                <a:lnTo>
                  <a:pt x="1059942" y="338328"/>
                </a:lnTo>
                <a:lnTo>
                  <a:pt x="762" y="338328"/>
                </a:lnTo>
                <a:lnTo>
                  <a:pt x="254" y="338328"/>
                </a:lnTo>
                <a:lnTo>
                  <a:pt x="0" y="338074"/>
                </a:lnTo>
                <a:lnTo>
                  <a:pt x="0" y="337566"/>
                </a:lnTo>
                <a:lnTo>
                  <a:pt x="0" y="762"/>
                </a:lnTo>
                <a:close/>
              </a:path>
            </a:pathLst>
          </a:custGeom>
          <a:ln w="9525">
            <a:solidFill>
              <a:srgbClr val="000000"/>
            </a:solidFill>
          </a:ln>
        </p:spPr>
        <p:txBody>
          <a:bodyPr wrap="square" lIns="0" tIns="0" rIns="0" bIns="0" rtlCol="0"/>
          <a:lstStyle/>
          <a:p>
            <a:endParaRPr>
              <a:solidFill>
                <a:prstClr val="black"/>
              </a:solidFill>
              <a:latin typeface="Calibri"/>
            </a:endParaRPr>
          </a:p>
        </p:txBody>
      </p:sp>
      <p:sp>
        <p:nvSpPr>
          <p:cNvPr id="11" name="object 11"/>
          <p:cNvSpPr txBox="1"/>
          <p:nvPr/>
        </p:nvSpPr>
        <p:spPr>
          <a:xfrm>
            <a:off x="3060511" y="4770312"/>
            <a:ext cx="1050925" cy="318135"/>
          </a:xfrm>
          <a:prstGeom prst="rect">
            <a:avLst/>
          </a:prstGeom>
          <a:solidFill>
            <a:srgbClr val="CCCCCC"/>
          </a:solidFill>
        </p:spPr>
        <p:txBody>
          <a:bodyPr vert="horz" wrap="square" lIns="0" tIns="0" rIns="0" bIns="0" rtlCol="0">
            <a:spAutoFit/>
          </a:bodyPr>
          <a:lstStyle/>
          <a:p>
            <a:pPr algn="ctr">
              <a:lnSpc>
                <a:spcPts val="2415"/>
              </a:lnSpc>
            </a:pPr>
            <a:r>
              <a:rPr sz="2200" spc="-10" dirty="0">
                <a:solidFill>
                  <a:prstClr val="black"/>
                </a:solidFill>
                <a:latin typeface="Comic Sans MS"/>
                <a:cs typeface="Comic Sans MS"/>
              </a:rPr>
              <a:t>P0</a:t>
            </a:r>
            <a:endParaRPr sz="2200">
              <a:solidFill>
                <a:prstClr val="black"/>
              </a:solidFill>
              <a:latin typeface="Comic Sans MS"/>
              <a:cs typeface="Comic Sans MS"/>
            </a:endParaRPr>
          </a:p>
        </p:txBody>
      </p:sp>
      <p:grpSp>
        <p:nvGrpSpPr>
          <p:cNvPr id="12" name="object 12"/>
          <p:cNvGrpSpPr/>
          <p:nvPr/>
        </p:nvGrpSpPr>
        <p:grpSpPr>
          <a:xfrm>
            <a:off x="3133153" y="5089969"/>
            <a:ext cx="931544" cy="347980"/>
            <a:chOff x="3133153" y="5089969"/>
            <a:chExt cx="931544" cy="347980"/>
          </a:xfrm>
        </p:grpSpPr>
        <p:sp>
          <p:nvSpPr>
            <p:cNvPr id="13" name="object 13"/>
            <p:cNvSpPr/>
            <p:nvPr/>
          </p:nvSpPr>
          <p:spPr>
            <a:xfrm>
              <a:off x="3137916" y="5095239"/>
              <a:ext cx="922019" cy="336550"/>
            </a:xfrm>
            <a:custGeom>
              <a:avLst/>
              <a:gdLst/>
              <a:ahLst/>
              <a:cxnLst/>
              <a:rect l="l" t="t" r="r" b="b"/>
              <a:pathLst>
                <a:path w="922020" h="336550">
                  <a:moveTo>
                    <a:pt x="922020" y="0"/>
                  </a:moveTo>
                  <a:lnTo>
                    <a:pt x="0" y="0"/>
                  </a:lnTo>
                  <a:lnTo>
                    <a:pt x="0" y="1270"/>
                  </a:lnTo>
                  <a:lnTo>
                    <a:pt x="0" y="336550"/>
                  </a:lnTo>
                  <a:lnTo>
                    <a:pt x="922020" y="336550"/>
                  </a:lnTo>
                  <a:lnTo>
                    <a:pt x="922020" y="1270"/>
                  </a:lnTo>
                  <a:lnTo>
                    <a:pt x="922020" y="0"/>
                  </a:lnTo>
                  <a:close/>
                </a:path>
              </a:pathLst>
            </a:custGeom>
            <a:solidFill>
              <a:srgbClr val="FFFFFF"/>
            </a:solidFill>
          </p:spPr>
          <p:txBody>
            <a:bodyPr wrap="square" lIns="0" tIns="0" rIns="0" bIns="0" rtlCol="0"/>
            <a:lstStyle/>
            <a:p>
              <a:endParaRPr>
                <a:solidFill>
                  <a:prstClr val="black"/>
                </a:solidFill>
                <a:latin typeface="Calibri"/>
              </a:endParaRPr>
            </a:p>
          </p:txBody>
        </p:sp>
        <p:sp>
          <p:nvSpPr>
            <p:cNvPr id="14" name="object 14"/>
            <p:cNvSpPr/>
            <p:nvPr/>
          </p:nvSpPr>
          <p:spPr>
            <a:xfrm>
              <a:off x="3137916" y="5094732"/>
              <a:ext cx="922019" cy="338455"/>
            </a:xfrm>
            <a:custGeom>
              <a:avLst/>
              <a:gdLst/>
              <a:ahLst/>
              <a:cxnLst/>
              <a:rect l="l" t="t" r="r" b="b"/>
              <a:pathLst>
                <a:path w="922020" h="338454">
                  <a:moveTo>
                    <a:pt x="0" y="2032"/>
                  </a:moveTo>
                  <a:lnTo>
                    <a:pt x="0" y="889"/>
                  </a:lnTo>
                  <a:lnTo>
                    <a:pt x="888" y="0"/>
                  </a:lnTo>
                  <a:lnTo>
                    <a:pt x="2031" y="0"/>
                  </a:lnTo>
                  <a:lnTo>
                    <a:pt x="919987" y="0"/>
                  </a:lnTo>
                  <a:lnTo>
                    <a:pt x="921131" y="0"/>
                  </a:lnTo>
                  <a:lnTo>
                    <a:pt x="922019" y="889"/>
                  </a:lnTo>
                  <a:lnTo>
                    <a:pt x="922019" y="2032"/>
                  </a:lnTo>
                  <a:lnTo>
                    <a:pt x="922019" y="336296"/>
                  </a:lnTo>
                  <a:lnTo>
                    <a:pt x="922019" y="337439"/>
                  </a:lnTo>
                  <a:lnTo>
                    <a:pt x="921131" y="338328"/>
                  </a:lnTo>
                  <a:lnTo>
                    <a:pt x="919987" y="338328"/>
                  </a:lnTo>
                  <a:lnTo>
                    <a:pt x="2031" y="338328"/>
                  </a:lnTo>
                  <a:lnTo>
                    <a:pt x="888" y="338328"/>
                  </a:lnTo>
                  <a:lnTo>
                    <a:pt x="0" y="337439"/>
                  </a:lnTo>
                  <a:lnTo>
                    <a:pt x="0" y="336296"/>
                  </a:lnTo>
                  <a:lnTo>
                    <a:pt x="0" y="2032"/>
                  </a:lnTo>
                  <a:close/>
                </a:path>
              </a:pathLst>
            </a:custGeom>
            <a:ln w="9525">
              <a:solidFill>
                <a:srgbClr val="000000"/>
              </a:solidFill>
            </a:ln>
          </p:spPr>
          <p:txBody>
            <a:bodyPr wrap="square" lIns="0" tIns="0" rIns="0" bIns="0" rtlCol="0"/>
            <a:lstStyle/>
            <a:p>
              <a:endParaRPr>
                <a:solidFill>
                  <a:prstClr val="black"/>
                </a:solidFill>
                <a:latin typeface="Calibri"/>
              </a:endParaRPr>
            </a:p>
          </p:txBody>
        </p:sp>
      </p:grpSp>
      <p:sp>
        <p:nvSpPr>
          <p:cNvPr id="15" name="object 15"/>
          <p:cNvSpPr txBox="1"/>
          <p:nvPr/>
        </p:nvSpPr>
        <p:spPr>
          <a:xfrm>
            <a:off x="3143123" y="5064633"/>
            <a:ext cx="911860" cy="360680"/>
          </a:xfrm>
          <a:prstGeom prst="rect">
            <a:avLst/>
          </a:prstGeom>
        </p:spPr>
        <p:txBody>
          <a:bodyPr vert="horz" wrap="square" lIns="0" tIns="12065" rIns="0" bIns="0" rtlCol="0">
            <a:spAutoFit/>
          </a:bodyPr>
          <a:lstStyle/>
          <a:p>
            <a:pPr marL="71755">
              <a:spcBef>
                <a:spcPts val="95"/>
              </a:spcBef>
            </a:pPr>
            <a:r>
              <a:rPr sz="2200" spc="-5" dirty="0">
                <a:solidFill>
                  <a:prstClr val="black"/>
                </a:solidFill>
                <a:latin typeface="Comic Sans MS"/>
                <a:cs typeface="Comic Sans MS"/>
              </a:rPr>
              <a:t>Cache</a:t>
            </a:r>
            <a:endParaRPr sz="2200">
              <a:solidFill>
                <a:prstClr val="black"/>
              </a:solidFill>
              <a:latin typeface="Comic Sans MS"/>
              <a:cs typeface="Comic Sans MS"/>
            </a:endParaRPr>
          </a:p>
        </p:txBody>
      </p:sp>
      <p:sp>
        <p:nvSpPr>
          <p:cNvPr id="16" name="object 16"/>
          <p:cNvSpPr/>
          <p:nvPr/>
        </p:nvSpPr>
        <p:spPr>
          <a:xfrm>
            <a:off x="4581144" y="5080000"/>
            <a:ext cx="920750" cy="335280"/>
          </a:xfrm>
          <a:custGeom>
            <a:avLst/>
            <a:gdLst/>
            <a:ahLst/>
            <a:cxnLst/>
            <a:rect l="l" t="t" r="r" b="b"/>
            <a:pathLst>
              <a:path w="920750" h="335279">
                <a:moveTo>
                  <a:pt x="0" y="335279"/>
                </a:moveTo>
                <a:lnTo>
                  <a:pt x="920495" y="335279"/>
                </a:lnTo>
                <a:lnTo>
                  <a:pt x="920495" y="0"/>
                </a:lnTo>
                <a:lnTo>
                  <a:pt x="0" y="0"/>
                </a:lnTo>
                <a:lnTo>
                  <a:pt x="0" y="335279"/>
                </a:lnTo>
                <a:close/>
              </a:path>
            </a:pathLst>
          </a:custGeom>
          <a:solidFill>
            <a:srgbClr val="FFFFFF"/>
          </a:solidFill>
        </p:spPr>
        <p:txBody>
          <a:bodyPr wrap="square" lIns="0" tIns="0" rIns="0" bIns="0" rtlCol="0"/>
          <a:lstStyle/>
          <a:p>
            <a:endParaRPr>
              <a:solidFill>
                <a:prstClr val="black"/>
              </a:solidFill>
              <a:latin typeface="Calibri"/>
            </a:endParaRPr>
          </a:p>
        </p:txBody>
      </p:sp>
      <p:graphicFrame>
        <p:nvGraphicFramePr>
          <p:cNvPr id="17" name="object 17"/>
          <p:cNvGraphicFramePr>
            <a:graphicFrameLocks noGrp="1"/>
          </p:cNvGraphicFramePr>
          <p:nvPr/>
        </p:nvGraphicFramePr>
        <p:xfrm>
          <a:off x="4512246" y="4748595"/>
          <a:ext cx="1058544" cy="662939"/>
        </p:xfrm>
        <a:graphic>
          <a:graphicData uri="http://schemas.openxmlformats.org/drawingml/2006/table">
            <a:tbl>
              <a:tblPr firstRow="1" bandRow="1">
                <a:tableStyleId>{2D5ABB26-0587-4C30-8999-92F81FD0307C}</a:tableStyleId>
              </a:tblPr>
              <a:tblGrid>
                <a:gridCol w="64135">
                  <a:extLst>
                    <a:ext uri="{9D8B030D-6E8A-4147-A177-3AD203B41FA5}">
                      <a16:colId xmlns:a16="http://schemas.microsoft.com/office/drawing/2014/main" val="20000"/>
                    </a:ext>
                  </a:extLst>
                </a:gridCol>
                <a:gridCol w="920750">
                  <a:extLst>
                    <a:ext uri="{9D8B030D-6E8A-4147-A177-3AD203B41FA5}">
                      <a16:colId xmlns:a16="http://schemas.microsoft.com/office/drawing/2014/main" val="20001"/>
                    </a:ext>
                  </a:extLst>
                </a:gridCol>
                <a:gridCol w="73659">
                  <a:extLst>
                    <a:ext uri="{9D8B030D-6E8A-4147-A177-3AD203B41FA5}">
                      <a16:colId xmlns:a16="http://schemas.microsoft.com/office/drawing/2014/main" val="20002"/>
                    </a:ext>
                  </a:extLst>
                </a:gridCol>
              </a:tblGrid>
              <a:tr h="331469">
                <a:tc gridSpan="3">
                  <a:txBody>
                    <a:bodyPr/>
                    <a:lstStyle/>
                    <a:p>
                      <a:pPr algn="ctr">
                        <a:lnSpc>
                          <a:spcPts val="2500"/>
                        </a:lnSpc>
                      </a:pPr>
                      <a:r>
                        <a:rPr sz="2200" spc="-10" dirty="0">
                          <a:latin typeface="Comic Sans MS"/>
                          <a:cs typeface="Comic Sans MS"/>
                        </a:rPr>
                        <a:t>P1</a:t>
                      </a:r>
                      <a:endParaRPr sz="2200">
                        <a:latin typeface="Comic Sans MS"/>
                        <a:cs typeface="Comic Sans MS"/>
                      </a:endParaRPr>
                    </a:p>
                  </a:txBody>
                  <a:tcPr marL="0" marR="0" marT="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solidFill>
                      <a:srgbClr val="CCCCCC"/>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31470">
                <a:tc>
                  <a:txBody>
                    <a:bodyPr/>
                    <a:lstStyle/>
                    <a:p>
                      <a:pPr>
                        <a:lnSpc>
                          <a:spcPct val="100000"/>
                        </a:lnSpc>
                      </a:pPr>
                      <a:endParaRPr sz="2000">
                        <a:latin typeface="Times New Roman"/>
                        <a:cs typeface="Times New Roman"/>
                      </a:endParaRPr>
                    </a:p>
                  </a:txBody>
                  <a:tcPr marL="0" marR="0" marT="0" marB="0">
                    <a:lnR w="12700">
                      <a:solidFill>
                        <a:srgbClr val="000000"/>
                      </a:solidFill>
                      <a:prstDash val="solid"/>
                    </a:lnR>
                    <a:lnT w="9525">
                      <a:solidFill>
                        <a:srgbClr val="000000"/>
                      </a:solidFill>
                      <a:prstDash val="solid"/>
                    </a:lnT>
                  </a:tcPr>
                </a:tc>
                <a:tc>
                  <a:txBody>
                    <a:bodyPr/>
                    <a:lstStyle/>
                    <a:p>
                      <a:pPr marL="76835">
                        <a:lnSpc>
                          <a:spcPts val="2450"/>
                        </a:lnSpc>
                      </a:pPr>
                      <a:r>
                        <a:rPr sz="2200" spc="-5" dirty="0">
                          <a:latin typeface="Comic Sans MS"/>
                          <a:cs typeface="Comic Sans MS"/>
                        </a:rPr>
                        <a:t>Cache</a:t>
                      </a:r>
                      <a:endParaRPr sz="2200">
                        <a:latin typeface="Comic Sans MS"/>
                        <a:cs typeface="Comic Sans MS"/>
                      </a:endParaRPr>
                    </a:p>
                  </a:txBody>
                  <a:tcPr marL="0" marR="0" marT="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T w="9525">
                      <a:solidFill>
                        <a:srgbClr val="000000"/>
                      </a:solidFill>
                      <a:prstDash val="solid"/>
                    </a:lnT>
                  </a:tcPr>
                </a:tc>
                <a:extLst>
                  <a:ext uri="{0D108BD9-81ED-4DB2-BD59-A6C34878D82A}">
                    <a16:rowId xmlns:a16="http://schemas.microsoft.com/office/drawing/2014/main" val="10001"/>
                  </a:ext>
                </a:extLst>
              </a:tr>
            </a:tbl>
          </a:graphicData>
        </a:graphic>
      </p:graphicFrame>
      <p:sp>
        <p:nvSpPr>
          <p:cNvPr id="18" name="object 18"/>
          <p:cNvSpPr/>
          <p:nvPr/>
        </p:nvSpPr>
        <p:spPr>
          <a:xfrm>
            <a:off x="6797040" y="4751834"/>
            <a:ext cx="1059180" cy="338455"/>
          </a:xfrm>
          <a:custGeom>
            <a:avLst/>
            <a:gdLst/>
            <a:ahLst/>
            <a:cxnLst/>
            <a:rect l="l" t="t" r="r" b="b"/>
            <a:pathLst>
              <a:path w="1059179" h="338454">
                <a:moveTo>
                  <a:pt x="0" y="762"/>
                </a:moveTo>
                <a:lnTo>
                  <a:pt x="0" y="254"/>
                </a:lnTo>
                <a:lnTo>
                  <a:pt x="253" y="0"/>
                </a:lnTo>
                <a:lnTo>
                  <a:pt x="761" y="0"/>
                </a:lnTo>
                <a:lnTo>
                  <a:pt x="1058417" y="0"/>
                </a:lnTo>
                <a:lnTo>
                  <a:pt x="1058926" y="0"/>
                </a:lnTo>
                <a:lnTo>
                  <a:pt x="1059179" y="254"/>
                </a:lnTo>
                <a:lnTo>
                  <a:pt x="1059179" y="762"/>
                </a:lnTo>
                <a:lnTo>
                  <a:pt x="1059179" y="337566"/>
                </a:lnTo>
                <a:lnTo>
                  <a:pt x="1059179" y="338074"/>
                </a:lnTo>
                <a:lnTo>
                  <a:pt x="1058926" y="338328"/>
                </a:lnTo>
                <a:lnTo>
                  <a:pt x="1058417" y="338328"/>
                </a:lnTo>
                <a:lnTo>
                  <a:pt x="761" y="338328"/>
                </a:lnTo>
                <a:lnTo>
                  <a:pt x="253" y="338328"/>
                </a:lnTo>
                <a:lnTo>
                  <a:pt x="0" y="338074"/>
                </a:lnTo>
                <a:lnTo>
                  <a:pt x="0" y="337566"/>
                </a:lnTo>
                <a:lnTo>
                  <a:pt x="0" y="762"/>
                </a:lnTo>
                <a:close/>
              </a:path>
            </a:pathLst>
          </a:custGeom>
          <a:ln w="9525">
            <a:solidFill>
              <a:srgbClr val="000000"/>
            </a:solidFill>
          </a:ln>
        </p:spPr>
        <p:txBody>
          <a:bodyPr wrap="square" lIns="0" tIns="0" rIns="0" bIns="0" rtlCol="0"/>
          <a:lstStyle/>
          <a:p>
            <a:endParaRPr>
              <a:solidFill>
                <a:prstClr val="black"/>
              </a:solidFill>
              <a:latin typeface="Calibri"/>
            </a:endParaRPr>
          </a:p>
        </p:txBody>
      </p:sp>
      <p:sp>
        <p:nvSpPr>
          <p:cNvPr id="19" name="object 19"/>
          <p:cNvSpPr txBox="1"/>
          <p:nvPr/>
        </p:nvSpPr>
        <p:spPr>
          <a:xfrm>
            <a:off x="6801931" y="4756596"/>
            <a:ext cx="1049655" cy="325755"/>
          </a:xfrm>
          <a:prstGeom prst="rect">
            <a:avLst/>
          </a:prstGeom>
          <a:solidFill>
            <a:srgbClr val="CCCCCC"/>
          </a:solidFill>
        </p:spPr>
        <p:txBody>
          <a:bodyPr vert="horz" wrap="square" lIns="0" tIns="0" rIns="0" bIns="0" rtlCol="0">
            <a:spAutoFit/>
          </a:bodyPr>
          <a:lstStyle/>
          <a:p>
            <a:pPr marL="635" algn="ctr">
              <a:lnSpc>
                <a:spcPts val="2460"/>
              </a:lnSpc>
            </a:pPr>
            <a:r>
              <a:rPr sz="2200" spc="-10" dirty="0">
                <a:solidFill>
                  <a:prstClr val="black"/>
                </a:solidFill>
                <a:latin typeface="Comic Sans MS"/>
                <a:cs typeface="Comic Sans MS"/>
              </a:rPr>
              <a:t>Pn</a:t>
            </a:r>
            <a:endParaRPr sz="2200">
              <a:solidFill>
                <a:prstClr val="black"/>
              </a:solidFill>
              <a:latin typeface="Comic Sans MS"/>
              <a:cs typeface="Comic Sans MS"/>
            </a:endParaRPr>
          </a:p>
        </p:txBody>
      </p:sp>
      <p:sp>
        <p:nvSpPr>
          <p:cNvPr id="20" name="object 20"/>
          <p:cNvSpPr txBox="1"/>
          <p:nvPr/>
        </p:nvSpPr>
        <p:spPr>
          <a:xfrm>
            <a:off x="6879337" y="5088637"/>
            <a:ext cx="922019" cy="320601"/>
          </a:xfrm>
          <a:prstGeom prst="rect">
            <a:avLst/>
          </a:prstGeom>
          <a:ln w="10413">
            <a:solidFill>
              <a:srgbClr val="000000"/>
            </a:solidFill>
          </a:ln>
        </p:spPr>
        <p:txBody>
          <a:bodyPr vert="horz" wrap="square" lIns="0" tIns="0" rIns="0" bIns="0" rtlCol="0">
            <a:spAutoFit/>
          </a:bodyPr>
          <a:lstStyle/>
          <a:p>
            <a:pPr marL="77470">
              <a:lnSpc>
                <a:spcPts val="2485"/>
              </a:lnSpc>
            </a:pPr>
            <a:r>
              <a:rPr sz="2200" spc="-5" dirty="0">
                <a:solidFill>
                  <a:prstClr val="black"/>
                </a:solidFill>
                <a:latin typeface="Comic Sans MS"/>
                <a:cs typeface="Comic Sans MS"/>
              </a:rPr>
              <a:t>Cache</a:t>
            </a:r>
            <a:endParaRPr sz="2200">
              <a:solidFill>
                <a:prstClr val="black"/>
              </a:solidFill>
              <a:latin typeface="Comic Sans MS"/>
              <a:cs typeface="Comic Sans MS"/>
            </a:endParaRPr>
          </a:p>
        </p:txBody>
      </p:sp>
      <p:grpSp>
        <p:nvGrpSpPr>
          <p:cNvPr id="21" name="object 21"/>
          <p:cNvGrpSpPr/>
          <p:nvPr/>
        </p:nvGrpSpPr>
        <p:grpSpPr>
          <a:xfrm>
            <a:off x="2783969" y="5398010"/>
            <a:ext cx="5379085" cy="1196975"/>
            <a:chOff x="2783967" y="5398008"/>
            <a:chExt cx="5379085" cy="1196975"/>
          </a:xfrm>
        </p:grpSpPr>
        <p:sp>
          <p:nvSpPr>
            <p:cNvPr id="22" name="object 22"/>
            <p:cNvSpPr/>
            <p:nvPr/>
          </p:nvSpPr>
          <p:spPr>
            <a:xfrm>
              <a:off x="2820162" y="5798058"/>
              <a:ext cx="5306695" cy="0"/>
            </a:xfrm>
            <a:custGeom>
              <a:avLst/>
              <a:gdLst/>
              <a:ahLst/>
              <a:cxnLst/>
              <a:rect l="l" t="t" r="r" b="b"/>
              <a:pathLst>
                <a:path w="5306695">
                  <a:moveTo>
                    <a:pt x="0" y="0"/>
                  </a:moveTo>
                  <a:lnTo>
                    <a:pt x="5306568" y="0"/>
                  </a:lnTo>
                </a:path>
              </a:pathLst>
            </a:custGeom>
            <a:ln w="72000">
              <a:solidFill>
                <a:srgbClr val="000000"/>
              </a:solidFill>
            </a:ln>
          </p:spPr>
          <p:txBody>
            <a:bodyPr wrap="square" lIns="0" tIns="0" rIns="0" bIns="0" rtlCol="0"/>
            <a:lstStyle/>
            <a:p>
              <a:endParaRPr>
                <a:solidFill>
                  <a:prstClr val="black"/>
                </a:solidFill>
                <a:latin typeface="Calibri"/>
              </a:endParaRPr>
            </a:p>
          </p:txBody>
        </p:sp>
        <p:sp>
          <p:nvSpPr>
            <p:cNvPr id="23" name="object 23"/>
            <p:cNvSpPr/>
            <p:nvPr/>
          </p:nvSpPr>
          <p:spPr>
            <a:xfrm>
              <a:off x="3554984" y="5398008"/>
              <a:ext cx="3876675" cy="376555"/>
            </a:xfrm>
            <a:custGeom>
              <a:avLst/>
              <a:gdLst/>
              <a:ahLst/>
              <a:cxnLst/>
              <a:rect l="l" t="t" r="r" b="b"/>
              <a:pathLst>
                <a:path w="3876675" h="376554">
                  <a:moveTo>
                    <a:pt x="127508" y="249161"/>
                  </a:moveTo>
                  <a:lnTo>
                    <a:pt x="70307" y="249402"/>
                  </a:lnTo>
                  <a:lnTo>
                    <a:pt x="69888" y="136118"/>
                  </a:lnTo>
                  <a:lnTo>
                    <a:pt x="127000" y="135890"/>
                  </a:lnTo>
                  <a:lnTo>
                    <a:pt x="120713" y="123444"/>
                  </a:lnTo>
                  <a:lnTo>
                    <a:pt x="62992" y="9144"/>
                  </a:lnTo>
                  <a:lnTo>
                    <a:pt x="0" y="136398"/>
                  </a:lnTo>
                  <a:lnTo>
                    <a:pt x="57188" y="136169"/>
                  </a:lnTo>
                  <a:lnTo>
                    <a:pt x="57607" y="249466"/>
                  </a:lnTo>
                  <a:lnTo>
                    <a:pt x="508" y="249694"/>
                  </a:lnTo>
                  <a:lnTo>
                    <a:pt x="64516" y="376428"/>
                  </a:lnTo>
                  <a:lnTo>
                    <a:pt x="121069" y="262153"/>
                  </a:lnTo>
                  <a:lnTo>
                    <a:pt x="127508" y="249161"/>
                  </a:lnTo>
                  <a:close/>
                </a:path>
                <a:path w="3876675" h="376554">
                  <a:moveTo>
                    <a:pt x="1578356" y="249161"/>
                  </a:moveTo>
                  <a:lnTo>
                    <a:pt x="1521155" y="249402"/>
                  </a:lnTo>
                  <a:lnTo>
                    <a:pt x="1520736" y="136118"/>
                  </a:lnTo>
                  <a:lnTo>
                    <a:pt x="1577848" y="135890"/>
                  </a:lnTo>
                  <a:lnTo>
                    <a:pt x="1571561" y="123444"/>
                  </a:lnTo>
                  <a:lnTo>
                    <a:pt x="1513840" y="9144"/>
                  </a:lnTo>
                  <a:lnTo>
                    <a:pt x="1450848" y="136398"/>
                  </a:lnTo>
                  <a:lnTo>
                    <a:pt x="1508036" y="136169"/>
                  </a:lnTo>
                  <a:lnTo>
                    <a:pt x="1508455" y="249466"/>
                  </a:lnTo>
                  <a:lnTo>
                    <a:pt x="1451356" y="249694"/>
                  </a:lnTo>
                  <a:lnTo>
                    <a:pt x="1515364" y="376428"/>
                  </a:lnTo>
                  <a:lnTo>
                    <a:pt x="1571917" y="262153"/>
                  </a:lnTo>
                  <a:lnTo>
                    <a:pt x="1578356" y="249161"/>
                  </a:lnTo>
                  <a:close/>
                </a:path>
                <a:path w="3876675" h="376554">
                  <a:moveTo>
                    <a:pt x="3876548" y="240017"/>
                  </a:moveTo>
                  <a:lnTo>
                    <a:pt x="3819347" y="240258"/>
                  </a:lnTo>
                  <a:lnTo>
                    <a:pt x="3818928" y="126974"/>
                  </a:lnTo>
                  <a:lnTo>
                    <a:pt x="3876040" y="126746"/>
                  </a:lnTo>
                  <a:lnTo>
                    <a:pt x="3869753" y="114300"/>
                  </a:lnTo>
                  <a:lnTo>
                    <a:pt x="3812032" y="0"/>
                  </a:lnTo>
                  <a:lnTo>
                    <a:pt x="3749040" y="127254"/>
                  </a:lnTo>
                  <a:lnTo>
                    <a:pt x="3806228" y="127025"/>
                  </a:lnTo>
                  <a:lnTo>
                    <a:pt x="3806647" y="240322"/>
                  </a:lnTo>
                  <a:lnTo>
                    <a:pt x="3749548" y="240550"/>
                  </a:lnTo>
                  <a:lnTo>
                    <a:pt x="3813556" y="367284"/>
                  </a:lnTo>
                  <a:lnTo>
                    <a:pt x="3870109" y="253009"/>
                  </a:lnTo>
                  <a:lnTo>
                    <a:pt x="3876548" y="240017"/>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24" name="object 24"/>
            <p:cNvSpPr/>
            <p:nvPr/>
          </p:nvSpPr>
          <p:spPr>
            <a:xfrm>
              <a:off x="3374136" y="6250940"/>
              <a:ext cx="4448810" cy="339090"/>
            </a:xfrm>
            <a:custGeom>
              <a:avLst/>
              <a:gdLst/>
              <a:ahLst/>
              <a:cxnLst/>
              <a:rect l="l" t="t" r="r" b="b"/>
              <a:pathLst>
                <a:path w="4448809" h="339090">
                  <a:moveTo>
                    <a:pt x="4448556" y="1270"/>
                  </a:moveTo>
                  <a:lnTo>
                    <a:pt x="4448403" y="1270"/>
                  </a:lnTo>
                  <a:lnTo>
                    <a:pt x="4448403" y="0"/>
                  </a:lnTo>
                  <a:lnTo>
                    <a:pt x="152" y="0"/>
                  </a:lnTo>
                  <a:lnTo>
                    <a:pt x="152" y="1270"/>
                  </a:lnTo>
                  <a:lnTo>
                    <a:pt x="0" y="1270"/>
                  </a:lnTo>
                  <a:lnTo>
                    <a:pt x="0" y="339090"/>
                  </a:lnTo>
                  <a:lnTo>
                    <a:pt x="4448556" y="339090"/>
                  </a:lnTo>
                  <a:lnTo>
                    <a:pt x="4448556" y="1270"/>
                  </a:lnTo>
                  <a:close/>
                </a:path>
              </a:pathLst>
            </a:custGeom>
            <a:solidFill>
              <a:srgbClr val="CCCCCC"/>
            </a:solidFill>
          </p:spPr>
          <p:txBody>
            <a:bodyPr wrap="square" lIns="0" tIns="0" rIns="0" bIns="0" rtlCol="0"/>
            <a:lstStyle/>
            <a:p>
              <a:endParaRPr>
                <a:solidFill>
                  <a:prstClr val="black"/>
                </a:solidFill>
                <a:latin typeface="Calibri"/>
              </a:endParaRPr>
            </a:p>
          </p:txBody>
        </p:sp>
        <p:sp>
          <p:nvSpPr>
            <p:cNvPr id="25" name="object 25"/>
            <p:cNvSpPr/>
            <p:nvPr/>
          </p:nvSpPr>
          <p:spPr>
            <a:xfrm>
              <a:off x="3374136" y="6251448"/>
              <a:ext cx="4448810" cy="338455"/>
            </a:xfrm>
            <a:custGeom>
              <a:avLst/>
              <a:gdLst/>
              <a:ahLst/>
              <a:cxnLst/>
              <a:rect l="l" t="t" r="r" b="b"/>
              <a:pathLst>
                <a:path w="4448809" h="338454">
                  <a:moveTo>
                    <a:pt x="0" y="711"/>
                  </a:moveTo>
                  <a:lnTo>
                    <a:pt x="0" y="317"/>
                  </a:lnTo>
                  <a:lnTo>
                    <a:pt x="253" y="0"/>
                  </a:lnTo>
                  <a:lnTo>
                    <a:pt x="762" y="0"/>
                  </a:lnTo>
                  <a:lnTo>
                    <a:pt x="4447794" y="0"/>
                  </a:lnTo>
                  <a:lnTo>
                    <a:pt x="4448302" y="0"/>
                  </a:lnTo>
                  <a:lnTo>
                    <a:pt x="4448556" y="317"/>
                  </a:lnTo>
                  <a:lnTo>
                    <a:pt x="4448556" y="711"/>
                  </a:lnTo>
                  <a:lnTo>
                    <a:pt x="4448556" y="337616"/>
                  </a:lnTo>
                  <a:lnTo>
                    <a:pt x="4448556" y="338010"/>
                  </a:lnTo>
                  <a:lnTo>
                    <a:pt x="4448302" y="338327"/>
                  </a:lnTo>
                  <a:lnTo>
                    <a:pt x="4447794" y="338327"/>
                  </a:lnTo>
                  <a:lnTo>
                    <a:pt x="762" y="338327"/>
                  </a:lnTo>
                  <a:lnTo>
                    <a:pt x="253" y="338327"/>
                  </a:lnTo>
                  <a:lnTo>
                    <a:pt x="0" y="338010"/>
                  </a:lnTo>
                  <a:lnTo>
                    <a:pt x="0" y="337616"/>
                  </a:lnTo>
                  <a:lnTo>
                    <a:pt x="0" y="711"/>
                  </a:lnTo>
                  <a:close/>
                </a:path>
              </a:pathLst>
            </a:custGeom>
            <a:ln w="9525">
              <a:solidFill>
                <a:srgbClr val="000000"/>
              </a:solidFill>
            </a:ln>
          </p:spPr>
          <p:txBody>
            <a:bodyPr wrap="square" lIns="0" tIns="0" rIns="0" bIns="0" rtlCol="0"/>
            <a:lstStyle/>
            <a:p>
              <a:endParaRPr>
                <a:solidFill>
                  <a:prstClr val="black"/>
                </a:solidFill>
                <a:latin typeface="Calibri"/>
              </a:endParaRPr>
            </a:p>
          </p:txBody>
        </p:sp>
      </p:grpSp>
      <p:sp>
        <p:nvSpPr>
          <p:cNvPr id="26" name="object 26"/>
          <p:cNvSpPr txBox="1"/>
          <p:nvPr/>
        </p:nvSpPr>
        <p:spPr>
          <a:xfrm>
            <a:off x="4105783" y="6222288"/>
            <a:ext cx="2987040" cy="360680"/>
          </a:xfrm>
          <a:prstGeom prst="rect">
            <a:avLst/>
          </a:prstGeom>
        </p:spPr>
        <p:txBody>
          <a:bodyPr vert="horz" wrap="square" lIns="0" tIns="12065" rIns="0" bIns="0" rtlCol="0">
            <a:spAutoFit/>
          </a:bodyPr>
          <a:lstStyle/>
          <a:p>
            <a:pPr marL="12700">
              <a:spcBef>
                <a:spcPts val="95"/>
              </a:spcBef>
            </a:pPr>
            <a:r>
              <a:rPr sz="2200" spc="-5" dirty="0">
                <a:solidFill>
                  <a:prstClr val="black"/>
                </a:solidFill>
                <a:latin typeface="Comic Sans MS"/>
                <a:cs typeface="Comic Sans MS"/>
              </a:rPr>
              <a:t>Global Shared</a:t>
            </a:r>
            <a:r>
              <a:rPr sz="2200" spc="-15" dirty="0">
                <a:solidFill>
                  <a:prstClr val="black"/>
                </a:solidFill>
                <a:latin typeface="Comic Sans MS"/>
                <a:cs typeface="Comic Sans MS"/>
              </a:rPr>
              <a:t> </a:t>
            </a:r>
            <a:r>
              <a:rPr sz="2200" spc="-5" dirty="0">
                <a:solidFill>
                  <a:prstClr val="black"/>
                </a:solidFill>
                <a:latin typeface="Comic Sans MS"/>
                <a:cs typeface="Comic Sans MS"/>
              </a:rPr>
              <a:t>Memory</a:t>
            </a:r>
            <a:endParaRPr sz="2200">
              <a:solidFill>
                <a:prstClr val="black"/>
              </a:solidFill>
              <a:latin typeface="Comic Sans MS"/>
              <a:cs typeface="Comic Sans MS"/>
            </a:endParaRPr>
          </a:p>
        </p:txBody>
      </p:sp>
      <p:sp>
        <p:nvSpPr>
          <p:cNvPr id="27" name="object 27"/>
          <p:cNvSpPr txBox="1"/>
          <p:nvPr/>
        </p:nvSpPr>
        <p:spPr>
          <a:xfrm>
            <a:off x="1206804" y="5639511"/>
            <a:ext cx="1513840" cy="360680"/>
          </a:xfrm>
          <a:prstGeom prst="rect">
            <a:avLst/>
          </a:prstGeom>
        </p:spPr>
        <p:txBody>
          <a:bodyPr vert="horz" wrap="square" lIns="0" tIns="12065" rIns="0" bIns="0" rtlCol="0">
            <a:spAutoFit/>
          </a:bodyPr>
          <a:lstStyle/>
          <a:p>
            <a:pPr marL="12700">
              <a:spcBef>
                <a:spcPts val="95"/>
              </a:spcBef>
            </a:pPr>
            <a:r>
              <a:rPr sz="2200" spc="-5" dirty="0">
                <a:solidFill>
                  <a:prstClr val="black"/>
                </a:solidFill>
                <a:latin typeface="Comic Sans MS"/>
                <a:cs typeface="Comic Sans MS"/>
              </a:rPr>
              <a:t>Shared</a:t>
            </a:r>
            <a:r>
              <a:rPr sz="2200" spc="-75" dirty="0">
                <a:solidFill>
                  <a:prstClr val="black"/>
                </a:solidFill>
                <a:latin typeface="Comic Sans MS"/>
                <a:cs typeface="Comic Sans MS"/>
              </a:rPr>
              <a:t> </a:t>
            </a:r>
            <a:r>
              <a:rPr sz="2200" spc="-10" dirty="0">
                <a:solidFill>
                  <a:prstClr val="black"/>
                </a:solidFill>
                <a:latin typeface="Comic Sans MS"/>
                <a:cs typeface="Comic Sans MS"/>
              </a:rPr>
              <a:t>Bus</a:t>
            </a:r>
            <a:endParaRPr sz="2200">
              <a:solidFill>
                <a:prstClr val="black"/>
              </a:solidFill>
              <a:latin typeface="Comic Sans MS"/>
              <a:cs typeface="Comic Sans MS"/>
            </a:endParaRPr>
          </a:p>
        </p:txBody>
      </p:sp>
      <p:sp>
        <p:nvSpPr>
          <p:cNvPr id="28" name="object 28"/>
          <p:cNvSpPr/>
          <p:nvPr/>
        </p:nvSpPr>
        <p:spPr>
          <a:xfrm>
            <a:off x="5520946" y="5838446"/>
            <a:ext cx="127635" cy="367665"/>
          </a:xfrm>
          <a:custGeom>
            <a:avLst/>
            <a:gdLst/>
            <a:ahLst/>
            <a:cxnLst/>
            <a:rect l="l" t="t" r="r" b="b"/>
            <a:pathLst>
              <a:path w="127635" h="367664">
                <a:moveTo>
                  <a:pt x="57611" y="240310"/>
                </a:moveTo>
                <a:lnTo>
                  <a:pt x="507" y="240550"/>
                </a:lnTo>
                <a:lnTo>
                  <a:pt x="64515" y="367283"/>
                </a:lnTo>
                <a:lnTo>
                  <a:pt x="121077" y="253009"/>
                </a:lnTo>
                <a:lnTo>
                  <a:pt x="57657" y="253009"/>
                </a:lnTo>
                <a:lnTo>
                  <a:pt x="57611" y="240310"/>
                </a:lnTo>
                <a:close/>
              </a:path>
              <a:path w="127635" h="367664">
                <a:moveTo>
                  <a:pt x="70311" y="240257"/>
                </a:moveTo>
                <a:lnTo>
                  <a:pt x="57611" y="240310"/>
                </a:lnTo>
                <a:lnTo>
                  <a:pt x="57657" y="253009"/>
                </a:lnTo>
                <a:lnTo>
                  <a:pt x="70357" y="252958"/>
                </a:lnTo>
                <a:lnTo>
                  <a:pt x="70311" y="240257"/>
                </a:lnTo>
                <a:close/>
              </a:path>
              <a:path w="127635" h="367664">
                <a:moveTo>
                  <a:pt x="127507" y="240017"/>
                </a:moveTo>
                <a:lnTo>
                  <a:pt x="70311" y="240257"/>
                </a:lnTo>
                <a:lnTo>
                  <a:pt x="70357" y="252958"/>
                </a:lnTo>
                <a:lnTo>
                  <a:pt x="57657" y="253009"/>
                </a:lnTo>
                <a:lnTo>
                  <a:pt x="121077" y="253009"/>
                </a:lnTo>
                <a:lnTo>
                  <a:pt x="127507" y="240017"/>
                </a:lnTo>
                <a:close/>
              </a:path>
              <a:path w="127635" h="367664">
                <a:moveTo>
                  <a:pt x="69896" y="126973"/>
                </a:moveTo>
                <a:lnTo>
                  <a:pt x="57196" y="127026"/>
                </a:lnTo>
                <a:lnTo>
                  <a:pt x="57611" y="240310"/>
                </a:lnTo>
                <a:lnTo>
                  <a:pt x="70311" y="240257"/>
                </a:lnTo>
                <a:lnTo>
                  <a:pt x="69896" y="126973"/>
                </a:lnTo>
                <a:close/>
              </a:path>
              <a:path w="127635" h="367664">
                <a:moveTo>
                  <a:pt x="62991" y="0"/>
                </a:moveTo>
                <a:lnTo>
                  <a:pt x="0" y="127266"/>
                </a:lnTo>
                <a:lnTo>
                  <a:pt x="57196" y="127026"/>
                </a:lnTo>
                <a:lnTo>
                  <a:pt x="57150" y="114325"/>
                </a:lnTo>
                <a:lnTo>
                  <a:pt x="120707" y="114274"/>
                </a:lnTo>
                <a:lnTo>
                  <a:pt x="62991" y="0"/>
                </a:lnTo>
                <a:close/>
              </a:path>
              <a:path w="127635" h="367664">
                <a:moveTo>
                  <a:pt x="69850" y="114274"/>
                </a:moveTo>
                <a:lnTo>
                  <a:pt x="57150" y="114325"/>
                </a:lnTo>
                <a:lnTo>
                  <a:pt x="57196" y="127026"/>
                </a:lnTo>
                <a:lnTo>
                  <a:pt x="69896" y="126973"/>
                </a:lnTo>
                <a:lnTo>
                  <a:pt x="69850" y="114274"/>
                </a:lnTo>
                <a:close/>
              </a:path>
              <a:path w="127635" h="367664">
                <a:moveTo>
                  <a:pt x="120707" y="114274"/>
                </a:moveTo>
                <a:lnTo>
                  <a:pt x="69850" y="114274"/>
                </a:lnTo>
                <a:lnTo>
                  <a:pt x="69896" y="126973"/>
                </a:lnTo>
                <a:lnTo>
                  <a:pt x="127000" y="126733"/>
                </a:lnTo>
                <a:lnTo>
                  <a:pt x="120707" y="114274"/>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29" name="object 29"/>
          <p:cNvSpPr txBox="1"/>
          <p:nvPr/>
        </p:nvSpPr>
        <p:spPr>
          <a:xfrm>
            <a:off x="6003163" y="4579698"/>
            <a:ext cx="619760" cy="574675"/>
          </a:xfrm>
          <a:prstGeom prst="rect">
            <a:avLst/>
          </a:prstGeom>
        </p:spPr>
        <p:txBody>
          <a:bodyPr vert="horz" wrap="square" lIns="0" tIns="12700" rIns="0" bIns="0" rtlCol="0">
            <a:spAutoFit/>
          </a:bodyPr>
          <a:lstStyle/>
          <a:p>
            <a:pPr marL="12700">
              <a:spcBef>
                <a:spcPts val="100"/>
              </a:spcBef>
            </a:pPr>
            <a:r>
              <a:rPr sz="3600" b="1" spc="-5" dirty="0">
                <a:solidFill>
                  <a:prstClr val="black"/>
                </a:solidFill>
                <a:latin typeface="Comic Sans MS"/>
                <a:cs typeface="Comic Sans MS"/>
              </a:rPr>
              <a:t>...</a:t>
            </a:r>
            <a:endParaRPr sz="3600">
              <a:solidFill>
                <a:prstClr val="black"/>
              </a:solidFill>
              <a:latin typeface="Comic Sans MS"/>
              <a:cs typeface="Comic Sans MS"/>
            </a:endParaRPr>
          </a:p>
        </p:txBody>
      </p:sp>
    </p:spTree>
    <p:extLst>
      <p:ext uri="{BB962C8B-B14F-4D97-AF65-F5344CB8AC3E}">
        <p14:creationId xmlns:p14="http://schemas.microsoft.com/office/powerpoint/2010/main" val="3541989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Threads Model</a:t>
            </a:r>
          </a:p>
        </p:txBody>
      </p:sp>
      <p:sp>
        <p:nvSpPr>
          <p:cNvPr id="3" name="Content Placeholder 2"/>
          <p:cNvSpPr>
            <a:spLocks noGrp="1"/>
          </p:cNvSpPr>
          <p:nvPr>
            <p:ph idx="1"/>
          </p:nvPr>
        </p:nvSpPr>
        <p:spPr/>
        <p:txBody>
          <a:bodyPr>
            <a:normAutofit fontScale="85000" lnSpcReduction="10000"/>
          </a:bodyPr>
          <a:lstStyle/>
          <a:p>
            <a:pPr algn="just"/>
            <a:r>
              <a:rPr lang="en-US" dirty="0"/>
              <a:t>Threads implementations commonly comprise:</a:t>
            </a:r>
          </a:p>
          <a:p>
            <a:pPr lvl="1" algn="just"/>
            <a:r>
              <a:rPr lang="en-US" dirty="0"/>
              <a:t>A library of subroutines that are called from within parallel source code</a:t>
            </a:r>
          </a:p>
          <a:p>
            <a:pPr lvl="1" algn="just"/>
            <a:r>
              <a:rPr lang="en-US" dirty="0"/>
              <a:t>A set of compiler directives imbedded in either serial or parallel source code</a:t>
            </a:r>
          </a:p>
          <a:p>
            <a:pPr algn="just"/>
            <a:r>
              <a:rPr lang="en-US" dirty="0"/>
              <a:t>Historically, hardware vendors have implemented their own proprietary versions of threads, making it difficult for programmers to develop portable threaded applications</a:t>
            </a:r>
          </a:p>
          <a:p>
            <a:pPr algn="just"/>
            <a:r>
              <a:rPr lang="en-US" dirty="0"/>
              <a:t>Standardization efforts: POSIX Threads (IEEE POSIX  1003.1c) and </a:t>
            </a:r>
            <a:r>
              <a:rPr lang="en-US" dirty="0" err="1"/>
              <a:t>OpenMP</a:t>
            </a:r>
            <a:r>
              <a:rPr lang="en-US" dirty="0"/>
              <a:t> (Industry standard)</a:t>
            </a:r>
          </a:p>
          <a:p>
            <a:pPr lvl="1" algn="just"/>
            <a:r>
              <a:rPr lang="en-US" dirty="0"/>
              <a:t>POSIX Part of Unix/Linux, Library based </a:t>
            </a:r>
          </a:p>
          <a:p>
            <a:pPr lvl="1" algn="just"/>
            <a:r>
              <a:rPr lang="en-US" dirty="0" err="1"/>
              <a:t>OpenMP</a:t>
            </a:r>
            <a:r>
              <a:rPr lang="en-US" dirty="0"/>
              <a:t> Compiler directive based, Portable / multi-platform</a:t>
            </a:r>
          </a:p>
          <a:p>
            <a:pPr lvl="1" algn="just"/>
            <a:r>
              <a:rPr lang="en-US" dirty="0" err="1"/>
              <a:t>Mircosoft</a:t>
            </a:r>
            <a:r>
              <a:rPr lang="en-US" dirty="0"/>
              <a:t> threads, Java, Python threads, CUDA threads for GPUs</a:t>
            </a:r>
          </a:p>
        </p:txBody>
      </p:sp>
    </p:spTree>
    <p:extLst>
      <p:ext uri="{BB962C8B-B14F-4D97-AF65-F5344CB8AC3E}">
        <p14:creationId xmlns:p14="http://schemas.microsoft.com/office/powerpoint/2010/main" val="2102704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56559" y="483236"/>
            <a:ext cx="2232660" cy="696595"/>
          </a:xfrm>
          <a:prstGeom prst="rect">
            <a:avLst/>
          </a:prstGeom>
        </p:spPr>
        <p:txBody>
          <a:bodyPr vert="horz" wrap="square" lIns="0" tIns="13335" rIns="0" bIns="0" rtlCol="0">
            <a:spAutoFit/>
          </a:bodyPr>
          <a:lstStyle/>
          <a:p>
            <a:pPr marL="12700">
              <a:spcBef>
                <a:spcPts val="105"/>
              </a:spcBef>
            </a:pPr>
            <a:r>
              <a:rPr dirty="0"/>
              <a:t>OpenMP</a:t>
            </a:r>
          </a:p>
        </p:txBody>
      </p:sp>
      <p:sp>
        <p:nvSpPr>
          <p:cNvPr id="3" name="object 3"/>
          <p:cNvSpPr txBox="1"/>
          <p:nvPr/>
        </p:nvSpPr>
        <p:spPr>
          <a:xfrm>
            <a:off x="444502" y="1506602"/>
            <a:ext cx="8226425" cy="2902718"/>
          </a:xfrm>
          <a:prstGeom prst="rect">
            <a:avLst/>
          </a:prstGeom>
        </p:spPr>
        <p:txBody>
          <a:bodyPr vert="horz" wrap="square" lIns="0" tIns="85725" rIns="0" bIns="0" rtlCol="0">
            <a:spAutoFit/>
          </a:bodyPr>
          <a:lstStyle/>
          <a:p>
            <a:pPr marL="353695" indent="-341630" algn="just">
              <a:spcBef>
                <a:spcPts val="675"/>
              </a:spcBef>
              <a:buFontTx/>
              <a:buChar char="•"/>
              <a:tabLst>
                <a:tab pos="353695" algn="l"/>
                <a:tab pos="354330" algn="l"/>
              </a:tabLst>
            </a:pPr>
            <a:r>
              <a:rPr sz="2800" spc="-5" dirty="0">
                <a:solidFill>
                  <a:prstClr val="black"/>
                </a:solidFill>
                <a:latin typeface="Arial"/>
                <a:cs typeface="Arial"/>
              </a:rPr>
              <a:t>OpenMP: portable shared memory</a:t>
            </a:r>
            <a:r>
              <a:rPr sz="2800" spc="35" dirty="0">
                <a:solidFill>
                  <a:prstClr val="black"/>
                </a:solidFill>
                <a:latin typeface="Arial"/>
                <a:cs typeface="Arial"/>
              </a:rPr>
              <a:t> </a:t>
            </a:r>
            <a:r>
              <a:rPr sz="2800" spc="-5" dirty="0">
                <a:solidFill>
                  <a:prstClr val="black"/>
                </a:solidFill>
                <a:latin typeface="Arial"/>
                <a:cs typeface="Arial"/>
              </a:rPr>
              <a:t>parallelism</a:t>
            </a:r>
            <a:endParaRPr sz="2800" dirty="0">
              <a:solidFill>
                <a:prstClr val="black"/>
              </a:solidFill>
              <a:latin typeface="Arial"/>
              <a:cs typeface="Arial"/>
            </a:endParaRPr>
          </a:p>
          <a:p>
            <a:pPr marL="353695" marR="5715" indent="-341630" algn="just">
              <a:spcBef>
                <a:spcPts val="580"/>
              </a:spcBef>
              <a:buFontTx/>
              <a:buChar char="•"/>
              <a:tabLst>
                <a:tab pos="353695" algn="l"/>
                <a:tab pos="354330" algn="l"/>
                <a:tab pos="2294255" algn="l"/>
                <a:tab pos="3094355" algn="l"/>
                <a:tab pos="3760470" algn="l"/>
                <a:tab pos="4952365" algn="l"/>
                <a:tab pos="6365240" algn="l"/>
              </a:tabLst>
            </a:pPr>
            <a:r>
              <a:rPr sz="2800" dirty="0">
                <a:solidFill>
                  <a:prstClr val="black"/>
                </a:solidFill>
                <a:latin typeface="Arial"/>
                <a:cs typeface="Arial"/>
              </a:rPr>
              <a:t>H</a:t>
            </a:r>
            <a:r>
              <a:rPr sz="2800" spc="-5" dirty="0">
                <a:solidFill>
                  <a:prstClr val="black"/>
                </a:solidFill>
                <a:latin typeface="Arial"/>
                <a:cs typeface="Arial"/>
              </a:rPr>
              <a:t>i</a:t>
            </a:r>
            <a:r>
              <a:rPr sz="2800" spc="-15" dirty="0">
                <a:solidFill>
                  <a:prstClr val="black"/>
                </a:solidFill>
                <a:latin typeface="Arial"/>
                <a:cs typeface="Arial"/>
              </a:rPr>
              <a:t>g</a:t>
            </a:r>
            <a:r>
              <a:rPr sz="2800" dirty="0">
                <a:solidFill>
                  <a:prstClr val="black"/>
                </a:solidFill>
                <a:latin typeface="Arial"/>
                <a:cs typeface="Arial"/>
              </a:rPr>
              <a:t>h</a:t>
            </a:r>
            <a:r>
              <a:rPr sz="2800" spc="-5" dirty="0">
                <a:solidFill>
                  <a:prstClr val="black"/>
                </a:solidFill>
                <a:latin typeface="Arial"/>
                <a:cs typeface="Arial"/>
              </a:rPr>
              <a:t>e</a:t>
            </a:r>
            <a:r>
              <a:rPr sz="2800" dirty="0">
                <a:solidFill>
                  <a:prstClr val="black"/>
                </a:solidFill>
                <a:latin typeface="Arial"/>
                <a:cs typeface="Arial"/>
              </a:rPr>
              <a:t>r-</a:t>
            </a:r>
            <a:r>
              <a:rPr sz="2800" spc="-5" dirty="0">
                <a:solidFill>
                  <a:prstClr val="black"/>
                </a:solidFill>
                <a:latin typeface="Arial"/>
                <a:cs typeface="Arial"/>
              </a:rPr>
              <a:t>le</a:t>
            </a:r>
            <a:r>
              <a:rPr sz="2800" dirty="0">
                <a:solidFill>
                  <a:prstClr val="black"/>
                </a:solidFill>
                <a:latin typeface="Arial"/>
                <a:cs typeface="Arial"/>
              </a:rPr>
              <a:t>v</a:t>
            </a:r>
            <a:r>
              <a:rPr sz="2800" spc="-5" dirty="0">
                <a:solidFill>
                  <a:prstClr val="black"/>
                </a:solidFill>
                <a:latin typeface="Arial"/>
                <a:cs typeface="Arial"/>
              </a:rPr>
              <a:t>el</a:t>
            </a:r>
            <a:r>
              <a:rPr sz="2800" dirty="0">
                <a:solidFill>
                  <a:prstClr val="black"/>
                </a:solidFill>
                <a:latin typeface="Arial"/>
                <a:cs typeface="Arial"/>
              </a:rPr>
              <a:t>	</a:t>
            </a:r>
            <a:r>
              <a:rPr sz="2800" spc="-5" dirty="0">
                <a:solidFill>
                  <a:prstClr val="black"/>
                </a:solidFill>
                <a:latin typeface="Arial"/>
                <a:cs typeface="Arial"/>
              </a:rPr>
              <a:t>AP</a:t>
            </a:r>
            <a:r>
              <a:rPr sz="2800" dirty="0">
                <a:solidFill>
                  <a:prstClr val="black"/>
                </a:solidFill>
                <a:latin typeface="Arial"/>
                <a:cs typeface="Arial"/>
              </a:rPr>
              <a:t>I	f</a:t>
            </a:r>
            <a:r>
              <a:rPr sz="2800" spc="-10" dirty="0">
                <a:solidFill>
                  <a:prstClr val="black"/>
                </a:solidFill>
                <a:latin typeface="Arial"/>
                <a:cs typeface="Arial"/>
              </a:rPr>
              <a:t>o</a:t>
            </a:r>
            <a:r>
              <a:rPr sz="2800" dirty="0">
                <a:solidFill>
                  <a:prstClr val="black"/>
                </a:solidFill>
                <a:latin typeface="Arial"/>
                <a:cs typeface="Arial"/>
              </a:rPr>
              <a:t>r	</a:t>
            </a:r>
            <a:r>
              <a:rPr sz="2800" spc="-5" dirty="0">
                <a:solidFill>
                  <a:prstClr val="black"/>
                </a:solidFill>
                <a:latin typeface="Arial"/>
                <a:cs typeface="Arial"/>
              </a:rPr>
              <a:t>writi</a:t>
            </a:r>
            <a:r>
              <a:rPr sz="2800" spc="-15" dirty="0">
                <a:solidFill>
                  <a:prstClr val="black"/>
                </a:solidFill>
                <a:latin typeface="Arial"/>
                <a:cs typeface="Arial"/>
              </a:rPr>
              <a:t>n</a:t>
            </a:r>
            <a:r>
              <a:rPr sz="2800" spc="-5" dirty="0">
                <a:solidFill>
                  <a:prstClr val="black"/>
                </a:solidFill>
                <a:latin typeface="Arial"/>
                <a:cs typeface="Arial"/>
              </a:rPr>
              <a:t>g</a:t>
            </a:r>
            <a:r>
              <a:rPr sz="2800" dirty="0">
                <a:solidFill>
                  <a:prstClr val="black"/>
                </a:solidFill>
                <a:latin typeface="Arial"/>
                <a:cs typeface="Arial"/>
              </a:rPr>
              <a:t>	</a:t>
            </a:r>
            <a:r>
              <a:rPr sz="2800" spc="-5" dirty="0">
                <a:solidFill>
                  <a:prstClr val="black"/>
                </a:solidFill>
                <a:latin typeface="Arial"/>
                <a:cs typeface="Arial"/>
              </a:rPr>
              <a:t>portable</a:t>
            </a:r>
            <a:r>
              <a:rPr sz="2800" dirty="0">
                <a:solidFill>
                  <a:prstClr val="black"/>
                </a:solidFill>
                <a:latin typeface="Arial"/>
                <a:cs typeface="Arial"/>
              </a:rPr>
              <a:t>	</a:t>
            </a:r>
            <a:r>
              <a:rPr sz="2800" spc="-5" dirty="0">
                <a:solidFill>
                  <a:prstClr val="black"/>
                </a:solidFill>
                <a:latin typeface="Arial"/>
                <a:cs typeface="Arial"/>
              </a:rPr>
              <a:t>multithreaded  applications</a:t>
            </a:r>
            <a:endParaRPr sz="2800" dirty="0">
              <a:solidFill>
                <a:prstClr val="black"/>
              </a:solidFill>
              <a:latin typeface="Arial"/>
              <a:cs typeface="Arial"/>
            </a:endParaRPr>
          </a:p>
          <a:p>
            <a:pPr marL="353695" marR="5080" indent="-341630" algn="just">
              <a:spcBef>
                <a:spcPts val="575"/>
              </a:spcBef>
              <a:buFontTx/>
              <a:buChar char="•"/>
              <a:tabLst>
                <a:tab pos="353695" algn="l"/>
                <a:tab pos="354330" algn="l"/>
              </a:tabLst>
            </a:pPr>
            <a:r>
              <a:rPr sz="2800" spc="-5" dirty="0">
                <a:solidFill>
                  <a:prstClr val="black"/>
                </a:solidFill>
                <a:latin typeface="Arial"/>
                <a:cs typeface="Arial"/>
              </a:rPr>
              <a:t>Provides a </a:t>
            </a:r>
            <a:r>
              <a:rPr sz="2800" dirty="0">
                <a:solidFill>
                  <a:prstClr val="black"/>
                </a:solidFill>
                <a:latin typeface="Arial"/>
                <a:cs typeface="Arial"/>
              </a:rPr>
              <a:t>set of </a:t>
            </a:r>
            <a:r>
              <a:rPr sz="2800" spc="-5" dirty="0">
                <a:solidFill>
                  <a:prstClr val="black"/>
                </a:solidFill>
                <a:latin typeface="Arial"/>
                <a:cs typeface="Arial"/>
              </a:rPr>
              <a:t>compiler </a:t>
            </a:r>
            <a:r>
              <a:rPr sz="2800" dirty="0">
                <a:solidFill>
                  <a:prstClr val="black"/>
                </a:solidFill>
                <a:latin typeface="Arial"/>
                <a:cs typeface="Arial"/>
              </a:rPr>
              <a:t>directives </a:t>
            </a:r>
            <a:r>
              <a:rPr sz="2800" spc="-5" dirty="0">
                <a:solidFill>
                  <a:prstClr val="black"/>
                </a:solidFill>
                <a:latin typeface="Arial"/>
                <a:cs typeface="Arial"/>
              </a:rPr>
              <a:t>and library </a:t>
            </a:r>
            <a:r>
              <a:rPr sz="2800" dirty="0">
                <a:solidFill>
                  <a:prstClr val="black"/>
                </a:solidFill>
                <a:latin typeface="Arial"/>
                <a:cs typeface="Arial"/>
              </a:rPr>
              <a:t>routines  for </a:t>
            </a:r>
            <a:r>
              <a:rPr sz="2800" spc="-5" dirty="0">
                <a:solidFill>
                  <a:prstClr val="black"/>
                </a:solidFill>
                <a:latin typeface="Arial"/>
                <a:cs typeface="Arial"/>
              </a:rPr>
              <a:t>parallel application</a:t>
            </a:r>
            <a:r>
              <a:rPr sz="2800" spc="70" dirty="0">
                <a:solidFill>
                  <a:prstClr val="black"/>
                </a:solidFill>
                <a:latin typeface="Arial"/>
                <a:cs typeface="Arial"/>
              </a:rPr>
              <a:t> </a:t>
            </a:r>
            <a:r>
              <a:rPr sz="2800" dirty="0">
                <a:solidFill>
                  <a:prstClr val="black"/>
                </a:solidFill>
                <a:latin typeface="Arial"/>
                <a:cs typeface="Arial"/>
              </a:rPr>
              <a:t>programmers</a:t>
            </a:r>
          </a:p>
          <a:p>
            <a:pPr marL="353695" indent="-341630" algn="just">
              <a:spcBef>
                <a:spcPts val="580"/>
              </a:spcBef>
              <a:buFontTx/>
              <a:buChar char="•"/>
              <a:tabLst>
                <a:tab pos="353695" algn="l"/>
                <a:tab pos="354330" algn="l"/>
              </a:tabLst>
            </a:pPr>
            <a:r>
              <a:rPr sz="2800" spc="-5" dirty="0">
                <a:solidFill>
                  <a:prstClr val="black"/>
                </a:solidFill>
                <a:latin typeface="Arial"/>
                <a:cs typeface="Arial"/>
              </a:rPr>
              <a:t>API bindings </a:t>
            </a:r>
            <a:r>
              <a:rPr sz="2800" dirty="0">
                <a:solidFill>
                  <a:prstClr val="black"/>
                </a:solidFill>
                <a:latin typeface="Arial"/>
                <a:cs typeface="Arial"/>
              </a:rPr>
              <a:t>for Fortran, </a:t>
            </a:r>
            <a:r>
              <a:rPr sz="2800" spc="-5" dirty="0">
                <a:solidFill>
                  <a:prstClr val="black"/>
                </a:solidFill>
                <a:latin typeface="Arial"/>
                <a:cs typeface="Arial"/>
              </a:rPr>
              <a:t>C, and</a:t>
            </a:r>
            <a:r>
              <a:rPr sz="2800" spc="25" dirty="0">
                <a:solidFill>
                  <a:prstClr val="black"/>
                </a:solidFill>
                <a:latin typeface="Arial"/>
                <a:cs typeface="Arial"/>
              </a:rPr>
              <a:t> </a:t>
            </a:r>
            <a:r>
              <a:rPr sz="2800" dirty="0">
                <a:solidFill>
                  <a:prstClr val="black"/>
                </a:solidFill>
                <a:latin typeface="Arial"/>
                <a:cs typeface="Arial"/>
              </a:rPr>
              <a:t>C++</a:t>
            </a:r>
          </a:p>
        </p:txBody>
      </p:sp>
    </p:spTree>
    <p:extLst>
      <p:ext uri="{BB962C8B-B14F-4D97-AF65-F5344CB8AC3E}">
        <p14:creationId xmlns:p14="http://schemas.microsoft.com/office/powerpoint/2010/main" val="3672696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070217" y="5831537"/>
            <a:ext cx="1930400" cy="697627"/>
          </a:xfrm>
          <a:prstGeom prst="rect">
            <a:avLst/>
          </a:prstGeom>
        </p:spPr>
        <p:txBody>
          <a:bodyPr vert="horz" wrap="square" lIns="0" tIns="30480" rIns="0" bIns="0" rtlCol="0">
            <a:spAutoFit/>
          </a:bodyPr>
          <a:lstStyle/>
          <a:p>
            <a:pPr marL="95885" marR="5080" indent="-83820">
              <a:lnSpc>
                <a:spcPts val="2570"/>
              </a:lnSpc>
              <a:spcBef>
                <a:spcPts val="240"/>
              </a:spcBef>
            </a:pPr>
            <a:r>
              <a:rPr sz="2200" spc="-5" dirty="0">
                <a:solidFill>
                  <a:prstClr val="black"/>
                </a:solidFill>
                <a:latin typeface="Comic Sans MS"/>
                <a:cs typeface="Comic Sans MS"/>
              </a:rPr>
              <a:t>C</a:t>
            </a:r>
            <a:r>
              <a:rPr sz="2200" spc="-15" dirty="0">
                <a:solidFill>
                  <a:prstClr val="black"/>
                </a:solidFill>
                <a:latin typeface="Comic Sans MS"/>
                <a:cs typeface="Comic Sans MS"/>
              </a:rPr>
              <a:t>o</a:t>
            </a:r>
            <a:r>
              <a:rPr sz="2200" spc="-5" dirty="0">
                <a:solidFill>
                  <a:prstClr val="black"/>
                </a:solidFill>
                <a:latin typeface="Comic Sans MS"/>
                <a:cs typeface="Comic Sans MS"/>
              </a:rPr>
              <a:t>mmuni</a:t>
            </a:r>
            <a:r>
              <a:rPr sz="2200" spc="-15" dirty="0">
                <a:solidFill>
                  <a:prstClr val="black"/>
                </a:solidFill>
                <a:latin typeface="Comic Sans MS"/>
                <a:cs typeface="Comic Sans MS"/>
              </a:rPr>
              <a:t>c</a:t>
            </a:r>
            <a:r>
              <a:rPr sz="2200" spc="-5" dirty="0">
                <a:solidFill>
                  <a:prstClr val="black"/>
                </a:solidFill>
                <a:latin typeface="Comic Sans MS"/>
                <a:cs typeface="Comic Sans MS"/>
              </a:rPr>
              <a:t>ation  </a:t>
            </a:r>
            <a:r>
              <a:rPr sz="2200" spc="-95" dirty="0">
                <a:solidFill>
                  <a:prstClr val="black"/>
                </a:solidFill>
                <a:latin typeface="Comic Sans MS"/>
                <a:cs typeface="Comic Sans MS"/>
              </a:rPr>
              <a:t>Interconne</a:t>
            </a:r>
            <a:r>
              <a:rPr sz="2100" spc="-142" baseline="-3968" dirty="0">
                <a:solidFill>
                  <a:prstClr val="black"/>
                </a:solidFill>
                <a:latin typeface="Arial"/>
                <a:cs typeface="Arial"/>
              </a:rPr>
              <a:t>4</a:t>
            </a:r>
            <a:r>
              <a:rPr sz="2100" spc="-352" baseline="-3968" dirty="0">
                <a:solidFill>
                  <a:prstClr val="black"/>
                </a:solidFill>
                <a:latin typeface="Arial"/>
                <a:cs typeface="Arial"/>
              </a:rPr>
              <a:t> </a:t>
            </a:r>
            <a:r>
              <a:rPr sz="2200" spc="-10" dirty="0">
                <a:solidFill>
                  <a:prstClr val="black"/>
                </a:solidFill>
                <a:latin typeface="Comic Sans MS"/>
                <a:cs typeface="Comic Sans MS"/>
              </a:rPr>
              <a:t>ct</a:t>
            </a:r>
            <a:endParaRPr sz="2200">
              <a:solidFill>
                <a:prstClr val="black"/>
              </a:solidFill>
              <a:latin typeface="Comic Sans MS"/>
              <a:cs typeface="Comic Sans MS"/>
            </a:endParaRPr>
          </a:p>
        </p:txBody>
      </p:sp>
      <p:sp>
        <p:nvSpPr>
          <p:cNvPr id="3" name="object 3"/>
          <p:cNvSpPr txBox="1">
            <a:spLocks noGrp="1"/>
          </p:cNvSpPr>
          <p:nvPr>
            <p:ph type="title"/>
          </p:nvPr>
        </p:nvSpPr>
        <p:spPr>
          <a:xfrm>
            <a:off x="1307338" y="424941"/>
            <a:ext cx="6529070" cy="574040"/>
          </a:xfrm>
          <a:prstGeom prst="rect">
            <a:avLst/>
          </a:prstGeom>
        </p:spPr>
        <p:txBody>
          <a:bodyPr vert="horz" wrap="square" lIns="0" tIns="12700" rIns="0" bIns="0" rtlCol="0">
            <a:spAutoFit/>
          </a:bodyPr>
          <a:lstStyle/>
          <a:p>
            <a:pPr marL="12700">
              <a:spcBef>
                <a:spcPts val="100"/>
              </a:spcBef>
            </a:pPr>
            <a:r>
              <a:rPr sz="3600" dirty="0"/>
              <a:t>Distributed Memory</a:t>
            </a:r>
            <a:r>
              <a:rPr sz="3600" spc="-315" dirty="0"/>
              <a:t> </a:t>
            </a:r>
            <a:r>
              <a:rPr sz="3600" dirty="0"/>
              <a:t>Architecture</a:t>
            </a:r>
            <a:endParaRPr sz="3600"/>
          </a:p>
        </p:txBody>
      </p:sp>
      <p:sp>
        <p:nvSpPr>
          <p:cNvPr id="4" name="object 4"/>
          <p:cNvSpPr/>
          <p:nvPr/>
        </p:nvSpPr>
        <p:spPr>
          <a:xfrm>
            <a:off x="1895857" y="5654040"/>
            <a:ext cx="1061085" cy="327660"/>
          </a:xfrm>
          <a:custGeom>
            <a:avLst/>
            <a:gdLst/>
            <a:ahLst/>
            <a:cxnLst/>
            <a:rect l="l" t="t" r="r" b="b"/>
            <a:pathLst>
              <a:path w="1061085" h="327660">
                <a:moveTo>
                  <a:pt x="0" y="685"/>
                </a:moveTo>
                <a:lnTo>
                  <a:pt x="0" y="304"/>
                </a:lnTo>
                <a:lnTo>
                  <a:pt x="254" y="0"/>
                </a:lnTo>
                <a:lnTo>
                  <a:pt x="635" y="0"/>
                </a:lnTo>
                <a:lnTo>
                  <a:pt x="1060069" y="0"/>
                </a:lnTo>
                <a:lnTo>
                  <a:pt x="1060450" y="0"/>
                </a:lnTo>
                <a:lnTo>
                  <a:pt x="1060704" y="304"/>
                </a:lnTo>
                <a:lnTo>
                  <a:pt x="1060704" y="685"/>
                </a:lnTo>
                <a:lnTo>
                  <a:pt x="1060704" y="326974"/>
                </a:lnTo>
                <a:lnTo>
                  <a:pt x="1060704" y="327355"/>
                </a:lnTo>
                <a:lnTo>
                  <a:pt x="1060450" y="327660"/>
                </a:lnTo>
                <a:lnTo>
                  <a:pt x="1060069" y="327660"/>
                </a:lnTo>
                <a:lnTo>
                  <a:pt x="635" y="327660"/>
                </a:lnTo>
                <a:lnTo>
                  <a:pt x="254" y="327660"/>
                </a:lnTo>
                <a:lnTo>
                  <a:pt x="0" y="327355"/>
                </a:lnTo>
                <a:lnTo>
                  <a:pt x="0" y="326974"/>
                </a:lnTo>
                <a:lnTo>
                  <a:pt x="0" y="685"/>
                </a:lnTo>
                <a:close/>
              </a:path>
            </a:pathLst>
          </a:custGeom>
          <a:ln w="9525">
            <a:solidFill>
              <a:srgbClr val="000000"/>
            </a:solidFill>
          </a:ln>
        </p:spPr>
        <p:txBody>
          <a:bodyPr wrap="square" lIns="0" tIns="0" rIns="0" bIns="0" rtlCol="0"/>
          <a:lstStyle/>
          <a:p>
            <a:endParaRPr>
              <a:solidFill>
                <a:prstClr val="black"/>
              </a:solidFill>
              <a:latin typeface="Calibri"/>
            </a:endParaRPr>
          </a:p>
        </p:txBody>
      </p:sp>
      <p:sp>
        <p:nvSpPr>
          <p:cNvPr id="5" name="object 5"/>
          <p:cNvSpPr txBox="1"/>
          <p:nvPr/>
        </p:nvSpPr>
        <p:spPr>
          <a:xfrm>
            <a:off x="2278381" y="5662802"/>
            <a:ext cx="295275" cy="309245"/>
          </a:xfrm>
          <a:prstGeom prst="rect">
            <a:avLst/>
          </a:prstGeom>
        </p:spPr>
        <p:txBody>
          <a:bodyPr vert="horz" wrap="square" lIns="0" tIns="0" rIns="0" bIns="0" rtlCol="0">
            <a:spAutoFit/>
          </a:bodyPr>
          <a:lstStyle/>
          <a:p>
            <a:pPr>
              <a:lnSpc>
                <a:spcPts val="2400"/>
              </a:lnSpc>
            </a:pPr>
            <a:r>
              <a:rPr sz="2200" spc="-5" dirty="0">
                <a:solidFill>
                  <a:prstClr val="black"/>
                </a:solidFill>
                <a:latin typeface="Times New Roman"/>
                <a:cs typeface="Times New Roman"/>
              </a:rPr>
              <a:t>P0</a:t>
            </a:r>
            <a:endParaRPr sz="2200">
              <a:solidFill>
                <a:prstClr val="black"/>
              </a:solidFill>
              <a:latin typeface="Times New Roman"/>
              <a:cs typeface="Times New Roman"/>
            </a:endParaRPr>
          </a:p>
        </p:txBody>
      </p:sp>
      <p:grpSp>
        <p:nvGrpSpPr>
          <p:cNvPr id="6" name="object 6"/>
          <p:cNvGrpSpPr/>
          <p:nvPr/>
        </p:nvGrpSpPr>
        <p:grpSpPr>
          <a:xfrm>
            <a:off x="1610486" y="5111243"/>
            <a:ext cx="5380990" cy="1294765"/>
            <a:chOff x="1610486" y="5111241"/>
            <a:chExt cx="5380990" cy="1294765"/>
          </a:xfrm>
        </p:grpSpPr>
        <p:sp>
          <p:nvSpPr>
            <p:cNvPr id="7" name="object 7"/>
            <p:cNvSpPr/>
            <p:nvPr/>
          </p:nvSpPr>
          <p:spPr>
            <a:xfrm>
              <a:off x="1646681" y="6368033"/>
              <a:ext cx="5308600" cy="1905"/>
            </a:xfrm>
            <a:custGeom>
              <a:avLst/>
              <a:gdLst/>
              <a:ahLst/>
              <a:cxnLst/>
              <a:rect l="l" t="t" r="r" b="b"/>
              <a:pathLst>
                <a:path w="5308600" h="1904">
                  <a:moveTo>
                    <a:pt x="0" y="0"/>
                  </a:moveTo>
                  <a:lnTo>
                    <a:pt x="5308092" y="1523"/>
                  </a:lnTo>
                </a:path>
              </a:pathLst>
            </a:custGeom>
            <a:ln w="72000">
              <a:solidFill>
                <a:srgbClr val="000000"/>
              </a:solidFill>
            </a:ln>
          </p:spPr>
          <p:txBody>
            <a:bodyPr wrap="square" lIns="0" tIns="0" rIns="0" bIns="0" rtlCol="0"/>
            <a:lstStyle/>
            <a:p>
              <a:endParaRPr>
                <a:solidFill>
                  <a:prstClr val="black"/>
                </a:solidFill>
                <a:latin typeface="Calibri"/>
              </a:endParaRPr>
            </a:p>
          </p:txBody>
        </p:sp>
        <p:sp>
          <p:nvSpPr>
            <p:cNvPr id="8" name="object 8"/>
            <p:cNvSpPr/>
            <p:nvPr/>
          </p:nvSpPr>
          <p:spPr>
            <a:xfrm>
              <a:off x="2383028" y="5967983"/>
              <a:ext cx="3878579" cy="373380"/>
            </a:xfrm>
            <a:custGeom>
              <a:avLst/>
              <a:gdLst/>
              <a:ahLst/>
              <a:cxnLst/>
              <a:rect l="l" t="t" r="r" b="b"/>
              <a:pathLst>
                <a:path w="3878579" h="373379">
                  <a:moveTo>
                    <a:pt x="127508" y="246113"/>
                  </a:moveTo>
                  <a:lnTo>
                    <a:pt x="70307" y="246354"/>
                  </a:lnTo>
                  <a:lnTo>
                    <a:pt x="69888" y="134594"/>
                  </a:lnTo>
                  <a:lnTo>
                    <a:pt x="127000" y="134353"/>
                  </a:lnTo>
                  <a:lnTo>
                    <a:pt x="120700" y="121894"/>
                  </a:lnTo>
                  <a:lnTo>
                    <a:pt x="62992" y="7620"/>
                  </a:lnTo>
                  <a:lnTo>
                    <a:pt x="0" y="134886"/>
                  </a:lnTo>
                  <a:lnTo>
                    <a:pt x="57188" y="134658"/>
                  </a:lnTo>
                  <a:lnTo>
                    <a:pt x="57607" y="246418"/>
                  </a:lnTo>
                  <a:lnTo>
                    <a:pt x="508" y="246646"/>
                  </a:lnTo>
                  <a:lnTo>
                    <a:pt x="64516" y="373380"/>
                  </a:lnTo>
                  <a:lnTo>
                    <a:pt x="121069" y="259105"/>
                  </a:lnTo>
                  <a:lnTo>
                    <a:pt x="127508" y="246113"/>
                  </a:lnTo>
                  <a:close/>
                </a:path>
                <a:path w="3878579" h="373379">
                  <a:moveTo>
                    <a:pt x="1578356" y="246113"/>
                  </a:moveTo>
                  <a:lnTo>
                    <a:pt x="1521155" y="246354"/>
                  </a:lnTo>
                  <a:lnTo>
                    <a:pt x="1520736" y="134594"/>
                  </a:lnTo>
                  <a:lnTo>
                    <a:pt x="1577848" y="134353"/>
                  </a:lnTo>
                  <a:lnTo>
                    <a:pt x="1571548" y="121894"/>
                  </a:lnTo>
                  <a:lnTo>
                    <a:pt x="1513840" y="7620"/>
                  </a:lnTo>
                  <a:lnTo>
                    <a:pt x="1450848" y="134886"/>
                  </a:lnTo>
                  <a:lnTo>
                    <a:pt x="1508036" y="134658"/>
                  </a:lnTo>
                  <a:lnTo>
                    <a:pt x="1508455" y="246418"/>
                  </a:lnTo>
                  <a:lnTo>
                    <a:pt x="1451356" y="246646"/>
                  </a:lnTo>
                  <a:lnTo>
                    <a:pt x="1515364" y="373380"/>
                  </a:lnTo>
                  <a:lnTo>
                    <a:pt x="1571917" y="259105"/>
                  </a:lnTo>
                  <a:lnTo>
                    <a:pt x="1578356" y="246113"/>
                  </a:lnTo>
                  <a:close/>
                </a:path>
                <a:path w="3878579" h="373379">
                  <a:moveTo>
                    <a:pt x="3878072" y="240017"/>
                  </a:moveTo>
                  <a:lnTo>
                    <a:pt x="3820871" y="240258"/>
                  </a:lnTo>
                  <a:lnTo>
                    <a:pt x="3820452" y="126974"/>
                  </a:lnTo>
                  <a:lnTo>
                    <a:pt x="3877564" y="126733"/>
                  </a:lnTo>
                  <a:lnTo>
                    <a:pt x="3871264" y="114274"/>
                  </a:lnTo>
                  <a:lnTo>
                    <a:pt x="3813556" y="0"/>
                  </a:lnTo>
                  <a:lnTo>
                    <a:pt x="3750564" y="127266"/>
                  </a:lnTo>
                  <a:lnTo>
                    <a:pt x="3807752" y="127038"/>
                  </a:lnTo>
                  <a:lnTo>
                    <a:pt x="3808171" y="240322"/>
                  </a:lnTo>
                  <a:lnTo>
                    <a:pt x="3751072" y="240550"/>
                  </a:lnTo>
                  <a:lnTo>
                    <a:pt x="3815080" y="367284"/>
                  </a:lnTo>
                  <a:lnTo>
                    <a:pt x="3871633" y="253009"/>
                  </a:lnTo>
                  <a:lnTo>
                    <a:pt x="3878072" y="240017"/>
                  </a:lnTo>
                  <a:close/>
                </a:path>
              </a:pathLst>
            </a:custGeom>
            <a:solidFill>
              <a:srgbClr val="000000"/>
            </a:solidFill>
          </p:spPr>
          <p:txBody>
            <a:bodyPr wrap="square" lIns="0" tIns="0" rIns="0" bIns="0" rtlCol="0"/>
            <a:lstStyle/>
            <a:p>
              <a:endParaRPr>
                <a:solidFill>
                  <a:prstClr val="black"/>
                </a:solidFill>
                <a:latin typeface="Calibri"/>
              </a:endParaRPr>
            </a:p>
          </p:txBody>
        </p:sp>
        <p:sp>
          <p:nvSpPr>
            <p:cNvPr id="9" name="object 9"/>
            <p:cNvSpPr/>
            <p:nvPr/>
          </p:nvSpPr>
          <p:spPr>
            <a:xfrm>
              <a:off x="2426969" y="5431345"/>
              <a:ext cx="1419225" cy="217804"/>
            </a:xfrm>
            <a:custGeom>
              <a:avLst/>
              <a:gdLst/>
              <a:ahLst/>
              <a:cxnLst/>
              <a:rect l="l" t="t" r="r" b="b"/>
              <a:pathLst>
                <a:path w="1419225" h="217804">
                  <a:moveTo>
                    <a:pt x="0" y="0"/>
                  </a:moveTo>
                  <a:lnTo>
                    <a:pt x="0" y="217614"/>
                  </a:lnTo>
                </a:path>
                <a:path w="1419225" h="217804">
                  <a:moveTo>
                    <a:pt x="1418844" y="0"/>
                  </a:moveTo>
                  <a:lnTo>
                    <a:pt x="1418844" y="209994"/>
                  </a:lnTo>
                </a:path>
              </a:pathLst>
            </a:custGeom>
            <a:ln w="11049">
              <a:solidFill>
                <a:srgbClr val="000000"/>
              </a:solidFill>
            </a:ln>
          </p:spPr>
          <p:txBody>
            <a:bodyPr wrap="square" lIns="0" tIns="0" rIns="0" bIns="0" rtlCol="0"/>
            <a:lstStyle/>
            <a:p>
              <a:endParaRPr>
                <a:solidFill>
                  <a:prstClr val="black"/>
                </a:solidFill>
                <a:latin typeface="Calibri"/>
              </a:endParaRPr>
            </a:p>
          </p:txBody>
        </p:sp>
        <p:sp>
          <p:nvSpPr>
            <p:cNvPr id="10" name="object 10"/>
            <p:cNvSpPr/>
            <p:nvPr/>
          </p:nvSpPr>
          <p:spPr>
            <a:xfrm>
              <a:off x="6128003" y="5443727"/>
              <a:ext cx="0" cy="196850"/>
            </a:xfrm>
            <a:custGeom>
              <a:avLst/>
              <a:gdLst/>
              <a:ahLst/>
              <a:cxnLst/>
              <a:rect l="l" t="t" r="r" b="b"/>
              <a:pathLst>
                <a:path h="196850">
                  <a:moveTo>
                    <a:pt x="0" y="0"/>
                  </a:moveTo>
                  <a:lnTo>
                    <a:pt x="0" y="196342"/>
                  </a:lnTo>
                </a:path>
              </a:pathLst>
            </a:custGeom>
            <a:ln w="9525">
              <a:solidFill>
                <a:srgbClr val="000000"/>
              </a:solidFill>
            </a:ln>
          </p:spPr>
          <p:txBody>
            <a:bodyPr wrap="square" lIns="0" tIns="0" rIns="0" bIns="0" rtlCol="0"/>
            <a:lstStyle/>
            <a:p>
              <a:endParaRPr>
                <a:solidFill>
                  <a:prstClr val="black"/>
                </a:solidFill>
                <a:latin typeface="Calibri"/>
              </a:endParaRPr>
            </a:p>
          </p:txBody>
        </p:sp>
        <p:sp>
          <p:nvSpPr>
            <p:cNvPr id="11" name="object 11"/>
            <p:cNvSpPr/>
            <p:nvPr/>
          </p:nvSpPr>
          <p:spPr>
            <a:xfrm>
              <a:off x="1825751" y="5117591"/>
              <a:ext cx="1222375" cy="388620"/>
            </a:xfrm>
            <a:custGeom>
              <a:avLst/>
              <a:gdLst/>
              <a:ahLst/>
              <a:cxnLst/>
              <a:rect l="l" t="t" r="r" b="b"/>
              <a:pathLst>
                <a:path w="1222375" h="388620">
                  <a:moveTo>
                    <a:pt x="611124" y="0"/>
                  </a:moveTo>
                  <a:lnTo>
                    <a:pt x="539844" y="1307"/>
                  </a:lnTo>
                  <a:lnTo>
                    <a:pt x="470982" y="5131"/>
                  </a:lnTo>
                  <a:lnTo>
                    <a:pt x="404996" y="11327"/>
                  </a:lnTo>
                  <a:lnTo>
                    <a:pt x="342344" y="19749"/>
                  </a:lnTo>
                  <a:lnTo>
                    <a:pt x="283484" y="30251"/>
                  </a:lnTo>
                  <a:lnTo>
                    <a:pt x="228875" y="42687"/>
                  </a:lnTo>
                  <a:lnTo>
                    <a:pt x="178974" y="56911"/>
                  </a:lnTo>
                  <a:lnTo>
                    <a:pt x="134240" y="72778"/>
                  </a:lnTo>
                  <a:lnTo>
                    <a:pt x="95131" y="90142"/>
                  </a:lnTo>
                  <a:lnTo>
                    <a:pt x="35622" y="128777"/>
                  </a:lnTo>
                  <a:lnTo>
                    <a:pt x="4110" y="171649"/>
                  </a:lnTo>
                  <a:lnTo>
                    <a:pt x="0" y="194309"/>
                  </a:lnTo>
                  <a:lnTo>
                    <a:pt x="4110" y="216970"/>
                  </a:lnTo>
                  <a:lnTo>
                    <a:pt x="35622" y="259842"/>
                  </a:lnTo>
                  <a:lnTo>
                    <a:pt x="95131" y="298477"/>
                  </a:lnTo>
                  <a:lnTo>
                    <a:pt x="134240" y="315841"/>
                  </a:lnTo>
                  <a:lnTo>
                    <a:pt x="178974" y="331708"/>
                  </a:lnTo>
                  <a:lnTo>
                    <a:pt x="228875" y="345932"/>
                  </a:lnTo>
                  <a:lnTo>
                    <a:pt x="283484" y="358368"/>
                  </a:lnTo>
                  <a:lnTo>
                    <a:pt x="342344" y="368870"/>
                  </a:lnTo>
                  <a:lnTo>
                    <a:pt x="404996" y="377292"/>
                  </a:lnTo>
                  <a:lnTo>
                    <a:pt x="470982" y="383488"/>
                  </a:lnTo>
                  <a:lnTo>
                    <a:pt x="539844" y="387312"/>
                  </a:lnTo>
                  <a:lnTo>
                    <a:pt x="611124" y="388619"/>
                  </a:lnTo>
                  <a:lnTo>
                    <a:pt x="682403" y="387312"/>
                  </a:lnTo>
                  <a:lnTo>
                    <a:pt x="751265" y="383488"/>
                  </a:lnTo>
                  <a:lnTo>
                    <a:pt x="817251" y="377292"/>
                  </a:lnTo>
                  <a:lnTo>
                    <a:pt x="879903" y="368870"/>
                  </a:lnTo>
                  <a:lnTo>
                    <a:pt x="938763" y="358368"/>
                  </a:lnTo>
                  <a:lnTo>
                    <a:pt x="993372" y="345932"/>
                  </a:lnTo>
                  <a:lnTo>
                    <a:pt x="1043273" y="331708"/>
                  </a:lnTo>
                  <a:lnTo>
                    <a:pt x="1088007" y="315841"/>
                  </a:lnTo>
                  <a:lnTo>
                    <a:pt x="1127116" y="298477"/>
                  </a:lnTo>
                  <a:lnTo>
                    <a:pt x="1186625" y="259842"/>
                  </a:lnTo>
                  <a:lnTo>
                    <a:pt x="1218137" y="216970"/>
                  </a:lnTo>
                  <a:lnTo>
                    <a:pt x="1222248" y="194309"/>
                  </a:lnTo>
                  <a:lnTo>
                    <a:pt x="1218137" y="171649"/>
                  </a:lnTo>
                  <a:lnTo>
                    <a:pt x="1186625" y="128777"/>
                  </a:lnTo>
                  <a:lnTo>
                    <a:pt x="1127116" y="90142"/>
                  </a:lnTo>
                  <a:lnTo>
                    <a:pt x="1088007" y="72778"/>
                  </a:lnTo>
                  <a:lnTo>
                    <a:pt x="1043273" y="56911"/>
                  </a:lnTo>
                  <a:lnTo>
                    <a:pt x="993372" y="42687"/>
                  </a:lnTo>
                  <a:lnTo>
                    <a:pt x="938763" y="30251"/>
                  </a:lnTo>
                  <a:lnTo>
                    <a:pt x="879903" y="19749"/>
                  </a:lnTo>
                  <a:lnTo>
                    <a:pt x="817251" y="11327"/>
                  </a:lnTo>
                  <a:lnTo>
                    <a:pt x="751265" y="5131"/>
                  </a:lnTo>
                  <a:lnTo>
                    <a:pt x="682403" y="1307"/>
                  </a:lnTo>
                  <a:lnTo>
                    <a:pt x="611124" y="0"/>
                  </a:lnTo>
                  <a:close/>
                </a:path>
              </a:pathLst>
            </a:custGeom>
            <a:solidFill>
              <a:srgbClr val="E6E6E6"/>
            </a:solidFill>
          </p:spPr>
          <p:txBody>
            <a:bodyPr wrap="square" lIns="0" tIns="0" rIns="0" bIns="0" rtlCol="0"/>
            <a:lstStyle/>
            <a:p>
              <a:endParaRPr>
                <a:solidFill>
                  <a:prstClr val="black"/>
                </a:solidFill>
                <a:latin typeface="Calibri"/>
              </a:endParaRPr>
            </a:p>
          </p:txBody>
        </p:sp>
        <p:sp>
          <p:nvSpPr>
            <p:cNvPr id="12" name="object 12"/>
            <p:cNvSpPr/>
            <p:nvPr/>
          </p:nvSpPr>
          <p:spPr>
            <a:xfrm>
              <a:off x="1825751" y="5117591"/>
              <a:ext cx="1222375" cy="388620"/>
            </a:xfrm>
            <a:custGeom>
              <a:avLst/>
              <a:gdLst/>
              <a:ahLst/>
              <a:cxnLst/>
              <a:rect l="l" t="t" r="r" b="b"/>
              <a:pathLst>
                <a:path w="1222375" h="388620">
                  <a:moveTo>
                    <a:pt x="0" y="194309"/>
                  </a:moveTo>
                  <a:lnTo>
                    <a:pt x="16137" y="149756"/>
                  </a:lnTo>
                  <a:lnTo>
                    <a:pt x="62106" y="108857"/>
                  </a:lnTo>
                  <a:lnTo>
                    <a:pt x="134240" y="72778"/>
                  </a:lnTo>
                  <a:lnTo>
                    <a:pt x="178974" y="56911"/>
                  </a:lnTo>
                  <a:lnTo>
                    <a:pt x="228875" y="42687"/>
                  </a:lnTo>
                  <a:lnTo>
                    <a:pt x="283484" y="30251"/>
                  </a:lnTo>
                  <a:lnTo>
                    <a:pt x="342344" y="19749"/>
                  </a:lnTo>
                  <a:lnTo>
                    <a:pt x="404996" y="11327"/>
                  </a:lnTo>
                  <a:lnTo>
                    <a:pt x="470982" y="5131"/>
                  </a:lnTo>
                  <a:lnTo>
                    <a:pt x="539844" y="1307"/>
                  </a:lnTo>
                  <a:lnTo>
                    <a:pt x="611124" y="0"/>
                  </a:lnTo>
                  <a:lnTo>
                    <a:pt x="682403" y="1307"/>
                  </a:lnTo>
                  <a:lnTo>
                    <a:pt x="751265" y="5131"/>
                  </a:lnTo>
                  <a:lnTo>
                    <a:pt x="817251" y="11327"/>
                  </a:lnTo>
                  <a:lnTo>
                    <a:pt x="879903" y="19749"/>
                  </a:lnTo>
                  <a:lnTo>
                    <a:pt x="938763" y="30251"/>
                  </a:lnTo>
                  <a:lnTo>
                    <a:pt x="993372" y="42687"/>
                  </a:lnTo>
                  <a:lnTo>
                    <a:pt x="1043273" y="56911"/>
                  </a:lnTo>
                  <a:lnTo>
                    <a:pt x="1088007" y="72778"/>
                  </a:lnTo>
                  <a:lnTo>
                    <a:pt x="1127116" y="90142"/>
                  </a:lnTo>
                  <a:lnTo>
                    <a:pt x="1186625" y="128777"/>
                  </a:lnTo>
                  <a:lnTo>
                    <a:pt x="1218137" y="171649"/>
                  </a:lnTo>
                  <a:lnTo>
                    <a:pt x="1222248" y="194309"/>
                  </a:lnTo>
                  <a:lnTo>
                    <a:pt x="1218137" y="216970"/>
                  </a:lnTo>
                  <a:lnTo>
                    <a:pt x="1186625" y="259842"/>
                  </a:lnTo>
                  <a:lnTo>
                    <a:pt x="1127116" y="298477"/>
                  </a:lnTo>
                  <a:lnTo>
                    <a:pt x="1088007" y="315841"/>
                  </a:lnTo>
                  <a:lnTo>
                    <a:pt x="1043273" y="331708"/>
                  </a:lnTo>
                  <a:lnTo>
                    <a:pt x="993372" y="345932"/>
                  </a:lnTo>
                  <a:lnTo>
                    <a:pt x="938763" y="358368"/>
                  </a:lnTo>
                  <a:lnTo>
                    <a:pt x="879903" y="368870"/>
                  </a:lnTo>
                  <a:lnTo>
                    <a:pt x="817251" y="377292"/>
                  </a:lnTo>
                  <a:lnTo>
                    <a:pt x="751265" y="383488"/>
                  </a:lnTo>
                  <a:lnTo>
                    <a:pt x="682403" y="387312"/>
                  </a:lnTo>
                  <a:lnTo>
                    <a:pt x="611124" y="388619"/>
                  </a:lnTo>
                  <a:lnTo>
                    <a:pt x="539844" y="387312"/>
                  </a:lnTo>
                  <a:lnTo>
                    <a:pt x="470982" y="383488"/>
                  </a:lnTo>
                  <a:lnTo>
                    <a:pt x="404996" y="377292"/>
                  </a:lnTo>
                  <a:lnTo>
                    <a:pt x="342344" y="368870"/>
                  </a:lnTo>
                  <a:lnTo>
                    <a:pt x="283484" y="358368"/>
                  </a:lnTo>
                  <a:lnTo>
                    <a:pt x="228875" y="345932"/>
                  </a:lnTo>
                  <a:lnTo>
                    <a:pt x="178974" y="331708"/>
                  </a:lnTo>
                  <a:lnTo>
                    <a:pt x="134240" y="315841"/>
                  </a:lnTo>
                  <a:lnTo>
                    <a:pt x="95131" y="298477"/>
                  </a:lnTo>
                  <a:lnTo>
                    <a:pt x="35622" y="259842"/>
                  </a:lnTo>
                  <a:lnTo>
                    <a:pt x="4110" y="216970"/>
                  </a:lnTo>
                  <a:lnTo>
                    <a:pt x="0" y="194309"/>
                  </a:lnTo>
                  <a:close/>
                </a:path>
              </a:pathLst>
            </a:custGeom>
            <a:ln w="12699">
              <a:solidFill>
                <a:srgbClr val="000000"/>
              </a:solidFill>
            </a:ln>
          </p:spPr>
          <p:txBody>
            <a:bodyPr wrap="square" lIns="0" tIns="0" rIns="0" bIns="0" rtlCol="0"/>
            <a:lstStyle/>
            <a:p>
              <a:endParaRPr>
                <a:solidFill>
                  <a:prstClr val="black"/>
                </a:solidFill>
                <a:latin typeface="Calibri"/>
              </a:endParaRPr>
            </a:p>
          </p:txBody>
        </p:sp>
        <p:sp>
          <p:nvSpPr>
            <p:cNvPr id="13" name="object 13"/>
            <p:cNvSpPr/>
            <p:nvPr/>
          </p:nvSpPr>
          <p:spPr>
            <a:xfrm>
              <a:off x="5483352" y="5125211"/>
              <a:ext cx="1222375" cy="387350"/>
            </a:xfrm>
            <a:custGeom>
              <a:avLst/>
              <a:gdLst/>
              <a:ahLst/>
              <a:cxnLst/>
              <a:rect l="l" t="t" r="r" b="b"/>
              <a:pathLst>
                <a:path w="1222375" h="387350">
                  <a:moveTo>
                    <a:pt x="611124" y="0"/>
                  </a:moveTo>
                  <a:lnTo>
                    <a:pt x="539844" y="1301"/>
                  </a:lnTo>
                  <a:lnTo>
                    <a:pt x="470982" y="5109"/>
                  </a:lnTo>
                  <a:lnTo>
                    <a:pt x="404996" y="11279"/>
                  </a:lnTo>
                  <a:lnTo>
                    <a:pt x="342344" y="19665"/>
                  </a:lnTo>
                  <a:lnTo>
                    <a:pt x="283484" y="30123"/>
                  </a:lnTo>
                  <a:lnTo>
                    <a:pt x="228875" y="42507"/>
                  </a:lnTo>
                  <a:lnTo>
                    <a:pt x="178974" y="56673"/>
                  </a:lnTo>
                  <a:lnTo>
                    <a:pt x="134240" y="72476"/>
                  </a:lnTo>
                  <a:lnTo>
                    <a:pt x="95131" y="89771"/>
                  </a:lnTo>
                  <a:lnTo>
                    <a:pt x="35622" y="128256"/>
                  </a:lnTo>
                  <a:lnTo>
                    <a:pt x="4110" y="170968"/>
                  </a:lnTo>
                  <a:lnTo>
                    <a:pt x="0" y="193547"/>
                  </a:lnTo>
                  <a:lnTo>
                    <a:pt x="4110" y="216127"/>
                  </a:lnTo>
                  <a:lnTo>
                    <a:pt x="35622" y="258839"/>
                  </a:lnTo>
                  <a:lnTo>
                    <a:pt x="95131" y="297324"/>
                  </a:lnTo>
                  <a:lnTo>
                    <a:pt x="134240" y="314619"/>
                  </a:lnTo>
                  <a:lnTo>
                    <a:pt x="178974" y="330422"/>
                  </a:lnTo>
                  <a:lnTo>
                    <a:pt x="228875" y="344588"/>
                  </a:lnTo>
                  <a:lnTo>
                    <a:pt x="283484" y="356972"/>
                  </a:lnTo>
                  <a:lnTo>
                    <a:pt x="342344" y="367430"/>
                  </a:lnTo>
                  <a:lnTo>
                    <a:pt x="404996" y="375816"/>
                  </a:lnTo>
                  <a:lnTo>
                    <a:pt x="470982" y="381986"/>
                  </a:lnTo>
                  <a:lnTo>
                    <a:pt x="539844" y="385794"/>
                  </a:lnTo>
                  <a:lnTo>
                    <a:pt x="611124" y="387096"/>
                  </a:lnTo>
                  <a:lnTo>
                    <a:pt x="682403" y="385794"/>
                  </a:lnTo>
                  <a:lnTo>
                    <a:pt x="751265" y="381986"/>
                  </a:lnTo>
                  <a:lnTo>
                    <a:pt x="817251" y="375816"/>
                  </a:lnTo>
                  <a:lnTo>
                    <a:pt x="879903" y="367430"/>
                  </a:lnTo>
                  <a:lnTo>
                    <a:pt x="938763" y="356972"/>
                  </a:lnTo>
                  <a:lnTo>
                    <a:pt x="993372" y="344588"/>
                  </a:lnTo>
                  <a:lnTo>
                    <a:pt x="1043273" y="330422"/>
                  </a:lnTo>
                  <a:lnTo>
                    <a:pt x="1088007" y="314619"/>
                  </a:lnTo>
                  <a:lnTo>
                    <a:pt x="1127116" y="297324"/>
                  </a:lnTo>
                  <a:lnTo>
                    <a:pt x="1186625" y="258839"/>
                  </a:lnTo>
                  <a:lnTo>
                    <a:pt x="1218137" y="216127"/>
                  </a:lnTo>
                  <a:lnTo>
                    <a:pt x="1222248" y="193547"/>
                  </a:lnTo>
                  <a:lnTo>
                    <a:pt x="1218137" y="170968"/>
                  </a:lnTo>
                  <a:lnTo>
                    <a:pt x="1186625" y="128256"/>
                  </a:lnTo>
                  <a:lnTo>
                    <a:pt x="1127116" y="89771"/>
                  </a:lnTo>
                  <a:lnTo>
                    <a:pt x="1088007" y="72476"/>
                  </a:lnTo>
                  <a:lnTo>
                    <a:pt x="1043273" y="56673"/>
                  </a:lnTo>
                  <a:lnTo>
                    <a:pt x="993372" y="42507"/>
                  </a:lnTo>
                  <a:lnTo>
                    <a:pt x="938763" y="30123"/>
                  </a:lnTo>
                  <a:lnTo>
                    <a:pt x="879903" y="19665"/>
                  </a:lnTo>
                  <a:lnTo>
                    <a:pt x="817251" y="11279"/>
                  </a:lnTo>
                  <a:lnTo>
                    <a:pt x="751265" y="5109"/>
                  </a:lnTo>
                  <a:lnTo>
                    <a:pt x="682403" y="1301"/>
                  </a:lnTo>
                  <a:lnTo>
                    <a:pt x="611124" y="0"/>
                  </a:lnTo>
                  <a:close/>
                </a:path>
              </a:pathLst>
            </a:custGeom>
            <a:solidFill>
              <a:srgbClr val="E6E6E6"/>
            </a:solidFill>
          </p:spPr>
          <p:txBody>
            <a:bodyPr wrap="square" lIns="0" tIns="0" rIns="0" bIns="0" rtlCol="0"/>
            <a:lstStyle/>
            <a:p>
              <a:endParaRPr>
                <a:solidFill>
                  <a:prstClr val="black"/>
                </a:solidFill>
                <a:latin typeface="Calibri"/>
              </a:endParaRPr>
            </a:p>
          </p:txBody>
        </p:sp>
        <p:sp>
          <p:nvSpPr>
            <p:cNvPr id="14" name="object 14"/>
            <p:cNvSpPr/>
            <p:nvPr/>
          </p:nvSpPr>
          <p:spPr>
            <a:xfrm>
              <a:off x="5483352" y="5125211"/>
              <a:ext cx="1222375" cy="387350"/>
            </a:xfrm>
            <a:custGeom>
              <a:avLst/>
              <a:gdLst/>
              <a:ahLst/>
              <a:cxnLst/>
              <a:rect l="l" t="t" r="r" b="b"/>
              <a:pathLst>
                <a:path w="1222375" h="387350">
                  <a:moveTo>
                    <a:pt x="0" y="193547"/>
                  </a:moveTo>
                  <a:lnTo>
                    <a:pt x="16137" y="149156"/>
                  </a:lnTo>
                  <a:lnTo>
                    <a:pt x="62106" y="108412"/>
                  </a:lnTo>
                  <a:lnTo>
                    <a:pt x="134240" y="72476"/>
                  </a:lnTo>
                  <a:lnTo>
                    <a:pt x="178974" y="56673"/>
                  </a:lnTo>
                  <a:lnTo>
                    <a:pt x="228875" y="42507"/>
                  </a:lnTo>
                  <a:lnTo>
                    <a:pt x="283484" y="30123"/>
                  </a:lnTo>
                  <a:lnTo>
                    <a:pt x="342344" y="19665"/>
                  </a:lnTo>
                  <a:lnTo>
                    <a:pt x="404996" y="11279"/>
                  </a:lnTo>
                  <a:lnTo>
                    <a:pt x="470982" y="5109"/>
                  </a:lnTo>
                  <a:lnTo>
                    <a:pt x="539844" y="1301"/>
                  </a:lnTo>
                  <a:lnTo>
                    <a:pt x="611124" y="0"/>
                  </a:lnTo>
                  <a:lnTo>
                    <a:pt x="682403" y="1301"/>
                  </a:lnTo>
                  <a:lnTo>
                    <a:pt x="751265" y="5109"/>
                  </a:lnTo>
                  <a:lnTo>
                    <a:pt x="817251" y="11279"/>
                  </a:lnTo>
                  <a:lnTo>
                    <a:pt x="879903" y="19665"/>
                  </a:lnTo>
                  <a:lnTo>
                    <a:pt x="938763" y="30123"/>
                  </a:lnTo>
                  <a:lnTo>
                    <a:pt x="993372" y="42507"/>
                  </a:lnTo>
                  <a:lnTo>
                    <a:pt x="1043273" y="56673"/>
                  </a:lnTo>
                  <a:lnTo>
                    <a:pt x="1088007" y="72476"/>
                  </a:lnTo>
                  <a:lnTo>
                    <a:pt x="1127116" y="89771"/>
                  </a:lnTo>
                  <a:lnTo>
                    <a:pt x="1186625" y="128256"/>
                  </a:lnTo>
                  <a:lnTo>
                    <a:pt x="1218137" y="170968"/>
                  </a:lnTo>
                  <a:lnTo>
                    <a:pt x="1222248" y="193547"/>
                  </a:lnTo>
                  <a:lnTo>
                    <a:pt x="1218137" y="216127"/>
                  </a:lnTo>
                  <a:lnTo>
                    <a:pt x="1186625" y="258839"/>
                  </a:lnTo>
                  <a:lnTo>
                    <a:pt x="1127116" y="297324"/>
                  </a:lnTo>
                  <a:lnTo>
                    <a:pt x="1088007" y="314619"/>
                  </a:lnTo>
                  <a:lnTo>
                    <a:pt x="1043273" y="330422"/>
                  </a:lnTo>
                  <a:lnTo>
                    <a:pt x="993372" y="344588"/>
                  </a:lnTo>
                  <a:lnTo>
                    <a:pt x="938763" y="356972"/>
                  </a:lnTo>
                  <a:lnTo>
                    <a:pt x="879903" y="367430"/>
                  </a:lnTo>
                  <a:lnTo>
                    <a:pt x="817251" y="375816"/>
                  </a:lnTo>
                  <a:lnTo>
                    <a:pt x="751265" y="381986"/>
                  </a:lnTo>
                  <a:lnTo>
                    <a:pt x="682403" y="385794"/>
                  </a:lnTo>
                  <a:lnTo>
                    <a:pt x="611124" y="387096"/>
                  </a:lnTo>
                  <a:lnTo>
                    <a:pt x="539844" y="385794"/>
                  </a:lnTo>
                  <a:lnTo>
                    <a:pt x="470982" y="381986"/>
                  </a:lnTo>
                  <a:lnTo>
                    <a:pt x="404996" y="375816"/>
                  </a:lnTo>
                  <a:lnTo>
                    <a:pt x="342344" y="367430"/>
                  </a:lnTo>
                  <a:lnTo>
                    <a:pt x="283484" y="356972"/>
                  </a:lnTo>
                  <a:lnTo>
                    <a:pt x="228875" y="344588"/>
                  </a:lnTo>
                  <a:lnTo>
                    <a:pt x="178974" y="330422"/>
                  </a:lnTo>
                  <a:lnTo>
                    <a:pt x="134240" y="314619"/>
                  </a:lnTo>
                  <a:lnTo>
                    <a:pt x="95131" y="297324"/>
                  </a:lnTo>
                  <a:lnTo>
                    <a:pt x="35622" y="258839"/>
                  </a:lnTo>
                  <a:lnTo>
                    <a:pt x="4110" y="216127"/>
                  </a:lnTo>
                  <a:lnTo>
                    <a:pt x="0" y="193547"/>
                  </a:lnTo>
                  <a:close/>
                </a:path>
              </a:pathLst>
            </a:custGeom>
            <a:ln w="12700">
              <a:solidFill>
                <a:srgbClr val="000000"/>
              </a:solidFill>
            </a:ln>
          </p:spPr>
          <p:txBody>
            <a:bodyPr wrap="square" lIns="0" tIns="0" rIns="0" bIns="0" rtlCol="0"/>
            <a:lstStyle/>
            <a:p>
              <a:endParaRPr>
                <a:solidFill>
                  <a:prstClr val="black"/>
                </a:solidFill>
                <a:latin typeface="Calibri"/>
              </a:endParaRPr>
            </a:p>
          </p:txBody>
        </p:sp>
        <p:sp>
          <p:nvSpPr>
            <p:cNvPr id="15" name="object 15"/>
            <p:cNvSpPr/>
            <p:nvPr/>
          </p:nvSpPr>
          <p:spPr>
            <a:xfrm>
              <a:off x="3197351" y="5117591"/>
              <a:ext cx="1222375" cy="388620"/>
            </a:xfrm>
            <a:custGeom>
              <a:avLst/>
              <a:gdLst/>
              <a:ahLst/>
              <a:cxnLst/>
              <a:rect l="l" t="t" r="r" b="b"/>
              <a:pathLst>
                <a:path w="1222375" h="388620">
                  <a:moveTo>
                    <a:pt x="611124" y="0"/>
                  </a:moveTo>
                  <a:lnTo>
                    <a:pt x="539844" y="1307"/>
                  </a:lnTo>
                  <a:lnTo>
                    <a:pt x="470982" y="5131"/>
                  </a:lnTo>
                  <a:lnTo>
                    <a:pt x="404996" y="11327"/>
                  </a:lnTo>
                  <a:lnTo>
                    <a:pt x="342344" y="19749"/>
                  </a:lnTo>
                  <a:lnTo>
                    <a:pt x="283484" y="30251"/>
                  </a:lnTo>
                  <a:lnTo>
                    <a:pt x="228875" y="42687"/>
                  </a:lnTo>
                  <a:lnTo>
                    <a:pt x="178974" y="56911"/>
                  </a:lnTo>
                  <a:lnTo>
                    <a:pt x="134240" y="72778"/>
                  </a:lnTo>
                  <a:lnTo>
                    <a:pt x="95131" y="90142"/>
                  </a:lnTo>
                  <a:lnTo>
                    <a:pt x="35622" y="128777"/>
                  </a:lnTo>
                  <a:lnTo>
                    <a:pt x="4110" y="171649"/>
                  </a:lnTo>
                  <a:lnTo>
                    <a:pt x="0" y="194309"/>
                  </a:lnTo>
                  <a:lnTo>
                    <a:pt x="4110" y="216970"/>
                  </a:lnTo>
                  <a:lnTo>
                    <a:pt x="35622" y="259842"/>
                  </a:lnTo>
                  <a:lnTo>
                    <a:pt x="95131" y="298477"/>
                  </a:lnTo>
                  <a:lnTo>
                    <a:pt x="134240" y="315841"/>
                  </a:lnTo>
                  <a:lnTo>
                    <a:pt x="178974" y="331708"/>
                  </a:lnTo>
                  <a:lnTo>
                    <a:pt x="228875" y="345932"/>
                  </a:lnTo>
                  <a:lnTo>
                    <a:pt x="283484" y="358368"/>
                  </a:lnTo>
                  <a:lnTo>
                    <a:pt x="342344" y="368870"/>
                  </a:lnTo>
                  <a:lnTo>
                    <a:pt x="404996" y="377292"/>
                  </a:lnTo>
                  <a:lnTo>
                    <a:pt x="470982" y="383488"/>
                  </a:lnTo>
                  <a:lnTo>
                    <a:pt x="539844" y="387312"/>
                  </a:lnTo>
                  <a:lnTo>
                    <a:pt x="611124" y="388619"/>
                  </a:lnTo>
                  <a:lnTo>
                    <a:pt x="682403" y="387312"/>
                  </a:lnTo>
                  <a:lnTo>
                    <a:pt x="751265" y="383488"/>
                  </a:lnTo>
                  <a:lnTo>
                    <a:pt x="817251" y="377292"/>
                  </a:lnTo>
                  <a:lnTo>
                    <a:pt x="879903" y="368870"/>
                  </a:lnTo>
                  <a:lnTo>
                    <a:pt x="938763" y="358368"/>
                  </a:lnTo>
                  <a:lnTo>
                    <a:pt x="993372" y="345932"/>
                  </a:lnTo>
                  <a:lnTo>
                    <a:pt x="1043273" y="331708"/>
                  </a:lnTo>
                  <a:lnTo>
                    <a:pt x="1088007" y="315841"/>
                  </a:lnTo>
                  <a:lnTo>
                    <a:pt x="1127116" y="298477"/>
                  </a:lnTo>
                  <a:lnTo>
                    <a:pt x="1186625" y="259842"/>
                  </a:lnTo>
                  <a:lnTo>
                    <a:pt x="1218137" y="216970"/>
                  </a:lnTo>
                  <a:lnTo>
                    <a:pt x="1222248" y="194309"/>
                  </a:lnTo>
                  <a:lnTo>
                    <a:pt x="1218137" y="171649"/>
                  </a:lnTo>
                  <a:lnTo>
                    <a:pt x="1186625" y="128777"/>
                  </a:lnTo>
                  <a:lnTo>
                    <a:pt x="1127116" y="90142"/>
                  </a:lnTo>
                  <a:lnTo>
                    <a:pt x="1088007" y="72778"/>
                  </a:lnTo>
                  <a:lnTo>
                    <a:pt x="1043273" y="56911"/>
                  </a:lnTo>
                  <a:lnTo>
                    <a:pt x="993372" y="42687"/>
                  </a:lnTo>
                  <a:lnTo>
                    <a:pt x="938763" y="30251"/>
                  </a:lnTo>
                  <a:lnTo>
                    <a:pt x="879903" y="19749"/>
                  </a:lnTo>
                  <a:lnTo>
                    <a:pt x="817251" y="11327"/>
                  </a:lnTo>
                  <a:lnTo>
                    <a:pt x="751265" y="5131"/>
                  </a:lnTo>
                  <a:lnTo>
                    <a:pt x="682403" y="1307"/>
                  </a:lnTo>
                  <a:lnTo>
                    <a:pt x="611124" y="0"/>
                  </a:lnTo>
                  <a:close/>
                </a:path>
              </a:pathLst>
            </a:custGeom>
            <a:solidFill>
              <a:srgbClr val="E6E6E6"/>
            </a:solidFill>
          </p:spPr>
          <p:txBody>
            <a:bodyPr wrap="square" lIns="0" tIns="0" rIns="0" bIns="0" rtlCol="0"/>
            <a:lstStyle/>
            <a:p>
              <a:endParaRPr>
                <a:solidFill>
                  <a:prstClr val="black"/>
                </a:solidFill>
                <a:latin typeface="Calibri"/>
              </a:endParaRPr>
            </a:p>
          </p:txBody>
        </p:sp>
        <p:sp>
          <p:nvSpPr>
            <p:cNvPr id="16" name="object 16"/>
            <p:cNvSpPr/>
            <p:nvPr/>
          </p:nvSpPr>
          <p:spPr>
            <a:xfrm>
              <a:off x="3197351" y="5117591"/>
              <a:ext cx="1222375" cy="388620"/>
            </a:xfrm>
            <a:custGeom>
              <a:avLst/>
              <a:gdLst/>
              <a:ahLst/>
              <a:cxnLst/>
              <a:rect l="l" t="t" r="r" b="b"/>
              <a:pathLst>
                <a:path w="1222375" h="388620">
                  <a:moveTo>
                    <a:pt x="0" y="194309"/>
                  </a:moveTo>
                  <a:lnTo>
                    <a:pt x="16137" y="149756"/>
                  </a:lnTo>
                  <a:lnTo>
                    <a:pt x="62106" y="108857"/>
                  </a:lnTo>
                  <a:lnTo>
                    <a:pt x="134240" y="72778"/>
                  </a:lnTo>
                  <a:lnTo>
                    <a:pt x="178974" y="56911"/>
                  </a:lnTo>
                  <a:lnTo>
                    <a:pt x="228875" y="42687"/>
                  </a:lnTo>
                  <a:lnTo>
                    <a:pt x="283484" y="30251"/>
                  </a:lnTo>
                  <a:lnTo>
                    <a:pt x="342344" y="19749"/>
                  </a:lnTo>
                  <a:lnTo>
                    <a:pt x="404996" y="11327"/>
                  </a:lnTo>
                  <a:lnTo>
                    <a:pt x="470982" y="5131"/>
                  </a:lnTo>
                  <a:lnTo>
                    <a:pt x="539844" y="1307"/>
                  </a:lnTo>
                  <a:lnTo>
                    <a:pt x="611124" y="0"/>
                  </a:lnTo>
                  <a:lnTo>
                    <a:pt x="682403" y="1307"/>
                  </a:lnTo>
                  <a:lnTo>
                    <a:pt x="751265" y="5131"/>
                  </a:lnTo>
                  <a:lnTo>
                    <a:pt x="817251" y="11327"/>
                  </a:lnTo>
                  <a:lnTo>
                    <a:pt x="879903" y="19749"/>
                  </a:lnTo>
                  <a:lnTo>
                    <a:pt x="938763" y="30251"/>
                  </a:lnTo>
                  <a:lnTo>
                    <a:pt x="993372" y="42687"/>
                  </a:lnTo>
                  <a:lnTo>
                    <a:pt x="1043273" y="56911"/>
                  </a:lnTo>
                  <a:lnTo>
                    <a:pt x="1088007" y="72778"/>
                  </a:lnTo>
                  <a:lnTo>
                    <a:pt x="1127116" y="90142"/>
                  </a:lnTo>
                  <a:lnTo>
                    <a:pt x="1186625" y="128777"/>
                  </a:lnTo>
                  <a:lnTo>
                    <a:pt x="1218137" y="171649"/>
                  </a:lnTo>
                  <a:lnTo>
                    <a:pt x="1222248" y="194309"/>
                  </a:lnTo>
                  <a:lnTo>
                    <a:pt x="1218137" y="216970"/>
                  </a:lnTo>
                  <a:lnTo>
                    <a:pt x="1186625" y="259842"/>
                  </a:lnTo>
                  <a:lnTo>
                    <a:pt x="1127116" y="298477"/>
                  </a:lnTo>
                  <a:lnTo>
                    <a:pt x="1088007" y="315841"/>
                  </a:lnTo>
                  <a:lnTo>
                    <a:pt x="1043273" y="331708"/>
                  </a:lnTo>
                  <a:lnTo>
                    <a:pt x="993372" y="345932"/>
                  </a:lnTo>
                  <a:lnTo>
                    <a:pt x="938763" y="358368"/>
                  </a:lnTo>
                  <a:lnTo>
                    <a:pt x="879903" y="368870"/>
                  </a:lnTo>
                  <a:lnTo>
                    <a:pt x="817251" y="377292"/>
                  </a:lnTo>
                  <a:lnTo>
                    <a:pt x="751265" y="383488"/>
                  </a:lnTo>
                  <a:lnTo>
                    <a:pt x="682403" y="387312"/>
                  </a:lnTo>
                  <a:lnTo>
                    <a:pt x="611124" y="388619"/>
                  </a:lnTo>
                  <a:lnTo>
                    <a:pt x="539844" y="387312"/>
                  </a:lnTo>
                  <a:lnTo>
                    <a:pt x="470982" y="383488"/>
                  </a:lnTo>
                  <a:lnTo>
                    <a:pt x="404996" y="377292"/>
                  </a:lnTo>
                  <a:lnTo>
                    <a:pt x="342344" y="368870"/>
                  </a:lnTo>
                  <a:lnTo>
                    <a:pt x="283484" y="358368"/>
                  </a:lnTo>
                  <a:lnTo>
                    <a:pt x="228875" y="345932"/>
                  </a:lnTo>
                  <a:lnTo>
                    <a:pt x="178974" y="331708"/>
                  </a:lnTo>
                  <a:lnTo>
                    <a:pt x="134240" y="315841"/>
                  </a:lnTo>
                  <a:lnTo>
                    <a:pt x="95131" y="298477"/>
                  </a:lnTo>
                  <a:lnTo>
                    <a:pt x="35622" y="259842"/>
                  </a:lnTo>
                  <a:lnTo>
                    <a:pt x="4110" y="216970"/>
                  </a:lnTo>
                  <a:lnTo>
                    <a:pt x="0" y="194309"/>
                  </a:lnTo>
                  <a:close/>
                </a:path>
              </a:pathLst>
            </a:custGeom>
            <a:ln w="12699">
              <a:solidFill>
                <a:srgbClr val="000000"/>
              </a:solidFill>
            </a:ln>
          </p:spPr>
          <p:txBody>
            <a:bodyPr wrap="square" lIns="0" tIns="0" rIns="0" bIns="0" rtlCol="0"/>
            <a:lstStyle/>
            <a:p>
              <a:endParaRPr>
                <a:solidFill>
                  <a:prstClr val="black"/>
                </a:solidFill>
                <a:latin typeface="Calibri"/>
              </a:endParaRPr>
            </a:p>
          </p:txBody>
        </p:sp>
      </p:grpSp>
      <p:sp>
        <p:nvSpPr>
          <p:cNvPr id="17" name="object 17"/>
          <p:cNvSpPr txBox="1"/>
          <p:nvPr/>
        </p:nvSpPr>
        <p:spPr>
          <a:xfrm>
            <a:off x="4844288" y="5474921"/>
            <a:ext cx="368300" cy="574675"/>
          </a:xfrm>
          <a:prstGeom prst="rect">
            <a:avLst/>
          </a:prstGeom>
        </p:spPr>
        <p:txBody>
          <a:bodyPr vert="horz" wrap="square" lIns="0" tIns="12700" rIns="0" bIns="0" rtlCol="0">
            <a:spAutoFit/>
          </a:bodyPr>
          <a:lstStyle/>
          <a:p>
            <a:pPr marL="12700">
              <a:spcBef>
                <a:spcPts val="100"/>
              </a:spcBef>
            </a:pPr>
            <a:r>
              <a:rPr sz="3600" b="1" spc="-5" dirty="0">
                <a:solidFill>
                  <a:prstClr val="black"/>
                </a:solidFill>
                <a:latin typeface="Times New Roman"/>
                <a:cs typeface="Times New Roman"/>
              </a:rPr>
              <a:t>...</a:t>
            </a:r>
            <a:endParaRPr sz="3600">
              <a:solidFill>
                <a:prstClr val="black"/>
              </a:solidFill>
              <a:latin typeface="Times New Roman"/>
              <a:cs typeface="Times New Roman"/>
            </a:endParaRPr>
          </a:p>
        </p:txBody>
      </p:sp>
      <p:sp>
        <p:nvSpPr>
          <p:cNvPr id="18" name="object 18"/>
          <p:cNvSpPr txBox="1"/>
          <p:nvPr/>
        </p:nvSpPr>
        <p:spPr>
          <a:xfrm>
            <a:off x="292100" y="1431161"/>
            <a:ext cx="8710930" cy="4022725"/>
          </a:xfrm>
          <a:prstGeom prst="rect">
            <a:avLst/>
          </a:prstGeom>
        </p:spPr>
        <p:txBody>
          <a:bodyPr vert="horz" wrap="square" lIns="0" tIns="85090" rIns="0" bIns="0" rtlCol="0">
            <a:spAutoFit/>
          </a:bodyPr>
          <a:lstStyle/>
          <a:p>
            <a:pPr marL="353695" indent="-341630" algn="just">
              <a:spcBef>
                <a:spcPts val="670"/>
              </a:spcBef>
              <a:buFontTx/>
              <a:buChar char="•"/>
              <a:tabLst>
                <a:tab pos="353695" algn="l"/>
                <a:tab pos="354330" algn="l"/>
              </a:tabLst>
            </a:pPr>
            <a:r>
              <a:rPr sz="2400" spc="-5" dirty="0">
                <a:solidFill>
                  <a:prstClr val="black"/>
                </a:solidFill>
                <a:latin typeface="Arial"/>
                <a:cs typeface="Arial"/>
              </a:rPr>
              <a:t>Each Processor has direct </a:t>
            </a:r>
            <a:r>
              <a:rPr sz="2400" dirty="0">
                <a:solidFill>
                  <a:prstClr val="black"/>
                </a:solidFill>
                <a:latin typeface="Arial"/>
                <a:cs typeface="Arial"/>
              </a:rPr>
              <a:t>access </a:t>
            </a:r>
            <a:r>
              <a:rPr sz="2400" spc="-5" dirty="0">
                <a:solidFill>
                  <a:prstClr val="black"/>
                </a:solidFill>
                <a:latin typeface="Arial"/>
                <a:cs typeface="Arial"/>
              </a:rPr>
              <a:t>only </a:t>
            </a:r>
            <a:r>
              <a:rPr sz="2400" dirty="0">
                <a:solidFill>
                  <a:prstClr val="black"/>
                </a:solidFill>
                <a:latin typeface="Arial"/>
                <a:cs typeface="Arial"/>
              </a:rPr>
              <a:t>to its </a:t>
            </a:r>
            <a:r>
              <a:rPr sz="2400" spc="-5" dirty="0">
                <a:solidFill>
                  <a:prstClr val="black"/>
                </a:solidFill>
                <a:latin typeface="Arial"/>
                <a:cs typeface="Arial"/>
              </a:rPr>
              <a:t>local</a:t>
            </a:r>
            <a:r>
              <a:rPr sz="2400" spc="75" dirty="0">
                <a:solidFill>
                  <a:prstClr val="black"/>
                </a:solidFill>
                <a:latin typeface="Arial"/>
                <a:cs typeface="Arial"/>
              </a:rPr>
              <a:t> </a:t>
            </a:r>
            <a:r>
              <a:rPr sz="2400" spc="-5" dirty="0">
                <a:solidFill>
                  <a:prstClr val="black"/>
                </a:solidFill>
                <a:latin typeface="Arial"/>
                <a:cs typeface="Arial"/>
              </a:rPr>
              <a:t>memory</a:t>
            </a:r>
            <a:endParaRPr sz="2400" dirty="0">
              <a:solidFill>
                <a:prstClr val="black"/>
              </a:solidFill>
              <a:latin typeface="Arial"/>
              <a:cs typeface="Arial"/>
            </a:endParaRPr>
          </a:p>
          <a:p>
            <a:pPr marL="353695" indent="-341630" algn="just">
              <a:spcBef>
                <a:spcPts val="580"/>
              </a:spcBef>
              <a:buFontTx/>
              <a:buChar char="•"/>
              <a:tabLst>
                <a:tab pos="353695" algn="l"/>
                <a:tab pos="354330" algn="l"/>
              </a:tabLst>
            </a:pPr>
            <a:r>
              <a:rPr sz="2400" spc="-5" dirty="0">
                <a:solidFill>
                  <a:prstClr val="black"/>
                </a:solidFill>
                <a:latin typeface="Arial"/>
                <a:cs typeface="Arial"/>
              </a:rPr>
              <a:t>Processors </a:t>
            </a:r>
            <a:r>
              <a:rPr sz="2400" dirty="0">
                <a:solidFill>
                  <a:prstClr val="black"/>
                </a:solidFill>
                <a:latin typeface="Arial"/>
                <a:cs typeface="Arial"/>
              </a:rPr>
              <a:t>are </a:t>
            </a:r>
            <a:r>
              <a:rPr sz="2400" spc="-5" dirty="0">
                <a:solidFill>
                  <a:prstClr val="black"/>
                </a:solidFill>
                <a:latin typeface="Arial"/>
                <a:cs typeface="Arial"/>
              </a:rPr>
              <a:t>connected </a:t>
            </a:r>
            <a:r>
              <a:rPr sz="2400" dirty="0">
                <a:solidFill>
                  <a:prstClr val="black"/>
                </a:solidFill>
                <a:latin typeface="Arial"/>
                <a:cs typeface="Arial"/>
              </a:rPr>
              <a:t>via </a:t>
            </a:r>
            <a:r>
              <a:rPr sz="2400" spc="-5" dirty="0">
                <a:solidFill>
                  <a:prstClr val="black"/>
                </a:solidFill>
                <a:latin typeface="Arial"/>
                <a:cs typeface="Arial"/>
              </a:rPr>
              <a:t>high-speed</a:t>
            </a:r>
            <a:r>
              <a:rPr sz="2400" spc="80" dirty="0">
                <a:solidFill>
                  <a:prstClr val="black"/>
                </a:solidFill>
                <a:latin typeface="Arial"/>
                <a:cs typeface="Arial"/>
              </a:rPr>
              <a:t> </a:t>
            </a:r>
            <a:r>
              <a:rPr sz="2400" spc="-5" dirty="0">
                <a:solidFill>
                  <a:prstClr val="black"/>
                </a:solidFill>
                <a:latin typeface="Arial"/>
                <a:cs typeface="Arial"/>
              </a:rPr>
              <a:t>interconnect</a:t>
            </a:r>
            <a:endParaRPr sz="2400" dirty="0">
              <a:solidFill>
                <a:prstClr val="black"/>
              </a:solidFill>
              <a:latin typeface="Arial"/>
              <a:cs typeface="Arial"/>
            </a:endParaRPr>
          </a:p>
          <a:p>
            <a:pPr marL="353695" indent="-341630" algn="just">
              <a:spcBef>
                <a:spcPts val="575"/>
              </a:spcBef>
              <a:buFontTx/>
              <a:buChar char="•"/>
              <a:tabLst>
                <a:tab pos="353695" algn="l"/>
                <a:tab pos="354330" algn="l"/>
              </a:tabLst>
            </a:pPr>
            <a:r>
              <a:rPr sz="2400" spc="-5" dirty="0">
                <a:solidFill>
                  <a:prstClr val="black"/>
                </a:solidFill>
                <a:latin typeface="Arial"/>
                <a:cs typeface="Arial"/>
              </a:rPr>
              <a:t>Data </a:t>
            </a:r>
            <a:r>
              <a:rPr sz="2400" dirty="0">
                <a:solidFill>
                  <a:prstClr val="black"/>
                </a:solidFill>
                <a:latin typeface="Arial"/>
                <a:cs typeface="Arial"/>
              </a:rPr>
              <a:t>structures must </a:t>
            </a:r>
            <a:r>
              <a:rPr sz="2400" spc="-5" dirty="0">
                <a:solidFill>
                  <a:prstClr val="black"/>
                </a:solidFill>
                <a:latin typeface="Arial"/>
                <a:cs typeface="Arial"/>
              </a:rPr>
              <a:t>be</a:t>
            </a:r>
            <a:r>
              <a:rPr sz="2400" spc="-15" dirty="0">
                <a:solidFill>
                  <a:prstClr val="black"/>
                </a:solidFill>
                <a:latin typeface="Arial"/>
                <a:cs typeface="Arial"/>
              </a:rPr>
              <a:t> </a:t>
            </a:r>
            <a:r>
              <a:rPr sz="2400" spc="-5" dirty="0">
                <a:solidFill>
                  <a:prstClr val="black"/>
                </a:solidFill>
                <a:latin typeface="Arial"/>
                <a:cs typeface="Arial"/>
              </a:rPr>
              <a:t>distributed</a:t>
            </a:r>
            <a:endParaRPr sz="2400" dirty="0">
              <a:solidFill>
                <a:prstClr val="black"/>
              </a:solidFill>
              <a:latin typeface="Arial"/>
              <a:cs typeface="Arial"/>
            </a:endParaRPr>
          </a:p>
          <a:p>
            <a:pPr marL="353695" marR="5080" indent="-341630" algn="just">
              <a:spcBef>
                <a:spcPts val="580"/>
              </a:spcBef>
              <a:buFontTx/>
              <a:buChar char="•"/>
              <a:tabLst>
                <a:tab pos="353695" algn="l"/>
                <a:tab pos="354330" algn="l"/>
                <a:tab pos="1167765" algn="l"/>
                <a:tab pos="2661285" algn="l"/>
                <a:tab pos="3051810" algn="l"/>
                <a:tab pos="3898900" algn="l"/>
                <a:tab pos="4460240" algn="l"/>
                <a:tab pos="5563870" algn="l"/>
              </a:tabLst>
            </a:pPr>
            <a:r>
              <a:rPr sz="2400" spc="-5" dirty="0">
                <a:solidFill>
                  <a:prstClr val="black"/>
                </a:solidFill>
                <a:latin typeface="Arial"/>
                <a:cs typeface="Arial"/>
              </a:rPr>
              <a:t>Data	exchange	is	done	via	explicit	processor-to-processor  communication: send/receive</a:t>
            </a:r>
            <a:r>
              <a:rPr sz="2400" spc="45" dirty="0">
                <a:solidFill>
                  <a:prstClr val="black"/>
                </a:solidFill>
                <a:latin typeface="Arial"/>
                <a:cs typeface="Arial"/>
              </a:rPr>
              <a:t> </a:t>
            </a:r>
            <a:r>
              <a:rPr sz="2400" spc="-5" dirty="0">
                <a:solidFill>
                  <a:prstClr val="black"/>
                </a:solidFill>
                <a:latin typeface="Arial"/>
                <a:cs typeface="Arial"/>
              </a:rPr>
              <a:t>messages</a:t>
            </a:r>
            <a:endParaRPr sz="2400" dirty="0">
              <a:solidFill>
                <a:prstClr val="black"/>
              </a:solidFill>
              <a:latin typeface="Arial"/>
              <a:cs typeface="Arial"/>
            </a:endParaRPr>
          </a:p>
          <a:p>
            <a:pPr marL="353695" indent="-341630" algn="just">
              <a:spcBef>
                <a:spcPts val="575"/>
              </a:spcBef>
              <a:buFontTx/>
              <a:buChar char="•"/>
              <a:tabLst>
                <a:tab pos="353695" algn="l"/>
                <a:tab pos="354330" algn="l"/>
              </a:tabLst>
            </a:pPr>
            <a:r>
              <a:rPr sz="2400" spc="-5" dirty="0">
                <a:solidFill>
                  <a:prstClr val="black"/>
                </a:solidFill>
                <a:latin typeface="Arial"/>
                <a:cs typeface="Arial"/>
              </a:rPr>
              <a:t>Programming</a:t>
            </a:r>
            <a:r>
              <a:rPr sz="2400" spc="10" dirty="0">
                <a:solidFill>
                  <a:prstClr val="black"/>
                </a:solidFill>
                <a:latin typeface="Arial"/>
                <a:cs typeface="Arial"/>
              </a:rPr>
              <a:t> </a:t>
            </a:r>
            <a:r>
              <a:rPr sz="2400" spc="-5" dirty="0">
                <a:solidFill>
                  <a:prstClr val="black"/>
                </a:solidFill>
                <a:latin typeface="Arial"/>
                <a:cs typeface="Arial"/>
              </a:rPr>
              <a:t>Models</a:t>
            </a:r>
            <a:endParaRPr sz="2400" dirty="0">
              <a:solidFill>
                <a:prstClr val="black"/>
              </a:solidFill>
              <a:latin typeface="Arial"/>
              <a:cs typeface="Arial"/>
            </a:endParaRPr>
          </a:p>
          <a:p>
            <a:pPr marL="755015" lvl="1" indent="-285750" algn="just">
              <a:spcBef>
                <a:spcPts val="575"/>
              </a:spcBef>
              <a:buFontTx/>
              <a:buChar char="–"/>
              <a:tabLst>
                <a:tab pos="755650" algn="l"/>
              </a:tabLst>
            </a:pPr>
            <a:r>
              <a:rPr sz="2400" spc="-5" dirty="0">
                <a:solidFill>
                  <a:prstClr val="black"/>
                </a:solidFill>
                <a:latin typeface="Arial"/>
                <a:cs typeface="Arial"/>
              </a:rPr>
              <a:t>Widely used standard:</a:t>
            </a:r>
            <a:r>
              <a:rPr sz="2400" spc="25" dirty="0">
                <a:solidFill>
                  <a:prstClr val="black"/>
                </a:solidFill>
                <a:latin typeface="Arial"/>
                <a:cs typeface="Arial"/>
              </a:rPr>
              <a:t> </a:t>
            </a:r>
            <a:r>
              <a:rPr sz="2400" dirty="0">
                <a:solidFill>
                  <a:prstClr val="black"/>
                </a:solidFill>
                <a:latin typeface="Arial"/>
                <a:cs typeface="Arial"/>
              </a:rPr>
              <a:t>MPI</a:t>
            </a:r>
          </a:p>
          <a:p>
            <a:pPr marL="755015" lvl="1" indent="-285750" algn="just">
              <a:spcBef>
                <a:spcPts val="580"/>
              </a:spcBef>
              <a:buFontTx/>
              <a:buChar char="–"/>
              <a:tabLst>
                <a:tab pos="755650" algn="l"/>
              </a:tabLst>
            </a:pPr>
            <a:r>
              <a:rPr sz="2400" dirty="0">
                <a:solidFill>
                  <a:prstClr val="black"/>
                </a:solidFill>
                <a:latin typeface="Arial"/>
                <a:cs typeface="Arial"/>
              </a:rPr>
              <a:t>Others: </a:t>
            </a:r>
            <a:r>
              <a:rPr sz="2400" spc="-5" dirty="0">
                <a:solidFill>
                  <a:prstClr val="black"/>
                </a:solidFill>
                <a:latin typeface="Arial"/>
                <a:cs typeface="Arial"/>
              </a:rPr>
              <a:t>PVM, Express, P4, Chameleon, </a:t>
            </a:r>
            <a:r>
              <a:rPr sz="2400" spc="-30" dirty="0">
                <a:solidFill>
                  <a:prstClr val="black"/>
                </a:solidFill>
                <a:latin typeface="Arial"/>
                <a:cs typeface="Arial"/>
              </a:rPr>
              <a:t>PARMACS,</a:t>
            </a:r>
            <a:r>
              <a:rPr sz="2400" spc="55" dirty="0">
                <a:solidFill>
                  <a:prstClr val="black"/>
                </a:solidFill>
                <a:latin typeface="Arial"/>
                <a:cs typeface="Arial"/>
              </a:rPr>
              <a:t> </a:t>
            </a:r>
            <a:r>
              <a:rPr sz="2400" dirty="0">
                <a:solidFill>
                  <a:prstClr val="black"/>
                </a:solidFill>
                <a:latin typeface="Arial"/>
                <a:cs typeface="Arial"/>
              </a:rPr>
              <a:t>...</a:t>
            </a:r>
          </a:p>
          <a:p>
            <a:pPr marL="1717675">
              <a:spcBef>
                <a:spcPts val="2235"/>
              </a:spcBef>
              <a:tabLst>
                <a:tab pos="3089275" algn="l"/>
                <a:tab pos="5375910" algn="l"/>
              </a:tabLst>
            </a:pPr>
            <a:r>
              <a:rPr sz="2700" spc="-7" baseline="1543" dirty="0">
                <a:solidFill>
                  <a:prstClr val="black"/>
                </a:solidFill>
                <a:latin typeface="Comic Sans MS"/>
                <a:cs typeface="Comic Sans MS"/>
              </a:rPr>
              <a:t>Memory	Memory	</a:t>
            </a:r>
            <a:r>
              <a:rPr spc="-5" dirty="0">
                <a:solidFill>
                  <a:prstClr val="black"/>
                </a:solidFill>
                <a:latin typeface="Comic Sans MS"/>
                <a:cs typeface="Comic Sans MS"/>
              </a:rPr>
              <a:t>Memory</a:t>
            </a:r>
            <a:endParaRPr dirty="0">
              <a:solidFill>
                <a:prstClr val="black"/>
              </a:solidFill>
              <a:latin typeface="Comic Sans MS"/>
              <a:cs typeface="Comic Sans MS"/>
            </a:endParaRPr>
          </a:p>
        </p:txBody>
      </p:sp>
      <p:sp>
        <p:nvSpPr>
          <p:cNvPr id="19" name="object 19"/>
          <p:cNvSpPr/>
          <p:nvPr/>
        </p:nvSpPr>
        <p:spPr>
          <a:xfrm>
            <a:off x="1895857" y="5647946"/>
            <a:ext cx="1061085" cy="338455"/>
          </a:xfrm>
          <a:custGeom>
            <a:avLst/>
            <a:gdLst/>
            <a:ahLst/>
            <a:cxnLst/>
            <a:rect l="l" t="t" r="r" b="b"/>
            <a:pathLst>
              <a:path w="1061085" h="338454">
                <a:moveTo>
                  <a:pt x="0" y="698"/>
                </a:moveTo>
                <a:lnTo>
                  <a:pt x="0" y="317"/>
                </a:lnTo>
                <a:lnTo>
                  <a:pt x="254" y="0"/>
                </a:lnTo>
                <a:lnTo>
                  <a:pt x="762" y="0"/>
                </a:lnTo>
                <a:lnTo>
                  <a:pt x="1059942" y="0"/>
                </a:lnTo>
                <a:lnTo>
                  <a:pt x="1060450" y="0"/>
                </a:lnTo>
                <a:lnTo>
                  <a:pt x="1060704" y="317"/>
                </a:lnTo>
                <a:lnTo>
                  <a:pt x="1060704" y="698"/>
                </a:lnTo>
                <a:lnTo>
                  <a:pt x="1060704" y="337629"/>
                </a:lnTo>
                <a:lnTo>
                  <a:pt x="1060704" y="338010"/>
                </a:lnTo>
                <a:lnTo>
                  <a:pt x="1060450" y="338327"/>
                </a:lnTo>
                <a:lnTo>
                  <a:pt x="1059942" y="338327"/>
                </a:lnTo>
                <a:lnTo>
                  <a:pt x="762" y="338327"/>
                </a:lnTo>
                <a:lnTo>
                  <a:pt x="254" y="338327"/>
                </a:lnTo>
                <a:lnTo>
                  <a:pt x="0" y="338010"/>
                </a:lnTo>
                <a:lnTo>
                  <a:pt x="0" y="337629"/>
                </a:lnTo>
                <a:lnTo>
                  <a:pt x="0" y="698"/>
                </a:lnTo>
                <a:close/>
              </a:path>
            </a:pathLst>
          </a:custGeom>
          <a:ln w="9525">
            <a:solidFill>
              <a:srgbClr val="000000"/>
            </a:solidFill>
          </a:ln>
        </p:spPr>
        <p:txBody>
          <a:bodyPr wrap="square" lIns="0" tIns="0" rIns="0" bIns="0" rtlCol="0"/>
          <a:lstStyle/>
          <a:p>
            <a:endParaRPr>
              <a:solidFill>
                <a:prstClr val="black"/>
              </a:solidFill>
              <a:latin typeface="Calibri"/>
            </a:endParaRPr>
          </a:p>
        </p:txBody>
      </p:sp>
      <p:sp>
        <p:nvSpPr>
          <p:cNvPr id="20" name="object 20"/>
          <p:cNvSpPr txBox="1"/>
          <p:nvPr/>
        </p:nvSpPr>
        <p:spPr>
          <a:xfrm>
            <a:off x="1900747" y="5658804"/>
            <a:ext cx="1050925" cy="318135"/>
          </a:xfrm>
          <a:prstGeom prst="rect">
            <a:avLst/>
          </a:prstGeom>
          <a:solidFill>
            <a:srgbClr val="93BC5E"/>
          </a:solidFill>
        </p:spPr>
        <p:txBody>
          <a:bodyPr vert="horz" wrap="square" lIns="0" tIns="0" rIns="0" bIns="0" rtlCol="0">
            <a:spAutoFit/>
          </a:bodyPr>
          <a:lstStyle/>
          <a:p>
            <a:pPr algn="ctr">
              <a:lnSpc>
                <a:spcPts val="2480"/>
              </a:lnSpc>
            </a:pPr>
            <a:r>
              <a:rPr sz="2200" spc="-10" dirty="0">
                <a:solidFill>
                  <a:prstClr val="black"/>
                </a:solidFill>
                <a:latin typeface="Arial"/>
                <a:cs typeface="Arial"/>
              </a:rPr>
              <a:t>P0</a:t>
            </a:r>
            <a:endParaRPr sz="2200">
              <a:solidFill>
                <a:prstClr val="black"/>
              </a:solidFill>
              <a:latin typeface="Arial"/>
              <a:cs typeface="Arial"/>
            </a:endParaRPr>
          </a:p>
        </p:txBody>
      </p:sp>
      <p:sp>
        <p:nvSpPr>
          <p:cNvPr id="21" name="object 21"/>
          <p:cNvSpPr txBox="1"/>
          <p:nvPr/>
        </p:nvSpPr>
        <p:spPr>
          <a:xfrm>
            <a:off x="3355849" y="5640325"/>
            <a:ext cx="1061085" cy="338455"/>
          </a:xfrm>
          <a:prstGeom prst="rect">
            <a:avLst/>
          </a:prstGeom>
          <a:solidFill>
            <a:srgbClr val="93BC5E"/>
          </a:solidFill>
          <a:ln w="9778">
            <a:solidFill>
              <a:srgbClr val="000000"/>
            </a:solidFill>
          </a:ln>
        </p:spPr>
        <p:txBody>
          <a:bodyPr vert="horz" wrap="square" lIns="0" tIns="0" rIns="0" bIns="0" rtlCol="0">
            <a:spAutoFit/>
          </a:bodyPr>
          <a:lstStyle/>
          <a:p>
            <a:pPr marL="635" algn="ctr">
              <a:lnSpc>
                <a:spcPts val="2565"/>
              </a:lnSpc>
            </a:pPr>
            <a:r>
              <a:rPr sz="2200" spc="-10" dirty="0">
                <a:solidFill>
                  <a:prstClr val="black"/>
                </a:solidFill>
                <a:latin typeface="Arial"/>
                <a:cs typeface="Arial"/>
              </a:rPr>
              <a:t>P1</a:t>
            </a:r>
            <a:endParaRPr sz="2200">
              <a:solidFill>
                <a:prstClr val="black"/>
              </a:solidFill>
              <a:latin typeface="Arial"/>
              <a:cs typeface="Arial"/>
            </a:endParaRPr>
          </a:p>
        </p:txBody>
      </p:sp>
      <p:sp>
        <p:nvSpPr>
          <p:cNvPr id="22" name="object 22"/>
          <p:cNvSpPr txBox="1"/>
          <p:nvPr/>
        </p:nvSpPr>
        <p:spPr>
          <a:xfrm>
            <a:off x="5638802" y="5638802"/>
            <a:ext cx="1061085" cy="338455"/>
          </a:xfrm>
          <a:prstGeom prst="rect">
            <a:avLst/>
          </a:prstGeom>
          <a:solidFill>
            <a:srgbClr val="93BC5E"/>
          </a:solidFill>
          <a:ln w="9778">
            <a:solidFill>
              <a:srgbClr val="000000"/>
            </a:solidFill>
          </a:ln>
        </p:spPr>
        <p:txBody>
          <a:bodyPr vert="horz" wrap="square" lIns="0" tIns="0" rIns="0" bIns="0" rtlCol="0">
            <a:spAutoFit/>
          </a:bodyPr>
          <a:lstStyle/>
          <a:p>
            <a:pPr marL="1270" algn="ctr">
              <a:lnSpc>
                <a:spcPts val="2565"/>
              </a:lnSpc>
            </a:pPr>
            <a:r>
              <a:rPr sz="2200" spc="-10" dirty="0">
                <a:solidFill>
                  <a:prstClr val="black"/>
                </a:solidFill>
                <a:latin typeface="Arial"/>
                <a:cs typeface="Arial"/>
              </a:rPr>
              <a:t>Pn</a:t>
            </a:r>
            <a:endParaRPr sz="2200">
              <a:solidFill>
                <a:prstClr val="black"/>
              </a:solidFill>
              <a:latin typeface="Arial"/>
              <a:cs typeface="Arial"/>
            </a:endParaRPr>
          </a:p>
        </p:txBody>
      </p:sp>
    </p:spTree>
    <p:extLst>
      <p:ext uri="{BB962C8B-B14F-4D97-AF65-F5344CB8AC3E}">
        <p14:creationId xmlns:p14="http://schemas.microsoft.com/office/powerpoint/2010/main" val="3425322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186992" y="483236"/>
            <a:ext cx="6769734" cy="696595"/>
          </a:xfrm>
          <a:prstGeom prst="rect">
            <a:avLst/>
          </a:prstGeom>
        </p:spPr>
        <p:txBody>
          <a:bodyPr vert="horz" wrap="square" lIns="0" tIns="13335" rIns="0" bIns="0" rtlCol="0">
            <a:spAutoFit/>
          </a:bodyPr>
          <a:lstStyle/>
          <a:p>
            <a:pPr marL="12700">
              <a:spcBef>
                <a:spcPts val="105"/>
              </a:spcBef>
            </a:pPr>
            <a:r>
              <a:rPr dirty="0"/>
              <a:t>Message Passing</a:t>
            </a:r>
            <a:r>
              <a:rPr spc="-85" dirty="0"/>
              <a:t> </a:t>
            </a:r>
            <a:r>
              <a:rPr dirty="0"/>
              <a:t>Interface</a:t>
            </a:r>
          </a:p>
        </p:txBody>
      </p:sp>
      <p:sp>
        <p:nvSpPr>
          <p:cNvPr id="4" name="object 4"/>
          <p:cNvSpPr txBox="1"/>
          <p:nvPr/>
        </p:nvSpPr>
        <p:spPr>
          <a:xfrm>
            <a:off x="1050785" y="1314389"/>
            <a:ext cx="7042148" cy="5184111"/>
          </a:xfrm>
          <a:prstGeom prst="rect">
            <a:avLst/>
          </a:prstGeom>
        </p:spPr>
        <p:txBody>
          <a:bodyPr vert="horz" wrap="square" lIns="0" tIns="13335" rIns="0" bIns="0" rtlCol="0">
            <a:spAutoFit/>
          </a:bodyPr>
          <a:lstStyle/>
          <a:p>
            <a:pPr marL="12700" algn="just">
              <a:spcBef>
                <a:spcPts val="105"/>
              </a:spcBef>
            </a:pPr>
            <a:r>
              <a:rPr sz="2400" dirty="0">
                <a:solidFill>
                  <a:prstClr val="black"/>
                </a:solidFill>
                <a:latin typeface="Arial"/>
                <a:cs typeface="Arial"/>
              </a:rPr>
              <a:t>MPI</a:t>
            </a:r>
            <a:r>
              <a:rPr sz="2400" spc="-20" dirty="0">
                <a:solidFill>
                  <a:prstClr val="black"/>
                </a:solidFill>
                <a:latin typeface="Arial"/>
                <a:cs typeface="Arial"/>
              </a:rPr>
              <a:t> </a:t>
            </a:r>
            <a:r>
              <a:rPr sz="2400" dirty="0">
                <a:solidFill>
                  <a:prstClr val="black"/>
                </a:solidFill>
                <a:latin typeface="Arial"/>
                <a:cs typeface="Arial"/>
              </a:rPr>
              <a:t>provides:</a:t>
            </a:r>
          </a:p>
          <a:p>
            <a:pPr marL="353695" indent="-341630" algn="just">
              <a:buFontTx/>
              <a:buChar char="•"/>
              <a:tabLst>
                <a:tab pos="353695" algn="l"/>
                <a:tab pos="354330" algn="l"/>
              </a:tabLst>
            </a:pPr>
            <a:r>
              <a:rPr sz="2400" dirty="0">
                <a:solidFill>
                  <a:prstClr val="black"/>
                </a:solidFill>
                <a:latin typeface="Arial"/>
                <a:cs typeface="Arial"/>
              </a:rPr>
              <a:t>Point-to-point</a:t>
            </a:r>
            <a:r>
              <a:rPr sz="2400" spc="-60" dirty="0">
                <a:solidFill>
                  <a:prstClr val="black"/>
                </a:solidFill>
                <a:latin typeface="Arial"/>
                <a:cs typeface="Arial"/>
              </a:rPr>
              <a:t> </a:t>
            </a:r>
            <a:r>
              <a:rPr sz="2400" dirty="0">
                <a:solidFill>
                  <a:prstClr val="black"/>
                </a:solidFill>
                <a:latin typeface="Arial"/>
                <a:cs typeface="Arial"/>
              </a:rPr>
              <a:t>communication</a:t>
            </a:r>
          </a:p>
          <a:p>
            <a:pPr marL="353695" indent="-341630" algn="just">
              <a:buFontTx/>
              <a:buChar char="•"/>
              <a:tabLst>
                <a:tab pos="353695" algn="l"/>
                <a:tab pos="354330" algn="l"/>
              </a:tabLst>
            </a:pPr>
            <a:r>
              <a:rPr sz="2400" dirty="0">
                <a:solidFill>
                  <a:prstClr val="black"/>
                </a:solidFill>
                <a:latin typeface="Arial"/>
                <a:cs typeface="Arial"/>
              </a:rPr>
              <a:t>Collective</a:t>
            </a:r>
            <a:r>
              <a:rPr sz="2400" spc="-10" dirty="0">
                <a:solidFill>
                  <a:prstClr val="black"/>
                </a:solidFill>
                <a:latin typeface="Arial"/>
                <a:cs typeface="Arial"/>
              </a:rPr>
              <a:t> </a:t>
            </a:r>
            <a:r>
              <a:rPr sz="2400" dirty="0">
                <a:solidFill>
                  <a:prstClr val="black"/>
                </a:solidFill>
                <a:latin typeface="Arial"/>
                <a:cs typeface="Arial"/>
              </a:rPr>
              <a:t>operations</a:t>
            </a:r>
          </a:p>
          <a:p>
            <a:pPr marL="755015" lvl="1" indent="-285750" algn="just">
              <a:buFontTx/>
              <a:buChar char="–"/>
              <a:tabLst>
                <a:tab pos="755015" algn="l"/>
                <a:tab pos="755650" algn="l"/>
              </a:tabLst>
            </a:pPr>
            <a:r>
              <a:rPr sz="2400" dirty="0">
                <a:solidFill>
                  <a:prstClr val="black"/>
                </a:solidFill>
                <a:latin typeface="Arial"/>
                <a:cs typeface="Arial"/>
              </a:rPr>
              <a:t>Barrier</a:t>
            </a:r>
            <a:r>
              <a:rPr sz="2400" spc="-30" dirty="0">
                <a:solidFill>
                  <a:prstClr val="black"/>
                </a:solidFill>
                <a:latin typeface="Arial"/>
                <a:cs typeface="Arial"/>
              </a:rPr>
              <a:t> </a:t>
            </a:r>
            <a:r>
              <a:rPr sz="2400" dirty="0">
                <a:solidFill>
                  <a:prstClr val="black"/>
                </a:solidFill>
                <a:latin typeface="Arial"/>
                <a:cs typeface="Arial"/>
              </a:rPr>
              <a:t>synchronization</a:t>
            </a:r>
          </a:p>
          <a:p>
            <a:pPr marL="755015" lvl="1" indent="-285750" algn="just">
              <a:buFontTx/>
              <a:buChar char="–"/>
              <a:tabLst>
                <a:tab pos="755015" algn="l"/>
                <a:tab pos="755650" algn="l"/>
              </a:tabLst>
            </a:pPr>
            <a:r>
              <a:rPr sz="2400" spc="-5" dirty="0">
                <a:solidFill>
                  <a:prstClr val="black"/>
                </a:solidFill>
                <a:latin typeface="Arial"/>
                <a:cs typeface="Arial"/>
              </a:rPr>
              <a:t>gather/scatter</a:t>
            </a:r>
            <a:r>
              <a:rPr sz="2400" spc="-40" dirty="0">
                <a:solidFill>
                  <a:prstClr val="black"/>
                </a:solidFill>
                <a:latin typeface="Arial"/>
                <a:cs typeface="Arial"/>
              </a:rPr>
              <a:t> </a:t>
            </a:r>
            <a:r>
              <a:rPr sz="2400" dirty="0">
                <a:solidFill>
                  <a:prstClr val="black"/>
                </a:solidFill>
                <a:latin typeface="Arial"/>
                <a:cs typeface="Arial"/>
              </a:rPr>
              <a:t>operations</a:t>
            </a:r>
          </a:p>
          <a:p>
            <a:pPr marL="755015" lvl="1" indent="-285750" algn="just">
              <a:buFontTx/>
              <a:buChar char="–"/>
              <a:tabLst>
                <a:tab pos="755015" algn="l"/>
                <a:tab pos="755650" algn="l"/>
              </a:tabLst>
            </a:pPr>
            <a:r>
              <a:rPr sz="2400" dirty="0">
                <a:solidFill>
                  <a:prstClr val="black"/>
                </a:solidFill>
                <a:latin typeface="Arial"/>
                <a:cs typeface="Arial"/>
              </a:rPr>
              <a:t>Broadcast,</a:t>
            </a:r>
            <a:r>
              <a:rPr sz="2400" spc="-55" dirty="0">
                <a:solidFill>
                  <a:prstClr val="black"/>
                </a:solidFill>
                <a:latin typeface="Arial"/>
                <a:cs typeface="Arial"/>
              </a:rPr>
              <a:t> </a:t>
            </a:r>
            <a:r>
              <a:rPr sz="2400" dirty="0">
                <a:solidFill>
                  <a:prstClr val="black"/>
                </a:solidFill>
                <a:latin typeface="Arial"/>
                <a:cs typeface="Arial"/>
              </a:rPr>
              <a:t>reductions</a:t>
            </a:r>
          </a:p>
          <a:p>
            <a:pPr marL="353695" indent="-341630" algn="just">
              <a:buFontTx/>
              <a:buChar char="•"/>
              <a:tabLst>
                <a:tab pos="353695" algn="l"/>
                <a:tab pos="354330" algn="l"/>
              </a:tabLst>
            </a:pPr>
            <a:r>
              <a:rPr sz="2400" spc="-5" dirty="0">
                <a:solidFill>
                  <a:prstClr val="black"/>
                </a:solidFill>
                <a:latin typeface="Arial"/>
                <a:cs typeface="Arial"/>
              </a:rPr>
              <a:t>Different </a:t>
            </a:r>
            <a:r>
              <a:rPr sz="2400" dirty="0">
                <a:solidFill>
                  <a:prstClr val="black"/>
                </a:solidFill>
                <a:latin typeface="Arial"/>
                <a:cs typeface="Arial"/>
              </a:rPr>
              <a:t>communication</a:t>
            </a:r>
            <a:r>
              <a:rPr sz="2400" spc="-80" dirty="0">
                <a:solidFill>
                  <a:prstClr val="black"/>
                </a:solidFill>
                <a:latin typeface="Arial"/>
                <a:cs typeface="Arial"/>
              </a:rPr>
              <a:t> </a:t>
            </a:r>
            <a:r>
              <a:rPr sz="2400" dirty="0">
                <a:solidFill>
                  <a:prstClr val="black"/>
                </a:solidFill>
                <a:latin typeface="Arial"/>
                <a:cs typeface="Arial"/>
              </a:rPr>
              <a:t>modes</a:t>
            </a:r>
          </a:p>
          <a:p>
            <a:pPr marL="755015" lvl="1" indent="-285750" algn="just">
              <a:spcBef>
                <a:spcPts val="5"/>
              </a:spcBef>
              <a:buFontTx/>
              <a:buChar char="–"/>
              <a:tabLst>
                <a:tab pos="755015" algn="l"/>
                <a:tab pos="755650" algn="l"/>
              </a:tabLst>
            </a:pPr>
            <a:r>
              <a:rPr sz="2400" dirty="0">
                <a:solidFill>
                  <a:prstClr val="black"/>
                </a:solidFill>
                <a:latin typeface="Arial"/>
                <a:cs typeface="Arial"/>
              </a:rPr>
              <a:t>Synchronous/asynchronous</a:t>
            </a:r>
          </a:p>
          <a:p>
            <a:pPr marL="755015" lvl="1" indent="-285750" algn="just">
              <a:buFontTx/>
              <a:buChar char="–"/>
              <a:tabLst>
                <a:tab pos="755015" algn="l"/>
                <a:tab pos="755650" algn="l"/>
              </a:tabLst>
            </a:pPr>
            <a:r>
              <a:rPr sz="2400" dirty="0">
                <a:solidFill>
                  <a:prstClr val="black"/>
                </a:solidFill>
                <a:latin typeface="Arial"/>
                <a:cs typeface="Arial"/>
              </a:rPr>
              <a:t>Blocking/non-blocking</a:t>
            </a:r>
          </a:p>
          <a:p>
            <a:pPr marL="755015" lvl="1" indent="-285750" algn="just">
              <a:buFontTx/>
              <a:buChar char="–"/>
              <a:tabLst>
                <a:tab pos="755015" algn="l"/>
                <a:tab pos="755650" algn="l"/>
              </a:tabLst>
            </a:pPr>
            <a:r>
              <a:rPr sz="2400" spc="-5" dirty="0">
                <a:solidFill>
                  <a:prstClr val="black"/>
                </a:solidFill>
                <a:latin typeface="Arial"/>
                <a:cs typeface="Arial"/>
              </a:rPr>
              <a:t>Buffered/unbuffered</a:t>
            </a:r>
            <a:endParaRPr sz="2400" dirty="0">
              <a:solidFill>
                <a:prstClr val="black"/>
              </a:solidFill>
              <a:latin typeface="Arial"/>
              <a:cs typeface="Arial"/>
            </a:endParaRPr>
          </a:p>
          <a:p>
            <a:pPr marL="353695" indent="-341630" algn="just">
              <a:buFontTx/>
              <a:buChar char="•"/>
              <a:tabLst>
                <a:tab pos="353695" algn="l"/>
                <a:tab pos="354330" algn="l"/>
              </a:tabLst>
            </a:pPr>
            <a:r>
              <a:rPr sz="2400" dirty="0">
                <a:solidFill>
                  <a:prstClr val="black"/>
                </a:solidFill>
                <a:latin typeface="Arial"/>
                <a:cs typeface="Arial"/>
              </a:rPr>
              <a:t>Predefined and derived</a:t>
            </a:r>
            <a:r>
              <a:rPr sz="2400" spc="-110" dirty="0">
                <a:solidFill>
                  <a:prstClr val="black"/>
                </a:solidFill>
                <a:latin typeface="Arial"/>
                <a:cs typeface="Arial"/>
              </a:rPr>
              <a:t> </a:t>
            </a:r>
            <a:r>
              <a:rPr sz="2400" dirty="0">
                <a:solidFill>
                  <a:prstClr val="black"/>
                </a:solidFill>
                <a:latin typeface="Arial"/>
                <a:cs typeface="Arial"/>
              </a:rPr>
              <a:t>datatypes</a:t>
            </a:r>
          </a:p>
          <a:p>
            <a:pPr marL="353695" indent="-341630" algn="just">
              <a:buFontTx/>
              <a:buChar char="•"/>
              <a:tabLst>
                <a:tab pos="353695" algn="l"/>
                <a:tab pos="354330" algn="l"/>
              </a:tabLst>
            </a:pPr>
            <a:r>
              <a:rPr sz="2400" spc="-5" dirty="0">
                <a:solidFill>
                  <a:prstClr val="black"/>
                </a:solidFill>
                <a:latin typeface="Arial"/>
                <a:cs typeface="Arial"/>
              </a:rPr>
              <a:t>Virtual</a:t>
            </a:r>
            <a:r>
              <a:rPr sz="2400" spc="-15" dirty="0">
                <a:solidFill>
                  <a:prstClr val="black"/>
                </a:solidFill>
                <a:latin typeface="Arial"/>
                <a:cs typeface="Arial"/>
              </a:rPr>
              <a:t> </a:t>
            </a:r>
            <a:r>
              <a:rPr sz="2400" dirty="0">
                <a:solidFill>
                  <a:prstClr val="black"/>
                </a:solidFill>
                <a:latin typeface="Arial"/>
                <a:cs typeface="Arial"/>
              </a:rPr>
              <a:t>topologies</a:t>
            </a:r>
          </a:p>
          <a:p>
            <a:pPr marL="353695" indent="-341630" algn="just">
              <a:buFontTx/>
              <a:buChar char="•"/>
              <a:tabLst>
                <a:tab pos="353695" algn="l"/>
                <a:tab pos="354330" algn="l"/>
              </a:tabLst>
            </a:pPr>
            <a:r>
              <a:rPr sz="2400" dirty="0">
                <a:solidFill>
                  <a:prstClr val="black"/>
                </a:solidFill>
                <a:latin typeface="Arial"/>
                <a:cs typeface="Arial"/>
              </a:rPr>
              <a:t>Parallel </a:t>
            </a:r>
            <a:r>
              <a:rPr sz="2400" spc="-5" dirty="0">
                <a:solidFill>
                  <a:prstClr val="black"/>
                </a:solidFill>
                <a:latin typeface="Arial"/>
                <a:cs typeface="Arial"/>
              </a:rPr>
              <a:t>I/O </a:t>
            </a:r>
            <a:r>
              <a:rPr sz="2400" dirty="0">
                <a:solidFill>
                  <a:prstClr val="black"/>
                </a:solidFill>
                <a:latin typeface="Arial"/>
                <a:cs typeface="Arial"/>
              </a:rPr>
              <a:t>(MPI</a:t>
            </a:r>
            <a:r>
              <a:rPr sz="2400" spc="-45" dirty="0">
                <a:solidFill>
                  <a:prstClr val="black"/>
                </a:solidFill>
                <a:latin typeface="Arial"/>
                <a:cs typeface="Arial"/>
              </a:rPr>
              <a:t> </a:t>
            </a:r>
            <a:r>
              <a:rPr sz="2400" dirty="0">
                <a:solidFill>
                  <a:prstClr val="black"/>
                </a:solidFill>
                <a:latin typeface="Arial"/>
                <a:cs typeface="Arial"/>
              </a:rPr>
              <a:t>2)</a:t>
            </a:r>
          </a:p>
          <a:p>
            <a:pPr marL="353695" indent="-341630" algn="just">
              <a:buFontTx/>
              <a:buChar char="•"/>
              <a:tabLst>
                <a:tab pos="353695" algn="l"/>
                <a:tab pos="354330" algn="l"/>
              </a:tabLst>
            </a:pPr>
            <a:r>
              <a:rPr sz="2400" dirty="0">
                <a:solidFill>
                  <a:prstClr val="black"/>
                </a:solidFill>
                <a:latin typeface="Arial"/>
                <a:cs typeface="Arial"/>
              </a:rPr>
              <a:t>C/C++ and Fortran</a:t>
            </a:r>
            <a:r>
              <a:rPr sz="2400" spc="-95" dirty="0">
                <a:solidFill>
                  <a:prstClr val="black"/>
                </a:solidFill>
                <a:latin typeface="Arial"/>
                <a:cs typeface="Arial"/>
              </a:rPr>
              <a:t> </a:t>
            </a:r>
            <a:r>
              <a:rPr sz="2400" dirty="0">
                <a:solidFill>
                  <a:prstClr val="black"/>
                </a:solidFill>
                <a:latin typeface="Arial"/>
                <a:cs typeface="Arial"/>
              </a:rPr>
              <a:t>bindings</a:t>
            </a:r>
          </a:p>
        </p:txBody>
      </p:sp>
    </p:spTree>
    <p:extLst>
      <p:ext uri="{BB962C8B-B14F-4D97-AF65-F5344CB8AC3E}">
        <p14:creationId xmlns:p14="http://schemas.microsoft.com/office/powerpoint/2010/main" val="551188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Hybrid Model</a:t>
            </a:r>
          </a:p>
        </p:txBody>
      </p:sp>
      <p:sp>
        <p:nvSpPr>
          <p:cNvPr id="4" name="Content Placeholder 3"/>
          <p:cNvSpPr>
            <a:spLocks noGrp="1"/>
          </p:cNvSpPr>
          <p:nvPr>
            <p:ph idx="1"/>
          </p:nvPr>
        </p:nvSpPr>
        <p:spPr>
          <a:xfrm>
            <a:off x="133349" y="1825625"/>
            <a:ext cx="4972051" cy="4351338"/>
          </a:xfrm>
        </p:spPr>
        <p:txBody>
          <a:bodyPr>
            <a:normAutofit fontScale="85000" lnSpcReduction="10000"/>
          </a:bodyPr>
          <a:lstStyle/>
          <a:p>
            <a:pPr algn="just"/>
            <a:r>
              <a:rPr lang="en-US" dirty="0"/>
              <a:t>A hybrid model combines more than one of the previously described programming models.</a:t>
            </a:r>
          </a:p>
          <a:p>
            <a:pPr algn="just"/>
            <a:r>
              <a:rPr lang="en-US" dirty="0"/>
              <a:t>A common example of a hybrid model is the combination of the message passing model (MPI) with the threads model (</a:t>
            </a:r>
            <a:r>
              <a:rPr lang="en-US" dirty="0" err="1"/>
              <a:t>OpenMP</a:t>
            </a:r>
            <a:r>
              <a:rPr lang="en-US" dirty="0"/>
              <a:t>).</a:t>
            </a:r>
          </a:p>
          <a:p>
            <a:pPr algn="just"/>
            <a:r>
              <a:rPr lang="en-US" dirty="0"/>
              <a:t>Threads perform computationally intensive kernels using local, on-node data</a:t>
            </a:r>
          </a:p>
          <a:p>
            <a:pPr algn="just"/>
            <a:r>
              <a:rPr lang="en-US" dirty="0"/>
              <a:t>Communications between processes on different nodes occurs over the network using MPI </a:t>
            </a:r>
          </a:p>
        </p:txBody>
      </p:sp>
      <p:pic>
        <p:nvPicPr>
          <p:cNvPr id="6" name="Content Placeholder 5"/>
          <p:cNvPicPr>
            <a:picLocks noGrp="1" noChangeAspect="1"/>
          </p:cNvPicPr>
          <p:nvPr>
            <p:ph sz="half" idx="4294967295"/>
          </p:nvPr>
        </p:nvPicPr>
        <p:blipFill>
          <a:blip r:embed="rId2"/>
          <a:stretch>
            <a:fillRect/>
          </a:stretch>
        </p:blipFill>
        <p:spPr>
          <a:xfrm>
            <a:off x="5105400" y="1825625"/>
            <a:ext cx="4038600" cy="38862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5136480" y="1340280"/>
              <a:ext cx="4050000" cy="5024160"/>
            </p14:xfrm>
          </p:contentPart>
        </mc:Choice>
        <mc:Fallback xmlns="">
          <p:pic>
            <p:nvPicPr>
              <p:cNvPr id="3" name="Ink 2"/>
              <p:cNvPicPr/>
              <p:nvPr/>
            </p:nvPicPr>
            <p:blipFill>
              <a:blip r:embed="rId4"/>
              <a:stretch>
                <a:fillRect/>
              </a:stretch>
            </p:blipFill>
            <p:spPr>
              <a:xfrm>
                <a:off x="5127120" y="1330920"/>
                <a:ext cx="4068720" cy="5042880"/>
              </a:xfrm>
              <a:prstGeom prst="rect">
                <a:avLst/>
              </a:prstGeom>
            </p:spPr>
          </p:pic>
        </mc:Fallback>
      </mc:AlternateContent>
    </p:spTree>
    <p:extLst>
      <p:ext uri="{BB962C8B-B14F-4D97-AF65-F5344CB8AC3E}">
        <p14:creationId xmlns:p14="http://schemas.microsoft.com/office/powerpoint/2010/main" val="1280912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Hybrid Model</a:t>
            </a:r>
          </a:p>
        </p:txBody>
      </p:sp>
      <p:sp>
        <p:nvSpPr>
          <p:cNvPr id="3" name="Content Placeholder 2"/>
          <p:cNvSpPr>
            <a:spLocks noGrp="1"/>
          </p:cNvSpPr>
          <p:nvPr>
            <p:ph idx="1"/>
          </p:nvPr>
        </p:nvSpPr>
        <p:spPr>
          <a:xfrm>
            <a:off x="242887" y="1997075"/>
            <a:ext cx="4862513" cy="4351338"/>
          </a:xfrm>
        </p:spPr>
        <p:txBody>
          <a:bodyPr>
            <a:normAutofit fontScale="85000" lnSpcReduction="10000"/>
          </a:bodyPr>
          <a:lstStyle/>
          <a:p>
            <a:pPr algn="just"/>
            <a:r>
              <a:rPr lang="en-US" dirty="0"/>
              <a:t>Another similar and increasingly popular example of a hybrid model is using MPI with CPU-GPU (Graphics Processing Unit) programming.</a:t>
            </a:r>
          </a:p>
          <a:p>
            <a:pPr algn="just"/>
            <a:r>
              <a:rPr lang="en-US" dirty="0"/>
              <a:t>MPI tasks run on CPUs using local memory and communicating with each other over a network.</a:t>
            </a:r>
          </a:p>
          <a:p>
            <a:pPr algn="just"/>
            <a:r>
              <a:rPr lang="en-US" dirty="0"/>
              <a:t>Computationally intensive kernels are off-loaded to GPUs </a:t>
            </a:r>
            <a:r>
              <a:rPr lang="en-US" dirty="0" err="1"/>
              <a:t>onnode</a:t>
            </a:r>
            <a:r>
              <a:rPr lang="en-US" dirty="0"/>
              <a:t>.</a:t>
            </a:r>
          </a:p>
          <a:p>
            <a:pPr algn="just"/>
            <a:r>
              <a:rPr lang="en-US" dirty="0"/>
              <a:t>Data exchange between node-local memory and GPUs uses CUDA (or something equivalent)</a:t>
            </a:r>
          </a:p>
        </p:txBody>
      </p:sp>
      <p:pic>
        <p:nvPicPr>
          <p:cNvPr id="5" name="Content Placeholder 4"/>
          <p:cNvPicPr>
            <a:picLocks noGrp="1" noChangeAspect="1"/>
          </p:cNvPicPr>
          <p:nvPr>
            <p:ph sz="half" idx="4294967295"/>
          </p:nvPr>
        </p:nvPicPr>
        <p:blipFill>
          <a:blip r:embed="rId2"/>
          <a:stretch>
            <a:fillRect/>
          </a:stretch>
        </p:blipFill>
        <p:spPr>
          <a:xfrm>
            <a:off x="5105400" y="1997075"/>
            <a:ext cx="4038600" cy="3868738"/>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4924800" y="1904760"/>
              <a:ext cx="2159280" cy="2907360"/>
            </p14:xfrm>
          </p:contentPart>
        </mc:Choice>
        <mc:Fallback xmlns="">
          <p:pic>
            <p:nvPicPr>
              <p:cNvPr id="4" name="Ink 3"/>
              <p:cNvPicPr/>
              <p:nvPr/>
            </p:nvPicPr>
            <p:blipFill>
              <a:blip r:embed="rId4"/>
              <a:stretch>
                <a:fillRect/>
              </a:stretch>
            </p:blipFill>
            <p:spPr>
              <a:xfrm>
                <a:off x="4915440" y="1895400"/>
                <a:ext cx="2178000" cy="2926080"/>
              </a:xfrm>
              <a:prstGeom prst="rect">
                <a:avLst/>
              </a:prstGeom>
            </p:spPr>
          </p:pic>
        </mc:Fallback>
      </mc:AlternateContent>
    </p:spTree>
    <p:extLst>
      <p:ext uri="{BB962C8B-B14F-4D97-AF65-F5344CB8AC3E}">
        <p14:creationId xmlns:p14="http://schemas.microsoft.com/office/powerpoint/2010/main" val="835452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High level programming model</a:t>
            </a:r>
          </a:p>
        </p:txBody>
      </p:sp>
      <p:sp>
        <p:nvSpPr>
          <p:cNvPr id="5" name="Content Placeholder 4"/>
          <p:cNvSpPr>
            <a:spLocks noGrp="1"/>
          </p:cNvSpPr>
          <p:nvPr>
            <p:ph idx="1"/>
          </p:nvPr>
        </p:nvSpPr>
        <p:spPr/>
        <p:txBody>
          <a:bodyPr/>
          <a:lstStyle/>
          <a:p>
            <a:pPr algn="just"/>
            <a:r>
              <a:rPr lang="en-US" dirty="0"/>
              <a:t>Single Program Multiple Data (SPMD)</a:t>
            </a:r>
          </a:p>
          <a:p>
            <a:pPr algn="just"/>
            <a:r>
              <a:rPr lang="en-US" dirty="0"/>
              <a:t>Multiple Program Multiple Data (MPMD)</a:t>
            </a:r>
          </a:p>
        </p:txBody>
      </p:sp>
    </p:spTree>
    <p:extLst>
      <p:ext uri="{BB962C8B-B14F-4D97-AF65-F5344CB8AC3E}">
        <p14:creationId xmlns:p14="http://schemas.microsoft.com/office/powerpoint/2010/main" val="2566559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SPMD</a:t>
            </a:r>
          </a:p>
        </p:txBody>
      </p:sp>
      <p:sp>
        <p:nvSpPr>
          <p:cNvPr id="5" name="Content Placeholder 4"/>
          <p:cNvSpPr>
            <a:spLocks noGrp="1"/>
          </p:cNvSpPr>
          <p:nvPr>
            <p:ph idx="1"/>
          </p:nvPr>
        </p:nvSpPr>
        <p:spPr>
          <a:xfrm>
            <a:off x="628650" y="1825625"/>
            <a:ext cx="7886700" cy="2089150"/>
          </a:xfrm>
        </p:spPr>
        <p:txBody>
          <a:bodyPr>
            <a:normAutofit fontScale="92500" lnSpcReduction="20000"/>
          </a:bodyPr>
          <a:lstStyle/>
          <a:p>
            <a:pPr algn="just"/>
            <a:r>
              <a:rPr lang="en-US" dirty="0"/>
              <a:t>Built upon any combination of the previously mentioned parallel programming models</a:t>
            </a:r>
          </a:p>
          <a:p>
            <a:pPr algn="just"/>
            <a:r>
              <a:rPr lang="en-US" b="1" dirty="0"/>
              <a:t>SINGLE PROGRAM:</a:t>
            </a:r>
            <a:r>
              <a:rPr lang="en-US" dirty="0"/>
              <a:t> All tasks execute their copy of the same program simultaneously. This program can be threads, message passing, data parallel or hybrid.</a:t>
            </a:r>
          </a:p>
          <a:p>
            <a:pPr algn="just"/>
            <a:r>
              <a:rPr lang="en-US" b="1" dirty="0"/>
              <a:t>MULTIPLE DATA</a:t>
            </a:r>
            <a:r>
              <a:rPr lang="en-US" dirty="0"/>
              <a:t>: All tasks may use different data</a:t>
            </a:r>
          </a:p>
        </p:txBody>
      </p:sp>
      <p:pic>
        <p:nvPicPr>
          <p:cNvPr id="7" name="Content Placeholder 6"/>
          <p:cNvPicPr>
            <a:picLocks noGrp="1" noChangeAspect="1"/>
          </p:cNvPicPr>
          <p:nvPr>
            <p:ph sz="half" idx="4294967295"/>
          </p:nvPr>
        </p:nvPicPr>
        <p:blipFill>
          <a:blip r:embed="rId2"/>
          <a:stretch>
            <a:fillRect/>
          </a:stretch>
        </p:blipFill>
        <p:spPr>
          <a:xfrm>
            <a:off x="1757363" y="4515681"/>
            <a:ext cx="4038600" cy="1123950"/>
          </a:xfrm>
          <a:prstGeom prst="rect">
            <a:avLst/>
          </a:prstGeom>
        </p:spPr>
      </p:pic>
      <p:sp>
        <p:nvSpPr>
          <p:cNvPr id="8" name="TextBox 7"/>
          <p:cNvSpPr txBox="1"/>
          <p:nvPr/>
        </p:nvSpPr>
        <p:spPr>
          <a:xfrm>
            <a:off x="1575246" y="5778872"/>
            <a:ext cx="6097141" cy="646331"/>
          </a:xfrm>
          <a:prstGeom prst="rect">
            <a:avLst/>
          </a:prstGeom>
          <a:noFill/>
        </p:spPr>
        <p:txBody>
          <a:bodyPr wrap="square" rtlCol="0">
            <a:spAutoFit/>
          </a:bodyPr>
          <a:lstStyle/>
          <a:p>
            <a:r>
              <a:rPr lang="en-US" dirty="0"/>
              <a:t> -tasks do not necessarily have to execute the entire program</a:t>
            </a:r>
          </a:p>
          <a:p>
            <a:r>
              <a:rPr lang="en-US" dirty="0"/>
              <a:t> - perhaps only a portion of it</a:t>
            </a:r>
          </a:p>
        </p:txBody>
      </p:sp>
    </p:spTree>
    <p:extLst>
      <p:ext uri="{BB962C8B-B14F-4D97-AF65-F5344CB8AC3E}">
        <p14:creationId xmlns:p14="http://schemas.microsoft.com/office/powerpoint/2010/main" val="2114787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MPMD</a:t>
            </a:r>
          </a:p>
        </p:txBody>
      </p:sp>
      <p:sp>
        <p:nvSpPr>
          <p:cNvPr id="3" name="Content Placeholder 2"/>
          <p:cNvSpPr>
            <a:spLocks noGrp="1"/>
          </p:cNvSpPr>
          <p:nvPr>
            <p:ph idx="1"/>
          </p:nvPr>
        </p:nvSpPr>
        <p:spPr/>
        <p:txBody>
          <a:bodyPr>
            <a:normAutofit/>
          </a:bodyPr>
          <a:lstStyle/>
          <a:p>
            <a:pPr algn="just"/>
            <a:r>
              <a:rPr lang="en-US" dirty="0"/>
              <a:t>built upon any combination of the previously mentioned parallel programming models</a:t>
            </a:r>
          </a:p>
          <a:p>
            <a:pPr algn="just"/>
            <a:r>
              <a:rPr lang="en-US" b="1" dirty="0"/>
              <a:t>MULTIPLE PROGRAM:</a:t>
            </a:r>
            <a:r>
              <a:rPr lang="en-US" dirty="0"/>
              <a:t> Tasks may execute different programs simultaneously.</a:t>
            </a:r>
          </a:p>
          <a:p>
            <a:pPr algn="just"/>
            <a:r>
              <a:rPr lang="en-US" dirty="0"/>
              <a:t>The programs can be threads, message passing, data parallel or hybrid.</a:t>
            </a:r>
          </a:p>
          <a:p>
            <a:pPr algn="just"/>
            <a:r>
              <a:rPr lang="en-US" b="1" dirty="0"/>
              <a:t>MULTIPLE DATA:</a:t>
            </a:r>
            <a:r>
              <a:rPr lang="en-US" dirty="0"/>
              <a:t> All tasks may use different data</a:t>
            </a:r>
          </a:p>
        </p:txBody>
      </p:sp>
      <p:pic>
        <p:nvPicPr>
          <p:cNvPr id="5" name="Content Placeholder 4"/>
          <p:cNvPicPr>
            <a:picLocks noGrp="1" noChangeAspect="1"/>
          </p:cNvPicPr>
          <p:nvPr>
            <p:ph sz="half" idx="4294967295"/>
          </p:nvPr>
        </p:nvPicPr>
        <p:blipFill>
          <a:blip r:embed="rId2"/>
          <a:stretch>
            <a:fillRect/>
          </a:stretch>
        </p:blipFill>
        <p:spPr>
          <a:xfrm>
            <a:off x="2228850" y="5053013"/>
            <a:ext cx="4038600" cy="1123950"/>
          </a:xfrm>
          <a:prstGeom prst="rect">
            <a:avLst/>
          </a:prstGeom>
        </p:spPr>
      </p:pic>
      <p:sp>
        <p:nvSpPr>
          <p:cNvPr id="6" name="TextBox 5"/>
          <p:cNvSpPr txBox="1"/>
          <p:nvPr/>
        </p:nvSpPr>
        <p:spPr>
          <a:xfrm>
            <a:off x="1784079" y="6311899"/>
            <a:ext cx="6259783" cy="369332"/>
          </a:xfrm>
          <a:prstGeom prst="rect">
            <a:avLst/>
          </a:prstGeom>
          <a:noFill/>
        </p:spPr>
        <p:txBody>
          <a:bodyPr wrap="square" rtlCol="0">
            <a:spAutoFit/>
          </a:bodyPr>
          <a:lstStyle/>
          <a:p>
            <a:r>
              <a:rPr lang="en-US" dirty="0"/>
              <a:t>MPMD applications are not as common as SPMD applications</a:t>
            </a:r>
          </a:p>
        </p:txBody>
      </p:sp>
    </p:spTree>
    <p:extLst>
      <p:ext uri="{BB962C8B-B14F-4D97-AF65-F5344CB8AC3E}">
        <p14:creationId xmlns:p14="http://schemas.microsoft.com/office/powerpoint/2010/main" val="37630402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C7D20-371A-5019-13F6-D4661AB0E85F}"/>
              </a:ext>
            </a:extLst>
          </p:cNvPr>
          <p:cNvSpPr>
            <a:spLocks noGrp="1"/>
          </p:cNvSpPr>
          <p:nvPr>
            <p:ph type="title"/>
          </p:nvPr>
        </p:nvSpPr>
        <p:spPr/>
        <p:txBody>
          <a:bodyPr/>
          <a:lstStyle/>
          <a:p>
            <a:r>
              <a:rPr lang="en-US" dirty="0"/>
              <a:t>Parallel and Distributed Programming Models</a:t>
            </a:r>
            <a:endParaRPr lang="LID4096" dirty="0"/>
          </a:p>
        </p:txBody>
      </p:sp>
      <p:sp>
        <p:nvSpPr>
          <p:cNvPr id="3" name="Content Placeholder 2">
            <a:extLst>
              <a:ext uri="{FF2B5EF4-FFF2-40B4-BE49-F238E27FC236}">
                <a16:creationId xmlns:a16="http://schemas.microsoft.com/office/drawing/2014/main" id="{9D0FFE3E-D2FD-C3DC-2752-8CB76121E682}"/>
              </a:ext>
            </a:extLst>
          </p:cNvPr>
          <p:cNvSpPr>
            <a:spLocks noGrp="1"/>
          </p:cNvSpPr>
          <p:nvPr>
            <p:ph idx="1"/>
          </p:nvPr>
        </p:nvSpPr>
        <p:spPr/>
        <p:txBody>
          <a:bodyPr>
            <a:normAutofit fontScale="92500" lnSpcReduction="20000"/>
          </a:bodyPr>
          <a:lstStyle/>
          <a:p>
            <a:pPr algn="just"/>
            <a:r>
              <a:rPr lang="en-US" dirty="0"/>
              <a:t>OPENMP</a:t>
            </a:r>
          </a:p>
          <a:p>
            <a:pPr algn="just"/>
            <a:r>
              <a:rPr lang="en-US" dirty="0"/>
              <a:t>MPI </a:t>
            </a:r>
          </a:p>
          <a:p>
            <a:pPr lvl="1" algn="just"/>
            <a:r>
              <a:rPr lang="en-US" dirty="0"/>
              <a:t>For message passing systems</a:t>
            </a:r>
          </a:p>
          <a:p>
            <a:pPr algn="just"/>
            <a:r>
              <a:rPr lang="en-US" dirty="0"/>
              <a:t>MapReduce and </a:t>
            </a:r>
            <a:r>
              <a:rPr lang="en-US" dirty="0" err="1"/>
              <a:t>BigTable</a:t>
            </a:r>
            <a:endParaRPr lang="en-US" dirty="0"/>
          </a:p>
          <a:p>
            <a:pPr lvl="1" algn="just"/>
            <a:r>
              <a:rPr lang="en-US" dirty="0"/>
              <a:t>For internet clouds and data centers</a:t>
            </a:r>
          </a:p>
          <a:p>
            <a:pPr algn="just"/>
            <a:r>
              <a:rPr lang="en-US" dirty="0"/>
              <a:t>Service clouds require extension of Hadoop, EC2, S3 to facilitate distributed computing over distributed storage system</a:t>
            </a:r>
          </a:p>
          <a:p>
            <a:pPr algn="just"/>
            <a:r>
              <a:rPr lang="en-US" dirty="0"/>
              <a:t>CUDA</a:t>
            </a:r>
          </a:p>
          <a:p>
            <a:pPr lvl="1" algn="just"/>
            <a:r>
              <a:rPr lang="en-US" dirty="0"/>
              <a:t>For NVIDIA GPUs</a:t>
            </a:r>
          </a:p>
          <a:p>
            <a:pPr algn="just"/>
            <a:r>
              <a:rPr lang="en-US" dirty="0"/>
              <a:t>Open Grid Service Architecture (OGSA)</a:t>
            </a:r>
          </a:p>
          <a:p>
            <a:pPr lvl="1" algn="just"/>
            <a:r>
              <a:rPr lang="en-US" dirty="0"/>
              <a:t>For grid application development</a:t>
            </a:r>
            <a:endParaRPr lang="LID4096" dirty="0"/>
          </a:p>
        </p:txBody>
      </p:sp>
    </p:spTree>
    <p:extLst>
      <p:ext uri="{BB962C8B-B14F-4D97-AF65-F5344CB8AC3E}">
        <p14:creationId xmlns:p14="http://schemas.microsoft.com/office/powerpoint/2010/main" val="975810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CB47A-E5BA-F1E1-A309-F88725FBC31D}"/>
              </a:ext>
            </a:extLst>
          </p:cNvPr>
          <p:cNvSpPr>
            <a:spLocks noGrp="1"/>
          </p:cNvSpPr>
          <p:nvPr>
            <p:ph type="title"/>
          </p:nvPr>
        </p:nvSpPr>
        <p:spPr/>
        <p:txBody>
          <a:bodyPr/>
          <a:lstStyle/>
          <a:p>
            <a:r>
              <a:rPr lang="en-US" dirty="0"/>
              <a:t>Performance, Security and Energy Efficiency</a:t>
            </a:r>
            <a:endParaRPr lang="LID4096" dirty="0"/>
          </a:p>
        </p:txBody>
      </p:sp>
      <p:sp>
        <p:nvSpPr>
          <p:cNvPr id="3" name="Content Placeholder 2">
            <a:extLst>
              <a:ext uri="{FF2B5EF4-FFF2-40B4-BE49-F238E27FC236}">
                <a16:creationId xmlns:a16="http://schemas.microsoft.com/office/drawing/2014/main" id="{AE195794-77B5-2E84-12B5-1857D34302BF}"/>
              </a:ext>
            </a:extLst>
          </p:cNvPr>
          <p:cNvSpPr>
            <a:spLocks noGrp="1"/>
          </p:cNvSpPr>
          <p:nvPr>
            <p:ph idx="1"/>
          </p:nvPr>
        </p:nvSpPr>
        <p:spPr>
          <a:xfrm>
            <a:off x="628649" y="1825625"/>
            <a:ext cx="3578847" cy="4351338"/>
          </a:xfrm>
        </p:spPr>
        <p:txBody>
          <a:bodyPr>
            <a:normAutofit fontScale="92500" lnSpcReduction="20000"/>
          </a:bodyPr>
          <a:lstStyle/>
          <a:p>
            <a:r>
              <a:rPr lang="en-US" dirty="0"/>
              <a:t>Performance Metrics</a:t>
            </a:r>
          </a:p>
          <a:p>
            <a:pPr lvl="1"/>
            <a:r>
              <a:rPr lang="en-US" dirty="0"/>
              <a:t>CPU Speed, FLOPS, Job response time, network latency, system throughput, network bandwidth, System overhead (OS boot time, compile time, etc). </a:t>
            </a:r>
          </a:p>
          <a:p>
            <a:r>
              <a:rPr lang="en-US" dirty="0"/>
              <a:t>Scalability</a:t>
            </a:r>
          </a:p>
          <a:p>
            <a:pPr lvl="1"/>
            <a:r>
              <a:rPr lang="en-US" dirty="0"/>
              <a:t>Machine (size), software, application, and technology scalability</a:t>
            </a:r>
          </a:p>
          <a:p>
            <a:r>
              <a:rPr lang="en-US" dirty="0"/>
              <a:t>Amdahl’s law</a:t>
            </a:r>
          </a:p>
          <a:p>
            <a:pPr marL="0" indent="0">
              <a:buNone/>
            </a:pPr>
            <a:endParaRPr lang="en-US" dirty="0"/>
          </a:p>
        </p:txBody>
      </p:sp>
      <p:pic>
        <p:nvPicPr>
          <p:cNvPr id="5" name="Picture 4">
            <a:extLst>
              <a:ext uri="{FF2B5EF4-FFF2-40B4-BE49-F238E27FC236}">
                <a16:creationId xmlns:a16="http://schemas.microsoft.com/office/drawing/2014/main" id="{C841D6F7-75F6-E83C-EF9B-27C7941B81E3}"/>
              </a:ext>
            </a:extLst>
          </p:cNvPr>
          <p:cNvPicPr>
            <a:picLocks noChangeAspect="1"/>
          </p:cNvPicPr>
          <p:nvPr/>
        </p:nvPicPr>
        <p:blipFill>
          <a:blip r:embed="rId2"/>
          <a:stretch>
            <a:fillRect/>
          </a:stretch>
        </p:blipFill>
        <p:spPr>
          <a:xfrm>
            <a:off x="4572000" y="1690689"/>
            <a:ext cx="4182212" cy="3724274"/>
          </a:xfrm>
          <a:prstGeom prst="rect">
            <a:avLst/>
          </a:prstGeom>
        </p:spPr>
      </p:pic>
    </p:spTree>
    <p:extLst>
      <p:ext uri="{BB962C8B-B14F-4D97-AF65-F5344CB8AC3E}">
        <p14:creationId xmlns:p14="http://schemas.microsoft.com/office/powerpoint/2010/main" val="2804532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A8574-3F88-A594-B232-D7F8BC6C717A}"/>
              </a:ext>
            </a:extLst>
          </p:cNvPr>
          <p:cNvSpPr>
            <a:spLocks noGrp="1"/>
          </p:cNvSpPr>
          <p:nvPr>
            <p:ph type="title"/>
          </p:nvPr>
        </p:nvSpPr>
        <p:spPr/>
        <p:txBody>
          <a:bodyPr/>
          <a:lstStyle/>
          <a:p>
            <a:r>
              <a:rPr lang="en-US" dirty="0"/>
              <a:t>Performance, Security and Energy Efficiency</a:t>
            </a:r>
            <a:endParaRPr lang="LID4096" dirty="0"/>
          </a:p>
        </p:txBody>
      </p:sp>
      <p:sp>
        <p:nvSpPr>
          <p:cNvPr id="3" name="Content Placeholder 2">
            <a:extLst>
              <a:ext uri="{FF2B5EF4-FFF2-40B4-BE49-F238E27FC236}">
                <a16:creationId xmlns:a16="http://schemas.microsoft.com/office/drawing/2014/main" id="{B08E08F5-102A-1355-B85C-971147AC35FD}"/>
              </a:ext>
            </a:extLst>
          </p:cNvPr>
          <p:cNvSpPr>
            <a:spLocks noGrp="1"/>
          </p:cNvSpPr>
          <p:nvPr>
            <p:ph idx="1"/>
          </p:nvPr>
        </p:nvSpPr>
        <p:spPr>
          <a:xfrm>
            <a:off x="628650" y="1825625"/>
            <a:ext cx="7243763" cy="4351338"/>
          </a:xfrm>
        </p:spPr>
        <p:txBody>
          <a:bodyPr/>
          <a:lstStyle/>
          <a:p>
            <a:pPr algn="just"/>
            <a:r>
              <a:rPr lang="en-US" dirty="0"/>
              <a:t>Security</a:t>
            </a:r>
          </a:p>
          <a:p>
            <a:pPr lvl="1" algn="just"/>
            <a:r>
              <a:rPr lang="en-US" dirty="0"/>
              <a:t>Threats to system and network</a:t>
            </a:r>
          </a:p>
          <a:p>
            <a:pPr lvl="1" algn="just"/>
            <a:r>
              <a:rPr lang="en-US" dirty="0"/>
              <a:t>Confidentiality, integrity, and availability</a:t>
            </a:r>
          </a:p>
          <a:p>
            <a:pPr lvl="1" algn="just"/>
            <a:r>
              <a:rPr lang="en-US" dirty="0"/>
              <a:t>Copyright protection</a:t>
            </a:r>
          </a:p>
          <a:p>
            <a:pPr lvl="1" algn="just"/>
            <a:r>
              <a:rPr lang="en-US" dirty="0"/>
              <a:t>System Defense technologies</a:t>
            </a:r>
          </a:p>
          <a:p>
            <a:pPr lvl="1" algn="just"/>
            <a:r>
              <a:rPr lang="en-US" dirty="0"/>
              <a:t>Data protection infrastructures (IDS)</a:t>
            </a:r>
          </a:p>
          <a:p>
            <a:pPr algn="just"/>
            <a:r>
              <a:rPr lang="en-US" dirty="0"/>
              <a:t>Energy efficiency</a:t>
            </a:r>
          </a:p>
          <a:p>
            <a:pPr lvl="1" algn="just"/>
            <a:r>
              <a:rPr lang="en-US" dirty="0"/>
              <a:t>Distributed power management</a:t>
            </a:r>
          </a:p>
          <a:p>
            <a:pPr lvl="1" algn="just"/>
            <a:r>
              <a:rPr lang="en-US" dirty="0"/>
              <a:t>Unused servers’ energy consumption</a:t>
            </a:r>
          </a:p>
          <a:p>
            <a:pPr lvl="1" algn="just"/>
            <a:r>
              <a:rPr lang="en-US" dirty="0"/>
              <a:t>Reducing energy in active servers</a:t>
            </a:r>
          </a:p>
        </p:txBody>
      </p:sp>
    </p:spTree>
    <p:extLst>
      <p:ext uri="{BB962C8B-B14F-4D97-AF65-F5344CB8AC3E}">
        <p14:creationId xmlns:p14="http://schemas.microsoft.com/office/powerpoint/2010/main" val="1426793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5B9A-D615-4D78-9D1C-511193340F0E}"/>
              </a:ext>
            </a:extLst>
          </p:cNvPr>
          <p:cNvSpPr>
            <a:spLocks noGrp="1"/>
          </p:cNvSpPr>
          <p:nvPr>
            <p:ph type="title"/>
          </p:nvPr>
        </p:nvSpPr>
        <p:spPr>
          <a:xfrm>
            <a:off x="-559191" y="2306470"/>
            <a:ext cx="10515600" cy="1325563"/>
          </a:xfrm>
        </p:spPr>
        <p:txBody>
          <a:bodyPr/>
          <a:lstStyle/>
          <a:p>
            <a:pPr algn="ctr"/>
            <a:r>
              <a:rPr lang="en-US" b="1" i="1" dirty="0"/>
              <a:t>That’s all for today!! </a:t>
            </a:r>
          </a:p>
        </p:txBody>
      </p:sp>
    </p:spTree>
    <p:extLst>
      <p:ext uri="{BB962C8B-B14F-4D97-AF65-F5344CB8AC3E}">
        <p14:creationId xmlns:p14="http://schemas.microsoft.com/office/powerpoint/2010/main" val="19908099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me1">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85C8782E-8FD1-4DD5-B1D4-2219BDDE01B3}" vid="{796131F4-60EA-4B71-AF3A-7C794936D88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535</TotalTime>
  <Words>1698</Words>
  <Application>Microsoft Office PowerPoint</Application>
  <PresentationFormat>On-screen Show (4:3)</PresentationFormat>
  <Paragraphs>194</Paragraphs>
  <Slides>23</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23</vt:i4>
      </vt:variant>
    </vt:vector>
  </HeadingPairs>
  <TitlesOfParts>
    <vt:vector size="33" baseType="lpstr">
      <vt:lpstr>Arial</vt:lpstr>
      <vt:lpstr>Calibri</vt:lpstr>
      <vt:lpstr>Calibri Light</vt:lpstr>
      <vt:lpstr>Comic Sans MS</vt:lpstr>
      <vt:lpstr>NewBaskerville-Roman</vt:lpstr>
      <vt:lpstr>Times New Roman</vt:lpstr>
      <vt:lpstr>Univers Com 55</vt:lpstr>
      <vt:lpstr>Wingdings</vt:lpstr>
      <vt:lpstr>Office Theme</vt:lpstr>
      <vt:lpstr>Theme1</vt:lpstr>
      <vt:lpstr>Parallel &amp; Distributed Computing Lecture 6: Parallel Programming Models</vt:lpstr>
      <vt:lpstr>How does parallel computing works?</vt:lpstr>
      <vt:lpstr>Example for Sample Application</vt:lpstr>
      <vt:lpstr>Complexity</vt:lpstr>
      <vt:lpstr>Portability</vt:lpstr>
      <vt:lpstr>Resource Requirements</vt:lpstr>
      <vt:lpstr>Scalability</vt:lpstr>
      <vt:lpstr>Parallel Computers</vt:lpstr>
      <vt:lpstr>Parallel Programing Models</vt:lpstr>
      <vt:lpstr>Shared Memory Architecture</vt:lpstr>
      <vt:lpstr>Threads Model</vt:lpstr>
      <vt:lpstr>OpenMP</vt:lpstr>
      <vt:lpstr>Distributed Memory Architecture</vt:lpstr>
      <vt:lpstr>Message Passing Interface</vt:lpstr>
      <vt:lpstr>Hybrid Model</vt:lpstr>
      <vt:lpstr>Hybrid Model</vt:lpstr>
      <vt:lpstr>High level programming model</vt:lpstr>
      <vt:lpstr>SPMD</vt:lpstr>
      <vt:lpstr>MPMD</vt:lpstr>
      <vt:lpstr>Parallel and Distributed Programming Models</vt:lpstr>
      <vt:lpstr>Performance, Security and Energy Efficiency</vt:lpstr>
      <vt:lpstr>Performance, Security and Energy Efficiency</vt:lpstr>
      <vt:lpstr>That’s all for today!!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Mateen Yaqoob</dc:creator>
  <cp:lastModifiedBy>Moorche</cp:lastModifiedBy>
  <cp:revision>74</cp:revision>
  <dcterms:created xsi:type="dcterms:W3CDTF">2020-09-03T08:42:31Z</dcterms:created>
  <dcterms:modified xsi:type="dcterms:W3CDTF">2023-10-08T08:13:33Z</dcterms:modified>
</cp:coreProperties>
</file>