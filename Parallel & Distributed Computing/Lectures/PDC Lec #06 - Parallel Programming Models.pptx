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  <p:sldMasterId id="2147483679" r:id="rId2"/>
  </p:sldMasterIdLst>
  <p:notesMasterIdLst>
    <p:notesMasterId r:id="rId23"/>
  </p:notesMasterIdLst>
  <p:sldIdLst>
    <p:sldId id="338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64" r:id="rId11"/>
    <p:sldId id="365" r:id="rId12"/>
    <p:sldId id="355" r:id="rId13"/>
    <p:sldId id="356" r:id="rId14"/>
    <p:sldId id="357" r:id="rId15"/>
    <p:sldId id="362" r:id="rId16"/>
    <p:sldId id="363" r:id="rId17"/>
    <p:sldId id="358" r:id="rId18"/>
    <p:sldId id="359" r:id="rId19"/>
    <p:sldId id="360" r:id="rId20"/>
    <p:sldId id="361" r:id="rId21"/>
    <p:sldId id="32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709" autoAdjust="0"/>
  </p:normalViewPr>
  <p:slideViewPr>
    <p:cSldViewPr snapToGrid="0">
      <p:cViewPr varScale="1">
        <p:scale>
          <a:sx n="63" d="100"/>
          <a:sy n="63" d="100"/>
        </p:scale>
        <p:origin x="15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0-09T07:09:30.73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2061 13941 0,'0'-40'0,"-40"40"94,1 0-47,-1 0-16,0 0 0,1-39-15,-1 39-1,1 0 1,-1 0-16,0 0 16,1 0-1,-1 0 1,0 0 0,1 0-1,-40 39 16,39 1-15,0-1-16,1-39 16,-1 80-1,0-41 1,1 40-16,-1 1 16,1-1-1,-1 0 1,40 0-1,0 1-15,0-1 16,-40-79 0,40 79-1,0-39 1,0-1 15,0 1-15,0-1-16,0 1 15,0 0 17,0-1-17,40 1 32,0-1-16,-1-39-15,1 40 0,-40 0-1,39-40 1,1 39 0,0-39-1,-1 0 16,1 0-15,0 0 0,-1 0-1,1 0 1,-1 0-16,1 0 16,0 0 15,-1 0 31,1 0-46,0 0 0,-1 0 15,1 0-16,-1 0 1,1 0 15,0-39-15,-1-1 15,1 40-31,-40 40 188,0-1-188,0 1 15,0-1 1,0 1 0,0 0-16,-40-40 15,40 39 1,0 1 46,-39-40-15,39 39-31,0 1-1</inkml:trace>
  <inkml:trace contextRef="#ctx0" brushRef="#br0" timeOffset="1063.12">1665 14852 0,'0'39'156,"39"1"-140,1 0-1,0-1-15,-1 1 16,1-40 15,-1 39-15,1-39 62,-40 40-62,40-40-1,-40 40 16,39-1 1</inkml:trace>
  <inkml:trace contextRef="#ctx0" brushRef="#br0" timeOffset="7357.63">4756 16832 0,'39'0'187,"40"0"-187,-39 0 16,0 0-1,39 0 1,-39 0 0,39 0-16,-40 0 15,41 0 1,-41 0 0,41 0-16,-41 0 15,40 0 1,-39 0-1,0 0 1,39 0-16,0 0 16,0 0-1,1-40 1,-1-39-16,0 79 16,0-79-16,-39 79 15,39-79 1,-39 39-1,39-79 1,40 80-16,-40-40 16,-39 39-1,39 0 1,-79 1 0,79-1-16,-39-39 15,0 39 1,39 1-1,-39-41-15,-1 41 16,-39-1 0,40 40-1,-40-39-15,0-1 16,0 0 0,0 1 15,0-40-16,0 39 17,0-39-32,-40 0 31,1 79-15,-1-40-1,0 0-15,1 40 16,-41-79-1,41 79 1,-1-39 0,1-1-16,-41 0 15,80 1 1,-39-1 0,-1 40-16,0-39 15,-39 39 1,40-40-1,-41 0 1,41 1 15,-1 39 1,0 0-17,1 0 63</inkml:trace>
  <inkml:trace contextRef="#ctx0" brushRef="#br0" timeOffset="9285.64">6499 14495 0,'0'40'297,"0"0"-265,-40 39-1,1-79-31,-1 79 15,1-79 1,-1 40 0,40-1-16,-40 1 15,1-40 1,39 39 312,0 1-250,-40 0-47,0-40 1,40 39-17,40-39 204,0 0-203,-1 0-16,1 40 15,-40-1 1,40-39 0,-1 40-1,-39 0 1,40-1-1,-40 1 17</inkml:trace>
  <inkml:trace contextRef="#ctx0" brushRef="#br0" timeOffset="37573.71">2457 14575 0,'0'39'250,"0"80"-234,0-40-1,0 40 1,0 0-16,0 0 16,0-1-1,0-38 1,0-41 0,0 1-1,0-1 1,0 1 31,0 0-16,40-40 110</inkml:trace>
  <inkml:trace contextRef="#ctx0" brushRef="#br0" timeOffset="41153.08">2418 14456 0,'39'0'156,"1"0"-140,39 0-1,0 0-15,80 0 16,39 0 0,0 0-1,40 39 1,0-39-16,39 0 15,0 0 1,-78 0 0,-1 40-16,-79-40 15,-1 0 1,-38 0 0,-1 0-1,0 0-15,0 0 16,1 0-1,-1 0 1,-39 0-16,-1 0 16,1 0-1,39 0 1,-39 0-16,-1 0 16,1 0-1,0 0 1,-1 0-1,1 0 110,-1 0-93,1 0-17,0 0 1,-1 0 31,-39 40 187,0-1-234,0 1 16,0 39-1,0-39 1,0 78 0,0-38-16,0-1 15,0-40 1,0 1 0,0 79-1,40-119-15,-40 39 16,0 41-1,0-41 1,0 1 0,0-1-1,0 1 126,0 0-94,0-1 47,-40-39 109,-39 0-203,0 0 15,-40 0 1,0 0 0,0 0-1,0 0-15,0 0 16,40 0-1,0 40 1,0-40-16,-40 0 16,79 0-1,1 0 1,-1 0-16,-79 39 16,79-39-1,1 0 1,-40 0-16,-1 0 15,41 0 1,-1 0 0,-39 40-1,39-40 1,0 40 0,1-40-16,-40 0 15,39 0 1,0 0-1,-39 0-15,39 0 16,1 0 0,-1 0-1,-39 0-15,39 0 16,-39 0 15,39 0-31,1 0 16,-40 0-1,39 0 17,-39 0-32,39 0 15,0 0 1,1 0 0,-1 0-16,1 0 15,-1 0 16,0 0-31,1 0 16,-1 0 0,0 0-1,1 0 1,-1 0-16,1 0 31,-1 0 16,0 0-16,40-40 47,0 0 32,0 1-63,0-1-47,-39 1 15,39-1 17,-40 40-17,40-40 1</inkml:trace>
  <inkml:trace contextRef="#ctx0" brushRef="#br0" timeOffset="43758.55">16722 14891 0,'0'40'187,"0"0"-171,0-1 0,40 40-1,0 40-15,-1-40 16,1 1-1,-40-41 1,0 1 0,0-119 93,0 39-93,0-39-16,-79-40 15,79 0 1,-80-39 0,41 79-16,39-1 15,0 1 1,0 0-1,0 39-15,0 1 16,0-1 15,39 80 94,1 39-109,79-39 0,-79-1-1,39 1-15,0 39 16,-39 0-1,39-39 1,0-1 0,-79 41-16,79-1 15,-39-40 17,-40 1-17,0 0-15,40-40 16,-40 39 15,0-78 94</inkml:trace>
  <inkml:trace contextRef="#ctx0" brushRef="#br0" timeOffset="44545.04">16841 14971 0,'40'-40'93,"0"40"-77,-1 0-16,1 0 16,-1 0-1,1 0 1,-40-40 31</inkml:trace>
  <inkml:trace contextRef="#ctx0" brushRef="#br0" timeOffset="46171.51">17039 14376 0,'-39'-39'0,"39"-1"31,-40 1-15,1-1 15,-1 0-15,0 1-1,-39-1 1,39 40-1,1 0 1,-1-39 0,1 39-1,-1 0 1,0 0 0,1 0 15,-1 0-16,0 0-15,1 39 32,-1 1-17,1-1-15,-1 1 32,0 39-17,40-39-15,0-1 16,-39 1-1,39 0 1,0-1 0,0 1-16,0 0 15,0-1 1,0 1 0,0-1-16,0 1 15,0 0 1,0-1-1,0 1 1,0-1 0,39 1-16,1 0 15,-40-1 1,40 1 0,-40-1-1,39 1-15,1-40 16,39 79-1,0-39 1,-39-1 0,39 1 15,-39-40-15,-1 40-1,1-1 1,39-39-16,-39 40 31,39-40-15,-39 0-1,79 39 1,-80-39 0,1 0-1,39 0 1,0 0-16,1 0 15,-41 0-15,1 0 16,0 0 0,-40-39 46,0-1-46,0-39-16,0 39 15,0-39 1,0-40 0,0 40-16,0 0 15,0 0 1,-40 0 0,0-1-1,-39 1-15,0 40 16,39-1-1,1 0 1,-1 40 0</inkml:trace>
  <inkml:trace contextRef="#ctx0" brushRef="#br0" timeOffset="48147.23">12284 13466 0,'0'39'141,"0"1"-126,0-1-15,40 80 16,0-79 15,-80-80 94,0-39-125,-39-79 16,0 39-1,39 40 1,40-1-16,-39 1 16,39 40-1,0-1 1,0 0-1,79 1 32,0-41-47,40 80 16,39-39 0,-78 39-1,39 0 1,-80 0-16,1 0 15,-40 39 17,0 41-17,0-1 1,0 0 0,-40 0-1,1-39-15,39 0 16,-40-40-1,0 0 17,80 0 108,0 0-124,-1 0-16,1 0 16,39 0 15,-39 0-16,-1 39 17,1-39-17,-40 40-15,0-1 16,0 1 0,0 39-1,0 0-15,0-39 16,0 0-1,-40-1 1,1-39-16,-40 0 16,-40 40-1,0-40 1,39 0-16,-38 0 16,38 0 15,1 0-31,39 0 15</inkml:trace>
  <inkml:trace contextRef="#ctx0" brushRef="#br0" timeOffset="49715.75">12839 12396 0,'0'-39'0,"-39"39"16,-1 0-1,0 0 1,-39 0 15,39 0-15,1 0-16,-1 0 15,0 0 1,1 0 15,-1 0-31,-39 39 16,39 1-1,1-1 1,-1 41 0,-39-41-16,39 40 15,1-39 1,39 0 0,-40-1-16,0 1 15,40 39 1,-39-39-1,-1-1 1,40 41-16,0-41 16,-40 1-1,40 39 1,0-39 0,0 39-16,0 0 15,0-39 1,0 39-1,0-40-15,0 41 16,0-41 0,0 40-1,0-39 1,0 39-16,80 0 16,-41-39-1,1 0 1,0-1-16,39 1 15,0-1 1,0 41 0,1-80-1,-1 39-15,0 1 16,0-40 0,40 0-1,0 0-15,-40 0 16,40 0-1,-39 0 1,-1 0 0,40 0-16,-80 0 15,1 0 1,0 0 0,-40-40-1,0-39 16,0 0-31,0-40 16,0 40 0,39-80-1,-39 80-15,40 0 16,-40 0 0,0-40-1,0 79-15,0-39 16,-40-40-1,40 40 1,-119-40 0,80 40-16,-80 0 15,119 39 1,-40 40 0</inkml:trace>
  <inkml:trace contextRef="#ctx0" brushRef="#br0" timeOffset="52933.77">20368 17466 0,'40'0'203,"-40"-40"-63,39 80 267,1-1-392,-40 40-15,39-39 31,-39 0 1,40-1 15,-40 1-32,40-40 16</inkml:trace>
  <inkml:trace contextRef="#ctx0" brushRef="#br0" timeOffset="55017.03">20289 17426 0,'0'-40'47,"0"1"-31,0-1 0,0 1-1,39-1 1,1 0-1,0 1 1,-1 39 0,1-40-1,39 40 235,-39 0-218,39 0-17,-39 0 1,-40 40 78,0-1-79,0 1 188,0 0-171,0-1-1,-40-39-16,40 40 1,0-1 0,-40-39 46,40 40-46,-39-40 62,78 0 63,1 0-110,0 0-16,-1 0 1,1 0 0,-1 0-1,1 0 1,0 0 0,-1 0-1,-39 40 16,0-1 32,0 1-32,0-1 0,-39-39 1,-1 80-17,-79-41-15,40 41 16,-40-41 0,40 1-1,0-1-15</inkml:trace>
  <inkml:trace contextRef="#ctx0" brushRef="#br0" timeOffset="56476.28">18149 13980 0,'0'-39'31,"-40"39"-15,40-40-16,0 1 16,0-1 15,40 119 110,0 0-126,39 1 1,0 38-16,40 41 15,-79-1 1,39-39 0,-79-79-1</inkml:trace>
  <inkml:trace contextRef="#ctx0" brushRef="#br0" timeOffset="57490.93">18268 14773 0,'39'0'171,"1"0"-171,39-40 16,1 0 0,-41 1-1,1 39 1,-1-40 0,1 1 46,0-1-15,-1 0-31</inkml:trace>
  <inkml:trace contextRef="#ctx0" brushRef="#br0" timeOffset="58388.78">17713 13941 0,'0'-40'47,"0"1"31,40 39-62,-1-80 0,41 41-1,-1-1 1,-40 1 15,1 39-15,0 0-1,-40-40 32</inkml:trace>
  <inkml:trace contextRef="#ctx0" brushRef="#br0" timeOffset="59647.1">19060 14258 0,'-39'0'31,"-1"-80"0,40 1-15,0 40 0,0-1-16,0 0 15,0 1 1,79-1 0,40 1-1,0 39 1,-79 0-1,-1 0 1,1 0-16,-40 39 47,0 1-47,0 39 16,0 0-1,0 0 1,0 1-1,-40-1 1,1 40 0,-1 0-16,0-1 15,-39-38 1,79-1 0,-39 0-16,-1 0 15,40-39 1,0-1-1,-40-39 1,40-79 78,0 0-79,0 39-15,0-39 16,0 0 0,40 39-1,0 1-15,-1 39 47,40 0-31,-39 0 15,0 0-15,-1 0-16,1 0 15,0 0 1,-1 0 0,1 39-1</inkml:trace>
  <inkml:trace contextRef="#ctx0" brushRef="#br0" timeOffset="60647.5">22112 16753 0,'0'-40'16,"0"80"140,39-1-156,40 1 16,-39 118-1,39-78 1,-39-41-16,0 40 16,-40-39 15</inkml:trace>
  <inkml:trace contextRef="#ctx0" brushRef="#br0" timeOffset="61491.59">22310 17426 0,'39'0'156,"41"-79"-140,38 39-1,1-39 1,0 39-16,-40 1 15,-39-1 17</inkml:trace>
  <inkml:trace contextRef="#ctx0" brushRef="#br0" timeOffset="62226.28">21596 16555 0,'40'0'78,"0"-40"-78,39 1 16,0-1 0,40 0-1,-79 1 1,-1 39-16,-39-40 15,0 1 17</inkml:trace>
  <inkml:trace contextRef="#ctx0" brushRef="#br0" timeOffset="63532.31">22904 16753 0,'0'-40'32,"0"1"15,79-1-32,-39 40-15,39 0 16,0-40-1,1 1 1,-41 39-16,1 0 16,-40 39 46,0 1-62,0 39 16,0-39-1,-40-1 1,40 1-16,0 0 31,-39-40-15,78 0 125,1 0-126,0 0 1,-1 0-16,1 0 15,-1 0 1,1 0 0,0 0-1,-1 0 17,1 0-17,-40 39 48,0 1-63,0 39 15,0-39 17,0-1-17,-40 1-15,-39-40 16,39 0-1</inkml:trace>
  <inkml:trace contextRef="#ctx0" brushRef="#br0" timeOffset="64930.34">9788 13466 0,'0'-40'0,"-40"0"31,40 80 79,40 39-95,39 80-15,0-41 16,-39-38-1,0-1 1,-1-40 0,-39 1-16</inkml:trace>
  <inkml:trace contextRef="#ctx0" brushRef="#br0" timeOffset="65688.6">9828 14337 0,'39'0'141,"40"-40"-141,40 1 16,-39-41-1,-1 1 1,40 40-16,-40 39 15,-39-80 1,-1 80 0,-78 0 62</inkml:trace>
  <inkml:trace contextRef="#ctx0" brushRef="#br0" timeOffset="66432.14">9471 13584 0,'0'-39'78,"40"-1"-47,-1 1-15,40-1 0,1 0-1,-41 40-15,41-79 16,-41 40-1,1 39 1</inkml:trace>
  <inkml:trace contextRef="#ctx0" brushRef="#br0" timeOffset="67479.34">10580 13584 0,'0'40'94,"80"39"-94,-41 40 16,41-40-1,-41-39 1,1 39 0,-40-39-1</inkml:trace>
  <inkml:trace contextRef="#ctx0" brushRef="#br0" timeOffset="102354.36">13354 14416 0,'0'40'250,"0"-1"-234,0 1-1,0 39 1,0-39-1,0 39 1,0 0 0,0-39-1,0-1 1,0 41-16,0-41 16,40 1-1,-40 39 1,0-39-16,0-1 15,0 1 17,40 39-17,-1-79 1,-39 40 0,40-40-1,-40 39 1,79-39-1,-39 40 1,-1-40 0,1 39-1,39-39 1,-39 0 0,-40 40-1,79-40-15,-39 40 16,-1-40-1,1 0 1,0 0-16,-1 0 16,1 0-1,-1 0 1,1 0-16,79 0 16,-40 0-1,0 0-15,1 0 16,-1 0-1,0 0-15,-39 0 16,39 0 0,-39 0-1,39-40 1,0 40-16,-39-40 16,39 1-1,0 39 1,1-40-16,-41 40 15,1-39 1,39 39 0,-39-40-1,-1 40-15,1-40 32,0 40-17,-1-39 1,1-1-1,-1 40 1,1 0 0,-40-39-16,40 39 62,-1 0-31,41-80-15,-41 80 0,1-39-1,-1 39 95,-39-40-95,40 1-15,-40-1 78,0 80 126,-40-1-189,40 40 1,-39-39-1,-1 0 1,1 78-16,39-78 16,-40 39-1,0-39 1,40-1 0,0 1-1</inkml:trace>
  <inkml:trace contextRef="#ctx0" brushRef="#br0" timeOffset="103287.31">15534 15050 0,'-40'-40'16,"40"1"15,-40 39-15,40-40-1,40 40 142,39 0-142,1 0-15,-41 0 16,40 0-1,1 0 1,-41 0 0,1 0-1,39 0 95,-39 0-95,79-40-15</inkml:trace>
  <inkml:trace contextRef="#ctx0" brushRef="#br0" timeOffset="104653.29">11333 15485 0,'0'-39'15,"0"-1"17,0 1-32,0-1 15,-39 0 1,-41 1 0,1 39-1,0 0-15,0 0 16,-1 0-1,1 0 1,40 0 0,-1 0-16,0 0 31,40 79-15,-39-79-16,39 40 15,0 39 1,0 0-1,0-39 1,0-1-16,0 80 16,39-119-1,-39 40 1,80 39-16,-41-40 16,40 1-1,-39 0 1,0-40-16,39 39 15,-39-39 1,-40 40 0,79-40-1,-40 79-15,41-79 16,-41 79 0,1-79-1,39 80 1,-39-41-16,39 1 15,0-1 1</inkml:trace>
  <inkml:trace contextRef="#ctx0" brushRef="#br0" timeOffset="105347.68">11016 16396 0,'0'-39'46,"40"39"-14,0-40-17,-1 1 1,80-80-16,-40 79 16,1-39-1,-1 0 1,40-1-16,-119 41 15,39 39 1</inkml:trace>
  <inkml:trace contextRef="#ctx0" brushRef="#br0" timeOffset="105898.43">11452 15208 0,'0'40'78,"40"39"-46,39 0-32,40 0 15,0 119 1,-40-118-1,0 38 1,-39-118-16,-40 40 16</inkml:trace>
  <inkml:trace contextRef="#ctx0" brushRef="#br0" timeOffset="106810.77">12086 15446 0,'-39'0'32,"-1"0"-1,40 39 47,0 1-62,0 39-1,0 40 1,40-79-1,-1-1-15,1 1 16,-1-1 0,1-39-16,0 0 15,-1 0 1,41 0 0,-41 0-1,-39-39 1,40 39-1,-40-40 32,0-39-31,-40 39-16,-39-39 16,0-40-1,-1 40 1,41 40-16,-1-41 15</inkml:trace>
  <inkml:trace contextRef="#ctx0" brushRef="#br0" timeOffset="108088.43">12284 15248 0,'40'79'140,"39"0"-124,0 0-16,-39 1 16,79-1-1,-119-40 1,40-39-1,-40-39 79,0-40-94,0 39 16,-40-39-1,40-40 1,0 79-16,-40 40 16,40-39-1,80 118 95,-1-79-95,0 79-15,0-39 16,1-1 0,-1 1-1,-39-40 1,-1 0-1,-39-40 64,-39-39-64,-1-40 1,0 40-16,1 0 15,-41 39 1,80-39 0,-39 79-16,-1-39 15</inkml:trace>
  <inkml:trace contextRef="#ctx0" brushRef="#br1" timeOffset="117464.4">17238 15644 0,'0'-40'94,"0"80"203,0-1-250,0 1-32,0 0 16,-40-1-15,40 1 15,0-1 1,0 1-17,0 0-15,0-1 31,0 1-15,0 0 0,0-1 15,0 1-15,0-1-16,0 1 31,0 0-16,0 39 17,0-40-32,0 1 15,40 39 1,-40-39 0,0-1-16,0 1 15,39 0 1,-39 39-1,40-79-15,-40 39 16,0 1 0,39 0-1,-39-1-15,40 1 32,0-1-17,-40 1-15,39-40 16,-39 79-1,40-39-15,0-40 16,-1 79 0,1 40-1,79-40-15,-40 40 16,40 0 0,0 0-1,39-40-15,-79 0 16,1-39-1,-1-1 1,40 1 0,-40-40-16,40 39 15,-40 1 1,80-40 0,-80 0-16,40 0 15,-40 0 1,0 0-1,40 0 1,-79 0-16,39 0 16,0 0-1,1 0 1,-1 0-16,40 0 16,-40-40-1,0 40 1,0-39-16,1-1 15,78 1 1,-79-1 0,40 0-1,-39 1-15,-1-1 16,0 1 0,-39 39-1,-1 0-15,41-40 16,-1 0-1,0 1 1,0 39 0,1-40-16,-1 0 15,-39 40 1,-1 0 0,-39-39 46,40-1 157,-1 40-219,1 0 15,0 0 32,-40 40 156,0 39-187,0-39 0,-40 39-1,40 0-15,-40 40 16,40-79 15,0-120 79</inkml:trace>
  <inkml:trace contextRef="#ctx0" brushRef="#br1" timeOffset="121842.11">22983 16238 0,'0'-40'141,"-39"1"-126,-1-40 1,-39-1-16,0 1 16,39 0-1,-39 0 1,39 39-16,0 0 16,1 40-1,-1-79 1,-39 40-16,39-41 15,-39 41 1,0-40 0,0-1-16,-1 41 15,41-40 1,-41 39 0,-38-39-16,-1 79 31,39-79-16,1 39-15,0 0 16,0 1 0,-1-1-1,1 40-15,0 0 16,0-39 0,-40-1-1,39 0-15,1 40 16,-40-39-1,40-1 1,-40 40-16,40 0 16,-40 0-1,40-39 1,39 39-16,1 0 16,-41 0-1,41 0 16,-1 0-31,0 0 16,1 0 0,-1 0-1,-39 39 17,0 1-17,39-1-15,-79-39 16,40 0-1,39 40 1,1 0 0,-41-40-16,80 39 15,-79-39 1,40 40 0,-1-40-16,0 0 15,1 39 1,-1-39-1,40 40 1,-40-40-16,1 0 16,-1 40-1,1-40 1,-1 39 0,0-39-16,40 40 15,-39-40 1,-1 0-1</inkml:trace>
  <inkml:trace contextRef="#ctx0" brushRef="#br1" timeOffset="122997.52">18704 14456 0,'0'-40'16,"0"119"124,0-39-124,0 39-16,-80 40 16,41 39-1,-1-78 1,-39-1-16,79-40 15,0-78 64,0-1-33,40 80 111,-1-1-142,1 1 1,39 39 0,0-39-1,-39-40 48,0 0-48,-1 39 1,1-39 0,-1 40 15</inkml:trace>
  <inkml:trace contextRef="#ctx0" brushRef="#br1" timeOffset="124687.53">23776 15802 0,'-119'-39'16,"0"-80"0,0 79-1,-39-39-15,39 39 16,40 40 0,-40-39-1,0-1-15,40 40 16,-40-39-1,0 39 1,40 0 0,-40 0-16,0 79 15,40-40 1,-1 41 0,1-41-1,0 40-15,0 1 16,39-41-1,-39 40 1,39 40-16,-39-39 16,39-41-1,40 40 1,-39-39 0,39 39-16,-40 0 15,40 40 1,0-40-1,-40 40 1,40-40-16,0 1 16,0-1-1,0 0 1,0 0-16,0 0 16,0 1-1,40-41-15,0 80 16,39-79-1,-40 39 1,41 0-16,-41-39 16,41 39-1,-1-39 1,0 39 0,0-79-16,40 79 15,40-39 1,-80-40-1,40 0 1,39 0-16,1 0 16,-40 0-1,0 0 1,-1 0-16,81 0 16,-41 0-1,40-80 1,-79 1-1,0 40-15,0-80 16,-40 39 0,0 1-1,1-40 1,-1 40-16,0 40 16,-79-41-1,40 80 1,-40-39-16,0-1 31,0-39-15,0 0-16,0 0 15,0-1 1,0 1 0,0-40-1,0 1-15,-40 38 16,0-38-1,-78-41 1,78 120 0,-39-1-16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F9EE5-29F7-4936-BB9E-C496A010A518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85E8A-A197-49EA-96E2-2AD1E68BD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4F17-C843-4DBB-B859-C77EA1F01CA2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47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111C-B94E-42B8-B445-5EB7C98BDEFA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58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5BEB-004C-45AF-9D38-AF2A5B6958D8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2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3847-5007-47F7-9DE7-1A8B40CDBD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3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8C468-910D-4313-A10C-FCB0AD170BFD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1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082A-79BD-433F-9B5F-8BCD4EAA65B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30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E931-F403-4304-9F63-1E06B9CEC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9AFF-1278-442B-856D-5DA176929955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1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6CE0-495C-4667-B550-99C326EA790F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1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B1E5B-267A-4BE7-9081-5F0AACC5A54F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3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DB41-B124-4EA0-B637-71E64E804772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85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697DB89-CDD6-472D-8A6C-DAA95BB1FA3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D1A2CC5-F66F-4FF1-9C12-E4C07F54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PK" altLang="en-PK" sz="24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94194141-4B13-4C0B-9E9E-4B6DF58F22B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PK" altLang="en-PK" sz="24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4CCC10C4-1070-49FF-9EC0-FC19F4D37B5A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95304FCF-25DE-4BD8-A83B-51D9A6ECE6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altLang="en-PK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16389DA0-8CD8-4422-9A8F-A93463A81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altLang="en-PK" sz="1800" b="0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1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144541-1081-4B27-9E4B-DD51FC1DCE6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0B4F17-C843-4DBB-B859-C77EA1F01CA2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7755DD8-7CD3-439F-A290-5D547A54A7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37CD04-9D5B-417F-A66B-C38A4D2D52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2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769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D41561C-CEBF-48F4-9E28-C4482E17CA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6111C-B94E-42B8-B445-5EB7C98BDEFA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5660E3-240B-41E3-888C-1B88C6F55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9180715-2C5B-4D99-B35D-5CB9C8F56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394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AE7B7F9-9B63-4C99-B240-FC12E76B5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EB5BEB-004C-45AF-9D38-AF2A5B6958D8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DBDB97-8B17-4504-8ADA-64F907DF6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31478AB-4749-4D3C-8589-3B6D14C30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904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2362204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4" y="2362204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8D3B876-73DB-429F-B4A5-ACDB21507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F3847-5007-47F7-9DE7-1A8B40CDBD7A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30567E-7D9B-4A0A-8C19-E932DA0EC6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332F7B6-D444-4E55-96A6-522A403CF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735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3D9AB9F-2A0C-4FBB-B382-9C21E1687A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38C468-910D-4313-A10C-FCB0AD170BFD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A914F3E-D7BB-499F-8AAC-D29CA4F045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F3BCB4-F714-4117-802E-711CF7676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1300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582D231-FDF6-426E-A616-698440509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B9082A-79BD-433F-9B5F-8BCD4EAA65BE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EDCA115-9E3C-40D4-8912-F4E20DB6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499D514-9105-4111-8B91-F8810A02C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99158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939D947-A124-40F1-A1CD-BD82F65EC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A1E931-F403-4304-9F63-1E06B9CECA24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EDE26CF-7FFF-494A-9127-8D239D271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08D1E9E-3392-4D0F-B80B-A17511304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3883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3958604-85A8-4A4E-97A7-ABA204D8D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99AFF-1278-442B-856D-5DA176929955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4B8F9BB-0FC1-41C7-ADBB-7B2886ABC1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CABE9D4-E092-4117-9D3B-3D8D4681F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162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75601F-C8A4-4A90-80B4-5F52090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896CE0-495C-4667-B550-99C326EA790F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2DF7F1E-3D7B-4FB8-A9F7-B9D427D05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AFB0A65-4C06-4F69-91E5-B374EC5B4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0748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4D6AB3-0BE0-4AE2-A565-F6DB7E10D8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0B1E5B-267A-4BE7-9081-5F0AACC5A54F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84E88F6-7B9B-48EF-88D1-8B8546270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AFD07A6-C54B-4303-8783-79A5AA51D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101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4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4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454C69-05BB-4376-BF5B-F23F07E40E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BFDB41-B124-4EA0-B637-71E64E804772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BE95B74-3904-4687-A858-1857057DFA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1F3940-CBCF-4E25-ACC0-395A595B0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1580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2" y="2362204"/>
            <a:ext cx="7693025" cy="372427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77D68F-D4CE-414A-BDA9-E33AB488C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9712A5-15C0-46B1-B4C5-317166927FB6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1A1324-E8FC-418E-94C0-85F2BD7D6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9B9D749-3CF9-4C82-90AE-BA2A543AF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58667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712A5-15C0-46B1-B4C5-317166927FB6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04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B2A3329E-0904-47A4-ACB5-5B91293A5A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0FF77DB7-AD29-49C8-93AA-EA0184FC3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D438BB5E-926C-4E0C-9E77-FE8E0784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altLang="en-PK" sz="1800" b="0" i="0" u="none" strike="noStrike" kern="1200" cap="none" spc="0" normalizeH="0" baseline="0" noProof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95302D45-DF44-4885-8F20-439784359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165704AF-ADD4-4E42-9951-9885E2AF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AD015C4F-F9D0-48B2-8315-4799ABF1D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altLang="en-PK" sz="1800" b="0" i="0" u="none" strike="noStrike" kern="1200" cap="none" spc="0" normalizeH="0" baseline="0" noProof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7C227202-0AB4-426A-A6CB-F2C45BDC7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altLang="en-PK" sz="1800" b="0" i="0" u="none" strike="noStrike" kern="1200" cap="none" spc="0" normalizeH="0" baseline="0" noProof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A90FCFEC-9F9D-4254-8D92-7B25B6EE3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398F237-95A9-4BFF-B4A1-C78F7FF6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2" y="2362204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1D379FF3-7792-4E0A-B32B-CDBBF4ABCF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2" y="6248404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9712A5-15C0-46B1-B4C5-317166927FB6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5F8406A0-86DE-4CF8-BE66-1FC1EC81C1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4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08A31F9-D76D-43DC-8BDE-F2140B37C3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40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2D027-24A8-4AF6-867F-FA52C9C9E1D1}" type="slidenum">
              <a:rPr kumimoji="0" lang="en-US" sz="2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05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Farhad.Muhammad@numl.edu.pk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8AC916-7461-472A-83D2-C4792120EBB9}"/>
              </a:ext>
            </a:extLst>
          </p:cNvPr>
          <p:cNvSpPr txBox="1"/>
          <p:nvPr/>
        </p:nvSpPr>
        <p:spPr>
          <a:xfrm>
            <a:off x="4038278" y="5819024"/>
            <a:ext cx="5528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66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NUML, Islamabad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Farhad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M.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Riaz</a:t>
            </a:r>
            <a:endParaRPr lang="en-US" b="1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hlinkClick r:id="rId2"/>
              </a:rPr>
              <a:t>Farhad.Muhammad@numl.edu.pk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r"/>
            <a:r>
              <a:rPr lang="en-US" sz="2800" dirty="0"/>
              <a:t>Parallel &amp; Distributed Computing</a:t>
            </a:r>
            <a:br>
              <a:rPr lang="en-US" sz="2800" dirty="0"/>
            </a:br>
            <a:r>
              <a:rPr lang="en-US" sz="2800" dirty="0"/>
              <a:t>Lecture 6:</a:t>
            </a:r>
            <a:br>
              <a:rPr lang="en-US" sz="2800" dirty="0"/>
            </a:br>
            <a:r>
              <a:rPr lang="en-US" sz="2800" dirty="0">
                <a:latin typeface="+mn-lt"/>
                <a:cs typeface="Times New Roman" panose="02020603050405020304" pitchFamily="18" charset="0"/>
              </a:rPr>
              <a:t>Parallel Programming Models</a:t>
            </a:r>
            <a:endParaRPr lang="en-US" sz="2800" dirty="0">
              <a:latin typeface="+mn-lt"/>
            </a:endParaRPr>
          </a:p>
        </p:txBody>
      </p:sp>
      <p:pic>
        <p:nvPicPr>
          <p:cNvPr id="8" name="Picture 2" descr="NUML Logo PNG Vector (EPS) Free Download">
            <a:extLst>
              <a:ext uri="{FF2B5EF4-FFF2-40B4-BE49-F238E27FC236}">
                <a16:creationId xmlns:a16="http://schemas.microsoft.com/office/drawing/2014/main" id="{2D3C8850-28E9-44A6-8D9F-53E817636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44" y="1050131"/>
            <a:ext cx="1927513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88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 level programming model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Single Program Multiple Data (SPMD)</a:t>
            </a:r>
          </a:p>
          <a:p>
            <a:pPr algn="just"/>
            <a:r>
              <a:rPr lang="en-US" dirty="0"/>
              <a:t>Multiple Program Multiple Data (MPMD)</a:t>
            </a:r>
          </a:p>
        </p:txBody>
      </p:sp>
    </p:spTree>
    <p:extLst>
      <p:ext uri="{BB962C8B-B14F-4D97-AF65-F5344CB8AC3E}">
        <p14:creationId xmlns:p14="http://schemas.microsoft.com/office/powerpoint/2010/main" val="191827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SPMD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0891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Built upon any combination of the previously mentioned parallel programming models</a:t>
            </a:r>
          </a:p>
          <a:p>
            <a:pPr algn="just"/>
            <a:r>
              <a:rPr lang="en-US" b="1" dirty="0"/>
              <a:t>SINGLE PROGRAM:</a:t>
            </a:r>
            <a:r>
              <a:rPr lang="en-US" dirty="0"/>
              <a:t> All tasks execute their copy of the same program simultaneously. This program can be threads, message passing, data parallel or hybrid.</a:t>
            </a:r>
          </a:p>
          <a:p>
            <a:pPr algn="just"/>
            <a:r>
              <a:rPr lang="en-US" b="1" dirty="0"/>
              <a:t>MULTIPLE DATA</a:t>
            </a:r>
            <a:r>
              <a:rPr lang="en-US" dirty="0"/>
              <a:t>: All tasks may use different data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1757363" y="4515681"/>
            <a:ext cx="4038600" cy="1123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75246" y="5778872"/>
            <a:ext cx="6097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-tasks do not necessarily have to execute the entire program</a:t>
            </a:r>
          </a:p>
          <a:p>
            <a:r>
              <a:rPr lang="en-US" dirty="0"/>
              <a:t> - perhaps only a portion of it</a:t>
            </a:r>
          </a:p>
        </p:txBody>
      </p:sp>
    </p:spTree>
    <p:extLst>
      <p:ext uri="{BB962C8B-B14F-4D97-AF65-F5344CB8AC3E}">
        <p14:creationId xmlns:p14="http://schemas.microsoft.com/office/powerpoint/2010/main" val="39837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built upon any combination of the previously mentioned parallel programming models</a:t>
            </a:r>
          </a:p>
          <a:p>
            <a:pPr algn="just"/>
            <a:r>
              <a:rPr lang="en-US" b="1" dirty="0"/>
              <a:t>MULTIPLE PROGRAM:</a:t>
            </a:r>
            <a:r>
              <a:rPr lang="en-US" dirty="0"/>
              <a:t> Tasks may execute different programs simultaneously.</a:t>
            </a:r>
          </a:p>
          <a:p>
            <a:pPr algn="just"/>
            <a:r>
              <a:rPr lang="en-US" dirty="0"/>
              <a:t>The programs can be threads, message passing, data parallel or hybrid.</a:t>
            </a:r>
          </a:p>
          <a:p>
            <a:pPr algn="just"/>
            <a:r>
              <a:rPr lang="en-US" b="1" dirty="0"/>
              <a:t>MULTIPLE DATA:</a:t>
            </a:r>
            <a:r>
              <a:rPr lang="en-US" dirty="0"/>
              <a:t> All tasks may use different data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2228850" y="5053013"/>
            <a:ext cx="4038600" cy="1123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4079" y="6311899"/>
            <a:ext cx="625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MPMD applications are not as common as SPMD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7641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7D20-371A-5019-13F6-D4661AB0E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and Distributed Programming Models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FFE3E-D2FD-C3DC-2752-8CB76121E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OPENMP</a:t>
            </a:r>
          </a:p>
          <a:p>
            <a:pPr algn="just"/>
            <a:r>
              <a:rPr lang="en-US" dirty="0"/>
              <a:t>MPI </a:t>
            </a:r>
          </a:p>
          <a:p>
            <a:pPr lvl="1" algn="just"/>
            <a:r>
              <a:rPr lang="en-US" dirty="0"/>
              <a:t>For message passing systems</a:t>
            </a:r>
          </a:p>
          <a:p>
            <a:pPr algn="just"/>
            <a:r>
              <a:rPr lang="en-US" dirty="0"/>
              <a:t>MapReduce and </a:t>
            </a:r>
            <a:r>
              <a:rPr lang="en-US" dirty="0" err="1"/>
              <a:t>BigTable</a:t>
            </a:r>
            <a:endParaRPr lang="en-US" dirty="0"/>
          </a:p>
          <a:p>
            <a:pPr lvl="1" algn="just"/>
            <a:r>
              <a:rPr lang="en-US" dirty="0"/>
              <a:t>For internet clouds and data centers</a:t>
            </a:r>
          </a:p>
          <a:p>
            <a:pPr algn="just"/>
            <a:r>
              <a:rPr lang="en-US" dirty="0"/>
              <a:t>Service clouds require extension of Hadoop, EC2, S3 to facilitate distributed computing over distributed storage system</a:t>
            </a:r>
          </a:p>
          <a:p>
            <a:pPr algn="just"/>
            <a:r>
              <a:rPr lang="en-US" dirty="0"/>
              <a:t>CUDA</a:t>
            </a:r>
          </a:p>
          <a:p>
            <a:pPr lvl="1" algn="just"/>
            <a:r>
              <a:rPr lang="en-US" dirty="0"/>
              <a:t>For NVIDIA GPUs</a:t>
            </a:r>
          </a:p>
          <a:p>
            <a:pPr algn="just"/>
            <a:r>
              <a:rPr lang="en-US" dirty="0"/>
              <a:t>Open Grid Service Architecture (OGSA)</a:t>
            </a:r>
          </a:p>
          <a:p>
            <a:pPr lvl="1" algn="just"/>
            <a:r>
              <a:rPr lang="en-US" dirty="0"/>
              <a:t>For grid application development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7766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B47A-E5BA-F1E1-A309-F88725FB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Performance, Security and Energy Efficiency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95794-77B5-2E84-12B5-1857D3430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357884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Performance Metrics</a:t>
            </a:r>
          </a:p>
          <a:p>
            <a:pPr lvl="1"/>
            <a:r>
              <a:rPr lang="en-US" dirty="0"/>
              <a:t>CPU Speed, FLOPS, Job response time, network latency, system throughput, network bandwidth, System overhead (OS boot time, compile time, etc). </a:t>
            </a:r>
          </a:p>
          <a:p>
            <a:r>
              <a:rPr lang="en-US" dirty="0"/>
              <a:t>Scalability</a:t>
            </a:r>
          </a:p>
          <a:p>
            <a:pPr lvl="1"/>
            <a:r>
              <a:rPr lang="en-US" dirty="0"/>
              <a:t>Machine (size), software, application, and technology scalability</a:t>
            </a:r>
          </a:p>
          <a:p>
            <a:r>
              <a:rPr lang="en-US" dirty="0"/>
              <a:t>Amdahl’s law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1D6F7-75F6-E83C-EF9B-27C7941B8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90689"/>
            <a:ext cx="4182212" cy="372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9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8574-3F88-A594-B232-D7F8BC6C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Performance, Security and Energy Efficiency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08F5-102A-1355-B85C-971147AC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243763" cy="4351338"/>
          </a:xfrm>
        </p:spPr>
        <p:txBody>
          <a:bodyPr/>
          <a:lstStyle/>
          <a:p>
            <a:pPr algn="just"/>
            <a:r>
              <a:rPr lang="en-US" dirty="0"/>
              <a:t>Security</a:t>
            </a:r>
          </a:p>
          <a:p>
            <a:pPr lvl="1" algn="just"/>
            <a:r>
              <a:rPr lang="en-US" dirty="0"/>
              <a:t>Threats to system and network</a:t>
            </a:r>
          </a:p>
          <a:p>
            <a:pPr lvl="1" algn="just"/>
            <a:r>
              <a:rPr lang="en-US" dirty="0"/>
              <a:t>Confidentiality, integrity, and availability</a:t>
            </a:r>
          </a:p>
          <a:p>
            <a:pPr lvl="1" algn="just"/>
            <a:r>
              <a:rPr lang="en-US" dirty="0"/>
              <a:t>Copyright protection</a:t>
            </a:r>
          </a:p>
          <a:p>
            <a:pPr lvl="1" algn="just"/>
            <a:r>
              <a:rPr lang="en-US" dirty="0"/>
              <a:t>System Defense technologies</a:t>
            </a:r>
          </a:p>
          <a:p>
            <a:pPr lvl="1" algn="just"/>
            <a:r>
              <a:rPr lang="en-US" dirty="0"/>
              <a:t>Data protection infrastructures (IDS)</a:t>
            </a:r>
          </a:p>
          <a:p>
            <a:pPr algn="just"/>
            <a:r>
              <a:rPr lang="en-US" dirty="0"/>
              <a:t>Energy efficiency</a:t>
            </a:r>
          </a:p>
          <a:p>
            <a:pPr lvl="1" algn="just"/>
            <a:r>
              <a:rPr lang="en-US" dirty="0"/>
              <a:t>Distributed power management</a:t>
            </a:r>
          </a:p>
          <a:p>
            <a:pPr lvl="1" algn="just"/>
            <a:r>
              <a:rPr lang="en-US" dirty="0"/>
              <a:t>Unused servers’ energy consumption</a:t>
            </a:r>
          </a:p>
          <a:p>
            <a:pPr lvl="1" algn="just"/>
            <a:r>
              <a:rPr lang="en-US" dirty="0"/>
              <a:t>Reducing energy in active servers</a:t>
            </a:r>
          </a:p>
        </p:txBody>
      </p:sp>
    </p:spTree>
    <p:extLst>
      <p:ext uri="{BB962C8B-B14F-4D97-AF65-F5344CB8AC3E}">
        <p14:creationId xmlns:p14="http://schemas.microsoft.com/office/powerpoint/2010/main" val="2653014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8574-3F88-A594-B232-D7F8BC6C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Performance, Security and Energy Efficiency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08F5-102A-1355-B85C-971147AC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243763" cy="4351338"/>
          </a:xfrm>
        </p:spPr>
        <p:txBody>
          <a:bodyPr/>
          <a:lstStyle/>
          <a:p>
            <a:pPr algn="just"/>
            <a:r>
              <a:rPr lang="en-US" dirty="0"/>
              <a:t>Security</a:t>
            </a:r>
          </a:p>
          <a:p>
            <a:pPr lvl="1" algn="just"/>
            <a:r>
              <a:rPr lang="en-US" dirty="0"/>
              <a:t>Threats to system and network</a:t>
            </a:r>
          </a:p>
          <a:p>
            <a:pPr lvl="1" algn="just"/>
            <a:r>
              <a:rPr lang="en-US" dirty="0"/>
              <a:t>Confidentiality, integrity, and availability</a:t>
            </a:r>
          </a:p>
          <a:p>
            <a:pPr lvl="1" algn="just"/>
            <a:r>
              <a:rPr lang="en-US" dirty="0"/>
              <a:t>Copyright protection</a:t>
            </a:r>
          </a:p>
          <a:p>
            <a:pPr lvl="1" algn="just"/>
            <a:r>
              <a:rPr lang="en-US" dirty="0"/>
              <a:t>System Defense technologies</a:t>
            </a:r>
          </a:p>
          <a:p>
            <a:pPr lvl="1" algn="just"/>
            <a:r>
              <a:rPr lang="en-US" dirty="0"/>
              <a:t>Data protection infrastructures (IDS)</a:t>
            </a:r>
          </a:p>
          <a:p>
            <a:pPr algn="just"/>
            <a:r>
              <a:rPr lang="en-US" dirty="0"/>
              <a:t>Energy efficiency</a:t>
            </a:r>
          </a:p>
          <a:p>
            <a:pPr lvl="1" algn="just"/>
            <a:r>
              <a:rPr lang="en-US" dirty="0"/>
              <a:t>Distributed power management</a:t>
            </a:r>
          </a:p>
          <a:p>
            <a:pPr lvl="1" algn="just"/>
            <a:r>
              <a:rPr lang="en-US" dirty="0"/>
              <a:t>Unused servers’ energy consumption</a:t>
            </a:r>
          </a:p>
          <a:p>
            <a:pPr lvl="1" algn="just"/>
            <a:r>
              <a:rPr lang="en-US" dirty="0"/>
              <a:t>Reducing energy in active servers</a:t>
            </a:r>
          </a:p>
        </p:txBody>
      </p:sp>
    </p:spTree>
    <p:extLst>
      <p:ext uri="{BB962C8B-B14F-4D97-AF65-F5344CB8AC3E}">
        <p14:creationId xmlns:p14="http://schemas.microsoft.com/office/powerpoint/2010/main" val="1426793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MPP Architecture</a:t>
            </a:r>
            <a:endParaRPr lang="en-US" dirty="0"/>
          </a:p>
        </p:txBody>
      </p:sp>
      <p:pic>
        <p:nvPicPr>
          <p:cNvPr id="1026" name="Picture 2" descr="Massively parallel processing | Mastering Tableau 2019.1 - Second Edi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857376"/>
            <a:ext cx="7543800" cy="454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16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MPP Architecture and Dependence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Approaches</a:t>
            </a:r>
          </a:p>
          <a:p>
            <a:pPr marL="812800" lvl="1" indent="-342900">
              <a:spcBef>
                <a:spcPts val="869"/>
              </a:spcBef>
              <a:buFontTx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solidFill>
                  <a:prstClr val="black"/>
                </a:solidFill>
                <a:latin typeface="Arial"/>
                <a:cs typeface="Arial"/>
              </a:rPr>
              <a:t>Parallel</a:t>
            </a:r>
            <a:r>
              <a:rPr lang="en-US" sz="2800" spc="-1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prstClr val="black"/>
                </a:solidFill>
                <a:latin typeface="Arial"/>
                <a:cs typeface="Arial"/>
              </a:rPr>
              <a:t>Algorithms</a:t>
            </a:r>
            <a:endParaRPr lang="en-US" sz="28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812800" lvl="1" indent="-342900">
              <a:spcBef>
                <a:spcPts val="770"/>
              </a:spcBef>
              <a:buFontTx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solidFill>
                  <a:prstClr val="black"/>
                </a:solidFill>
                <a:latin typeface="Arial"/>
                <a:cs typeface="Arial"/>
              </a:rPr>
              <a:t>Parallel</a:t>
            </a:r>
            <a:r>
              <a:rPr lang="en-US" sz="280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prstClr val="black"/>
                </a:solidFill>
                <a:latin typeface="Arial"/>
                <a:cs typeface="Arial"/>
              </a:rPr>
              <a:t>Language</a:t>
            </a:r>
            <a:endParaRPr lang="en-US" sz="28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812800" lvl="1" indent="-342900">
              <a:spcBef>
                <a:spcPts val="770"/>
              </a:spcBef>
              <a:buFontTx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solidFill>
                  <a:prstClr val="black"/>
                </a:solidFill>
                <a:latin typeface="Arial"/>
                <a:cs typeface="Arial"/>
              </a:rPr>
              <a:t>Message passing</a:t>
            </a:r>
            <a:r>
              <a:rPr lang="en-US" sz="2800" spc="-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Arial"/>
                <a:cs typeface="Arial"/>
              </a:rPr>
              <a:t>(low-level)</a:t>
            </a:r>
          </a:p>
          <a:p>
            <a:pPr marL="812800" lvl="1" indent="-342900">
              <a:spcBef>
                <a:spcPts val="770"/>
              </a:spcBef>
              <a:buFontTx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solidFill>
                  <a:prstClr val="black"/>
                </a:solidFill>
                <a:latin typeface="Arial"/>
                <a:cs typeface="Arial"/>
              </a:rPr>
              <a:t>Parallelizing</a:t>
            </a:r>
            <a:r>
              <a:rPr lang="en-US" sz="280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prstClr val="black"/>
                </a:solidFill>
                <a:latin typeface="Arial"/>
                <a:cs typeface="Arial"/>
              </a:rPr>
              <a:t>compilers</a:t>
            </a:r>
            <a:endParaRPr lang="en-US" sz="28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8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</a:t>
            </a:r>
            <a:r>
              <a:rPr lang="en-US" spc="-85" dirty="0"/>
              <a:t> </a:t>
            </a:r>
            <a:r>
              <a:rPr lang="en-US" dirty="0"/>
              <a:t>Compilers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265" marR="5080" indent="-457200">
              <a:spcBef>
                <a:spcPts val="95"/>
              </a:spcBef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Automatically transform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sequential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program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into 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a parallel</a:t>
            </a:r>
            <a:r>
              <a:rPr lang="en-US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program.</a:t>
            </a:r>
          </a:p>
          <a:p>
            <a:pPr marL="926465" marR="5080" lvl="1" indent="-457200">
              <a:spcBef>
                <a:spcPts val="95"/>
              </a:spcBef>
            </a:pP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lang="en-US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nt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fy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	w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ns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	ca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	be  executed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lang="en-US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parallel.</a:t>
            </a:r>
          </a:p>
          <a:p>
            <a:pPr marL="926465" marR="5080" lvl="1" indent="-457200">
              <a:spcBef>
                <a:spcPts val="95"/>
              </a:spcBef>
            </a:pP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Often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done in</a:t>
            </a:r>
            <a:r>
              <a:rPr lang="en-US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stages.</a:t>
            </a:r>
          </a:p>
          <a:p>
            <a:pPr marL="0" indent="0">
              <a:spcBef>
                <a:spcPts val="50"/>
              </a:spcBef>
              <a:buNone/>
            </a:pPr>
            <a:endParaRPr lang="en-US" sz="40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/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Q: Which loops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can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be run in</a:t>
            </a:r>
            <a:r>
              <a:rPr lang="en-US" spc="7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parallel?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70"/>
              </a:spcBef>
            </a:pP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Q: How should </a:t>
            </a:r>
            <a:r>
              <a:rPr lang="en-US" spc="-10" dirty="0">
                <a:solidFill>
                  <a:prstClr val="black"/>
                </a:solidFill>
                <a:latin typeface="Arial"/>
                <a:cs typeface="Arial"/>
              </a:rPr>
              <a:t>we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distribute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lang="en-US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work/data?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67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r>
              <a:rPr lang="en-US" spc="-70" dirty="0"/>
              <a:t> </a:t>
            </a:r>
            <a:r>
              <a:rPr lang="en-US" dirty="0"/>
              <a:t>Dependences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5625"/>
            <a:ext cx="8058150" cy="4351338"/>
          </a:xfrm>
        </p:spPr>
        <p:txBody>
          <a:bodyPr>
            <a:normAutofit lnSpcReduction="10000"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70"/>
              </a:spcBef>
            </a:pPr>
            <a:r>
              <a:rPr lang="en-US" b="1" spc="-5" dirty="0">
                <a:solidFill>
                  <a:prstClr val="black"/>
                </a:solidFill>
                <a:latin typeface="Arial"/>
                <a:cs typeface="Arial"/>
              </a:rPr>
              <a:t>Flow </a:t>
            </a:r>
            <a:r>
              <a:rPr lang="en-US" b="1" dirty="0">
                <a:solidFill>
                  <a:prstClr val="black"/>
                </a:solidFill>
                <a:latin typeface="Arial"/>
                <a:cs typeface="Arial"/>
              </a:rPr>
              <a:t>dependence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- </a:t>
            </a:r>
            <a:r>
              <a:rPr lang="en-US" spc="-75" dirty="0">
                <a:solidFill>
                  <a:prstClr val="black"/>
                </a:solidFill>
                <a:latin typeface="Arial"/>
                <a:cs typeface="Arial"/>
              </a:rPr>
              <a:t>RAW.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Read-After-Write. A 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"true" dependence.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Read a value after it has 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been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written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into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en-US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variable.</a:t>
            </a:r>
          </a:p>
          <a:p>
            <a:pPr>
              <a:spcBef>
                <a:spcPts val="5"/>
              </a:spcBef>
            </a:pPr>
            <a:endParaRPr lang="en-US" sz="35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26034" indent="-342900" algn="just">
              <a:lnSpc>
                <a:spcPct val="80000"/>
              </a:lnSpc>
            </a:pPr>
            <a:r>
              <a:rPr lang="en-US" b="1" dirty="0">
                <a:solidFill>
                  <a:prstClr val="black"/>
                </a:solidFill>
                <a:latin typeface="Arial"/>
                <a:cs typeface="Arial"/>
              </a:rPr>
              <a:t>Anti-dependence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- </a:t>
            </a:r>
            <a:r>
              <a:rPr lang="en-US" spc="-35" dirty="0">
                <a:solidFill>
                  <a:prstClr val="black"/>
                </a:solidFill>
                <a:latin typeface="Arial"/>
                <a:cs typeface="Arial"/>
              </a:rPr>
              <a:t>WAR.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Write-After-Read.  </a:t>
            </a:r>
            <a:r>
              <a:rPr lang="en-US" spc="-10" dirty="0">
                <a:solidFill>
                  <a:prstClr val="black"/>
                </a:solidFill>
                <a:latin typeface="Arial"/>
                <a:cs typeface="Arial"/>
              </a:rPr>
              <a:t>Write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a new value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into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variable after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the old 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value has been</a:t>
            </a:r>
            <a:r>
              <a:rPr lang="en-US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read.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lang="en-US" sz="35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24130" indent="-342900" algn="just">
              <a:lnSpc>
                <a:spcPct val="80000"/>
              </a:lnSpc>
            </a:pPr>
            <a:r>
              <a:rPr lang="en-US" b="1" spc="-5" dirty="0">
                <a:solidFill>
                  <a:prstClr val="black"/>
                </a:solidFill>
                <a:latin typeface="Arial"/>
                <a:cs typeface="Arial"/>
              </a:rPr>
              <a:t>Output dependence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- </a:t>
            </a:r>
            <a:r>
              <a:rPr lang="en-US" spc="-100" dirty="0">
                <a:solidFill>
                  <a:prstClr val="black"/>
                </a:solidFill>
                <a:latin typeface="Arial"/>
                <a:cs typeface="Arial"/>
              </a:rPr>
              <a:t>WAW. </a:t>
            </a:r>
            <a:r>
              <a:rPr lang="en-US" spc="-10" dirty="0">
                <a:solidFill>
                  <a:prstClr val="black"/>
                </a:solidFill>
                <a:latin typeface="Arial"/>
                <a:cs typeface="Arial"/>
              </a:rPr>
              <a:t>Write-After-Write.  Write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a new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value into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variable and then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later  on write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another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value into the same</a:t>
            </a:r>
            <a:r>
              <a:rPr lang="en-US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560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</a:t>
            </a:r>
            <a:r>
              <a:rPr lang="en-US" spc="10" dirty="0"/>
              <a:t>l</a:t>
            </a:r>
            <a:r>
              <a:rPr lang="en-US" dirty="0"/>
              <a:t>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spcBef>
                <a:spcPts val="869"/>
              </a:spcBef>
              <a:buNone/>
              <a:tabLst>
                <a:tab pos="553720" algn="l"/>
              </a:tabLst>
            </a:pPr>
            <a:r>
              <a:rPr lang="en-US" dirty="0"/>
              <a:t>Flow Dependency is a type of data dependency which occurs when an instruction depends on the result of a previous instruction. A Flow dependency is also known as read-after-write (RAW) or data dependency or true dependency</a:t>
            </a:r>
            <a:endParaRPr lang="pt-BR" dirty="0">
              <a:solidFill>
                <a:prstClr val="black"/>
              </a:solidFill>
              <a:latin typeface="Arial"/>
              <a:cs typeface="Arial"/>
            </a:endParaRPr>
          </a:p>
          <a:p>
            <a:pPr marL="0" indent="0">
              <a:spcBef>
                <a:spcPts val="869"/>
              </a:spcBef>
              <a:buNone/>
              <a:tabLst>
                <a:tab pos="553720" algn="l"/>
              </a:tabLst>
            </a:pPr>
            <a:endParaRPr lang="pt-BR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869"/>
              </a:spcBef>
              <a:tabLst>
                <a:tab pos="553720" algn="l"/>
              </a:tabLst>
            </a:pPr>
            <a:r>
              <a:rPr lang="pt-BR" dirty="0">
                <a:solidFill>
                  <a:prstClr val="black"/>
                </a:solidFill>
                <a:latin typeface="Arial"/>
                <a:cs typeface="Arial"/>
              </a:rPr>
              <a:t>A =</a:t>
            </a:r>
            <a:r>
              <a:rPr lang="pt-BR" spc="-20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pc="-5" dirty="0">
                <a:solidFill>
                  <a:prstClr val="black"/>
                </a:solidFill>
                <a:latin typeface="Arial"/>
                <a:cs typeface="Arial"/>
              </a:rPr>
              <a:t>90;</a:t>
            </a:r>
            <a:endParaRPr lang="pt-BR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70"/>
              </a:spcBef>
              <a:tabLst>
                <a:tab pos="576580" algn="l"/>
              </a:tabLst>
            </a:pPr>
            <a:r>
              <a:rPr lang="pt-BR" dirty="0">
                <a:solidFill>
                  <a:prstClr val="black"/>
                </a:solidFill>
                <a:latin typeface="Arial"/>
                <a:cs typeface="Arial"/>
              </a:rPr>
              <a:t>B =</a:t>
            </a:r>
            <a:r>
              <a:rPr lang="pt-BR" spc="-2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pc="-5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endParaRPr lang="pt-BR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70"/>
              </a:spcBef>
              <a:tabLst>
                <a:tab pos="576580" algn="l"/>
              </a:tabLst>
            </a:pPr>
            <a:r>
              <a:rPr lang="pt-BR" dirty="0">
                <a:solidFill>
                  <a:prstClr val="black"/>
                </a:solidFill>
                <a:latin typeface="Arial"/>
                <a:cs typeface="Arial"/>
              </a:rPr>
              <a:t>C = A +</a:t>
            </a:r>
            <a:r>
              <a:rPr lang="pt-BR" spc="-4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dirty="0">
                <a:solidFill>
                  <a:prstClr val="black"/>
                </a:solidFill>
                <a:latin typeface="Arial"/>
                <a:cs typeface="Arial"/>
              </a:rPr>
              <a:t>D;</a:t>
            </a:r>
          </a:p>
          <a:p>
            <a:pPr marL="12700">
              <a:spcBef>
                <a:spcPts val="770"/>
              </a:spcBef>
              <a:tabLst>
                <a:tab pos="553720" algn="l"/>
              </a:tabLst>
            </a:pPr>
            <a:r>
              <a:rPr lang="pt-BR" dirty="0">
                <a:solidFill>
                  <a:prstClr val="black"/>
                </a:solidFill>
                <a:latin typeface="Arial"/>
                <a:cs typeface="Arial"/>
              </a:rPr>
              <a:t>A =</a:t>
            </a:r>
            <a:r>
              <a:rPr lang="pt-BR" spc="-1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pc="-5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  <a:endParaRPr lang="pt-BR" dirty="0">
              <a:solidFill>
                <a:prstClr val="black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01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</a:t>
            </a:r>
            <a:r>
              <a:rPr lang="en-US" spc="10" dirty="0"/>
              <a:t>l</a:t>
            </a:r>
            <a:r>
              <a:rPr lang="en-US" dirty="0"/>
              <a:t>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An anti-dependency is a type of data dependency which occurs when an instruction requires a value that is updated later. Anti-Dependency is also known as write-after-read (WAR). In the following example: Instruction 2 anti-depends on instruction 3 — the ordering of these instructions cannot be changed, nor can they be executed in parallel (possibly changing the instruction ordering), as this would affect the final value of A.</a:t>
            </a:r>
          </a:p>
          <a:p>
            <a:r>
              <a:rPr lang="en-US" dirty="0"/>
              <a:t>B = 3</a:t>
            </a:r>
          </a:p>
          <a:p>
            <a:r>
              <a:rPr lang="en-US" dirty="0"/>
              <a:t>A = B + 1</a:t>
            </a:r>
          </a:p>
          <a:p>
            <a:r>
              <a:rPr lang="en-US" dirty="0"/>
              <a:t>B = 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0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An Output Dependency is a type of data dependency which occurs when the ordering of instructions affects the final output value of any variable. Output Dependency is also known as write-after-write (WAW), In the example below, there is an output dependency between instructions 3 and 1 — changing the order of those instructions in this example will change the final value of A, thus these instructions cannot be executed in parallel.</a:t>
            </a:r>
          </a:p>
          <a:p>
            <a:r>
              <a:rPr lang="en-US" dirty="0"/>
              <a:t>B = 3</a:t>
            </a:r>
          </a:p>
          <a:p>
            <a:r>
              <a:rPr lang="en-US" dirty="0"/>
              <a:t>A = B + 1</a:t>
            </a:r>
          </a:p>
          <a:p>
            <a:r>
              <a:rPr lang="en-US" dirty="0"/>
              <a:t>B = 7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4028CB-52D3-F845-2547-67A110B93E5A}"/>
                  </a:ext>
                </a:extLst>
              </p14:cNvPr>
              <p14:cNvContentPartPr/>
              <p14:nvPr/>
            </p14:nvContentPartPr>
            <p14:xfrm>
              <a:off x="385200" y="4448520"/>
              <a:ext cx="8445600" cy="2081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4028CB-52D3-F845-2547-67A110B93E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840" y="4439160"/>
                <a:ext cx="8464320" cy="210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7930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parallelizing compiler must identify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loops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that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do 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not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have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dependences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BETWEEN </a:t>
            </a:r>
            <a:r>
              <a:rPr lang="en-US" spc="-25" dirty="0">
                <a:solidFill>
                  <a:prstClr val="black"/>
                </a:solidFill>
                <a:latin typeface="Arial"/>
                <a:cs typeface="Arial"/>
              </a:rPr>
              <a:t>ITERATIONS  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of </a:t>
            </a:r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 loop.</a:t>
            </a:r>
          </a:p>
          <a:p>
            <a:pPr marL="12700"/>
            <a:r>
              <a:rPr lang="en-US" spc="-5" dirty="0">
                <a:solidFill>
                  <a:prstClr val="black"/>
                </a:solidFill>
                <a:latin typeface="Arial"/>
                <a:cs typeface="Arial"/>
              </a:rPr>
              <a:t>Example:</a:t>
            </a:r>
            <a:endParaRPr lang="en-US" dirty="0">
              <a:solidFill>
                <a:prstClr val="black"/>
              </a:solidFill>
              <a:latin typeface="Arial"/>
              <a:cs typeface="Arial"/>
            </a:endParaRPr>
          </a:p>
          <a:p>
            <a:endParaRPr lang="en-US"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b="1" spc="-5" dirty="0">
                <a:solidFill>
                  <a:prstClr val="black"/>
                </a:solidFill>
                <a:latin typeface="Courier New"/>
                <a:cs typeface="Courier New"/>
              </a:rPr>
              <a:t>do I = 1,</a:t>
            </a:r>
            <a:r>
              <a:rPr lang="en-US" b="1" spc="-114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lang="en-US" b="1" spc="-10" dirty="0">
                <a:solidFill>
                  <a:prstClr val="black"/>
                </a:solidFill>
                <a:latin typeface="Courier New"/>
                <a:cs typeface="Courier New"/>
              </a:rPr>
              <a:t>1000</a:t>
            </a:r>
            <a:endParaRPr lang="en-US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2910" marR="3581400" indent="0">
              <a:buNone/>
            </a:pPr>
            <a:r>
              <a:rPr lang="en-US" b="1" spc="-10" dirty="0">
                <a:solidFill>
                  <a:prstClr val="black"/>
                </a:solidFill>
                <a:latin typeface="Courier New"/>
                <a:cs typeface="Courier New"/>
              </a:rPr>
              <a:t>A(I) </a:t>
            </a:r>
            <a:r>
              <a:rPr lang="en-US" b="1" spc="-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lang="en-US" b="1" spc="-10" dirty="0">
                <a:solidFill>
                  <a:prstClr val="black"/>
                </a:solidFill>
                <a:latin typeface="Courier New"/>
                <a:cs typeface="Courier New"/>
              </a:rPr>
              <a:t>B(I) </a:t>
            </a:r>
            <a:r>
              <a:rPr lang="en-US" b="1" spc="-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lang="en-US" b="1" spc="-10" dirty="0">
                <a:solidFill>
                  <a:prstClr val="black"/>
                </a:solidFill>
                <a:latin typeface="Courier New"/>
                <a:cs typeface="Courier New"/>
              </a:rPr>
              <a:t>C(I)  D(I) </a:t>
            </a:r>
            <a:r>
              <a:rPr lang="en-US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lang="en-US" b="1" spc="-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lang="en-US" b="1" spc="-10" dirty="0">
                <a:solidFill>
                  <a:prstClr val="black"/>
                </a:solidFill>
                <a:latin typeface="Courier New"/>
                <a:cs typeface="Courier New"/>
              </a:rPr>
              <a:t>A(I)</a:t>
            </a:r>
            <a:endParaRPr lang="en-US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0" indent="0">
              <a:spcBef>
                <a:spcPts val="5"/>
              </a:spcBef>
              <a:buNone/>
            </a:pPr>
            <a:r>
              <a:rPr lang="en-US" b="1" spc="-5" dirty="0">
                <a:solidFill>
                  <a:prstClr val="black"/>
                </a:solidFill>
                <a:latin typeface="Courier New"/>
                <a:cs typeface="Courier New"/>
              </a:rPr>
              <a:t>end</a:t>
            </a:r>
            <a:r>
              <a:rPr lang="en-US" b="1" spc="-15" dirty="0">
                <a:solidFill>
                  <a:prstClr val="black"/>
                </a:solidFill>
                <a:latin typeface="Courier New"/>
                <a:cs typeface="Courier New"/>
              </a:rPr>
              <a:t> do</a:t>
            </a:r>
            <a:endParaRPr lang="en-US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21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</a:t>
            </a:r>
            <a:r>
              <a:rPr lang="en-US" spc="10" dirty="0"/>
              <a:t>l</a:t>
            </a:r>
            <a:r>
              <a:rPr lang="en-US" dirty="0"/>
              <a:t>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marR="818515" indent="0">
              <a:lnSpc>
                <a:spcPct val="120100"/>
              </a:lnSpc>
              <a:spcBef>
                <a:spcPts val="100"/>
              </a:spcBef>
              <a:buNone/>
            </a:pPr>
            <a:r>
              <a:rPr lang="en-US" b="1" spc="-10" dirty="0">
                <a:latin typeface="Courier New"/>
                <a:cs typeface="Courier New"/>
              </a:rPr>
              <a:t>Fork one </a:t>
            </a:r>
            <a:r>
              <a:rPr lang="en-US" b="1" spc="-15" dirty="0">
                <a:latin typeface="Courier New"/>
                <a:cs typeface="Courier New"/>
              </a:rPr>
              <a:t>thread </a:t>
            </a:r>
            <a:r>
              <a:rPr lang="en-US" b="1" spc="-10" dirty="0">
                <a:latin typeface="Courier New"/>
                <a:cs typeface="Courier New"/>
              </a:rPr>
              <a:t>for each processor  </a:t>
            </a:r>
          </a:p>
          <a:p>
            <a:pPr marL="0" marR="818515" indent="0">
              <a:lnSpc>
                <a:spcPct val="120100"/>
              </a:lnSpc>
              <a:spcBef>
                <a:spcPts val="100"/>
              </a:spcBef>
              <a:buNone/>
            </a:pPr>
            <a:r>
              <a:rPr lang="en-US" b="1" spc="-10" dirty="0">
                <a:latin typeface="Courier New"/>
                <a:cs typeface="Courier New"/>
              </a:rPr>
              <a:t>Each thread executes </a:t>
            </a:r>
            <a:r>
              <a:rPr lang="en-US" b="1" spc="-5" dirty="0">
                <a:latin typeface="Courier New"/>
                <a:cs typeface="Courier New"/>
              </a:rPr>
              <a:t>the</a:t>
            </a:r>
            <a:r>
              <a:rPr lang="en-US" b="1" spc="-55" dirty="0">
                <a:latin typeface="Courier New"/>
                <a:cs typeface="Courier New"/>
              </a:rPr>
              <a:t> </a:t>
            </a:r>
            <a:r>
              <a:rPr lang="en-US" b="1" spc="-10" dirty="0">
                <a:latin typeface="Courier New"/>
                <a:cs typeface="Courier New"/>
              </a:rPr>
              <a:t>loop:</a:t>
            </a:r>
            <a:endParaRPr lang="en-US" dirty="0">
              <a:latin typeface="Courier New"/>
              <a:cs typeface="Courier New"/>
            </a:endParaRPr>
          </a:p>
          <a:p>
            <a:pPr marL="127000" indent="0">
              <a:spcBef>
                <a:spcPts val="675"/>
              </a:spcBef>
              <a:buNone/>
            </a:pPr>
            <a:r>
              <a:rPr lang="en-US" b="1" spc="-5" dirty="0">
                <a:latin typeface="Courier New"/>
                <a:cs typeface="Courier New"/>
              </a:rPr>
              <a:t>do I = </a:t>
            </a:r>
            <a:r>
              <a:rPr lang="en-US" b="1" spc="-10" dirty="0" err="1">
                <a:latin typeface="Courier New"/>
                <a:cs typeface="Courier New"/>
              </a:rPr>
              <a:t>my_lo</a:t>
            </a:r>
            <a:r>
              <a:rPr lang="en-US" b="1" spc="-10" dirty="0">
                <a:latin typeface="Courier New"/>
                <a:cs typeface="Courier New"/>
              </a:rPr>
              <a:t>,</a:t>
            </a:r>
            <a:r>
              <a:rPr lang="en-US" b="1" spc="-55" dirty="0">
                <a:latin typeface="Courier New"/>
                <a:cs typeface="Courier New"/>
              </a:rPr>
              <a:t> </a:t>
            </a:r>
            <a:r>
              <a:rPr lang="en-US" b="1" spc="-10" dirty="0" err="1">
                <a:latin typeface="Courier New"/>
                <a:cs typeface="Courier New"/>
              </a:rPr>
              <a:t>my_hi</a:t>
            </a:r>
            <a:endParaRPr lang="en-US" dirty="0">
              <a:latin typeface="Courier New"/>
              <a:cs typeface="Courier New"/>
            </a:endParaRPr>
          </a:p>
          <a:p>
            <a:pPr marL="1612900" marR="2391410" indent="0">
              <a:lnSpc>
                <a:spcPts val="4029"/>
              </a:lnSpc>
              <a:spcBef>
                <a:spcPts val="245"/>
              </a:spcBef>
              <a:buNone/>
            </a:pPr>
            <a:r>
              <a:rPr lang="en-US" b="1" spc="-10" dirty="0">
                <a:latin typeface="Courier New"/>
                <a:cs typeface="Courier New"/>
              </a:rPr>
              <a:t>A(I) </a:t>
            </a:r>
            <a:r>
              <a:rPr lang="en-US" b="1" spc="-5" dirty="0">
                <a:latin typeface="Courier New"/>
                <a:cs typeface="Courier New"/>
              </a:rPr>
              <a:t>= </a:t>
            </a:r>
            <a:r>
              <a:rPr lang="en-US" b="1" spc="-10" dirty="0">
                <a:latin typeface="Courier New"/>
                <a:cs typeface="Courier New"/>
              </a:rPr>
              <a:t>B(I) </a:t>
            </a:r>
            <a:r>
              <a:rPr lang="en-US" b="1" spc="-5" dirty="0">
                <a:latin typeface="Courier New"/>
                <a:cs typeface="Courier New"/>
              </a:rPr>
              <a:t>+</a:t>
            </a:r>
            <a:r>
              <a:rPr lang="en-US" b="1" spc="-70" dirty="0">
                <a:latin typeface="Courier New"/>
                <a:cs typeface="Courier New"/>
              </a:rPr>
              <a:t> </a:t>
            </a:r>
            <a:r>
              <a:rPr lang="en-US" b="1" spc="-10" dirty="0">
                <a:latin typeface="Courier New"/>
                <a:cs typeface="Courier New"/>
              </a:rPr>
              <a:t>C(I)  </a:t>
            </a:r>
          </a:p>
          <a:p>
            <a:pPr marL="1612900" marR="2391410" indent="0">
              <a:lnSpc>
                <a:spcPts val="4029"/>
              </a:lnSpc>
              <a:spcBef>
                <a:spcPts val="245"/>
              </a:spcBef>
              <a:buNone/>
            </a:pPr>
            <a:r>
              <a:rPr lang="en-US" b="1" spc="-10" dirty="0">
                <a:latin typeface="Courier New"/>
                <a:cs typeface="Courier New"/>
              </a:rPr>
              <a:t>D(I) </a:t>
            </a:r>
            <a:r>
              <a:rPr lang="en-US" b="1" spc="-5" dirty="0">
                <a:latin typeface="Courier New"/>
                <a:cs typeface="Courier New"/>
              </a:rPr>
              <a:t>=</a:t>
            </a:r>
            <a:r>
              <a:rPr lang="en-US" b="1" spc="-40" dirty="0">
                <a:latin typeface="Courier New"/>
                <a:cs typeface="Courier New"/>
              </a:rPr>
              <a:t> </a:t>
            </a:r>
            <a:r>
              <a:rPr lang="en-US" b="1" spc="-10" dirty="0">
                <a:latin typeface="Courier New"/>
                <a:cs typeface="Courier New"/>
              </a:rPr>
              <a:t>A(I)</a:t>
            </a:r>
            <a:endParaRPr lang="en-US" dirty="0">
              <a:latin typeface="Courier New"/>
              <a:cs typeface="Courier New"/>
            </a:endParaRPr>
          </a:p>
          <a:p>
            <a:pPr marL="210820" indent="0">
              <a:spcBef>
                <a:spcPts val="430"/>
              </a:spcBef>
              <a:buNone/>
            </a:pPr>
            <a:r>
              <a:rPr lang="en-US" b="1" spc="-10" dirty="0">
                <a:latin typeface="Courier New"/>
                <a:cs typeface="Courier New"/>
              </a:rPr>
              <a:t>end</a:t>
            </a:r>
            <a:r>
              <a:rPr lang="en-US" b="1" spc="-15" dirty="0">
                <a:latin typeface="Courier New"/>
                <a:cs typeface="Courier New"/>
              </a:rPr>
              <a:t> do</a:t>
            </a:r>
            <a:endParaRPr lang="en-US" dirty="0">
              <a:latin typeface="Courier New"/>
              <a:cs typeface="Courier New"/>
            </a:endParaRPr>
          </a:p>
          <a:p>
            <a:pPr marL="12700" marR="5080" indent="0">
              <a:spcBef>
                <a:spcPts val="675"/>
              </a:spcBef>
              <a:buNone/>
            </a:pPr>
            <a:r>
              <a:rPr lang="en-US" b="1" spc="-10" dirty="0">
                <a:latin typeface="Courier New"/>
                <a:cs typeface="Courier New"/>
              </a:rPr>
              <a:t>Wait </a:t>
            </a:r>
            <a:r>
              <a:rPr lang="en-US" b="1" spc="-15" dirty="0">
                <a:latin typeface="Courier New"/>
                <a:cs typeface="Courier New"/>
              </a:rPr>
              <a:t>for </a:t>
            </a:r>
            <a:r>
              <a:rPr lang="en-US" b="1" spc="-10" dirty="0">
                <a:latin typeface="Courier New"/>
                <a:cs typeface="Courier New"/>
              </a:rPr>
              <a:t>all threads </a:t>
            </a:r>
            <a:r>
              <a:rPr lang="en-US" b="1" spc="-5" dirty="0">
                <a:latin typeface="Courier New"/>
                <a:cs typeface="Courier New"/>
              </a:rPr>
              <a:t>to </a:t>
            </a:r>
            <a:r>
              <a:rPr lang="en-US" b="1" spc="-10" dirty="0">
                <a:latin typeface="Courier New"/>
                <a:cs typeface="Courier New"/>
              </a:rPr>
              <a:t>finish before  proceeding.</a:t>
            </a:r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47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</a:t>
            </a:r>
            <a:r>
              <a:rPr lang="en-US" spc="-60" dirty="0"/>
              <a:t> </a:t>
            </a:r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869"/>
              </a:spcBef>
              <a:buNone/>
            </a:pP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do I = 1,</a:t>
            </a:r>
            <a:r>
              <a:rPr lang="pl-PL" b="1" spc="-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1000</a:t>
            </a:r>
            <a:endParaRPr lang="pl-PL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16890" marR="5080" indent="0">
              <a:lnSpc>
                <a:spcPct val="120000"/>
              </a:lnSpc>
              <a:spcBef>
                <a:spcPts val="5"/>
              </a:spcBef>
              <a:buNone/>
            </a:pP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A(I) </a:t>
            </a: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= B(I) + </a:t>
            </a: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C(I)  </a:t>
            </a:r>
            <a:endParaRPr lang="en-US" b="1" spc="-5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16890" marR="5080" indent="0">
              <a:lnSpc>
                <a:spcPct val="120000"/>
              </a:lnSpc>
              <a:spcBef>
                <a:spcPts val="5"/>
              </a:spcBef>
              <a:buNone/>
            </a:pPr>
            <a:r>
              <a:rPr lang="pl-PL" b="1" spc="-5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(I) </a:t>
            </a: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lang="pl-PL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A(I+1)</a:t>
            </a:r>
            <a:endParaRPr lang="pl-PL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0" indent="0">
              <a:spcBef>
                <a:spcPts val="765"/>
              </a:spcBef>
              <a:buNone/>
            </a:pP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end</a:t>
            </a: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 do</a:t>
            </a:r>
            <a:endParaRPr lang="pl-PL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09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35" dirty="0"/>
              <a:t>Yet </a:t>
            </a:r>
            <a:r>
              <a:rPr lang="en-US" dirty="0"/>
              <a:t>Another</a:t>
            </a:r>
            <a:r>
              <a:rPr lang="en-US" spc="-175" dirty="0"/>
              <a:t> </a:t>
            </a:r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869"/>
              </a:spcBef>
              <a:buNone/>
            </a:pP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do I = 1,</a:t>
            </a:r>
            <a:r>
              <a:rPr lang="pl-PL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1000</a:t>
            </a:r>
            <a:endParaRPr lang="pl-PL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16890" indent="0">
              <a:spcBef>
                <a:spcPts val="770"/>
              </a:spcBef>
              <a:buNone/>
            </a:pP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A( X(I) </a:t>
            </a: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) = </a:t>
            </a: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B(I) </a:t>
            </a: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lang="pl-PL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C(I)</a:t>
            </a:r>
            <a:endParaRPr lang="pl-PL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16890" indent="0">
              <a:spcBef>
                <a:spcPts val="770"/>
              </a:spcBef>
              <a:buNone/>
            </a:pP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D(I) </a:t>
            </a: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A( X(I)</a:t>
            </a:r>
            <a:r>
              <a:rPr lang="pl-PL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lang="pl-PL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0" indent="0">
              <a:spcBef>
                <a:spcPts val="770"/>
              </a:spcBef>
              <a:buNone/>
            </a:pPr>
            <a:r>
              <a:rPr lang="pl-PL" b="1" dirty="0">
                <a:solidFill>
                  <a:prstClr val="black"/>
                </a:solidFill>
                <a:latin typeface="Courier New"/>
                <a:cs typeface="Courier New"/>
              </a:rPr>
              <a:t>end </a:t>
            </a:r>
            <a:r>
              <a:rPr lang="pl-PL" b="1" spc="-5" dirty="0">
                <a:solidFill>
                  <a:prstClr val="black"/>
                </a:solidFill>
                <a:latin typeface="Courier New"/>
                <a:cs typeface="Courier New"/>
              </a:rPr>
              <a:t>do</a:t>
            </a:r>
            <a:endParaRPr lang="pl-PL" dirty="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47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5B9A-D615-4D78-9D1C-51119334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9191" y="2306470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That’s all for today!! </a:t>
            </a:r>
          </a:p>
        </p:txBody>
      </p:sp>
    </p:spTree>
    <p:extLst>
      <p:ext uri="{BB962C8B-B14F-4D97-AF65-F5344CB8AC3E}">
        <p14:creationId xmlns:p14="http://schemas.microsoft.com/office/powerpoint/2010/main" val="1990809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5C8782E-8FD1-4DD5-B1D4-2219BDDE01B3}" vid="{796131F4-60EA-4B71-AF3A-7C794936D88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659</TotalTime>
  <Words>933</Words>
  <Application>Microsoft Office PowerPoint</Application>
  <PresentationFormat>On-screen Show (4:3)</PresentationFormat>
  <Paragraphs>122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Theme1</vt:lpstr>
      <vt:lpstr>Parallel &amp; Distributed Computing Lecture 6: Parallel Programming Models</vt:lpstr>
      <vt:lpstr>High level programming model</vt:lpstr>
      <vt:lpstr>SPMD</vt:lpstr>
      <vt:lpstr>MPMD</vt:lpstr>
      <vt:lpstr>Parallel and Distributed Programming Models</vt:lpstr>
      <vt:lpstr>Performance, Security and Energy Efficiency</vt:lpstr>
      <vt:lpstr>Performance, Security and Energy Efficiency</vt:lpstr>
      <vt:lpstr>Performance, Security and Energy Efficiency</vt:lpstr>
      <vt:lpstr>MPP Architecture</vt:lpstr>
      <vt:lpstr>MPP Architecture and Dependence Analysis</vt:lpstr>
      <vt:lpstr>Parallelizing Compilers</vt:lpstr>
      <vt:lpstr>Data Dependences</vt:lpstr>
      <vt:lpstr>Example</vt:lpstr>
      <vt:lpstr>Example</vt:lpstr>
      <vt:lpstr>Examples</vt:lpstr>
      <vt:lpstr>Dependencies</vt:lpstr>
      <vt:lpstr>Example</vt:lpstr>
      <vt:lpstr>Another Example</vt:lpstr>
      <vt:lpstr>Yet Another Example</vt:lpstr>
      <vt:lpstr>That’s all for today!!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Mateen Yaqoob</dc:creator>
  <cp:lastModifiedBy>Moorche</cp:lastModifiedBy>
  <cp:revision>79</cp:revision>
  <dcterms:created xsi:type="dcterms:W3CDTF">2020-09-03T08:42:31Z</dcterms:created>
  <dcterms:modified xsi:type="dcterms:W3CDTF">2023-10-17T12:09:14Z</dcterms:modified>
</cp:coreProperties>
</file>