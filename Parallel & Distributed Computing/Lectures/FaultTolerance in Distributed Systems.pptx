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1" r:id="rId1"/>
  </p:sldMasterIdLst>
  <p:notesMasterIdLst>
    <p:notesMasterId r:id="rId40"/>
  </p:notesMasterIdLst>
  <p:sldIdLst>
    <p:sldId id="399" r:id="rId2"/>
    <p:sldId id="393" r:id="rId3"/>
    <p:sldId id="394" r:id="rId4"/>
    <p:sldId id="395" r:id="rId5"/>
    <p:sldId id="396" r:id="rId6"/>
    <p:sldId id="397" r:id="rId7"/>
    <p:sldId id="400" r:id="rId8"/>
    <p:sldId id="401" r:id="rId9"/>
    <p:sldId id="402" r:id="rId10"/>
    <p:sldId id="403" r:id="rId11"/>
    <p:sldId id="404" r:id="rId12"/>
    <p:sldId id="405" r:id="rId13"/>
    <p:sldId id="406" r:id="rId14"/>
    <p:sldId id="407" r:id="rId15"/>
    <p:sldId id="408" r:id="rId16"/>
    <p:sldId id="409" r:id="rId17"/>
    <p:sldId id="410" r:id="rId18"/>
    <p:sldId id="411" r:id="rId19"/>
    <p:sldId id="412" r:id="rId20"/>
    <p:sldId id="413" r:id="rId21"/>
    <p:sldId id="414" r:id="rId22"/>
    <p:sldId id="415" r:id="rId23"/>
    <p:sldId id="416" r:id="rId24"/>
    <p:sldId id="417" r:id="rId25"/>
    <p:sldId id="418" r:id="rId26"/>
    <p:sldId id="419" r:id="rId27"/>
    <p:sldId id="420" r:id="rId28"/>
    <p:sldId id="421" r:id="rId29"/>
    <p:sldId id="422" r:id="rId30"/>
    <p:sldId id="423" r:id="rId31"/>
    <p:sldId id="424" r:id="rId32"/>
    <p:sldId id="425" r:id="rId33"/>
    <p:sldId id="426" r:id="rId34"/>
    <p:sldId id="427" r:id="rId35"/>
    <p:sldId id="428" r:id="rId36"/>
    <p:sldId id="429" r:id="rId37"/>
    <p:sldId id="430" r:id="rId38"/>
    <p:sldId id="431" r:id="rId39"/>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1pPr>
    <a:lvl2pPr marL="4572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2pPr>
    <a:lvl3pPr marL="9144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3pPr>
    <a:lvl4pPr marL="13716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4pPr>
    <a:lvl5pPr marL="1828800" algn="l" rtl="0" eaLnBrk="0" fontAlgn="base" hangingPunct="0">
      <a:spcBef>
        <a:spcPct val="0"/>
      </a:spcBef>
      <a:spcAft>
        <a:spcPct val="0"/>
      </a:spcAft>
      <a:defRPr kern="1200">
        <a:solidFill>
          <a:schemeClr val="tx1"/>
        </a:solidFill>
        <a:latin typeface="Garamond" panose="02020404030301010803" pitchFamily="18" charset="0"/>
        <a:ea typeface="+mn-ea"/>
        <a:cs typeface="+mn-cs"/>
      </a:defRPr>
    </a:lvl5pPr>
    <a:lvl6pPr marL="2286000" algn="l" defTabSz="914400" rtl="0" eaLnBrk="1" latinLnBrk="0" hangingPunct="1">
      <a:defRPr kern="1200">
        <a:solidFill>
          <a:schemeClr val="tx1"/>
        </a:solidFill>
        <a:latin typeface="Garamond" panose="02020404030301010803" pitchFamily="18" charset="0"/>
        <a:ea typeface="+mn-ea"/>
        <a:cs typeface="+mn-cs"/>
      </a:defRPr>
    </a:lvl6pPr>
    <a:lvl7pPr marL="2743200" algn="l" defTabSz="914400" rtl="0" eaLnBrk="1" latinLnBrk="0" hangingPunct="1">
      <a:defRPr kern="1200">
        <a:solidFill>
          <a:schemeClr val="tx1"/>
        </a:solidFill>
        <a:latin typeface="Garamond" panose="02020404030301010803" pitchFamily="18" charset="0"/>
        <a:ea typeface="+mn-ea"/>
        <a:cs typeface="+mn-cs"/>
      </a:defRPr>
    </a:lvl7pPr>
    <a:lvl8pPr marL="3200400" algn="l" defTabSz="914400" rtl="0" eaLnBrk="1" latinLnBrk="0" hangingPunct="1">
      <a:defRPr kern="1200">
        <a:solidFill>
          <a:schemeClr val="tx1"/>
        </a:solidFill>
        <a:latin typeface="Garamond" panose="02020404030301010803" pitchFamily="18" charset="0"/>
        <a:ea typeface="+mn-ea"/>
        <a:cs typeface="+mn-cs"/>
      </a:defRPr>
    </a:lvl8pPr>
    <a:lvl9pPr marL="3657600" algn="l" defTabSz="914400" rtl="0" eaLnBrk="1" latinLnBrk="0" hangingPunct="1">
      <a:defRPr kern="1200">
        <a:solidFill>
          <a:schemeClr val="tx1"/>
        </a:solidFill>
        <a:latin typeface="Garamond" panose="02020404030301010803"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1320" y="78"/>
      </p:cViewPr>
      <p:guideLst>
        <p:guide orient="horz" pos="2160"/>
        <p:guide pos="2880"/>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13793" units="1/cm"/>
          <inkml:channelProperty channel="T" name="resolution" value="1" units="1/dev"/>
        </inkml:channelProperties>
      </inkml:inkSource>
      <inkml:timestamp xml:id="ts0" timeString="2023-05-26T12:33:16.706"/>
    </inkml:context>
    <inkml:brush xml:id="br0">
      <inkml:brushProperty name="width" value="0.05292" units="cm"/>
      <inkml:brushProperty name="height" value="0.05292" units="cm"/>
      <inkml:brushProperty name="color" value="#FF0000"/>
    </inkml:brush>
  </inkml:definitions>
  <inkml:trace contextRef="#ctx0" brushRef="#br0">6311 6036 0,'39'0'78,"0"0"-78,0 0 16,79 0 0,-1 0-1,-38 0-15,38 0 16,-38 0 0,-1 0-1,40 78-15,-40-39 16,79 1-1,-39 38 1,-40-39 0,40 0-16,-1 40 15,1 38 1,-40-38 0,40 38-16,-79-77 15,0 38 1,0 0-1,1-38 1,38 38-16,0 79 16,-38-118-1,-1 39 1,0 1-16,0-40 16,0 39-1,1-38 1,-1-1-1,0 39-15,39 40 16,-38-40 0,-40 40-1,39-40-15,39 40 16,-78-79 0,0 0-1,0 40-15,0-40 16,0 0-1,0 0 1,0 79 0,0-79-16,0 0 15,0 79 1,0 38 0,-39 1-16,0-39 15,-40-1 1,40-77-1,-39 77-15,39-38 16,-1-40 0,-38 0-1,39 0 1,-40 0-16,-38 40 16,38-40-1,1 39 1,0-38-16,38-1 15,1-39 1,-39 0 0,39 0-1,-118 0 17,-39 0-17,0 0-15,39 0 16,0 0-1,40-39 1,-1-1 0,40 1-16,-1 0 15,-38-79 1,38 40 0,1-79-16,-1 40 15,40-40 1,-39 39-1,39 1 1,-1-1-16,1-39 16,0 1-1,0-1 1,0 39-16,0 1 16,39 38-1,0 1 1,0-40-1,0 1-15,0-40 16,0 0 0,0 39-1,78 40-15,-39-40 16,0-38 0,0 116-1,1-38 1,-1-40-16,0 40 15,0 39 1</inkml:trace>
  <inkml:trace contextRef="#ctx0" brushRef="#br0" timeOffset="1781.1271">3724 12229 0,'0'0'0,"0"-39"0,39 39 16,0-79 0,0 40 62,0 39-63,1 0 1,38-39 0,0 39-16,40 0 15,0 0 1,-1 0 0,1 0-1,-1 0-15,-38 0 16,38 0-1,-38 0 1,-40 39-16,118 79 16,-79-1-1,79 1 1,-79 39-16,40 0 16,-40-1-1,40 40 1,-40 0-1,-38-39-15,38-39 16,-39-1 0,39 79-1,-78-39-15,79 0 16,-40 0 0,0-40-1,-39 1 1,0 0-16,0 38 15,0-77 1,0 38 0,0-38-16,0-1 15,0 40 1,0 38 0,-78-77-16,39 38 15,-40-38 1,40-79-1,0 39 1,0-39-16,0 0 16,-118 39-1,-39-39 1,39 39-16,0 1 16,-39-1-1,39-39 1,40 0-1,38 0-15,-38 0 16,38 0 0,1-39-1,0-40-15,-1 1 16,40-1 0,0 1-1,0-40 1,-40 1-16,40-118 15,0 39 1,-40-196 0,1-79-16,78-38 15,0-40 1,118 39 0,-1 236-1,1 117-15,156-39 16</inkml:trace>
  <inkml:trace contextRef="#ctx0" brushRef="#br0" timeOffset="3249.7425">6663 13444 0,'79'0'31,"78"0"-15,-1 0-1,80 39-15,-40 118 16,0 39 0,0 79-1,39-1-15,0 79 16,-78 39-1,0-79 1,-40-38 0,-38-79-16,-79-118 15,39 79 1,-39-79 0,0 40-16,0-40 15,0 40 1,0-1-1,0-38 1,0-1-16,0-39 16,0 1 15,-39-1 0,-1 0-15,1 0-16,-78 40 15,-1-1 1,40-39 0,-1 40-1,40-79 1,-79 39 15,40 0-31,-79 0 16,-39 0-1,39-39 1,1 79 0,38-40-16,40-39 15,-1 39 1,40-39 0,0 0-1,0 0 1,-40 0-1,40 0 1,-39 0-16,-1 0 16,40-39-1,0 39 1,-40 0-16,40-78 16,-39-1-1,39 1 1,-40-157-16,40 39 15,-39-79 1,38-38 0,40-79-1,0 39-15,0 78 16,157-38 0</inkml:trace>
  <inkml:trace contextRef="#ctx0" brushRef="#br0" timeOffset="4452.8176">9721 11798 0,'0'0'0,"39"0"16,79-78 0,78-1-1,-40 40-15,1 0 16,0 39-1,-39 0 1,-1 0-16,40 39 16,-118 0-1,40 118 1,-40-40 0,78 158-16,-38 38 15,78 79 1,-79 0-1,0-78-15,-38-40 16,-1-78 0,-39-78-1,39 39 1,-39 117-16,0 1 16,0-1-1,0-78 1,-39 78-16,-40-78 15,40-78 1,-39-1 0,39-38-16,-79 78 15,40-40 1,-40 40 0,-117 0-1,78-79-15,-78 40 16,0-1-1,39-38 1,39-79-16,0 39 16,0-39-1,40 0 1,-79-39 0,39-118-16,-39-78 15,39-118 1,40-157-1,38 1-15,79-118 16,39-79 0,432-117-1</inkml:trace>
  <inkml:trace contextRef="#ctx0" brushRef="#br0" timeOffset="5796.4386">14111 11955 0,'78'0'62,"1"0"-62,-40 0 16,79 0-1,-79 0 1,0 39 0,79 39-16,-118 40 15,78-40 1,0 118 0,40 39-16,-79 1 15,0-40 1,1 39-1,-40-39-15,39 78 16,0-39 0,-39-39-1,0 40 1,0-80-16,0 1 16,-39 0-1,0 39 1,-79 0-16,0-39 15,40 39 1,0-40 0,38 1-1,-38-78-15,0-40 32,78 0-17,-79-39 1,-38 0-1,-40-39 1,-39 0-16,39-40 16,-39 40-1,78-39 1,40-1 0,0 1-16,-1-1 15,1-38 1,39-118-1,-1 117-15,1 0 16,39 1 0,0-1-1,0 40 1,39-118-16,1 39 16,38-39-1,0 79 1,40-79-1,39 78-15</inkml:trace>
  <inkml:trace contextRef="#ctx0" brushRef="#br0" timeOffset="6733.9086">16384 13719 0,'0'0'0,"79"0"47,38 0-32,1 0-15,39 39 16,78 39 0,0 1-1,-39 77-15,-39 1 16,78 118-1,-78 38 1,-39 1 0,-40 78-16,-39-79 15,0-38 1,-39-79 0,0 39-16,0-78 15,0-40 1,0 40-1,0-79 1,-117 40-16,38-40 16,-77 40-1,38 39 1,-117 39-16,39-39 16,39-40-1,39-38 1,40-40-1,-40 0-15,1-39 32,-79-118-17,-39-78-15,117 0 16</inkml:trace>
  <inkml:trace contextRef="#ctx0" brushRef="#br0" timeOffset="8530.6907">10426 12543 0,'0'-40'16,"0"1"46,0 0-46,0-39 0,0-79-1,0-39-15,0-78 16,0-79 0,0 0-1,0 39-15,40 79 16,116 0-1,40 78 1,-39 0-16,78 1 16,-39 116-1,40-77 1,-1-1 0,-39 79-16,39 0 15,0 0 1,-39 39-1,-78-40-15,38 40 16,-38-39 0,0 0-1,78 39 1,-79-39-16,1 0 16,-1-1-1,-38 1 1,38 0-16,1 0 15,-40 39 1,-38-39 0,38 39-1,-39-40-15,0 40 32,1-39 77,-1 39-78,39-39-15,40-39-1,-1 38 1,-38 1-16,-1 0 16,-78 78 171,0 40-171,-39-1-1,39 0 1,0-38 0,-39 38-16,39-39 15,-39 0 1,39 1 0,0 38-1,-79-39 1</inkml:trace>
  <inkml:trace contextRef="#ctx0" brushRef="#br0" timeOffset="9124.371">13758 8349 0,'79'0'78,"38"0"-62,1 0 0,39 78-16,39 40 15,-40-79 1,1 39 0,0 0-1</inkml:trace>
  <inkml:trace contextRef="#ctx0" brushRef="#br0" timeOffset="82588.0224">10740 13523 0,'0'-40'141,"0"-38"-126,0-157 1,39-79-16,0-39 15,1 40 1,77 38 0,-78 80-16,79 77 15,-40 0 1,40 40 0,0 0-16,-1 38 15,1-38 1,78 0-1,-79 38 1,1 40-16,-40-39 16,40 0-1,-40 39 1,1-78-16,-1 38 16,0 1-1,79-39 1,-78 39-16,38-1 15,-38 1 1,-1 0 0,-39 39-1,0 0-15,40-78 16,-79 38 0,39 1-1,-39 0-15,39 39 16,-39-39-1,0 78 110,-39 39-109,39 1 0,-39-1-1,39 40 1,-39-40-16,39-39 16,0 79-1</inkml:trace>
  <inkml:trace contextRef="#ctx0" brushRef="#br0" timeOffset="83509.8461">13013 10661 0,'0'0'0,"-39"0"31,39-39-15,-39 0 156,39 0-156,-39 39-1,39-40 1,-39 40-16,39-39 47,39 39 62,39 0-109,-39 0 16,1 0-1,-1 0 1,0 0 0,0 0-1</inkml:trace>
  <inkml:trace contextRef="#ctx0" brushRef="#br0" timeOffset="84072.3244">13601 10034 0,'0'0'0,"-39"0"15,39-39 1,-39 39-16,78 78 125,40 1-110,-40-40 1,39 0 0,-78 0-16,39 0 15</inkml:trace>
  <inkml:trace contextRef="#ctx0" brushRef="#br0" timeOffset="84712.9046">13327 9877 0,'78'-78'109,"79"-1"-93,0-38-1,-79 78 1,-38-40-16,-1 79 16</inkml:trace>
  <inkml:trace contextRef="#ctx0" brushRef="#br0" timeOffset="85447.2276">13641 10230 0,'0'0'0,"0"-39"0,0 0 16,0-1 93,78 1-93,40 39-1,78-78 1,-79-1-16,1 40 16,-40-39-1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6D7E41-47D1-4121-8803-41640AC5BADC}" type="datetimeFigureOut">
              <a:rPr lang="en-US" smtClean="0"/>
              <a:t>5/29/2023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088F2-7E6E-4A3E-B89E-EDD841124669}" type="slidenum">
              <a:rPr lang="en-US" smtClean="0"/>
              <a:t>‹#›</a:t>
            </a:fld>
            <a:endParaRPr lang="en-US"/>
          </a:p>
        </p:txBody>
      </p:sp>
    </p:spTree>
    <p:extLst>
      <p:ext uri="{BB962C8B-B14F-4D97-AF65-F5344CB8AC3E}">
        <p14:creationId xmlns:p14="http://schemas.microsoft.com/office/powerpoint/2010/main" val="2374222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C697DB89-CDD6-472D-8A6C-DAA95BB1FA3E}"/>
              </a:ext>
            </a:extLst>
          </p:cNvPr>
          <p:cNvGrpSpPr>
            <a:grpSpLocks/>
          </p:cNvGrpSpPr>
          <p:nvPr/>
        </p:nvGrpSpPr>
        <p:grpSpPr bwMode="auto">
          <a:xfrm>
            <a:off x="0" y="0"/>
            <a:ext cx="5867400" cy="6858000"/>
            <a:chOff x="0" y="0"/>
            <a:chExt cx="3696" cy="4320"/>
          </a:xfrm>
        </p:grpSpPr>
        <p:sp>
          <p:nvSpPr>
            <p:cNvPr id="5" name="Rectangle 3">
              <a:extLst>
                <a:ext uri="{FF2B5EF4-FFF2-40B4-BE49-F238E27FC236}">
                  <a16:creationId xmlns:a16="http://schemas.microsoft.com/office/drawing/2014/main" id="{2D1A2CC5-F66F-4FF1-9C12-E4C07F549013}"/>
                </a:ext>
              </a:extLst>
            </p:cNvPr>
            <p:cNvSpPr>
              <a:spLocks noChangeArrowheads="1"/>
            </p:cNvSpPr>
            <p:nvPr/>
          </p:nvSpPr>
          <p:spPr bwMode="auto">
            <a:xfrm>
              <a:off x="0" y="0"/>
              <a:ext cx="2880" cy="432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kumimoji="1" lang="en-PK" altLang="en-PK" sz="2400">
                <a:latin typeface="Times New Roman" panose="02020603050405020304" pitchFamily="18" charset="0"/>
              </a:endParaRPr>
            </a:p>
          </p:txBody>
        </p:sp>
        <p:sp>
          <p:nvSpPr>
            <p:cNvPr id="6" name="AutoShape 4">
              <a:extLst>
                <a:ext uri="{FF2B5EF4-FFF2-40B4-BE49-F238E27FC236}">
                  <a16:creationId xmlns:a16="http://schemas.microsoft.com/office/drawing/2014/main" id="{94194141-4B13-4C0B-9E9E-4B6DF58F22B6}"/>
                </a:ext>
              </a:extLst>
            </p:cNvPr>
            <p:cNvSpPr>
              <a:spLocks noChangeArrowheads="1"/>
            </p:cNvSpPr>
            <p:nvPr/>
          </p:nvSpPr>
          <p:spPr bwMode="white">
            <a:xfrm>
              <a:off x="432" y="624"/>
              <a:ext cx="3264" cy="1200"/>
            </a:xfrm>
            <a:prstGeom prst="roundRect">
              <a:avLst>
                <a:gd name="adj" fmla="val 50000"/>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endParaRPr kumimoji="1" lang="en-PK" altLang="en-PK" sz="2400">
                <a:latin typeface="Times New Roman" panose="02020603050405020304" pitchFamily="18" charset="0"/>
              </a:endParaRPr>
            </a:p>
          </p:txBody>
        </p:sp>
      </p:grpSp>
      <p:grpSp>
        <p:nvGrpSpPr>
          <p:cNvPr id="7" name="Group 5">
            <a:extLst>
              <a:ext uri="{FF2B5EF4-FFF2-40B4-BE49-F238E27FC236}">
                <a16:creationId xmlns:a16="http://schemas.microsoft.com/office/drawing/2014/main" id="{4CCC10C4-1070-49FF-9EC0-FC19F4D37B5A}"/>
              </a:ext>
            </a:extLst>
          </p:cNvPr>
          <p:cNvGrpSpPr>
            <a:grpSpLocks/>
          </p:cNvGrpSpPr>
          <p:nvPr/>
        </p:nvGrpSpPr>
        <p:grpSpPr bwMode="auto">
          <a:xfrm>
            <a:off x="3632200" y="4889500"/>
            <a:ext cx="4876800" cy="319088"/>
            <a:chOff x="2288" y="3080"/>
            <a:chExt cx="3072" cy="201"/>
          </a:xfrm>
        </p:grpSpPr>
        <p:sp>
          <p:nvSpPr>
            <p:cNvPr id="8" name="AutoShape 6">
              <a:extLst>
                <a:ext uri="{FF2B5EF4-FFF2-40B4-BE49-F238E27FC236}">
                  <a16:creationId xmlns:a16="http://schemas.microsoft.com/office/drawing/2014/main" id="{95304FCF-25DE-4BD8-A83B-51D9A6ECE647}"/>
                </a:ext>
              </a:extLst>
            </p:cNvPr>
            <p:cNvSpPr>
              <a:spLocks noChangeArrowheads="1"/>
            </p:cNvSpPr>
            <p:nvPr/>
          </p:nvSpPr>
          <p:spPr bwMode="auto">
            <a:xfrm flipH="1">
              <a:off x="2288" y="3080"/>
              <a:ext cx="2914" cy="200"/>
            </a:xfrm>
            <a:prstGeom prst="roundRect">
              <a:avLst>
                <a:gd name="adj" fmla="val 0"/>
              </a:avLst>
            </a:pr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PK" altLang="en-PK" sz="1800"/>
            </a:p>
          </p:txBody>
        </p:sp>
        <p:sp>
          <p:nvSpPr>
            <p:cNvPr id="9" name="AutoShape 7">
              <a:extLst>
                <a:ext uri="{FF2B5EF4-FFF2-40B4-BE49-F238E27FC236}">
                  <a16:creationId xmlns:a16="http://schemas.microsoft.com/office/drawing/2014/main" id="{16389DA0-8CD8-4422-9A8F-A93463A81D39}"/>
                </a:ext>
              </a:extLst>
            </p:cNvPr>
            <p:cNvSpPr>
              <a:spLocks noChangeArrowheads="1"/>
            </p:cNvSpPr>
            <p:nvPr/>
          </p:nvSpPr>
          <p:spPr bwMode="auto">
            <a:xfrm>
              <a:off x="5196" y="3080"/>
              <a:ext cx="164" cy="201"/>
            </a:xfrm>
            <a:prstGeom prst="flowChartDelay">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PK" altLang="en-PK" sz="1800"/>
            </a:p>
          </p:txBody>
        </p:sp>
      </p:grpSp>
      <p:sp>
        <p:nvSpPr>
          <p:cNvPr id="5128" name="Rectangle 8"/>
          <p:cNvSpPr>
            <a:spLocks noGrp="1" noChangeArrowheads="1"/>
          </p:cNvSpPr>
          <p:nvPr>
            <p:ph type="subTitle" idx="1"/>
          </p:nvPr>
        </p:nvSpPr>
        <p:spPr>
          <a:xfrm>
            <a:off x="4673601" y="2927350"/>
            <a:ext cx="4013200" cy="1822450"/>
          </a:xfrm>
        </p:spPr>
        <p:txBody>
          <a:bodyPr anchor="b"/>
          <a:lstStyle>
            <a:lvl1pPr marL="0" indent="0">
              <a:buFont typeface="Wingdings" pitchFamily="2" charset="2"/>
              <a:buNone/>
              <a:defRPr>
                <a:solidFill>
                  <a:schemeClr val="tx2"/>
                </a:solidFill>
              </a:defRPr>
            </a:lvl1pPr>
          </a:lstStyle>
          <a:p>
            <a:r>
              <a:rPr lang="en-US" smtClean="0"/>
              <a:t>Click to edit Master subtitle style</a:t>
            </a:r>
            <a:endParaRPr lang="en-US"/>
          </a:p>
        </p:txBody>
      </p:sp>
      <p:sp>
        <p:nvSpPr>
          <p:cNvPr id="5132" name="AutoShape 12"/>
          <p:cNvSpPr>
            <a:spLocks noGrp="1" noChangeArrowheads="1"/>
          </p:cNvSpPr>
          <p:nvPr>
            <p:ph type="ctrTitle" sz="quarter"/>
          </p:nvPr>
        </p:nvSpPr>
        <p:spPr>
          <a:xfrm>
            <a:off x="685800" y="990600"/>
            <a:ext cx="8229600" cy="1905000"/>
          </a:xfrm>
          <a:prstGeom prst="roundRect">
            <a:avLst>
              <a:gd name="adj" fmla="val 50000"/>
            </a:avLst>
          </a:prstGeom>
        </p:spPr>
        <p:txBody>
          <a:bodyPr anchor="ctr"/>
          <a:lstStyle>
            <a:lvl1pPr algn="ctr">
              <a:defRPr>
                <a:solidFill>
                  <a:schemeClr val="tx1"/>
                </a:solidFill>
              </a:defRPr>
            </a:lvl1pPr>
          </a:lstStyle>
          <a:p>
            <a:r>
              <a:rPr lang="en-US" smtClean="0"/>
              <a:t>Click to edit Master title style</a:t>
            </a:r>
            <a:endParaRPr lang="en-US"/>
          </a:p>
        </p:txBody>
      </p:sp>
      <p:sp>
        <p:nvSpPr>
          <p:cNvPr id="10" name="Date Placeholder 9">
            <a:extLst>
              <a:ext uri="{FF2B5EF4-FFF2-40B4-BE49-F238E27FC236}">
                <a16:creationId xmlns:a16="http://schemas.microsoft.com/office/drawing/2014/main" id="{E9144541-1081-4B27-9E4B-DD51FC1DCE6A}"/>
              </a:ext>
            </a:extLst>
          </p:cNvPr>
          <p:cNvSpPr>
            <a:spLocks noGrp="1" noChangeArrowheads="1"/>
          </p:cNvSpPr>
          <p:nvPr>
            <p:ph type="dt" sz="quarter" idx="10"/>
          </p:nvPr>
        </p:nvSpPr>
        <p:spPr/>
        <p:txBody>
          <a:bodyPr/>
          <a:lstStyle>
            <a:lvl1pPr>
              <a:defRPr>
                <a:solidFill>
                  <a:schemeClr val="bg1"/>
                </a:solidFill>
              </a:defRPr>
            </a:lvl1pPr>
          </a:lstStyle>
          <a:p>
            <a:pPr>
              <a:defRPr/>
            </a:pPr>
            <a:fld id="{DEA2DDD3-E1F1-46A7-8DB6-3C45A4505E72}" type="datetime1">
              <a:rPr lang="en-US" smtClean="0"/>
              <a:pPr>
                <a:defRPr/>
              </a:pPr>
              <a:t>5/29/2023</a:t>
            </a:fld>
            <a:endParaRPr lang="en-US"/>
          </a:p>
        </p:txBody>
      </p:sp>
      <p:sp>
        <p:nvSpPr>
          <p:cNvPr id="11" name="Footer Placeholder 10">
            <a:extLst>
              <a:ext uri="{FF2B5EF4-FFF2-40B4-BE49-F238E27FC236}">
                <a16:creationId xmlns:a16="http://schemas.microsoft.com/office/drawing/2014/main" id="{97755DD8-7CD3-439F-A290-5D547A54A737}"/>
              </a:ext>
            </a:extLst>
          </p:cNvPr>
          <p:cNvSpPr>
            <a:spLocks noGrp="1" noChangeArrowheads="1"/>
          </p:cNvSpPr>
          <p:nvPr>
            <p:ph type="ftr" sz="quarter" idx="11"/>
          </p:nvPr>
        </p:nvSpPr>
        <p:spPr/>
        <p:txBody>
          <a:bodyPr/>
          <a:lstStyle>
            <a:lvl1pPr algn="r">
              <a:defRPr/>
            </a:lvl1pPr>
          </a:lstStyle>
          <a:p>
            <a:pPr>
              <a:defRPr/>
            </a:pPr>
            <a:r>
              <a:rPr lang="en-US" smtClean="0"/>
              <a:t>MS Thesis: Secure Mechanism for Handling Targeted Attacks in WMNs</a:t>
            </a:r>
            <a:endParaRPr lang="en-US"/>
          </a:p>
        </p:txBody>
      </p:sp>
      <p:sp>
        <p:nvSpPr>
          <p:cNvPr id="12" name="Slide Number Placeholder 11">
            <a:extLst>
              <a:ext uri="{FF2B5EF4-FFF2-40B4-BE49-F238E27FC236}">
                <a16:creationId xmlns:a16="http://schemas.microsoft.com/office/drawing/2014/main" id="{2137CD04-9D5B-417F-A66B-C38A4D2D5246}"/>
              </a:ext>
            </a:extLst>
          </p:cNvPr>
          <p:cNvSpPr>
            <a:spLocks noGrp="1" noChangeArrowheads="1"/>
          </p:cNvSpPr>
          <p:nvPr>
            <p:ph type="sldNum" sz="quarter" idx="12"/>
          </p:nvPr>
        </p:nvSpPr>
        <p:spPr>
          <a:xfrm>
            <a:off x="76201" y="6248400"/>
            <a:ext cx="587375" cy="488950"/>
          </a:xfrm>
        </p:spPr>
        <p:txBody>
          <a:bodyPr anchorCtr="0"/>
          <a:lstStyle>
            <a:lvl1pPr>
              <a:defRPr/>
            </a:lvl1pPr>
          </a:lstStyle>
          <a:p>
            <a:pPr>
              <a:defRPr/>
            </a:pPr>
            <a:fld id="{3E172366-4680-453B-8CE0-51055CC15387}" type="slidenum">
              <a:rPr lang="en-US" altLang="en-US" smtClean="0"/>
              <a:pPr>
                <a:defRPr/>
              </a:pPr>
              <a:t>‹#›</a:t>
            </a:fld>
            <a:endParaRPr lang="en-US" altLang="en-US"/>
          </a:p>
        </p:txBody>
      </p:sp>
    </p:spTree>
    <p:extLst>
      <p:ext uri="{BB962C8B-B14F-4D97-AF65-F5344CB8AC3E}">
        <p14:creationId xmlns:p14="http://schemas.microsoft.com/office/powerpoint/2010/main" val="20002178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1">
            <a:extLst>
              <a:ext uri="{FF2B5EF4-FFF2-40B4-BE49-F238E27FC236}">
                <a16:creationId xmlns:a16="http://schemas.microsoft.com/office/drawing/2014/main" id="{6D41561C-CEBF-48F4-9E28-C4482E17CA74}"/>
              </a:ext>
            </a:extLst>
          </p:cNvPr>
          <p:cNvSpPr>
            <a:spLocks noGrp="1" noChangeArrowheads="1"/>
          </p:cNvSpPr>
          <p:nvPr>
            <p:ph type="dt" sz="half" idx="10"/>
          </p:nvPr>
        </p:nvSpPr>
        <p:spPr>
          <a:ln/>
        </p:spPr>
        <p:txBody>
          <a:bodyPr/>
          <a:lstStyle>
            <a:lvl1pPr>
              <a:defRPr/>
            </a:lvl1pPr>
          </a:lstStyle>
          <a:p>
            <a:pPr>
              <a:defRPr/>
            </a:pPr>
            <a:fld id="{3916A009-F653-4DB9-B522-DAA31374DFAC}" type="datetime1">
              <a:rPr lang="en-US" smtClean="0"/>
              <a:pPr>
                <a:defRPr/>
              </a:pPr>
              <a:t>5/29/2023</a:t>
            </a:fld>
            <a:endParaRPr lang="en-US"/>
          </a:p>
        </p:txBody>
      </p:sp>
      <p:sp>
        <p:nvSpPr>
          <p:cNvPr id="5" name="Rectangle 12">
            <a:extLst>
              <a:ext uri="{FF2B5EF4-FFF2-40B4-BE49-F238E27FC236}">
                <a16:creationId xmlns:a16="http://schemas.microsoft.com/office/drawing/2014/main" id="{0E5660E3-240B-41E3-888C-1B88C6F558A9}"/>
              </a:ext>
            </a:extLst>
          </p:cNvPr>
          <p:cNvSpPr>
            <a:spLocks noGrp="1" noChangeArrowheads="1"/>
          </p:cNvSpPr>
          <p:nvPr>
            <p:ph type="ftr" sz="quarter" idx="11"/>
          </p:nvPr>
        </p:nvSpPr>
        <p:spPr>
          <a:ln/>
        </p:spPr>
        <p:txBody>
          <a:bodyPr/>
          <a:lstStyle>
            <a:lvl1pPr>
              <a:defRPr/>
            </a:lvl1pPr>
          </a:lstStyle>
          <a:p>
            <a:pPr>
              <a:defRPr/>
            </a:pPr>
            <a:r>
              <a:rPr lang="en-US" smtClean="0"/>
              <a:t>MS Thesis: Secure Mechanism for Handling Targeted Attacks in WMNs</a:t>
            </a:r>
            <a:endParaRPr lang="en-US"/>
          </a:p>
        </p:txBody>
      </p:sp>
      <p:sp>
        <p:nvSpPr>
          <p:cNvPr id="6" name="Rectangle 13">
            <a:extLst>
              <a:ext uri="{FF2B5EF4-FFF2-40B4-BE49-F238E27FC236}">
                <a16:creationId xmlns:a16="http://schemas.microsoft.com/office/drawing/2014/main" id="{59180715-2C5B-4D99-B35D-5CB9C8F567D7}"/>
              </a:ext>
            </a:extLst>
          </p:cNvPr>
          <p:cNvSpPr>
            <a:spLocks noGrp="1" noChangeArrowheads="1"/>
          </p:cNvSpPr>
          <p:nvPr>
            <p:ph type="sldNum" sz="quarter" idx="12"/>
          </p:nvPr>
        </p:nvSpPr>
        <p:spPr>
          <a:ln/>
        </p:spPr>
        <p:txBody>
          <a:bodyPr/>
          <a:lstStyle>
            <a:lvl1pPr>
              <a:defRPr/>
            </a:lvl1pPr>
          </a:lstStyle>
          <a:p>
            <a:pPr>
              <a:defRPr/>
            </a:pPr>
            <a:fld id="{D654C4A7-1AB6-4A61-9F0E-92056327BF78}" type="slidenum">
              <a:rPr lang="en-US" altLang="en-US" smtClean="0"/>
              <a:pPr>
                <a:defRPr/>
              </a:pPr>
              <a:t>‹#›</a:t>
            </a:fld>
            <a:endParaRPr lang="en-US" altLang="en-US"/>
          </a:p>
        </p:txBody>
      </p:sp>
    </p:spTree>
    <p:extLst>
      <p:ext uri="{BB962C8B-B14F-4D97-AF65-F5344CB8AC3E}">
        <p14:creationId xmlns:p14="http://schemas.microsoft.com/office/powerpoint/2010/main" val="2936220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Edit Master text styles</a:t>
            </a:r>
          </a:p>
        </p:txBody>
      </p:sp>
      <p:sp>
        <p:nvSpPr>
          <p:cNvPr id="4" name="Rectangle 11">
            <a:extLst>
              <a:ext uri="{FF2B5EF4-FFF2-40B4-BE49-F238E27FC236}">
                <a16:creationId xmlns:a16="http://schemas.microsoft.com/office/drawing/2014/main" id="{9AE7B7F9-9B63-4C99-B240-FC12E76B5802}"/>
              </a:ext>
            </a:extLst>
          </p:cNvPr>
          <p:cNvSpPr>
            <a:spLocks noGrp="1" noChangeArrowheads="1"/>
          </p:cNvSpPr>
          <p:nvPr>
            <p:ph type="dt" sz="half" idx="10"/>
          </p:nvPr>
        </p:nvSpPr>
        <p:spPr>
          <a:ln/>
        </p:spPr>
        <p:txBody>
          <a:bodyPr/>
          <a:lstStyle>
            <a:lvl1pPr>
              <a:defRPr/>
            </a:lvl1pPr>
          </a:lstStyle>
          <a:p>
            <a:pPr>
              <a:defRPr/>
            </a:pPr>
            <a:fld id="{F40C8D0B-ED35-4979-8AF5-94ACDA8D83E0}" type="datetime1">
              <a:rPr lang="en-US" smtClean="0"/>
              <a:pPr>
                <a:defRPr/>
              </a:pPr>
              <a:t>5/29/2023</a:t>
            </a:fld>
            <a:endParaRPr lang="en-US"/>
          </a:p>
        </p:txBody>
      </p:sp>
      <p:sp>
        <p:nvSpPr>
          <p:cNvPr id="5" name="Rectangle 12">
            <a:extLst>
              <a:ext uri="{FF2B5EF4-FFF2-40B4-BE49-F238E27FC236}">
                <a16:creationId xmlns:a16="http://schemas.microsoft.com/office/drawing/2014/main" id="{6EDBDB97-8B17-4504-8ADA-64F907DF670C}"/>
              </a:ext>
            </a:extLst>
          </p:cNvPr>
          <p:cNvSpPr>
            <a:spLocks noGrp="1" noChangeArrowheads="1"/>
          </p:cNvSpPr>
          <p:nvPr>
            <p:ph type="ftr" sz="quarter" idx="11"/>
          </p:nvPr>
        </p:nvSpPr>
        <p:spPr>
          <a:ln/>
        </p:spPr>
        <p:txBody>
          <a:bodyPr/>
          <a:lstStyle>
            <a:lvl1pPr>
              <a:defRPr/>
            </a:lvl1pPr>
          </a:lstStyle>
          <a:p>
            <a:pPr>
              <a:defRPr/>
            </a:pPr>
            <a:r>
              <a:rPr lang="en-US" smtClean="0"/>
              <a:t>MS Thesis: Secure Mechanism for Handling Targeted Attacks in WMNs</a:t>
            </a:r>
            <a:endParaRPr lang="en-US"/>
          </a:p>
        </p:txBody>
      </p:sp>
      <p:sp>
        <p:nvSpPr>
          <p:cNvPr id="6" name="Rectangle 13">
            <a:extLst>
              <a:ext uri="{FF2B5EF4-FFF2-40B4-BE49-F238E27FC236}">
                <a16:creationId xmlns:a16="http://schemas.microsoft.com/office/drawing/2014/main" id="{331478AB-4749-4D3C-8589-3B6D14C30A9C}"/>
              </a:ext>
            </a:extLst>
          </p:cNvPr>
          <p:cNvSpPr>
            <a:spLocks noGrp="1" noChangeArrowheads="1"/>
          </p:cNvSpPr>
          <p:nvPr>
            <p:ph type="sldNum" sz="quarter" idx="12"/>
          </p:nvPr>
        </p:nvSpPr>
        <p:spPr>
          <a:ln/>
        </p:spPr>
        <p:txBody>
          <a:bodyPr/>
          <a:lstStyle>
            <a:lvl1pPr>
              <a:defRPr/>
            </a:lvl1pPr>
          </a:lstStyle>
          <a:p>
            <a:pPr>
              <a:defRPr/>
            </a:pPr>
            <a:fld id="{2DA56DB8-3025-471B-8454-D00FF95B93B0}" type="slidenum">
              <a:rPr lang="en-US" altLang="en-US" smtClean="0"/>
              <a:pPr>
                <a:defRPr/>
              </a:pPr>
              <a:t>‹#›</a:t>
            </a:fld>
            <a:endParaRPr lang="en-US" altLang="en-US"/>
          </a:p>
        </p:txBody>
      </p:sp>
    </p:spTree>
    <p:extLst>
      <p:ext uri="{BB962C8B-B14F-4D97-AF65-F5344CB8AC3E}">
        <p14:creationId xmlns:p14="http://schemas.microsoft.com/office/powerpoint/2010/main" val="2203839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1" y="2362202"/>
            <a:ext cx="3770313" cy="3724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60914" y="2362202"/>
            <a:ext cx="3770312" cy="3724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1">
            <a:extLst>
              <a:ext uri="{FF2B5EF4-FFF2-40B4-BE49-F238E27FC236}">
                <a16:creationId xmlns:a16="http://schemas.microsoft.com/office/drawing/2014/main" id="{38D3B876-73DB-429F-B4A5-ACDB21507ACA}"/>
              </a:ext>
            </a:extLst>
          </p:cNvPr>
          <p:cNvSpPr>
            <a:spLocks noGrp="1" noChangeArrowheads="1"/>
          </p:cNvSpPr>
          <p:nvPr>
            <p:ph type="dt" sz="half" idx="10"/>
          </p:nvPr>
        </p:nvSpPr>
        <p:spPr>
          <a:ln/>
        </p:spPr>
        <p:txBody>
          <a:bodyPr/>
          <a:lstStyle>
            <a:lvl1pPr>
              <a:defRPr/>
            </a:lvl1pPr>
          </a:lstStyle>
          <a:p>
            <a:pPr>
              <a:defRPr/>
            </a:pPr>
            <a:fld id="{9ED46ABB-4DCA-4A95-B6DB-9A8920B24E4E}" type="datetime1">
              <a:rPr lang="en-US" smtClean="0"/>
              <a:pPr>
                <a:defRPr/>
              </a:pPr>
              <a:t>5/29/2023</a:t>
            </a:fld>
            <a:endParaRPr lang="en-US"/>
          </a:p>
        </p:txBody>
      </p:sp>
      <p:sp>
        <p:nvSpPr>
          <p:cNvPr id="6" name="Rectangle 12">
            <a:extLst>
              <a:ext uri="{FF2B5EF4-FFF2-40B4-BE49-F238E27FC236}">
                <a16:creationId xmlns:a16="http://schemas.microsoft.com/office/drawing/2014/main" id="{B730567E-7D9B-4A0A-8C19-E932DA0EC6FD}"/>
              </a:ext>
            </a:extLst>
          </p:cNvPr>
          <p:cNvSpPr>
            <a:spLocks noGrp="1" noChangeArrowheads="1"/>
          </p:cNvSpPr>
          <p:nvPr>
            <p:ph type="ftr" sz="quarter" idx="11"/>
          </p:nvPr>
        </p:nvSpPr>
        <p:spPr>
          <a:ln/>
        </p:spPr>
        <p:txBody>
          <a:bodyPr/>
          <a:lstStyle>
            <a:lvl1pPr>
              <a:defRPr/>
            </a:lvl1pPr>
          </a:lstStyle>
          <a:p>
            <a:pPr>
              <a:defRPr/>
            </a:pPr>
            <a:r>
              <a:rPr lang="en-US" smtClean="0"/>
              <a:t>MS Thesis: Secure Mechanism for Handling Targeted Attacks in WMNs</a:t>
            </a:r>
            <a:endParaRPr lang="en-US"/>
          </a:p>
        </p:txBody>
      </p:sp>
      <p:sp>
        <p:nvSpPr>
          <p:cNvPr id="7" name="Rectangle 13">
            <a:extLst>
              <a:ext uri="{FF2B5EF4-FFF2-40B4-BE49-F238E27FC236}">
                <a16:creationId xmlns:a16="http://schemas.microsoft.com/office/drawing/2014/main" id="{E332F7B6-D444-4E55-96A6-522A403CFEE0}"/>
              </a:ext>
            </a:extLst>
          </p:cNvPr>
          <p:cNvSpPr>
            <a:spLocks noGrp="1" noChangeArrowheads="1"/>
          </p:cNvSpPr>
          <p:nvPr>
            <p:ph type="sldNum" sz="quarter" idx="12"/>
          </p:nvPr>
        </p:nvSpPr>
        <p:spPr>
          <a:ln/>
        </p:spPr>
        <p:txBody>
          <a:bodyPr/>
          <a:lstStyle>
            <a:lvl1pPr>
              <a:defRPr/>
            </a:lvl1pPr>
          </a:lstStyle>
          <a:p>
            <a:pPr>
              <a:defRPr/>
            </a:pPr>
            <a:fld id="{E0C6D894-32CE-4CF0-A406-EAB3EEA7230D}" type="slidenum">
              <a:rPr lang="en-US" altLang="en-US" smtClean="0"/>
              <a:pPr>
                <a:defRPr/>
              </a:pPr>
              <a:t>‹#›</a:t>
            </a:fld>
            <a:endParaRPr lang="en-US" altLang="en-US"/>
          </a:p>
        </p:txBody>
      </p:sp>
    </p:spTree>
    <p:extLst>
      <p:ext uri="{BB962C8B-B14F-4D97-AF65-F5344CB8AC3E}">
        <p14:creationId xmlns:p14="http://schemas.microsoft.com/office/powerpoint/2010/main" val="3340175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1">
            <a:extLst>
              <a:ext uri="{FF2B5EF4-FFF2-40B4-BE49-F238E27FC236}">
                <a16:creationId xmlns:a16="http://schemas.microsoft.com/office/drawing/2014/main" id="{23D9AB9F-2A0C-4FBB-B382-9C21E1687AF2}"/>
              </a:ext>
            </a:extLst>
          </p:cNvPr>
          <p:cNvSpPr>
            <a:spLocks noGrp="1" noChangeArrowheads="1"/>
          </p:cNvSpPr>
          <p:nvPr>
            <p:ph type="dt" sz="half" idx="10"/>
          </p:nvPr>
        </p:nvSpPr>
        <p:spPr>
          <a:ln/>
        </p:spPr>
        <p:txBody>
          <a:bodyPr/>
          <a:lstStyle>
            <a:lvl1pPr>
              <a:defRPr/>
            </a:lvl1pPr>
          </a:lstStyle>
          <a:p>
            <a:pPr>
              <a:defRPr/>
            </a:pPr>
            <a:fld id="{3470E132-3103-47CD-B776-214EA3821162}" type="datetime1">
              <a:rPr lang="en-US" smtClean="0"/>
              <a:pPr>
                <a:defRPr/>
              </a:pPr>
              <a:t>5/29/2023</a:t>
            </a:fld>
            <a:endParaRPr lang="en-US"/>
          </a:p>
        </p:txBody>
      </p:sp>
      <p:sp>
        <p:nvSpPr>
          <p:cNvPr id="8" name="Rectangle 12">
            <a:extLst>
              <a:ext uri="{FF2B5EF4-FFF2-40B4-BE49-F238E27FC236}">
                <a16:creationId xmlns:a16="http://schemas.microsoft.com/office/drawing/2014/main" id="{DA914F3E-D7BB-499F-8AAC-D29CA4F04513}"/>
              </a:ext>
            </a:extLst>
          </p:cNvPr>
          <p:cNvSpPr>
            <a:spLocks noGrp="1" noChangeArrowheads="1"/>
          </p:cNvSpPr>
          <p:nvPr>
            <p:ph type="ftr" sz="quarter" idx="11"/>
          </p:nvPr>
        </p:nvSpPr>
        <p:spPr>
          <a:ln/>
        </p:spPr>
        <p:txBody>
          <a:bodyPr/>
          <a:lstStyle>
            <a:lvl1pPr>
              <a:defRPr/>
            </a:lvl1pPr>
          </a:lstStyle>
          <a:p>
            <a:pPr>
              <a:defRPr/>
            </a:pPr>
            <a:r>
              <a:rPr lang="en-US" smtClean="0"/>
              <a:t>MS Thesis: Secure Mechanism for Handling Targeted Attacks in WMNs</a:t>
            </a:r>
            <a:endParaRPr lang="en-US"/>
          </a:p>
        </p:txBody>
      </p:sp>
      <p:sp>
        <p:nvSpPr>
          <p:cNvPr id="9" name="Rectangle 13">
            <a:extLst>
              <a:ext uri="{FF2B5EF4-FFF2-40B4-BE49-F238E27FC236}">
                <a16:creationId xmlns:a16="http://schemas.microsoft.com/office/drawing/2014/main" id="{07F3BCB4-F714-4117-802E-711CF7676F4A}"/>
              </a:ext>
            </a:extLst>
          </p:cNvPr>
          <p:cNvSpPr>
            <a:spLocks noGrp="1" noChangeArrowheads="1"/>
          </p:cNvSpPr>
          <p:nvPr>
            <p:ph type="sldNum" sz="quarter" idx="12"/>
          </p:nvPr>
        </p:nvSpPr>
        <p:spPr>
          <a:ln/>
        </p:spPr>
        <p:txBody>
          <a:bodyPr/>
          <a:lstStyle>
            <a:lvl1pPr>
              <a:defRPr/>
            </a:lvl1pPr>
          </a:lstStyle>
          <a:p>
            <a:pPr>
              <a:defRPr/>
            </a:pPr>
            <a:fld id="{186D9076-E5F6-4C9F-A932-3A8F56725481}" type="slidenum">
              <a:rPr lang="en-US" altLang="en-US" smtClean="0"/>
              <a:pPr>
                <a:defRPr/>
              </a:pPr>
              <a:t>‹#›</a:t>
            </a:fld>
            <a:endParaRPr lang="en-US" altLang="en-US"/>
          </a:p>
        </p:txBody>
      </p:sp>
    </p:spTree>
    <p:extLst>
      <p:ext uri="{BB962C8B-B14F-4D97-AF65-F5344CB8AC3E}">
        <p14:creationId xmlns:p14="http://schemas.microsoft.com/office/powerpoint/2010/main" val="1787440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1">
            <a:extLst>
              <a:ext uri="{FF2B5EF4-FFF2-40B4-BE49-F238E27FC236}">
                <a16:creationId xmlns:a16="http://schemas.microsoft.com/office/drawing/2014/main" id="{F582D231-FDF6-426E-A616-698440509C70}"/>
              </a:ext>
            </a:extLst>
          </p:cNvPr>
          <p:cNvSpPr>
            <a:spLocks noGrp="1" noChangeArrowheads="1"/>
          </p:cNvSpPr>
          <p:nvPr>
            <p:ph type="dt" sz="half" idx="10"/>
          </p:nvPr>
        </p:nvSpPr>
        <p:spPr>
          <a:ln/>
        </p:spPr>
        <p:txBody>
          <a:bodyPr/>
          <a:lstStyle>
            <a:lvl1pPr>
              <a:defRPr/>
            </a:lvl1pPr>
          </a:lstStyle>
          <a:p>
            <a:pPr>
              <a:defRPr/>
            </a:pPr>
            <a:fld id="{BBD5B2E3-B835-461D-8F98-C864E34D2226}" type="datetime1">
              <a:rPr lang="en-US" smtClean="0"/>
              <a:pPr>
                <a:defRPr/>
              </a:pPr>
              <a:t>5/29/2023</a:t>
            </a:fld>
            <a:endParaRPr lang="en-US"/>
          </a:p>
        </p:txBody>
      </p:sp>
      <p:sp>
        <p:nvSpPr>
          <p:cNvPr id="4" name="Rectangle 12">
            <a:extLst>
              <a:ext uri="{FF2B5EF4-FFF2-40B4-BE49-F238E27FC236}">
                <a16:creationId xmlns:a16="http://schemas.microsoft.com/office/drawing/2014/main" id="{0EDCA115-9E3C-40D4-8912-F4E20DB6BA21}"/>
              </a:ext>
            </a:extLst>
          </p:cNvPr>
          <p:cNvSpPr>
            <a:spLocks noGrp="1" noChangeArrowheads="1"/>
          </p:cNvSpPr>
          <p:nvPr>
            <p:ph type="ftr" sz="quarter" idx="11"/>
          </p:nvPr>
        </p:nvSpPr>
        <p:spPr>
          <a:ln/>
        </p:spPr>
        <p:txBody>
          <a:bodyPr/>
          <a:lstStyle>
            <a:lvl1pPr>
              <a:defRPr/>
            </a:lvl1pPr>
          </a:lstStyle>
          <a:p>
            <a:pPr>
              <a:defRPr/>
            </a:pPr>
            <a:r>
              <a:rPr lang="en-US" smtClean="0"/>
              <a:t>MS Thesis: Secure Mechanism for Handling Targeted Attacks in WMNs</a:t>
            </a:r>
            <a:endParaRPr lang="en-US"/>
          </a:p>
        </p:txBody>
      </p:sp>
      <p:sp>
        <p:nvSpPr>
          <p:cNvPr id="5" name="Rectangle 13">
            <a:extLst>
              <a:ext uri="{FF2B5EF4-FFF2-40B4-BE49-F238E27FC236}">
                <a16:creationId xmlns:a16="http://schemas.microsoft.com/office/drawing/2014/main" id="{2499D514-9105-4111-8B91-F8810A02CA1E}"/>
              </a:ext>
            </a:extLst>
          </p:cNvPr>
          <p:cNvSpPr>
            <a:spLocks noGrp="1" noChangeArrowheads="1"/>
          </p:cNvSpPr>
          <p:nvPr>
            <p:ph type="sldNum" sz="quarter" idx="12"/>
          </p:nvPr>
        </p:nvSpPr>
        <p:spPr>
          <a:ln/>
        </p:spPr>
        <p:txBody>
          <a:bodyPr/>
          <a:lstStyle>
            <a:lvl1pPr>
              <a:defRPr/>
            </a:lvl1pPr>
          </a:lstStyle>
          <a:p>
            <a:pPr>
              <a:defRPr/>
            </a:pPr>
            <a:fld id="{E4D035BF-E341-4B0B-9054-2A64A9726CF8}" type="slidenum">
              <a:rPr lang="en-US" altLang="en-US" smtClean="0"/>
              <a:pPr>
                <a:defRPr/>
              </a:pPr>
              <a:t>‹#›</a:t>
            </a:fld>
            <a:endParaRPr lang="en-US" altLang="en-US"/>
          </a:p>
        </p:txBody>
      </p:sp>
    </p:spTree>
    <p:extLst>
      <p:ext uri="{BB962C8B-B14F-4D97-AF65-F5344CB8AC3E}">
        <p14:creationId xmlns:p14="http://schemas.microsoft.com/office/powerpoint/2010/main" val="28531356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2939D947-A124-40F1-A1CD-BD82F65EC023}"/>
              </a:ext>
            </a:extLst>
          </p:cNvPr>
          <p:cNvSpPr>
            <a:spLocks noGrp="1" noChangeArrowheads="1"/>
          </p:cNvSpPr>
          <p:nvPr>
            <p:ph type="dt" sz="half" idx="10"/>
          </p:nvPr>
        </p:nvSpPr>
        <p:spPr>
          <a:ln/>
        </p:spPr>
        <p:txBody>
          <a:bodyPr/>
          <a:lstStyle>
            <a:lvl1pPr>
              <a:defRPr/>
            </a:lvl1pPr>
          </a:lstStyle>
          <a:p>
            <a:pPr>
              <a:defRPr/>
            </a:pPr>
            <a:fld id="{0E49B610-2B27-47D4-B171-832BB2E0572C}" type="datetime1">
              <a:rPr lang="en-US" smtClean="0"/>
              <a:pPr>
                <a:defRPr/>
              </a:pPr>
              <a:t>5/29/2023</a:t>
            </a:fld>
            <a:endParaRPr lang="en-US"/>
          </a:p>
        </p:txBody>
      </p:sp>
      <p:sp>
        <p:nvSpPr>
          <p:cNvPr id="3" name="Rectangle 12">
            <a:extLst>
              <a:ext uri="{FF2B5EF4-FFF2-40B4-BE49-F238E27FC236}">
                <a16:creationId xmlns:a16="http://schemas.microsoft.com/office/drawing/2014/main" id="{3EDE26CF-7FFF-494A-9127-8D239D271FE7}"/>
              </a:ext>
            </a:extLst>
          </p:cNvPr>
          <p:cNvSpPr>
            <a:spLocks noGrp="1" noChangeArrowheads="1"/>
          </p:cNvSpPr>
          <p:nvPr>
            <p:ph type="ftr" sz="quarter" idx="11"/>
          </p:nvPr>
        </p:nvSpPr>
        <p:spPr>
          <a:ln/>
        </p:spPr>
        <p:txBody>
          <a:bodyPr/>
          <a:lstStyle>
            <a:lvl1pPr>
              <a:defRPr/>
            </a:lvl1pPr>
          </a:lstStyle>
          <a:p>
            <a:pPr>
              <a:defRPr/>
            </a:pPr>
            <a:r>
              <a:rPr lang="en-US" smtClean="0"/>
              <a:t>MS Thesis: Secure Mechanism for Handling Targeted Attacks in WMNs</a:t>
            </a:r>
            <a:endParaRPr lang="en-US"/>
          </a:p>
        </p:txBody>
      </p:sp>
      <p:sp>
        <p:nvSpPr>
          <p:cNvPr id="4" name="Rectangle 13">
            <a:extLst>
              <a:ext uri="{FF2B5EF4-FFF2-40B4-BE49-F238E27FC236}">
                <a16:creationId xmlns:a16="http://schemas.microsoft.com/office/drawing/2014/main" id="{008D1E9E-3392-4D0F-B80B-A17511304F48}"/>
              </a:ext>
            </a:extLst>
          </p:cNvPr>
          <p:cNvSpPr>
            <a:spLocks noGrp="1" noChangeArrowheads="1"/>
          </p:cNvSpPr>
          <p:nvPr>
            <p:ph type="sldNum" sz="quarter" idx="12"/>
          </p:nvPr>
        </p:nvSpPr>
        <p:spPr>
          <a:ln/>
        </p:spPr>
        <p:txBody>
          <a:bodyPr/>
          <a:lstStyle>
            <a:lvl1pPr>
              <a:defRPr/>
            </a:lvl1pPr>
          </a:lstStyle>
          <a:p>
            <a:pPr>
              <a:defRPr/>
            </a:pPr>
            <a:fld id="{E874D75F-C7AB-4CA7-BCC0-E5152D482814}" type="slidenum">
              <a:rPr lang="en-US" altLang="en-US" smtClean="0"/>
              <a:pPr>
                <a:defRPr/>
              </a:pPr>
              <a:t>‹#›</a:t>
            </a:fld>
            <a:endParaRPr lang="en-US" altLang="en-US"/>
          </a:p>
        </p:txBody>
      </p:sp>
    </p:spTree>
    <p:extLst>
      <p:ext uri="{BB962C8B-B14F-4D97-AF65-F5344CB8AC3E}">
        <p14:creationId xmlns:p14="http://schemas.microsoft.com/office/powerpoint/2010/main" val="4245354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Rectangle 11">
            <a:extLst>
              <a:ext uri="{FF2B5EF4-FFF2-40B4-BE49-F238E27FC236}">
                <a16:creationId xmlns:a16="http://schemas.microsoft.com/office/drawing/2014/main" id="{E3958604-85A8-4A4E-97A7-ABA204D8DF83}"/>
              </a:ext>
            </a:extLst>
          </p:cNvPr>
          <p:cNvSpPr>
            <a:spLocks noGrp="1" noChangeArrowheads="1"/>
          </p:cNvSpPr>
          <p:nvPr>
            <p:ph type="dt" sz="half" idx="10"/>
          </p:nvPr>
        </p:nvSpPr>
        <p:spPr>
          <a:ln/>
        </p:spPr>
        <p:txBody>
          <a:bodyPr/>
          <a:lstStyle>
            <a:lvl1pPr>
              <a:defRPr/>
            </a:lvl1pPr>
          </a:lstStyle>
          <a:p>
            <a:pPr>
              <a:defRPr/>
            </a:pPr>
            <a:fld id="{E8FA541A-A7DC-4414-86E1-E36720037DED}" type="datetime1">
              <a:rPr lang="en-US" smtClean="0"/>
              <a:pPr>
                <a:defRPr/>
              </a:pPr>
              <a:t>5/29/2023</a:t>
            </a:fld>
            <a:endParaRPr lang="en-US"/>
          </a:p>
        </p:txBody>
      </p:sp>
      <p:sp>
        <p:nvSpPr>
          <p:cNvPr id="6" name="Rectangle 12">
            <a:extLst>
              <a:ext uri="{FF2B5EF4-FFF2-40B4-BE49-F238E27FC236}">
                <a16:creationId xmlns:a16="http://schemas.microsoft.com/office/drawing/2014/main" id="{84B8F9BB-0FC1-41C7-ADBB-7B2886ABC111}"/>
              </a:ext>
            </a:extLst>
          </p:cNvPr>
          <p:cNvSpPr>
            <a:spLocks noGrp="1" noChangeArrowheads="1"/>
          </p:cNvSpPr>
          <p:nvPr>
            <p:ph type="ftr" sz="quarter" idx="11"/>
          </p:nvPr>
        </p:nvSpPr>
        <p:spPr>
          <a:ln/>
        </p:spPr>
        <p:txBody>
          <a:bodyPr/>
          <a:lstStyle>
            <a:lvl1pPr>
              <a:defRPr/>
            </a:lvl1pPr>
          </a:lstStyle>
          <a:p>
            <a:pPr>
              <a:defRPr/>
            </a:pPr>
            <a:r>
              <a:rPr lang="en-US" smtClean="0"/>
              <a:t>MS Thesis: Secure Mechanism for Handling Targeted Attacks in WMNs</a:t>
            </a:r>
            <a:endParaRPr lang="en-US"/>
          </a:p>
        </p:txBody>
      </p:sp>
      <p:sp>
        <p:nvSpPr>
          <p:cNvPr id="7" name="Rectangle 13">
            <a:extLst>
              <a:ext uri="{FF2B5EF4-FFF2-40B4-BE49-F238E27FC236}">
                <a16:creationId xmlns:a16="http://schemas.microsoft.com/office/drawing/2014/main" id="{0CABE9D4-E092-4117-9D3B-3D8D4681F1E9}"/>
              </a:ext>
            </a:extLst>
          </p:cNvPr>
          <p:cNvSpPr>
            <a:spLocks noGrp="1" noChangeArrowheads="1"/>
          </p:cNvSpPr>
          <p:nvPr>
            <p:ph type="sldNum" sz="quarter" idx="12"/>
          </p:nvPr>
        </p:nvSpPr>
        <p:spPr>
          <a:ln/>
        </p:spPr>
        <p:txBody>
          <a:bodyPr/>
          <a:lstStyle>
            <a:lvl1pPr>
              <a:defRPr/>
            </a:lvl1pPr>
          </a:lstStyle>
          <a:p>
            <a:pPr>
              <a:defRPr/>
            </a:pPr>
            <a:fld id="{1E512D10-A461-436A-912D-74661648D60D}" type="slidenum">
              <a:rPr lang="en-US" altLang="en-US" smtClean="0"/>
              <a:pPr>
                <a:defRPr/>
              </a:pPr>
              <a:t>‹#›</a:t>
            </a:fld>
            <a:endParaRPr lang="en-US" altLang="en-US"/>
          </a:p>
        </p:txBody>
      </p:sp>
    </p:spTree>
    <p:extLst>
      <p:ext uri="{BB962C8B-B14F-4D97-AF65-F5344CB8AC3E}">
        <p14:creationId xmlns:p14="http://schemas.microsoft.com/office/powerpoint/2010/main" val="14805371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Rectangle 11">
            <a:extLst>
              <a:ext uri="{FF2B5EF4-FFF2-40B4-BE49-F238E27FC236}">
                <a16:creationId xmlns:a16="http://schemas.microsoft.com/office/drawing/2014/main" id="{ED75601F-C8A4-4A90-80B4-5F520901F0CD}"/>
              </a:ext>
            </a:extLst>
          </p:cNvPr>
          <p:cNvSpPr>
            <a:spLocks noGrp="1" noChangeArrowheads="1"/>
          </p:cNvSpPr>
          <p:nvPr>
            <p:ph type="dt" sz="half" idx="10"/>
          </p:nvPr>
        </p:nvSpPr>
        <p:spPr>
          <a:ln/>
        </p:spPr>
        <p:txBody>
          <a:bodyPr/>
          <a:lstStyle>
            <a:lvl1pPr>
              <a:defRPr/>
            </a:lvl1pPr>
          </a:lstStyle>
          <a:p>
            <a:pPr>
              <a:defRPr/>
            </a:pPr>
            <a:fld id="{8F0F5902-C856-4D8D-A6E4-6C9525251F8D}" type="datetime1">
              <a:rPr lang="en-US" smtClean="0"/>
              <a:pPr>
                <a:defRPr/>
              </a:pPr>
              <a:t>5/29/2023</a:t>
            </a:fld>
            <a:endParaRPr lang="en-US"/>
          </a:p>
        </p:txBody>
      </p:sp>
      <p:sp>
        <p:nvSpPr>
          <p:cNvPr id="6" name="Rectangle 12">
            <a:extLst>
              <a:ext uri="{FF2B5EF4-FFF2-40B4-BE49-F238E27FC236}">
                <a16:creationId xmlns:a16="http://schemas.microsoft.com/office/drawing/2014/main" id="{72DF7F1E-3D7B-4FB8-A9F7-B9D427D05816}"/>
              </a:ext>
            </a:extLst>
          </p:cNvPr>
          <p:cNvSpPr>
            <a:spLocks noGrp="1" noChangeArrowheads="1"/>
          </p:cNvSpPr>
          <p:nvPr>
            <p:ph type="ftr" sz="quarter" idx="11"/>
          </p:nvPr>
        </p:nvSpPr>
        <p:spPr>
          <a:ln/>
        </p:spPr>
        <p:txBody>
          <a:bodyPr/>
          <a:lstStyle>
            <a:lvl1pPr>
              <a:defRPr/>
            </a:lvl1pPr>
          </a:lstStyle>
          <a:p>
            <a:pPr>
              <a:defRPr/>
            </a:pPr>
            <a:r>
              <a:rPr lang="en-US" smtClean="0"/>
              <a:t>MS Thesis: Secure Mechanism for Handling Targeted Attacks in WMNs</a:t>
            </a:r>
            <a:endParaRPr lang="en-US"/>
          </a:p>
        </p:txBody>
      </p:sp>
      <p:sp>
        <p:nvSpPr>
          <p:cNvPr id="7" name="Rectangle 13">
            <a:extLst>
              <a:ext uri="{FF2B5EF4-FFF2-40B4-BE49-F238E27FC236}">
                <a16:creationId xmlns:a16="http://schemas.microsoft.com/office/drawing/2014/main" id="{7AFB0A65-4C06-4F69-91E5-B374EC5B4499}"/>
              </a:ext>
            </a:extLst>
          </p:cNvPr>
          <p:cNvSpPr>
            <a:spLocks noGrp="1" noChangeArrowheads="1"/>
          </p:cNvSpPr>
          <p:nvPr>
            <p:ph type="sldNum" sz="quarter" idx="12"/>
          </p:nvPr>
        </p:nvSpPr>
        <p:spPr>
          <a:ln/>
        </p:spPr>
        <p:txBody>
          <a:bodyPr/>
          <a:lstStyle>
            <a:lvl1pPr>
              <a:defRPr/>
            </a:lvl1pPr>
          </a:lstStyle>
          <a:p>
            <a:pPr>
              <a:defRPr/>
            </a:pPr>
            <a:fld id="{F2F42906-D37A-44DF-8B79-90D179E94501}" type="slidenum">
              <a:rPr lang="en-US" altLang="en-US" smtClean="0"/>
              <a:pPr>
                <a:defRPr/>
              </a:pPr>
              <a:t>‹#›</a:t>
            </a:fld>
            <a:endParaRPr lang="en-US" altLang="en-US"/>
          </a:p>
        </p:txBody>
      </p:sp>
    </p:spTree>
    <p:extLst>
      <p:ext uri="{BB962C8B-B14F-4D97-AF65-F5344CB8AC3E}">
        <p14:creationId xmlns:p14="http://schemas.microsoft.com/office/powerpoint/2010/main" val="2337523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1">
            <a:extLst>
              <a:ext uri="{FF2B5EF4-FFF2-40B4-BE49-F238E27FC236}">
                <a16:creationId xmlns:a16="http://schemas.microsoft.com/office/drawing/2014/main" id="{564D6AB3-0BE0-4AE2-A565-F6DB7E10D854}"/>
              </a:ext>
            </a:extLst>
          </p:cNvPr>
          <p:cNvSpPr>
            <a:spLocks noGrp="1" noChangeArrowheads="1"/>
          </p:cNvSpPr>
          <p:nvPr>
            <p:ph type="dt" sz="half" idx="10"/>
          </p:nvPr>
        </p:nvSpPr>
        <p:spPr>
          <a:ln/>
        </p:spPr>
        <p:txBody>
          <a:bodyPr/>
          <a:lstStyle>
            <a:lvl1pPr>
              <a:defRPr/>
            </a:lvl1pPr>
          </a:lstStyle>
          <a:p>
            <a:pPr>
              <a:defRPr/>
            </a:pPr>
            <a:fld id="{386B5AFD-8D98-42A0-883F-41890F54DF18}" type="datetime1">
              <a:rPr lang="en-US" smtClean="0"/>
              <a:pPr>
                <a:defRPr/>
              </a:pPr>
              <a:t>5/29/2023</a:t>
            </a:fld>
            <a:endParaRPr lang="en-US"/>
          </a:p>
        </p:txBody>
      </p:sp>
      <p:sp>
        <p:nvSpPr>
          <p:cNvPr id="5" name="Rectangle 12">
            <a:extLst>
              <a:ext uri="{FF2B5EF4-FFF2-40B4-BE49-F238E27FC236}">
                <a16:creationId xmlns:a16="http://schemas.microsoft.com/office/drawing/2014/main" id="{984E88F6-7B9B-48EF-88D1-8B85462701E2}"/>
              </a:ext>
            </a:extLst>
          </p:cNvPr>
          <p:cNvSpPr>
            <a:spLocks noGrp="1" noChangeArrowheads="1"/>
          </p:cNvSpPr>
          <p:nvPr>
            <p:ph type="ftr" sz="quarter" idx="11"/>
          </p:nvPr>
        </p:nvSpPr>
        <p:spPr>
          <a:ln/>
        </p:spPr>
        <p:txBody>
          <a:bodyPr/>
          <a:lstStyle>
            <a:lvl1pPr>
              <a:defRPr/>
            </a:lvl1pPr>
          </a:lstStyle>
          <a:p>
            <a:pPr>
              <a:defRPr/>
            </a:pPr>
            <a:r>
              <a:rPr lang="en-US" smtClean="0"/>
              <a:t>MS Thesis: Secure Mechanism for Handling Targeted Attacks in WMNs</a:t>
            </a:r>
            <a:endParaRPr lang="en-US"/>
          </a:p>
        </p:txBody>
      </p:sp>
      <p:sp>
        <p:nvSpPr>
          <p:cNvPr id="6" name="Rectangle 13">
            <a:extLst>
              <a:ext uri="{FF2B5EF4-FFF2-40B4-BE49-F238E27FC236}">
                <a16:creationId xmlns:a16="http://schemas.microsoft.com/office/drawing/2014/main" id="{6AFD07A6-C54B-4303-8783-79A5AA51DF0A}"/>
              </a:ext>
            </a:extLst>
          </p:cNvPr>
          <p:cNvSpPr>
            <a:spLocks noGrp="1" noChangeArrowheads="1"/>
          </p:cNvSpPr>
          <p:nvPr>
            <p:ph type="sldNum" sz="quarter" idx="12"/>
          </p:nvPr>
        </p:nvSpPr>
        <p:spPr>
          <a:ln/>
        </p:spPr>
        <p:txBody>
          <a:bodyPr/>
          <a:lstStyle>
            <a:lvl1pPr>
              <a:defRPr/>
            </a:lvl1pPr>
          </a:lstStyle>
          <a:p>
            <a:pPr>
              <a:defRPr/>
            </a:pPr>
            <a:fld id="{33C3454C-633C-4596-90B9-5284F0A23968}" type="slidenum">
              <a:rPr lang="en-US" altLang="en-US" smtClean="0"/>
              <a:pPr>
                <a:defRPr/>
              </a:pPr>
              <a:t>‹#›</a:t>
            </a:fld>
            <a:endParaRPr lang="en-US" altLang="en-US"/>
          </a:p>
        </p:txBody>
      </p:sp>
    </p:spTree>
    <p:extLst>
      <p:ext uri="{BB962C8B-B14F-4D97-AF65-F5344CB8AC3E}">
        <p14:creationId xmlns:p14="http://schemas.microsoft.com/office/powerpoint/2010/main" val="93641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762002"/>
            <a:ext cx="1981200" cy="53244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762000" y="762002"/>
            <a:ext cx="5791200" cy="532447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1">
            <a:extLst>
              <a:ext uri="{FF2B5EF4-FFF2-40B4-BE49-F238E27FC236}">
                <a16:creationId xmlns:a16="http://schemas.microsoft.com/office/drawing/2014/main" id="{BE454C69-05BB-4376-BF5B-F23F07E40E4A}"/>
              </a:ext>
            </a:extLst>
          </p:cNvPr>
          <p:cNvSpPr>
            <a:spLocks noGrp="1" noChangeArrowheads="1"/>
          </p:cNvSpPr>
          <p:nvPr>
            <p:ph type="dt" sz="half" idx="10"/>
          </p:nvPr>
        </p:nvSpPr>
        <p:spPr>
          <a:ln/>
        </p:spPr>
        <p:txBody>
          <a:bodyPr/>
          <a:lstStyle>
            <a:lvl1pPr>
              <a:defRPr/>
            </a:lvl1pPr>
          </a:lstStyle>
          <a:p>
            <a:pPr>
              <a:defRPr/>
            </a:pPr>
            <a:fld id="{A42684B2-0033-4E5E-92F4-9E7CAC3FED55}" type="datetime1">
              <a:rPr lang="en-US" smtClean="0"/>
              <a:pPr>
                <a:defRPr/>
              </a:pPr>
              <a:t>5/29/2023</a:t>
            </a:fld>
            <a:endParaRPr lang="en-US"/>
          </a:p>
        </p:txBody>
      </p:sp>
      <p:sp>
        <p:nvSpPr>
          <p:cNvPr id="5" name="Rectangle 12">
            <a:extLst>
              <a:ext uri="{FF2B5EF4-FFF2-40B4-BE49-F238E27FC236}">
                <a16:creationId xmlns:a16="http://schemas.microsoft.com/office/drawing/2014/main" id="{4BE95B74-3904-4687-A858-1857057DFA2E}"/>
              </a:ext>
            </a:extLst>
          </p:cNvPr>
          <p:cNvSpPr>
            <a:spLocks noGrp="1" noChangeArrowheads="1"/>
          </p:cNvSpPr>
          <p:nvPr>
            <p:ph type="ftr" sz="quarter" idx="11"/>
          </p:nvPr>
        </p:nvSpPr>
        <p:spPr>
          <a:ln/>
        </p:spPr>
        <p:txBody>
          <a:bodyPr/>
          <a:lstStyle>
            <a:lvl1pPr>
              <a:defRPr/>
            </a:lvl1pPr>
          </a:lstStyle>
          <a:p>
            <a:pPr>
              <a:defRPr/>
            </a:pPr>
            <a:r>
              <a:rPr lang="en-US" smtClean="0"/>
              <a:t>MS Thesis: Secure Mechanism for Handling Targeted Attacks in WMNs</a:t>
            </a:r>
            <a:endParaRPr lang="en-US"/>
          </a:p>
        </p:txBody>
      </p:sp>
      <p:sp>
        <p:nvSpPr>
          <p:cNvPr id="6" name="Rectangle 13">
            <a:extLst>
              <a:ext uri="{FF2B5EF4-FFF2-40B4-BE49-F238E27FC236}">
                <a16:creationId xmlns:a16="http://schemas.microsoft.com/office/drawing/2014/main" id="{001F3940-CBCF-4E25-ACC0-395A595B0371}"/>
              </a:ext>
            </a:extLst>
          </p:cNvPr>
          <p:cNvSpPr>
            <a:spLocks noGrp="1" noChangeArrowheads="1"/>
          </p:cNvSpPr>
          <p:nvPr>
            <p:ph type="sldNum" sz="quarter" idx="12"/>
          </p:nvPr>
        </p:nvSpPr>
        <p:spPr>
          <a:ln/>
        </p:spPr>
        <p:txBody>
          <a:bodyPr/>
          <a:lstStyle>
            <a:lvl1pPr>
              <a:defRPr/>
            </a:lvl1pPr>
          </a:lstStyle>
          <a:p>
            <a:pPr>
              <a:defRPr/>
            </a:pPr>
            <a:fld id="{B662200C-8969-484B-934B-ABC8A6836029}" type="slidenum">
              <a:rPr lang="en-US" altLang="en-US" smtClean="0"/>
              <a:pPr>
                <a:defRPr/>
              </a:pPr>
              <a:t>‹#›</a:t>
            </a:fld>
            <a:endParaRPr lang="en-US" altLang="en-US"/>
          </a:p>
        </p:txBody>
      </p:sp>
    </p:spTree>
    <p:extLst>
      <p:ext uri="{BB962C8B-B14F-4D97-AF65-F5344CB8AC3E}">
        <p14:creationId xmlns:p14="http://schemas.microsoft.com/office/powerpoint/2010/main" val="15027514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0"/>
            <a:ext cx="7924800" cy="1143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838201" y="2362202"/>
            <a:ext cx="7693025" cy="3724275"/>
          </a:xfrm>
        </p:spPr>
        <p:txBody>
          <a:bodyPr/>
          <a:lstStyle/>
          <a:p>
            <a:pPr lvl="0"/>
            <a:r>
              <a:rPr lang="en-US" noProof="0" smtClean="0"/>
              <a:t>Click icon to add table</a:t>
            </a:r>
            <a:endParaRPr lang="en-US" noProof="0"/>
          </a:p>
        </p:txBody>
      </p:sp>
      <p:sp>
        <p:nvSpPr>
          <p:cNvPr id="4" name="Rectangle 11">
            <a:extLst>
              <a:ext uri="{FF2B5EF4-FFF2-40B4-BE49-F238E27FC236}">
                <a16:creationId xmlns:a16="http://schemas.microsoft.com/office/drawing/2014/main" id="{BF77D68F-D4CE-414A-BDA9-E33AB488CC07}"/>
              </a:ext>
            </a:extLst>
          </p:cNvPr>
          <p:cNvSpPr>
            <a:spLocks noGrp="1" noChangeArrowheads="1"/>
          </p:cNvSpPr>
          <p:nvPr>
            <p:ph type="dt" sz="half" idx="10"/>
          </p:nvPr>
        </p:nvSpPr>
        <p:spPr>
          <a:ln/>
        </p:spPr>
        <p:txBody>
          <a:bodyPr/>
          <a:lstStyle>
            <a:lvl1pPr>
              <a:defRPr/>
            </a:lvl1pPr>
          </a:lstStyle>
          <a:p>
            <a:pPr>
              <a:defRPr/>
            </a:pPr>
            <a:fld id="{17FDC042-B5D0-41EF-8A4E-DC07D57D6504}" type="datetime1">
              <a:rPr lang="en-US" smtClean="0"/>
              <a:pPr>
                <a:defRPr/>
              </a:pPr>
              <a:t>5/29/2023</a:t>
            </a:fld>
            <a:endParaRPr lang="en-US"/>
          </a:p>
        </p:txBody>
      </p:sp>
      <p:sp>
        <p:nvSpPr>
          <p:cNvPr id="5" name="Rectangle 12">
            <a:extLst>
              <a:ext uri="{FF2B5EF4-FFF2-40B4-BE49-F238E27FC236}">
                <a16:creationId xmlns:a16="http://schemas.microsoft.com/office/drawing/2014/main" id="{2B1A1324-E8FC-418E-94C0-85F2BD7D6EDE}"/>
              </a:ext>
            </a:extLst>
          </p:cNvPr>
          <p:cNvSpPr>
            <a:spLocks noGrp="1" noChangeArrowheads="1"/>
          </p:cNvSpPr>
          <p:nvPr>
            <p:ph type="ftr" sz="quarter" idx="11"/>
          </p:nvPr>
        </p:nvSpPr>
        <p:spPr>
          <a:ln/>
        </p:spPr>
        <p:txBody>
          <a:bodyPr/>
          <a:lstStyle>
            <a:lvl1pPr>
              <a:defRPr/>
            </a:lvl1pPr>
          </a:lstStyle>
          <a:p>
            <a:pPr>
              <a:defRPr/>
            </a:pPr>
            <a:r>
              <a:rPr lang="en-US" smtClean="0"/>
              <a:t>MS Thesis: Secure Mechanism for Handling Targeted Attacks in WMNs</a:t>
            </a:r>
            <a:endParaRPr lang="en-US"/>
          </a:p>
        </p:txBody>
      </p:sp>
      <p:sp>
        <p:nvSpPr>
          <p:cNvPr id="6" name="Rectangle 13">
            <a:extLst>
              <a:ext uri="{FF2B5EF4-FFF2-40B4-BE49-F238E27FC236}">
                <a16:creationId xmlns:a16="http://schemas.microsoft.com/office/drawing/2014/main" id="{E9B9D749-3CF9-4C82-90AE-BA2A543AFDF7}"/>
              </a:ext>
            </a:extLst>
          </p:cNvPr>
          <p:cNvSpPr>
            <a:spLocks noGrp="1" noChangeArrowheads="1"/>
          </p:cNvSpPr>
          <p:nvPr>
            <p:ph type="sldNum" sz="quarter" idx="12"/>
          </p:nvPr>
        </p:nvSpPr>
        <p:spPr>
          <a:ln/>
        </p:spPr>
        <p:txBody>
          <a:bodyPr/>
          <a:lstStyle>
            <a:lvl1pPr>
              <a:defRPr/>
            </a:lvl1pPr>
          </a:lstStyle>
          <a:p>
            <a:pPr>
              <a:defRPr/>
            </a:pPr>
            <a:fld id="{23054AAA-796F-4123-B6E5-399AD31EF657}" type="slidenum">
              <a:rPr lang="en-US" altLang="en-US" smtClean="0"/>
              <a:pPr>
                <a:defRPr/>
              </a:pPr>
              <a:t>‹#›</a:t>
            </a:fld>
            <a:endParaRPr lang="en-US" altLang="en-US"/>
          </a:p>
        </p:txBody>
      </p:sp>
    </p:spTree>
    <p:extLst>
      <p:ext uri="{BB962C8B-B14F-4D97-AF65-F5344CB8AC3E}">
        <p14:creationId xmlns:p14="http://schemas.microsoft.com/office/powerpoint/2010/main" val="1360966128"/>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B2A3329E-0904-47A4-ACB5-5B91293A5AE5}"/>
              </a:ext>
            </a:extLst>
          </p:cNvPr>
          <p:cNvGrpSpPr>
            <a:grpSpLocks/>
          </p:cNvGrpSpPr>
          <p:nvPr/>
        </p:nvGrpSpPr>
        <p:grpSpPr bwMode="auto">
          <a:xfrm>
            <a:off x="0" y="0"/>
            <a:ext cx="7620000" cy="6858000"/>
            <a:chOff x="0" y="0"/>
            <a:chExt cx="4800" cy="4320"/>
          </a:xfrm>
        </p:grpSpPr>
        <p:grpSp>
          <p:nvGrpSpPr>
            <p:cNvPr id="1032" name="Group 3">
              <a:extLst>
                <a:ext uri="{FF2B5EF4-FFF2-40B4-BE49-F238E27FC236}">
                  <a16:creationId xmlns:a16="http://schemas.microsoft.com/office/drawing/2014/main" id="{0FF77DB7-AD29-49C8-93AA-EA0184FC38B0}"/>
                </a:ext>
              </a:extLst>
            </p:cNvPr>
            <p:cNvGrpSpPr>
              <a:grpSpLocks/>
            </p:cNvGrpSpPr>
            <p:nvPr/>
          </p:nvGrpSpPr>
          <p:grpSpPr bwMode="auto">
            <a:xfrm>
              <a:off x="0" y="0"/>
              <a:ext cx="2016" cy="4320"/>
              <a:chOff x="0" y="0"/>
              <a:chExt cx="2016" cy="4320"/>
            </a:xfrm>
          </p:grpSpPr>
          <p:sp>
            <p:nvSpPr>
              <p:cNvPr id="1036" name="Rectangle 4">
                <a:extLst>
                  <a:ext uri="{FF2B5EF4-FFF2-40B4-BE49-F238E27FC236}">
                    <a16:creationId xmlns:a16="http://schemas.microsoft.com/office/drawing/2014/main" id="{D438BB5E-926C-4E0C-9E77-FE8E0784A033}"/>
                  </a:ext>
                </a:extLst>
              </p:cNvPr>
              <p:cNvSpPr>
                <a:spLocks noChangeArrowheads="1"/>
              </p:cNvSpPr>
              <p:nvPr/>
            </p:nvSpPr>
            <p:spPr bwMode="auto">
              <a:xfrm>
                <a:off x="0" y="0"/>
                <a:ext cx="480" cy="432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PK" altLang="en-PK" sz="1800"/>
              </a:p>
            </p:txBody>
          </p:sp>
          <p:sp>
            <p:nvSpPr>
              <p:cNvPr id="1037" name="Freeform 5">
                <a:extLst>
                  <a:ext uri="{FF2B5EF4-FFF2-40B4-BE49-F238E27FC236}">
                    <a16:creationId xmlns:a16="http://schemas.microsoft.com/office/drawing/2014/main" id="{95302D45-DF44-4885-8F20-439784359D8D}"/>
                  </a:ext>
                </a:extLst>
              </p:cNvPr>
              <p:cNvSpPr>
                <a:spLocks/>
              </p:cNvSpPr>
              <p:nvPr/>
            </p:nvSpPr>
            <p:spPr bwMode="auto">
              <a:xfrm>
                <a:off x="288" y="0"/>
                <a:ext cx="1728" cy="735"/>
              </a:xfrm>
              <a:custGeom>
                <a:avLst/>
                <a:gdLst>
                  <a:gd name="T0" fmla="*/ 1728 w 1728"/>
                  <a:gd name="T1" fmla="*/ 0 h 735"/>
                  <a:gd name="T2" fmla="*/ 1728 w 1728"/>
                  <a:gd name="T3" fmla="*/ 480 h 735"/>
                  <a:gd name="T4" fmla="*/ 380 w 1728"/>
                  <a:gd name="T5" fmla="*/ 482 h 735"/>
                  <a:gd name="T6" fmla="*/ 354 w 1728"/>
                  <a:gd name="T7" fmla="*/ 480 h 735"/>
                  <a:gd name="T8" fmla="*/ 308 w 1728"/>
                  <a:gd name="T9" fmla="*/ 489 h 735"/>
                  <a:gd name="T10" fmla="*/ 246 w 1728"/>
                  <a:gd name="T11" fmla="*/ 531 h 735"/>
                  <a:gd name="T12" fmla="*/ 206 w 1728"/>
                  <a:gd name="T13" fmla="*/ 597 h 735"/>
                  <a:gd name="T14" fmla="*/ 192 w 1728"/>
                  <a:gd name="T15" fmla="*/ 666 h 735"/>
                  <a:gd name="T16" fmla="*/ 192 w 1728"/>
                  <a:gd name="T17" fmla="*/ 735 h 735"/>
                  <a:gd name="T18" fmla="*/ 0 w 1728"/>
                  <a:gd name="T19" fmla="*/ 735 h 735"/>
                  <a:gd name="T20" fmla="*/ 0 w 1728"/>
                  <a:gd name="T21" fmla="*/ 480 h 735"/>
                  <a:gd name="T22" fmla="*/ 0 w 1728"/>
                  <a:gd name="T23" fmla="*/ 0 h 735"/>
                  <a:gd name="T24" fmla="*/ 1728 w 1728"/>
                  <a:gd name="T25" fmla="*/ 0 h 7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chemeClr val="accent2"/>
              </a:solidFill>
              <a:ln>
                <a:noFill/>
              </a:ln>
              <a:extLst>
                <a:ext uri="{91240B29-F687-4F45-9708-019B960494DF}">
                  <a14:hiddenLine xmlns:a14="http://schemas.microsoft.com/office/drawing/2010/main" w="9525" cap="flat" cmpd="sng">
                    <a:solidFill>
                      <a:srgbClr val="000000"/>
                    </a:solidFill>
                    <a:prstDash val="solid"/>
                    <a:miter lim="800000"/>
                    <a:headEnd type="none" w="med" len="med"/>
                    <a:tailEnd type="none" w="med" len="med"/>
                  </a14:hiddenLine>
                </a:ext>
              </a:extLst>
            </p:spPr>
            <p:txBody>
              <a:bodyPr wrap="none"/>
              <a:lstStyle/>
              <a:p>
                <a:endParaRPr lang="en-PK" sz="1800"/>
              </a:p>
            </p:txBody>
          </p:sp>
        </p:grpSp>
        <p:grpSp>
          <p:nvGrpSpPr>
            <p:cNvPr id="1033" name="Group 6">
              <a:extLst>
                <a:ext uri="{FF2B5EF4-FFF2-40B4-BE49-F238E27FC236}">
                  <a16:creationId xmlns:a16="http://schemas.microsoft.com/office/drawing/2014/main" id="{165704AF-ADD4-4E42-9951-9885E2AF3F0F}"/>
                </a:ext>
              </a:extLst>
            </p:cNvPr>
            <p:cNvGrpSpPr>
              <a:grpSpLocks/>
            </p:cNvGrpSpPr>
            <p:nvPr/>
          </p:nvGrpSpPr>
          <p:grpSpPr bwMode="auto">
            <a:xfrm>
              <a:off x="144" y="1248"/>
              <a:ext cx="4656" cy="201"/>
              <a:chOff x="144" y="1248"/>
              <a:chExt cx="4656" cy="201"/>
            </a:xfrm>
          </p:grpSpPr>
          <p:sp>
            <p:nvSpPr>
              <p:cNvPr id="1034" name="AutoShape 7">
                <a:extLst>
                  <a:ext uri="{FF2B5EF4-FFF2-40B4-BE49-F238E27FC236}">
                    <a16:creationId xmlns:a16="http://schemas.microsoft.com/office/drawing/2014/main" id="{AD015C4F-F9D0-48B2-8315-4799ABF1D801}"/>
                  </a:ext>
                </a:extLst>
              </p:cNvPr>
              <p:cNvSpPr>
                <a:spLocks noChangeArrowheads="1"/>
              </p:cNvSpPr>
              <p:nvPr/>
            </p:nvSpPr>
            <p:spPr bwMode="auto">
              <a:xfrm>
                <a:off x="384" y="1248"/>
                <a:ext cx="4416" cy="200"/>
              </a:xfrm>
              <a:prstGeom prst="roundRect">
                <a:avLst>
                  <a:gd name="adj" fmla="val 0"/>
                </a:avLst>
              </a:pr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PK" altLang="en-PK" sz="1800"/>
              </a:p>
            </p:txBody>
          </p:sp>
          <p:sp>
            <p:nvSpPr>
              <p:cNvPr id="1035" name="AutoShape 8">
                <a:extLst>
                  <a:ext uri="{FF2B5EF4-FFF2-40B4-BE49-F238E27FC236}">
                    <a16:creationId xmlns:a16="http://schemas.microsoft.com/office/drawing/2014/main" id="{7C227202-0AB4-426A-A6CB-F2C45BDC74EA}"/>
                  </a:ext>
                </a:extLst>
              </p:cNvPr>
              <p:cNvSpPr>
                <a:spLocks noChangeArrowheads="1"/>
              </p:cNvSpPr>
              <p:nvPr/>
            </p:nvSpPr>
            <p:spPr bwMode="auto">
              <a:xfrm flipH="1">
                <a:off x="144" y="1248"/>
                <a:ext cx="248" cy="201"/>
              </a:xfrm>
              <a:prstGeom prst="flowChartDelay">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PK" altLang="en-PK" sz="1800"/>
              </a:p>
            </p:txBody>
          </p:sp>
        </p:grpSp>
      </p:grpSp>
      <p:sp>
        <p:nvSpPr>
          <p:cNvPr id="1027" name="AutoShape 9">
            <a:extLst>
              <a:ext uri="{FF2B5EF4-FFF2-40B4-BE49-F238E27FC236}">
                <a16:creationId xmlns:a16="http://schemas.microsoft.com/office/drawing/2014/main" id="{A90FCFEC-9F9D-4254-8D92-7B25B6EE3A30}"/>
              </a:ext>
            </a:extLst>
          </p:cNvPr>
          <p:cNvSpPr>
            <a:spLocks noGrp="1" noChangeArrowheads="1"/>
          </p:cNvSpPr>
          <p:nvPr>
            <p:ph type="title"/>
          </p:nvPr>
        </p:nvSpPr>
        <p:spPr bwMode="auto">
          <a:xfrm>
            <a:off x="762000" y="762000"/>
            <a:ext cx="7924800" cy="1143000"/>
          </a:xfrm>
          <a:prstGeom prst="roundRect">
            <a:avLst>
              <a:gd name="adj" fmla="val 21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b" anchorCtr="0" compatLnSpc="1">
            <a:prstTxWarp prst="textNoShape">
              <a:avLst/>
            </a:prstTxWarp>
          </a:bodyPr>
          <a:lstStyle/>
          <a:p>
            <a:pPr lvl="0"/>
            <a:r>
              <a:rPr lang="en-US" altLang="en-PK" smtClean="0"/>
              <a:t>Click to edit Master title style</a:t>
            </a:r>
            <a:endParaRPr lang="en-US" altLang="en-PK"/>
          </a:p>
        </p:txBody>
      </p:sp>
      <p:sp>
        <p:nvSpPr>
          <p:cNvPr id="1028" name="Rectangle 10">
            <a:extLst>
              <a:ext uri="{FF2B5EF4-FFF2-40B4-BE49-F238E27FC236}">
                <a16:creationId xmlns:a16="http://schemas.microsoft.com/office/drawing/2014/main" id="{B398F237-95A9-4BFF-B4A1-C78F7FF69C6E}"/>
              </a:ext>
            </a:extLst>
          </p:cNvPr>
          <p:cNvSpPr>
            <a:spLocks noGrp="1" noChangeArrowheads="1"/>
          </p:cNvSpPr>
          <p:nvPr>
            <p:ph type="body" idx="1"/>
          </p:nvPr>
        </p:nvSpPr>
        <p:spPr bwMode="auto">
          <a:xfrm>
            <a:off x="838201" y="2362202"/>
            <a:ext cx="7693025" cy="372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PK"/>
              <a:t>Edit Master text styles</a:t>
            </a:r>
          </a:p>
          <a:p>
            <a:pPr lvl="1"/>
            <a:r>
              <a:rPr lang="en-US" altLang="en-PK"/>
              <a:t>Second level</a:t>
            </a:r>
          </a:p>
          <a:p>
            <a:pPr lvl="2"/>
            <a:r>
              <a:rPr lang="en-US" altLang="en-PK"/>
              <a:t>Third level</a:t>
            </a:r>
          </a:p>
          <a:p>
            <a:pPr lvl="3"/>
            <a:r>
              <a:rPr lang="en-US" altLang="en-PK"/>
              <a:t>Fourth level</a:t>
            </a:r>
          </a:p>
          <a:p>
            <a:pPr lvl="4"/>
            <a:r>
              <a:rPr lang="en-US" altLang="en-PK"/>
              <a:t>Fifth level</a:t>
            </a:r>
          </a:p>
        </p:txBody>
      </p:sp>
      <p:sp>
        <p:nvSpPr>
          <p:cNvPr id="4107" name="Rectangle 11">
            <a:extLst>
              <a:ext uri="{FF2B5EF4-FFF2-40B4-BE49-F238E27FC236}">
                <a16:creationId xmlns:a16="http://schemas.microsoft.com/office/drawing/2014/main" id="{1D379FF3-7792-4E0A-B32B-CDBBF4ABCF0C}"/>
              </a:ext>
            </a:extLst>
          </p:cNvPr>
          <p:cNvSpPr>
            <a:spLocks noGrp="1" noChangeArrowheads="1"/>
          </p:cNvSpPr>
          <p:nvPr>
            <p:ph type="dt" sz="half" idx="2"/>
          </p:nvPr>
        </p:nvSpPr>
        <p:spPr bwMode="auto">
          <a:xfrm>
            <a:off x="2438401" y="6248402"/>
            <a:ext cx="2130425" cy="4746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a:latin typeface="Arial" charset="0"/>
              </a:defRPr>
            </a:lvl1pPr>
          </a:lstStyle>
          <a:p>
            <a:pPr>
              <a:defRPr/>
            </a:pPr>
            <a:fld id="{17FDC042-B5D0-41EF-8A4E-DC07D57D6504}" type="datetime1">
              <a:rPr lang="en-US" smtClean="0"/>
              <a:pPr>
                <a:defRPr/>
              </a:pPr>
              <a:t>5/29/2023</a:t>
            </a:fld>
            <a:endParaRPr lang="en-US"/>
          </a:p>
        </p:txBody>
      </p:sp>
      <p:sp>
        <p:nvSpPr>
          <p:cNvPr id="4108" name="Rectangle 12">
            <a:extLst>
              <a:ext uri="{FF2B5EF4-FFF2-40B4-BE49-F238E27FC236}">
                <a16:creationId xmlns:a16="http://schemas.microsoft.com/office/drawing/2014/main" id="{5F8406A0-86DE-4CF8-BE66-1FC1EC81C117}"/>
              </a:ext>
            </a:extLst>
          </p:cNvPr>
          <p:cNvSpPr>
            <a:spLocks noGrp="1" noChangeArrowheads="1"/>
          </p:cNvSpPr>
          <p:nvPr>
            <p:ph type="ftr" sz="quarter" idx="3"/>
          </p:nvPr>
        </p:nvSpPr>
        <p:spPr bwMode="auto">
          <a:xfrm>
            <a:off x="5791200" y="6248402"/>
            <a:ext cx="2897188" cy="4746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Arial" charset="0"/>
              </a:defRPr>
            </a:lvl1pPr>
          </a:lstStyle>
          <a:p>
            <a:pPr>
              <a:defRPr/>
            </a:pPr>
            <a:r>
              <a:rPr lang="en-US" smtClean="0"/>
              <a:t>MS Thesis: Secure Mechanism for Handling Targeted Attacks in WMNs</a:t>
            </a:r>
            <a:endParaRPr lang="en-US"/>
          </a:p>
        </p:txBody>
      </p:sp>
      <p:sp>
        <p:nvSpPr>
          <p:cNvPr id="4109" name="Rectangle 13">
            <a:extLst>
              <a:ext uri="{FF2B5EF4-FFF2-40B4-BE49-F238E27FC236}">
                <a16:creationId xmlns:a16="http://schemas.microsoft.com/office/drawing/2014/main" id="{B08A31F9-D76D-43DC-8BDE-F2140B37C315}"/>
              </a:ext>
            </a:extLst>
          </p:cNvPr>
          <p:cNvSpPr>
            <a:spLocks noGrp="1" noChangeArrowheads="1"/>
          </p:cNvSpPr>
          <p:nvPr>
            <p:ph type="sldNum" sz="quarter" idx="4"/>
          </p:nvPr>
        </p:nvSpPr>
        <p:spPr bwMode="auto">
          <a:xfrm>
            <a:off x="84139" y="6242050"/>
            <a:ext cx="587375" cy="488950"/>
          </a:xfrm>
          <a:prstGeom prst="rect">
            <a:avLst/>
          </a:prstGeom>
          <a:noFill/>
          <a:ln w="9525">
            <a:noFill/>
            <a:miter lim="800000"/>
            <a:headEnd/>
            <a:tailEnd/>
          </a:ln>
          <a:effectLst/>
        </p:spPr>
        <p:txBody>
          <a:bodyPr vert="horz" wrap="square" lIns="91440" tIns="45720" rIns="91440" bIns="45720" numCol="1" anchor="b" anchorCtr="1" compatLnSpc="1">
            <a:prstTxWarp prst="textNoShape">
              <a:avLst/>
            </a:prstTxWarp>
          </a:bodyPr>
          <a:lstStyle>
            <a:lvl1pPr eaLnBrk="1" hangingPunct="1">
              <a:defRPr sz="2600" b="1">
                <a:solidFill>
                  <a:schemeClr val="bg1"/>
                </a:solidFill>
              </a:defRPr>
            </a:lvl1pPr>
          </a:lstStyle>
          <a:p>
            <a:pPr>
              <a:defRPr/>
            </a:pPr>
            <a:fld id="{23054AAA-796F-4123-B6E5-399AD31EF657}" type="slidenum">
              <a:rPr lang="en-US" altLang="en-US" smtClean="0"/>
              <a:pPr>
                <a:defRPr/>
              </a:pPr>
              <a:t>‹#›</a:t>
            </a:fld>
            <a:endParaRPr lang="en-US" altLang="en-US"/>
          </a:p>
        </p:txBody>
      </p:sp>
    </p:spTree>
    <p:extLst>
      <p:ext uri="{BB962C8B-B14F-4D97-AF65-F5344CB8AC3E}">
        <p14:creationId xmlns:p14="http://schemas.microsoft.com/office/powerpoint/2010/main" val="2960628759"/>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Lst>
  <p:hf hdr="0" ftr="0" dt="0"/>
  <p:txStyles>
    <p:titleStyle>
      <a:lvl1pPr algn="l" rtl="0" eaLnBrk="1" fontAlgn="base" hangingPunct="1">
        <a:lnSpc>
          <a:spcPct val="90000"/>
        </a:lnSpc>
        <a:spcBef>
          <a:spcPct val="0"/>
        </a:spcBef>
        <a:spcAft>
          <a:spcPct val="0"/>
        </a:spcAft>
        <a:defRPr sz="3600" b="1">
          <a:solidFill>
            <a:schemeClr val="tx2"/>
          </a:solidFill>
          <a:latin typeface="+mj-lt"/>
          <a:ea typeface="+mj-ea"/>
          <a:cs typeface="+mj-cs"/>
        </a:defRPr>
      </a:lvl1pPr>
      <a:lvl2pPr algn="l" rtl="0" eaLnBrk="1" fontAlgn="base" hangingPunct="1">
        <a:lnSpc>
          <a:spcPct val="90000"/>
        </a:lnSpc>
        <a:spcBef>
          <a:spcPct val="0"/>
        </a:spcBef>
        <a:spcAft>
          <a:spcPct val="0"/>
        </a:spcAft>
        <a:defRPr sz="3600" b="1">
          <a:solidFill>
            <a:schemeClr val="tx2"/>
          </a:solidFill>
          <a:latin typeface="Arial" charset="0"/>
        </a:defRPr>
      </a:lvl2pPr>
      <a:lvl3pPr algn="l" rtl="0" eaLnBrk="1" fontAlgn="base" hangingPunct="1">
        <a:lnSpc>
          <a:spcPct val="90000"/>
        </a:lnSpc>
        <a:spcBef>
          <a:spcPct val="0"/>
        </a:spcBef>
        <a:spcAft>
          <a:spcPct val="0"/>
        </a:spcAft>
        <a:defRPr sz="3600" b="1">
          <a:solidFill>
            <a:schemeClr val="tx2"/>
          </a:solidFill>
          <a:latin typeface="Arial" charset="0"/>
        </a:defRPr>
      </a:lvl3pPr>
      <a:lvl4pPr algn="l" rtl="0" eaLnBrk="1" fontAlgn="base" hangingPunct="1">
        <a:lnSpc>
          <a:spcPct val="90000"/>
        </a:lnSpc>
        <a:spcBef>
          <a:spcPct val="0"/>
        </a:spcBef>
        <a:spcAft>
          <a:spcPct val="0"/>
        </a:spcAft>
        <a:defRPr sz="3600" b="1">
          <a:solidFill>
            <a:schemeClr val="tx2"/>
          </a:solidFill>
          <a:latin typeface="Arial" charset="0"/>
        </a:defRPr>
      </a:lvl4pPr>
      <a:lvl5pPr algn="l" rtl="0" eaLnBrk="1" fontAlgn="base" hangingPunct="1">
        <a:lnSpc>
          <a:spcPct val="90000"/>
        </a:lnSpc>
        <a:spcBef>
          <a:spcPct val="0"/>
        </a:spcBef>
        <a:spcAft>
          <a:spcPct val="0"/>
        </a:spcAft>
        <a:defRPr sz="3600" b="1">
          <a:solidFill>
            <a:schemeClr val="tx2"/>
          </a:solidFill>
          <a:latin typeface="Arial" charset="0"/>
        </a:defRPr>
      </a:lvl5pPr>
      <a:lvl6pPr marL="457200" algn="l" rtl="0" eaLnBrk="1" fontAlgn="base" hangingPunct="1">
        <a:lnSpc>
          <a:spcPct val="90000"/>
        </a:lnSpc>
        <a:spcBef>
          <a:spcPct val="0"/>
        </a:spcBef>
        <a:spcAft>
          <a:spcPct val="0"/>
        </a:spcAft>
        <a:defRPr sz="3600" b="1">
          <a:solidFill>
            <a:schemeClr val="tx2"/>
          </a:solidFill>
          <a:latin typeface="Arial" charset="0"/>
        </a:defRPr>
      </a:lvl6pPr>
      <a:lvl7pPr marL="914400" algn="l" rtl="0" eaLnBrk="1" fontAlgn="base" hangingPunct="1">
        <a:lnSpc>
          <a:spcPct val="90000"/>
        </a:lnSpc>
        <a:spcBef>
          <a:spcPct val="0"/>
        </a:spcBef>
        <a:spcAft>
          <a:spcPct val="0"/>
        </a:spcAft>
        <a:defRPr sz="3600" b="1">
          <a:solidFill>
            <a:schemeClr val="tx2"/>
          </a:solidFill>
          <a:latin typeface="Arial" charset="0"/>
        </a:defRPr>
      </a:lvl7pPr>
      <a:lvl8pPr marL="1371600" algn="l" rtl="0" eaLnBrk="1" fontAlgn="base" hangingPunct="1">
        <a:lnSpc>
          <a:spcPct val="90000"/>
        </a:lnSpc>
        <a:spcBef>
          <a:spcPct val="0"/>
        </a:spcBef>
        <a:spcAft>
          <a:spcPct val="0"/>
        </a:spcAft>
        <a:defRPr sz="3600" b="1">
          <a:solidFill>
            <a:schemeClr val="tx2"/>
          </a:solidFill>
          <a:latin typeface="Arial" charset="0"/>
        </a:defRPr>
      </a:lvl8pPr>
      <a:lvl9pPr marL="1828800" algn="l" rtl="0" eaLnBrk="1" fontAlgn="base" hangingPunct="1">
        <a:lnSpc>
          <a:spcPct val="90000"/>
        </a:lnSpc>
        <a:spcBef>
          <a:spcPct val="0"/>
        </a:spcBef>
        <a:spcAft>
          <a:spcPct val="0"/>
        </a:spcAft>
        <a:defRPr sz="3600" b="1">
          <a:solidFill>
            <a:schemeClr val="tx2"/>
          </a:solidFill>
          <a:latin typeface="Arial" charset="0"/>
        </a:defRPr>
      </a:lvl9pPr>
    </p:titleStyle>
    <p:bodyStyle>
      <a:lvl1pPr marL="342900" indent="-342900" algn="l" rtl="0" eaLnBrk="1" fontAlgn="base" hangingPunct="1">
        <a:spcBef>
          <a:spcPct val="20000"/>
        </a:spcBef>
        <a:spcAft>
          <a:spcPct val="0"/>
        </a:spcAft>
        <a:buClr>
          <a:schemeClr val="tx1"/>
        </a:buClr>
        <a:buSzPct val="75000"/>
        <a:buFont typeface="Wingdings" panose="05000000000000000000" pitchFamily="2" charset="2"/>
        <a:buChar char="l"/>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1"/>
        </a:buClr>
        <a:buSzPct val="75000"/>
        <a:buChar char="–"/>
        <a:defRPr sz="2400">
          <a:solidFill>
            <a:schemeClr val="tx1"/>
          </a:solidFill>
          <a:latin typeface="+mn-lt"/>
        </a:defRPr>
      </a:lvl2pPr>
      <a:lvl3pPr marL="1143000" indent="-228600" algn="l" rtl="0" eaLnBrk="1" fontAlgn="base" hangingPunct="1">
        <a:spcBef>
          <a:spcPct val="20000"/>
        </a:spcBef>
        <a:spcAft>
          <a:spcPct val="0"/>
        </a:spcAft>
        <a:buClr>
          <a:schemeClr val="tx1"/>
        </a:buClr>
        <a:buSzPct val="75000"/>
        <a:buFont typeface="Wingdings" panose="05000000000000000000" pitchFamily="2" charset="2"/>
        <a:buChar char="l"/>
        <a:defRPr sz="2000">
          <a:solidFill>
            <a:schemeClr val="tx1"/>
          </a:solidFill>
          <a:latin typeface="+mn-lt"/>
        </a:defRPr>
      </a:lvl3pPr>
      <a:lvl4pPr marL="1600200" indent="-228600" algn="l" rtl="0" eaLnBrk="1" fontAlgn="base" hangingPunct="1">
        <a:spcBef>
          <a:spcPct val="20000"/>
        </a:spcBef>
        <a:spcAft>
          <a:spcPct val="0"/>
        </a:spcAft>
        <a:buClr>
          <a:schemeClr val="tx1"/>
        </a:buClr>
        <a:buSzPct val="80000"/>
        <a:buChar char="–"/>
        <a:defRPr sz="2000">
          <a:solidFill>
            <a:schemeClr val="tx1"/>
          </a:solidFill>
          <a:latin typeface="+mn-lt"/>
        </a:defRPr>
      </a:lvl4pPr>
      <a:lvl5pPr marL="2057400" indent="-228600" algn="l" rtl="0" eaLnBrk="1" fontAlgn="base" hangingPunct="1">
        <a:spcBef>
          <a:spcPct val="20000"/>
        </a:spcBef>
        <a:spcAft>
          <a:spcPct val="0"/>
        </a:spcAft>
        <a:buClr>
          <a:schemeClr val="tx1"/>
        </a:buClr>
        <a:buSzPct val="65000"/>
        <a:buFont typeface="Wingdings" panose="05000000000000000000" pitchFamily="2" charset="2"/>
        <a:buChar char="l"/>
        <a:defRPr sz="2000">
          <a:solidFill>
            <a:schemeClr val="tx1"/>
          </a:solidFill>
          <a:latin typeface="+mn-lt"/>
        </a:defRPr>
      </a:lvl5pPr>
      <a:lvl6pPr marL="25146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6pPr>
      <a:lvl7pPr marL="29718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7pPr>
      <a:lvl8pPr marL="34290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8pPr>
      <a:lvl9pPr marL="3886200" indent="-228600" algn="l" rtl="0" eaLnBrk="1" fontAlgn="base" hangingPunct="1">
        <a:spcBef>
          <a:spcPct val="20000"/>
        </a:spcBef>
        <a:spcAft>
          <a:spcPct val="0"/>
        </a:spcAft>
        <a:buClr>
          <a:schemeClr val="tx1"/>
        </a:buClr>
        <a:buSzPct val="65000"/>
        <a:buFont typeface="Wingdings" pitchFamily="2" charset="2"/>
        <a:buChar char="l"/>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Farhad.Muhammad@numl.edu.pk"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78AC916-7461-472A-83D2-C4792120EBB9}"/>
              </a:ext>
            </a:extLst>
          </p:cNvPr>
          <p:cNvSpPr txBox="1"/>
          <p:nvPr/>
        </p:nvSpPr>
        <p:spPr>
          <a:xfrm>
            <a:off x="4038278" y="5819024"/>
            <a:ext cx="5528603"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3366">
                    <a:lumMod val="75000"/>
                  </a:srgbClr>
                </a:solidFill>
                <a:effectLst/>
                <a:uLnTx/>
                <a:uFillTx/>
                <a:latin typeface="Times New Roman" panose="02020603050405020304" pitchFamily="18" charset="0"/>
                <a:ea typeface="+mn-ea"/>
                <a:cs typeface="Times New Roman" panose="02020603050405020304" pitchFamily="18" charset="0"/>
              </a:rPr>
              <a:t>Department of Computer </a:t>
            </a:r>
            <a:r>
              <a:rPr kumimoji="0" lang="en-US" sz="2400" b="1" i="0" u="none" strike="noStrike" kern="1200" cap="none" spc="0" normalizeH="0" baseline="0" noProof="0" dirty="0" smtClean="0">
                <a:ln>
                  <a:noFill/>
                </a:ln>
                <a:solidFill>
                  <a:srgbClr val="003366">
                    <a:lumMod val="75000"/>
                  </a:srgbClr>
                </a:solidFill>
                <a:effectLst/>
                <a:uLnTx/>
                <a:uFillTx/>
                <a:latin typeface="Times New Roman" panose="02020603050405020304" pitchFamily="18" charset="0"/>
                <a:ea typeface="+mn-ea"/>
                <a:cs typeface="Times New Roman" panose="02020603050405020304" pitchFamily="18" charset="0"/>
              </a:rPr>
              <a:t>Science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smtClean="0">
                <a:ln>
                  <a:noFill/>
                </a:ln>
                <a:solidFill>
                  <a:srgbClr val="003366">
                    <a:lumMod val="75000"/>
                  </a:srgbClr>
                </a:solidFill>
                <a:effectLst/>
                <a:uLnTx/>
                <a:uFillTx/>
                <a:latin typeface="Times New Roman" panose="02020603050405020304" pitchFamily="18" charset="0"/>
                <a:ea typeface="+mn-ea"/>
                <a:cs typeface="Times New Roman" panose="02020603050405020304" pitchFamily="18" charset="0"/>
              </a:rPr>
              <a:t>NUML, Islamabad</a:t>
            </a:r>
          </a:p>
        </p:txBody>
      </p:sp>
      <p:sp>
        <p:nvSpPr>
          <p:cNvPr id="4" name="Subtitle 3"/>
          <p:cNvSpPr>
            <a:spLocks noGrp="1"/>
          </p:cNvSpPr>
          <p:nvPr>
            <p:ph type="subTitle" idx="1"/>
          </p:nvPr>
        </p:nvSpPr>
        <p:spPr/>
        <p:txBody>
          <a:bodyPr/>
          <a:lstStyle/>
          <a:p>
            <a:r>
              <a:rPr lang="en-US" b="1" dirty="0" err="1" smtClean="0">
                <a:solidFill>
                  <a:schemeClr val="tx1">
                    <a:lumMod val="75000"/>
                  </a:schemeClr>
                </a:solidFill>
              </a:rPr>
              <a:t>Farhad</a:t>
            </a:r>
            <a:r>
              <a:rPr lang="en-US" b="1" dirty="0" smtClean="0">
                <a:solidFill>
                  <a:schemeClr val="tx1">
                    <a:lumMod val="75000"/>
                  </a:schemeClr>
                </a:solidFill>
              </a:rPr>
              <a:t> M. </a:t>
            </a:r>
            <a:r>
              <a:rPr lang="en-US" b="1" dirty="0" err="1" smtClean="0">
                <a:solidFill>
                  <a:schemeClr val="tx1">
                    <a:lumMod val="75000"/>
                  </a:schemeClr>
                </a:solidFill>
              </a:rPr>
              <a:t>Riaz</a:t>
            </a:r>
            <a:endParaRPr lang="en-US" b="1" dirty="0" smtClean="0">
              <a:solidFill>
                <a:schemeClr val="tx1">
                  <a:lumMod val="75000"/>
                </a:schemeClr>
              </a:solidFill>
            </a:endParaRPr>
          </a:p>
          <a:p>
            <a:r>
              <a:rPr lang="en-US" sz="1800" b="1" dirty="0" smtClean="0">
                <a:solidFill>
                  <a:schemeClr val="tx1">
                    <a:lumMod val="75000"/>
                  </a:schemeClr>
                </a:solidFill>
                <a:hlinkClick r:id="rId2"/>
              </a:rPr>
              <a:t>Farhad.Muhammad@numl.edu.pk</a:t>
            </a:r>
            <a:r>
              <a:rPr lang="en-US" b="1" dirty="0" smtClean="0">
                <a:solidFill>
                  <a:schemeClr val="tx1">
                    <a:lumMod val="75000"/>
                  </a:schemeClr>
                </a:solidFill>
              </a:rPr>
              <a:t> </a:t>
            </a:r>
            <a:endParaRPr lang="en-US" b="1" dirty="0">
              <a:solidFill>
                <a:schemeClr val="tx1">
                  <a:lumMod val="75000"/>
                </a:schemeClr>
              </a:solidFill>
            </a:endParaRPr>
          </a:p>
        </p:txBody>
      </p:sp>
      <p:sp>
        <p:nvSpPr>
          <p:cNvPr id="7" name="Title 6"/>
          <p:cNvSpPr>
            <a:spLocks noGrp="1"/>
          </p:cNvSpPr>
          <p:nvPr>
            <p:ph type="ctrTitle" sz="quarter"/>
          </p:nvPr>
        </p:nvSpPr>
        <p:spPr/>
        <p:txBody>
          <a:bodyPr/>
          <a:lstStyle/>
          <a:p>
            <a:pPr algn="r"/>
            <a:r>
              <a:rPr lang="en-US" sz="2800" dirty="0" smtClean="0"/>
              <a:t>Parallel &amp; Distributed Computing</a:t>
            </a:r>
            <a:br>
              <a:rPr lang="en-US" sz="2800" dirty="0" smtClean="0"/>
            </a:br>
            <a:r>
              <a:rPr lang="en-US" sz="2800" dirty="0"/>
              <a:t>Fa</a:t>
            </a:r>
            <a:r>
              <a:rPr lang="en-US" sz="2400" dirty="0"/>
              <a:t>ult Tolerance in Distributed Systems</a:t>
            </a:r>
            <a:endParaRPr lang="en-US" sz="2400" dirty="0">
              <a:latin typeface="+mn-lt"/>
            </a:endParaRPr>
          </a:p>
        </p:txBody>
      </p:sp>
      <p:pic>
        <p:nvPicPr>
          <p:cNvPr id="8" name="Picture 2" descr="NUML Logo PNG Vector (EPS) Free Download">
            <a:extLst>
              <a:ext uri="{FF2B5EF4-FFF2-40B4-BE49-F238E27FC236}">
                <a16:creationId xmlns:a16="http://schemas.microsoft.com/office/drawing/2014/main" id="{2D3C8850-28E9-44A6-8D9F-53E8176364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6244" y="1050131"/>
            <a:ext cx="1927513" cy="17859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14106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Fundamentals  </a:t>
            </a:r>
          </a:p>
        </p:txBody>
      </p:sp>
      <p:sp>
        <p:nvSpPr>
          <p:cNvPr id="3" name="Content Placeholder 2"/>
          <p:cNvSpPr>
            <a:spLocks noGrp="1"/>
          </p:cNvSpPr>
          <p:nvPr>
            <p:ph idx="1"/>
          </p:nvPr>
        </p:nvSpPr>
        <p:spPr>
          <a:xfrm>
            <a:off x="838201" y="2362202"/>
            <a:ext cx="6960325" cy="3724275"/>
          </a:xfrm>
        </p:spPr>
        <p:txBody>
          <a:bodyPr/>
          <a:lstStyle/>
          <a:p>
            <a:pPr algn="just"/>
            <a:r>
              <a:rPr lang="en-US" sz="2000" dirty="0"/>
              <a:t>What is </a:t>
            </a:r>
            <a:r>
              <a:rPr lang="en-US" sz="2000" dirty="0" smtClean="0"/>
              <a:t>fault?</a:t>
            </a:r>
          </a:p>
          <a:p>
            <a:pPr lvl="1" algn="just"/>
            <a:r>
              <a:rPr lang="en-US" sz="2000" dirty="0" smtClean="0"/>
              <a:t>A </a:t>
            </a:r>
            <a:r>
              <a:rPr lang="en-US" sz="2000" dirty="0"/>
              <a:t>fault is a blemish, weakness, or shortcoming of a particular hardware or software component. </a:t>
            </a:r>
          </a:p>
          <a:p>
            <a:pPr lvl="1" algn="just"/>
            <a:r>
              <a:rPr lang="en-US" sz="2000" dirty="0" smtClean="0"/>
              <a:t>Fault</a:t>
            </a:r>
            <a:r>
              <a:rPr lang="en-US" sz="2000" dirty="0"/>
              <a:t>, error and </a:t>
            </a:r>
            <a:r>
              <a:rPr lang="en-US" sz="2000" dirty="0" smtClean="0"/>
              <a:t>failures</a:t>
            </a:r>
          </a:p>
          <a:p>
            <a:pPr algn="just"/>
            <a:r>
              <a:rPr lang="en-US" sz="2000" dirty="0"/>
              <a:t>Why fault </a:t>
            </a:r>
            <a:r>
              <a:rPr lang="en-US" sz="2000" dirty="0" smtClean="0"/>
              <a:t>tolerant?</a:t>
            </a:r>
          </a:p>
          <a:p>
            <a:pPr lvl="1" algn="just"/>
            <a:r>
              <a:rPr lang="en-US" sz="2000" dirty="0" smtClean="0"/>
              <a:t>Availability</a:t>
            </a:r>
            <a:r>
              <a:rPr lang="en-US" sz="2000" dirty="0"/>
              <a:t>, reliability, dependability, … </a:t>
            </a:r>
            <a:endParaRPr lang="en-US" sz="2000" dirty="0" smtClean="0"/>
          </a:p>
          <a:p>
            <a:pPr algn="just"/>
            <a:r>
              <a:rPr lang="en-US" sz="2000" dirty="0" smtClean="0"/>
              <a:t>How </a:t>
            </a:r>
            <a:r>
              <a:rPr lang="en-US" sz="2000" dirty="0"/>
              <a:t>to provide fault tolerance ? </a:t>
            </a:r>
          </a:p>
          <a:p>
            <a:pPr lvl="1" algn="just"/>
            <a:r>
              <a:rPr lang="en-US" sz="2000" dirty="0" smtClean="0"/>
              <a:t>Replication </a:t>
            </a:r>
          </a:p>
          <a:p>
            <a:pPr lvl="1" algn="just"/>
            <a:r>
              <a:rPr lang="en-US" sz="2000" dirty="0" err="1" smtClean="0"/>
              <a:t>Checkpointing</a:t>
            </a:r>
            <a:r>
              <a:rPr lang="en-US" sz="2000" dirty="0" smtClean="0"/>
              <a:t> </a:t>
            </a:r>
            <a:r>
              <a:rPr lang="en-US" sz="2000" dirty="0"/>
              <a:t>and message logging </a:t>
            </a:r>
          </a:p>
          <a:p>
            <a:pPr lvl="1" algn="just"/>
            <a:r>
              <a:rPr lang="en-US" sz="2000" dirty="0" smtClean="0"/>
              <a:t>Hybrid</a:t>
            </a:r>
            <a:endParaRPr lang="en-US" sz="2000" dirty="0"/>
          </a:p>
        </p:txBody>
      </p:sp>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2</a:t>
            </a:fld>
            <a:endParaRPr lang="en-US" altLang="en-US"/>
          </a:p>
        </p:txBody>
      </p:sp>
    </p:spTree>
    <p:extLst>
      <p:ext uri="{BB962C8B-B14F-4D97-AF65-F5344CB8AC3E}">
        <p14:creationId xmlns:p14="http://schemas.microsoft.com/office/powerpoint/2010/main" val="38470885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Reliability</a:t>
            </a:r>
          </a:p>
        </p:txBody>
      </p:sp>
      <p:sp>
        <p:nvSpPr>
          <p:cNvPr id="3" name="Content Placeholder 2"/>
          <p:cNvSpPr>
            <a:spLocks noGrp="1"/>
          </p:cNvSpPr>
          <p:nvPr>
            <p:ph idx="1"/>
          </p:nvPr>
        </p:nvSpPr>
        <p:spPr>
          <a:xfrm>
            <a:off x="838201" y="2362202"/>
            <a:ext cx="6986450" cy="4195352"/>
          </a:xfrm>
        </p:spPr>
        <p:txBody>
          <a:bodyPr/>
          <a:lstStyle/>
          <a:p>
            <a:pPr algn="just"/>
            <a:r>
              <a:rPr lang="en-US" sz="1600" dirty="0"/>
              <a:t>Reliability is an emerging and critical concern in traditional and new </a:t>
            </a:r>
            <a:r>
              <a:rPr lang="en-US" sz="1600" dirty="0" smtClean="0"/>
              <a:t>settings</a:t>
            </a:r>
          </a:p>
          <a:p>
            <a:pPr lvl="1" algn="just"/>
            <a:r>
              <a:rPr lang="en-US" sz="1600" dirty="0" smtClean="0"/>
              <a:t>Transaction </a:t>
            </a:r>
            <a:r>
              <a:rPr lang="en-US" sz="1600" dirty="0"/>
              <a:t>processing, mobile applications, </a:t>
            </a:r>
            <a:r>
              <a:rPr lang="en-US" sz="1600" dirty="0" err="1"/>
              <a:t>cyberphysical</a:t>
            </a:r>
            <a:r>
              <a:rPr lang="en-US" sz="1600" dirty="0"/>
              <a:t> </a:t>
            </a:r>
            <a:r>
              <a:rPr lang="en-US" sz="1600" dirty="0" smtClean="0"/>
              <a:t>systems</a:t>
            </a:r>
          </a:p>
          <a:p>
            <a:pPr algn="just"/>
            <a:r>
              <a:rPr lang="en-US" sz="1600" dirty="0"/>
              <a:t>New enhanced technology makes devices vulnerable to errors due to high complexity and high integration </a:t>
            </a:r>
          </a:p>
          <a:p>
            <a:pPr algn="just"/>
            <a:r>
              <a:rPr lang="en-US" sz="1600" dirty="0" smtClean="0"/>
              <a:t>Technology </a:t>
            </a:r>
            <a:r>
              <a:rPr lang="en-US" sz="1600" dirty="0"/>
              <a:t>scaling causes </a:t>
            </a:r>
            <a:r>
              <a:rPr lang="en-US" sz="1600" dirty="0" smtClean="0"/>
              <a:t>problems</a:t>
            </a:r>
          </a:p>
          <a:p>
            <a:pPr lvl="1" algn="just"/>
            <a:r>
              <a:rPr lang="en-US" sz="1600" dirty="0" smtClean="0"/>
              <a:t>Exponential </a:t>
            </a:r>
            <a:r>
              <a:rPr lang="en-US" sz="1600" dirty="0"/>
              <a:t>increase of soft error rate </a:t>
            </a:r>
          </a:p>
          <a:p>
            <a:pPr algn="just"/>
            <a:r>
              <a:rPr lang="en-US" sz="1600" dirty="0" smtClean="0"/>
              <a:t>Mobile/pervasive </a:t>
            </a:r>
            <a:r>
              <a:rPr lang="en-US" sz="1600" dirty="0"/>
              <a:t>applications running close to </a:t>
            </a:r>
            <a:r>
              <a:rPr lang="en-US" sz="1600" dirty="0" smtClean="0"/>
              <a:t>humans</a:t>
            </a:r>
          </a:p>
          <a:p>
            <a:pPr lvl="1" algn="just"/>
            <a:r>
              <a:rPr lang="en-US" sz="1600" dirty="0" err="1" smtClean="0"/>
              <a:t>E.g</a:t>
            </a:r>
            <a:r>
              <a:rPr lang="en-US" sz="1600" dirty="0" smtClean="0"/>
              <a:t> </a:t>
            </a:r>
            <a:r>
              <a:rPr lang="en-US" sz="1600" dirty="0"/>
              <a:t>Failure of healthcare devices cause serious </a:t>
            </a:r>
            <a:r>
              <a:rPr lang="en-US" sz="1600" dirty="0" smtClean="0"/>
              <a:t>results</a:t>
            </a:r>
          </a:p>
          <a:p>
            <a:pPr algn="just"/>
            <a:r>
              <a:rPr lang="en-US" sz="1600" dirty="0" smtClean="0"/>
              <a:t>Redundancy </a:t>
            </a:r>
            <a:r>
              <a:rPr lang="en-US" sz="1600" dirty="0"/>
              <a:t>techniques incur high overheads of power and </a:t>
            </a:r>
            <a:r>
              <a:rPr lang="en-US" sz="1600" dirty="0" smtClean="0"/>
              <a:t>performance</a:t>
            </a:r>
          </a:p>
          <a:p>
            <a:pPr lvl="1" algn="just"/>
            <a:r>
              <a:rPr lang="en-US" sz="1600" dirty="0" smtClean="0"/>
              <a:t>TMR </a:t>
            </a:r>
            <a:r>
              <a:rPr lang="en-US" sz="1600" dirty="0"/>
              <a:t>(Triple Modular Redundancy) may exceed 200% overheads without optimization [</a:t>
            </a:r>
            <a:r>
              <a:rPr lang="en-US" sz="1600" dirty="0" err="1"/>
              <a:t>Nieuwland</a:t>
            </a:r>
            <a:r>
              <a:rPr lang="en-US" sz="1600" dirty="0"/>
              <a:t>, 06]</a:t>
            </a:r>
          </a:p>
        </p:txBody>
      </p:sp>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3</a:t>
            </a:fld>
            <a:endParaRPr lang="en-US" altLang="en-US"/>
          </a:p>
        </p:txBody>
      </p:sp>
    </p:spTree>
    <p:extLst>
      <p:ext uri="{BB962C8B-B14F-4D97-AF65-F5344CB8AC3E}">
        <p14:creationId xmlns:p14="http://schemas.microsoft.com/office/powerpoint/2010/main" val="3977071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Classification of </a:t>
            </a:r>
            <a:r>
              <a:rPr lang="en-US" dirty="0" smtClean="0"/>
              <a:t>Failures</a:t>
            </a:r>
            <a:endParaRPr lang="en-US" dirty="0"/>
          </a:p>
        </p:txBody>
      </p:sp>
      <p:pic>
        <p:nvPicPr>
          <p:cNvPr id="5" name="Content Placeholder 4"/>
          <p:cNvPicPr>
            <a:picLocks noGrp="1" noChangeAspect="1"/>
          </p:cNvPicPr>
          <p:nvPr>
            <p:ph idx="1"/>
          </p:nvPr>
        </p:nvPicPr>
        <p:blipFill>
          <a:blip r:embed="rId2"/>
          <a:stretch>
            <a:fillRect/>
          </a:stretch>
        </p:blipFill>
        <p:spPr>
          <a:xfrm>
            <a:off x="940526" y="2362200"/>
            <a:ext cx="6479177" cy="4103914"/>
          </a:xfrm>
          <a:prstGeom prst="rect">
            <a:avLst/>
          </a:prstGeom>
        </p:spPr>
      </p:pic>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4</a:t>
            </a:fld>
            <a:endParaRPr lang="en-US" altLang="en-US"/>
          </a:p>
        </p:txBody>
      </p:sp>
    </p:spTree>
    <p:extLst>
      <p:ext uri="{BB962C8B-B14F-4D97-AF65-F5344CB8AC3E}">
        <p14:creationId xmlns:p14="http://schemas.microsoft.com/office/powerpoint/2010/main" val="27861691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Crash </a:t>
            </a:r>
            <a:r>
              <a:rPr lang="en-US" dirty="0" smtClean="0"/>
              <a:t>Failures</a:t>
            </a:r>
            <a:endParaRPr lang="en-US" dirty="0"/>
          </a:p>
        </p:txBody>
      </p:sp>
      <p:sp>
        <p:nvSpPr>
          <p:cNvPr id="3" name="Content Placeholder 2"/>
          <p:cNvSpPr>
            <a:spLocks noGrp="1"/>
          </p:cNvSpPr>
          <p:nvPr>
            <p:ph idx="1"/>
          </p:nvPr>
        </p:nvSpPr>
        <p:spPr/>
        <p:txBody>
          <a:bodyPr/>
          <a:lstStyle/>
          <a:p>
            <a:pPr algn="just"/>
            <a:r>
              <a:rPr lang="en-US" sz="2000" dirty="0"/>
              <a:t>Crash failure = the process halts. It is </a:t>
            </a:r>
            <a:r>
              <a:rPr lang="en-US" sz="2000" dirty="0" smtClean="0"/>
              <a:t>irreversible</a:t>
            </a:r>
          </a:p>
          <a:p>
            <a:pPr algn="just"/>
            <a:r>
              <a:rPr lang="en-US" sz="2000" dirty="0"/>
              <a:t>In synchronous system, it is easy to detect crash failure (using heartbeat signals and timeout). But in asynchronous systems, it is never accurate, since it is not possible to distinguish between a process that has crashed, and a process that is running very slowly</a:t>
            </a:r>
            <a:r>
              <a:rPr lang="en-US" sz="2000" dirty="0" smtClean="0"/>
              <a:t>.</a:t>
            </a:r>
          </a:p>
          <a:p>
            <a:pPr algn="just"/>
            <a:r>
              <a:rPr lang="en-US" sz="2000" dirty="0"/>
              <a:t>Some failures may be complex and nasty. Fail-stop failure is a simple abstraction that mimics crash failure when program execution becomes arbitrary. Implementations help detect which processor has failed. If a system cannot tolerate fail-stop failure, then it cannot tolerate crash</a:t>
            </a:r>
          </a:p>
        </p:txBody>
      </p:sp>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5</a:t>
            </a:fld>
            <a:endParaRPr lang="en-US" altLang="en-US"/>
          </a:p>
        </p:txBody>
      </p:sp>
    </p:spTree>
    <p:extLst>
      <p:ext uri="{BB962C8B-B14F-4D97-AF65-F5344CB8AC3E}">
        <p14:creationId xmlns:p14="http://schemas.microsoft.com/office/powerpoint/2010/main" val="1279252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Transient </a:t>
            </a:r>
            <a:r>
              <a:rPr lang="en-US" dirty="0" smtClean="0"/>
              <a:t>Failure</a:t>
            </a:r>
            <a:endParaRPr lang="en-US" dirty="0"/>
          </a:p>
        </p:txBody>
      </p:sp>
      <p:sp>
        <p:nvSpPr>
          <p:cNvPr id="3" name="Content Placeholder 2"/>
          <p:cNvSpPr>
            <a:spLocks noGrp="1"/>
          </p:cNvSpPr>
          <p:nvPr>
            <p:ph idx="1"/>
          </p:nvPr>
        </p:nvSpPr>
        <p:spPr>
          <a:xfrm>
            <a:off x="838201" y="2362202"/>
            <a:ext cx="7404461" cy="3724275"/>
          </a:xfrm>
        </p:spPr>
        <p:txBody>
          <a:bodyPr/>
          <a:lstStyle/>
          <a:p>
            <a:pPr algn="just"/>
            <a:r>
              <a:rPr lang="en-US" sz="2400" dirty="0"/>
              <a:t>(Hardware) Arbitrary perturbation of the global state. May be induced by power surge, weak batteries, lightning, </a:t>
            </a:r>
            <a:r>
              <a:rPr lang="en-US" sz="2400" dirty="0" smtClean="0"/>
              <a:t>radio frequency </a:t>
            </a:r>
            <a:r>
              <a:rPr lang="en-US" sz="2400" dirty="0"/>
              <a:t>interferences, cosmic ray</a:t>
            </a:r>
          </a:p>
        </p:txBody>
      </p:sp>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6</a:t>
            </a:fld>
            <a:endParaRPr lang="en-US" altLang="en-US"/>
          </a:p>
        </p:txBody>
      </p:sp>
      <p:pic>
        <p:nvPicPr>
          <p:cNvPr id="5" name="Picture 4"/>
          <p:cNvPicPr>
            <a:picLocks noChangeAspect="1"/>
          </p:cNvPicPr>
          <p:nvPr/>
        </p:nvPicPr>
        <p:blipFill>
          <a:blip r:embed="rId2"/>
          <a:stretch>
            <a:fillRect/>
          </a:stretch>
        </p:blipFill>
        <p:spPr>
          <a:xfrm>
            <a:off x="2069646" y="4018919"/>
            <a:ext cx="6382022" cy="2524760"/>
          </a:xfrm>
          <a:prstGeom prst="rect">
            <a:avLst/>
          </a:prstGeom>
        </p:spPr>
      </p:pic>
    </p:spTree>
    <p:extLst>
      <p:ext uri="{BB962C8B-B14F-4D97-AF65-F5344CB8AC3E}">
        <p14:creationId xmlns:p14="http://schemas.microsoft.com/office/powerpoint/2010/main" val="309821546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Temporal </a:t>
            </a:r>
            <a:r>
              <a:rPr lang="en-US" dirty="0" smtClean="0"/>
              <a:t>Failures</a:t>
            </a:r>
            <a:endParaRPr lang="en-US" dirty="0"/>
          </a:p>
        </p:txBody>
      </p:sp>
      <p:sp>
        <p:nvSpPr>
          <p:cNvPr id="3" name="Content Placeholder 2"/>
          <p:cNvSpPr>
            <a:spLocks noGrp="1"/>
          </p:cNvSpPr>
          <p:nvPr>
            <p:ph idx="1"/>
          </p:nvPr>
        </p:nvSpPr>
        <p:spPr>
          <a:xfrm>
            <a:off x="838201" y="2362202"/>
            <a:ext cx="7482839" cy="3724275"/>
          </a:xfrm>
        </p:spPr>
        <p:txBody>
          <a:bodyPr/>
          <a:lstStyle/>
          <a:p>
            <a:pPr algn="just"/>
            <a:r>
              <a:rPr lang="en-US" sz="2400" dirty="0"/>
              <a:t>Inability to meet deadlines </a:t>
            </a:r>
          </a:p>
          <a:p>
            <a:pPr lvl="1" algn="just"/>
            <a:r>
              <a:rPr lang="en-US" dirty="0"/>
              <a:t>C</a:t>
            </a:r>
            <a:r>
              <a:rPr lang="en-US" dirty="0" smtClean="0"/>
              <a:t>orrect </a:t>
            </a:r>
            <a:r>
              <a:rPr lang="en-US" dirty="0"/>
              <a:t>results are generated, but too late to be useful. Very important in real-time systems. </a:t>
            </a:r>
            <a:endParaRPr lang="en-US" dirty="0" smtClean="0"/>
          </a:p>
          <a:p>
            <a:pPr algn="just"/>
            <a:r>
              <a:rPr lang="en-US" sz="2400" dirty="0" smtClean="0"/>
              <a:t>May </a:t>
            </a:r>
            <a:r>
              <a:rPr lang="en-US" sz="2400" dirty="0"/>
              <a:t>be caused by poor algorithms, poor design strategy or loss of synchronization among the processor clocks </a:t>
            </a:r>
          </a:p>
        </p:txBody>
      </p:sp>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7</a:t>
            </a:fld>
            <a:endParaRPr lang="en-US" altLang="en-US"/>
          </a:p>
        </p:txBody>
      </p:sp>
    </p:spTree>
    <p:extLst>
      <p:ext uri="{BB962C8B-B14F-4D97-AF65-F5344CB8AC3E}">
        <p14:creationId xmlns:p14="http://schemas.microsoft.com/office/powerpoint/2010/main" val="135775474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Byzantine </a:t>
            </a:r>
            <a:r>
              <a:rPr lang="en-US" dirty="0" smtClean="0"/>
              <a:t>Failure</a:t>
            </a:r>
            <a:endParaRPr lang="en-US" dirty="0"/>
          </a:p>
        </p:txBody>
      </p:sp>
      <p:sp>
        <p:nvSpPr>
          <p:cNvPr id="3" name="Content Placeholder 2"/>
          <p:cNvSpPr>
            <a:spLocks noGrp="1"/>
          </p:cNvSpPr>
          <p:nvPr>
            <p:ph idx="1"/>
          </p:nvPr>
        </p:nvSpPr>
        <p:spPr>
          <a:xfrm>
            <a:off x="838201" y="2362202"/>
            <a:ext cx="6908073" cy="3724275"/>
          </a:xfrm>
        </p:spPr>
        <p:txBody>
          <a:bodyPr/>
          <a:lstStyle/>
          <a:p>
            <a:pPr algn="just"/>
            <a:r>
              <a:rPr lang="en-US" sz="2400" dirty="0"/>
              <a:t>Anything goes! Includes every conceivable form of erroneous behavior. The weakest type of </a:t>
            </a:r>
            <a:r>
              <a:rPr lang="en-US" sz="2400" dirty="0" smtClean="0"/>
              <a:t>failure</a:t>
            </a:r>
          </a:p>
          <a:p>
            <a:pPr algn="just"/>
            <a:r>
              <a:rPr lang="en-US" sz="2400" dirty="0"/>
              <a:t>Numerous possible causes. Includes malicious behaviors (like a process executing a different program instead of the specified one) too</a:t>
            </a:r>
            <a:r>
              <a:rPr lang="en-US" sz="2400" dirty="0" smtClean="0"/>
              <a:t>.</a:t>
            </a:r>
          </a:p>
          <a:p>
            <a:pPr algn="just"/>
            <a:r>
              <a:rPr lang="en-US" sz="2400" dirty="0"/>
              <a:t>Most difficult kind of failure to deal with. </a:t>
            </a:r>
          </a:p>
        </p:txBody>
      </p:sp>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8</a:t>
            </a:fld>
            <a:endParaRPr lang="en-US" altLang="en-US"/>
          </a:p>
        </p:txBody>
      </p:sp>
    </p:spTree>
    <p:extLst>
      <p:ext uri="{BB962C8B-B14F-4D97-AF65-F5344CB8AC3E}">
        <p14:creationId xmlns:p14="http://schemas.microsoft.com/office/powerpoint/2010/main" val="32153807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Errors/Failures across system layers</a:t>
            </a:r>
          </a:p>
        </p:txBody>
      </p:sp>
      <p:pic>
        <p:nvPicPr>
          <p:cNvPr id="5" name="Content Placeholder 4"/>
          <p:cNvPicPr>
            <a:picLocks noGrp="1" noChangeAspect="1"/>
          </p:cNvPicPr>
          <p:nvPr>
            <p:ph idx="1"/>
          </p:nvPr>
        </p:nvPicPr>
        <p:blipFill>
          <a:blip r:embed="rId2"/>
          <a:stretch>
            <a:fillRect/>
          </a:stretch>
        </p:blipFill>
        <p:spPr>
          <a:xfrm>
            <a:off x="901337" y="2362200"/>
            <a:ext cx="6564307" cy="4368800"/>
          </a:xfrm>
          <a:prstGeom prst="rect">
            <a:avLst/>
          </a:prstGeom>
        </p:spPr>
      </p:pic>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9</a:t>
            </a:fld>
            <a:endParaRPr lang="en-US" altLang="en-US"/>
          </a:p>
        </p:txBody>
      </p:sp>
    </p:spTree>
    <p:extLst>
      <p:ext uri="{BB962C8B-B14F-4D97-AF65-F5344CB8AC3E}">
        <p14:creationId xmlns:p14="http://schemas.microsoft.com/office/powerpoint/2010/main" val="95617833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Errors and Error 11 Control Schemes</a:t>
            </a:r>
          </a:p>
        </p:txBody>
      </p:sp>
      <p:pic>
        <p:nvPicPr>
          <p:cNvPr id="5" name="Content Placeholder 4"/>
          <p:cNvPicPr>
            <a:picLocks noGrp="1" noChangeAspect="1"/>
          </p:cNvPicPr>
          <p:nvPr>
            <p:ph idx="1"/>
          </p:nvPr>
        </p:nvPicPr>
        <p:blipFill>
          <a:blip r:embed="rId2"/>
          <a:stretch>
            <a:fillRect/>
          </a:stretch>
        </p:blipFill>
        <p:spPr>
          <a:xfrm>
            <a:off x="762000" y="2291171"/>
            <a:ext cx="7049588" cy="4195354"/>
          </a:xfrm>
          <a:prstGeom prst="rect">
            <a:avLst/>
          </a:prstGeom>
        </p:spPr>
      </p:pic>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10</a:t>
            </a:fld>
            <a:endParaRPr lang="en-US" altLang="en-US"/>
          </a:p>
        </p:txBody>
      </p:sp>
    </p:spTree>
    <p:extLst>
      <p:ext uri="{BB962C8B-B14F-4D97-AF65-F5344CB8AC3E}">
        <p14:creationId xmlns:p14="http://schemas.microsoft.com/office/powerpoint/2010/main" val="400903839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Errors and Error 14 Control Schemes</a:t>
            </a:r>
          </a:p>
        </p:txBody>
      </p:sp>
      <p:pic>
        <p:nvPicPr>
          <p:cNvPr id="5" name="Content Placeholder 4"/>
          <p:cNvPicPr>
            <a:picLocks noGrp="1" noChangeAspect="1"/>
          </p:cNvPicPr>
          <p:nvPr>
            <p:ph idx="1"/>
          </p:nvPr>
        </p:nvPicPr>
        <p:blipFill>
          <a:blip r:embed="rId2"/>
          <a:stretch>
            <a:fillRect/>
          </a:stretch>
        </p:blipFill>
        <p:spPr>
          <a:xfrm>
            <a:off x="862149" y="2362200"/>
            <a:ext cx="6766560" cy="4247606"/>
          </a:xfrm>
          <a:prstGeom prst="rect">
            <a:avLst/>
          </a:prstGeom>
        </p:spPr>
      </p:pic>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11</a:t>
            </a:fld>
            <a:endParaRPr lang="en-US" altLang="en-US"/>
          </a:p>
        </p:txBody>
      </p:sp>
    </p:spTree>
    <p:extLst>
      <p:ext uri="{BB962C8B-B14F-4D97-AF65-F5344CB8AC3E}">
        <p14:creationId xmlns:p14="http://schemas.microsoft.com/office/powerpoint/2010/main" val="151290667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a:t>
            </a:r>
            <a:r>
              <a:rPr lang="en-US" dirty="0" smtClean="0"/>
              <a:t>Failures</a:t>
            </a:r>
            <a:endParaRPr lang="en-US" dirty="0"/>
          </a:p>
        </p:txBody>
      </p:sp>
      <p:sp>
        <p:nvSpPr>
          <p:cNvPr id="3" name="Content Placeholder 2"/>
          <p:cNvSpPr>
            <a:spLocks noGrp="1"/>
          </p:cNvSpPr>
          <p:nvPr>
            <p:ph idx="1"/>
          </p:nvPr>
        </p:nvSpPr>
        <p:spPr/>
        <p:txBody>
          <a:bodyPr/>
          <a:lstStyle/>
          <a:p>
            <a:r>
              <a:rPr lang="en-US" dirty="0"/>
              <a:t>Coding error or human </a:t>
            </a:r>
            <a:r>
              <a:rPr lang="en-US" dirty="0" smtClean="0"/>
              <a:t>error</a:t>
            </a:r>
          </a:p>
          <a:p>
            <a:pPr lvl="1" algn="just"/>
            <a:r>
              <a:rPr lang="en-US" sz="1800" dirty="0"/>
              <a:t>On September 23, 1999, NASA lost the $125 million Mars orbiter spacecraft because one engineering team used metric units while another used English units leading to a navigation fiasco, causing it to burn in the atmosphere</a:t>
            </a:r>
            <a:r>
              <a:rPr lang="en-US" dirty="0" smtClean="0"/>
              <a:t>.</a:t>
            </a:r>
          </a:p>
          <a:p>
            <a:pPr algn="just"/>
            <a:r>
              <a:rPr lang="en-US" dirty="0"/>
              <a:t>Design flaws or inaccurate </a:t>
            </a:r>
            <a:r>
              <a:rPr lang="en-US" dirty="0" smtClean="0"/>
              <a:t>modeling</a:t>
            </a:r>
          </a:p>
          <a:p>
            <a:pPr lvl="1" algn="just"/>
            <a:r>
              <a:rPr lang="en-US" sz="1600" dirty="0"/>
              <a:t>Mars pathfinder mission landed flawlessly on the Martial surface on July 4, 1997. However, later its communication failed due to a design flaw in the real-time embedded software kernel </a:t>
            </a:r>
            <a:r>
              <a:rPr lang="en-US" sz="1600" dirty="0" err="1"/>
              <a:t>VxWorks</a:t>
            </a:r>
            <a:r>
              <a:rPr lang="en-US" sz="1600" dirty="0"/>
              <a:t>. The problem was later diagnosed to be caused due to priority inversion, when a medium priority task could preempt a high priority one. </a:t>
            </a:r>
          </a:p>
        </p:txBody>
      </p:sp>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12</a:t>
            </a:fld>
            <a:endParaRPr lang="en-US" altLang="en-US"/>
          </a:p>
        </p:txBody>
      </p:sp>
    </p:spTree>
    <p:extLst>
      <p:ext uri="{BB962C8B-B14F-4D97-AF65-F5344CB8AC3E}">
        <p14:creationId xmlns:p14="http://schemas.microsoft.com/office/powerpoint/2010/main" val="32805884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a:t>
            </a:r>
            <a:r>
              <a:rPr lang="en-US" dirty="0" smtClean="0"/>
              <a:t>Failures</a:t>
            </a:r>
            <a:endParaRPr lang="en-US" dirty="0"/>
          </a:p>
        </p:txBody>
      </p:sp>
      <p:sp>
        <p:nvSpPr>
          <p:cNvPr id="3" name="Content Placeholder 2"/>
          <p:cNvSpPr>
            <a:spLocks noGrp="1"/>
          </p:cNvSpPr>
          <p:nvPr>
            <p:ph idx="1"/>
          </p:nvPr>
        </p:nvSpPr>
        <p:spPr/>
        <p:txBody>
          <a:bodyPr/>
          <a:lstStyle/>
          <a:p>
            <a:r>
              <a:rPr lang="en-US" dirty="0"/>
              <a:t>Memory leak </a:t>
            </a:r>
            <a:endParaRPr lang="en-US" dirty="0" smtClean="0"/>
          </a:p>
          <a:p>
            <a:pPr lvl="1" algn="just"/>
            <a:r>
              <a:rPr lang="en-US" dirty="0" smtClean="0"/>
              <a:t>Processes </a:t>
            </a:r>
            <a:r>
              <a:rPr lang="en-US" dirty="0"/>
              <a:t>fail to entirely free up the physical memory that has been allocated to them. This effectively reduces the size of the available physical memory over time. When this becomes smaller than the minimum memory needed to support an application, it crashes.</a:t>
            </a:r>
          </a:p>
        </p:txBody>
      </p:sp>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13</a:t>
            </a:fld>
            <a:endParaRPr lang="en-US" altLang="en-US"/>
          </a:p>
        </p:txBody>
      </p:sp>
    </p:spTree>
    <p:extLst>
      <p:ext uri="{BB962C8B-B14F-4D97-AF65-F5344CB8AC3E}">
        <p14:creationId xmlns:p14="http://schemas.microsoft.com/office/powerpoint/2010/main" val="73196754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Network Errors and Error 17 Control Schemes</a:t>
            </a:r>
          </a:p>
        </p:txBody>
      </p:sp>
      <p:pic>
        <p:nvPicPr>
          <p:cNvPr id="5" name="Content Placeholder 4"/>
          <p:cNvPicPr>
            <a:picLocks noGrp="1" noChangeAspect="1"/>
          </p:cNvPicPr>
          <p:nvPr>
            <p:ph idx="1"/>
          </p:nvPr>
        </p:nvPicPr>
        <p:blipFill>
          <a:blip r:embed="rId2"/>
          <a:stretch>
            <a:fillRect/>
          </a:stretch>
        </p:blipFill>
        <p:spPr>
          <a:xfrm>
            <a:off x="927463" y="2362200"/>
            <a:ext cx="6818811" cy="4368800"/>
          </a:xfrm>
          <a:prstGeom prst="rect">
            <a:avLst/>
          </a:prstGeom>
        </p:spPr>
      </p:pic>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14</a:t>
            </a:fld>
            <a:endParaRPr lang="en-US" altLang="en-US"/>
          </a:p>
        </p:txBody>
      </p:sp>
    </p:spTree>
    <p:extLst>
      <p:ext uri="{BB962C8B-B14F-4D97-AF65-F5344CB8AC3E}">
        <p14:creationId xmlns:p14="http://schemas.microsoft.com/office/powerpoint/2010/main" val="92377771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Classifying </a:t>
            </a:r>
            <a:r>
              <a:rPr lang="en-US" dirty="0" smtClean="0"/>
              <a:t>Fault-Tolerance</a:t>
            </a:r>
            <a:endParaRPr lang="en-US" dirty="0"/>
          </a:p>
        </p:txBody>
      </p:sp>
      <p:sp>
        <p:nvSpPr>
          <p:cNvPr id="3" name="Content Placeholder 2"/>
          <p:cNvSpPr>
            <a:spLocks noGrp="1"/>
          </p:cNvSpPr>
          <p:nvPr>
            <p:ph idx="1"/>
          </p:nvPr>
        </p:nvSpPr>
        <p:spPr/>
        <p:txBody>
          <a:bodyPr/>
          <a:lstStyle/>
          <a:p>
            <a:r>
              <a:rPr lang="en-US" dirty="0"/>
              <a:t>Masking tolerance. </a:t>
            </a:r>
            <a:endParaRPr lang="en-US" dirty="0" smtClean="0"/>
          </a:p>
          <a:p>
            <a:pPr lvl="1" algn="just"/>
            <a:r>
              <a:rPr lang="en-US" sz="2000" dirty="0" smtClean="0"/>
              <a:t>Application </a:t>
            </a:r>
            <a:r>
              <a:rPr lang="en-US" sz="2000" dirty="0"/>
              <a:t>runs as it is. The failure does not have a visible impact. All properties (both liveness &amp; safety) continue to hold. </a:t>
            </a:r>
            <a:endParaRPr lang="en-US" sz="2000" dirty="0" smtClean="0"/>
          </a:p>
          <a:p>
            <a:pPr lvl="1" algn="just"/>
            <a:r>
              <a:rPr lang="en-US" sz="2000" dirty="0" smtClean="0"/>
              <a:t>Non-masking </a:t>
            </a:r>
            <a:r>
              <a:rPr lang="en-US" sz="2000" dirty="0"/>
              <a:t>tolerance. </a:t>
            </a:r>
            <a:endParaRPr lang="en-US" sz="2000" dirty="0" smtClean="0"/>
          </a:p>
          <a:p>
            <a:pPr lvl="2" algn="just"/>
            <a:r>
              <a:rPr lang="en-US" dirty="0" smtClean="0"/>
              <a:t>Safety </a:t>
            </a:r>
            <a:r>
              <a:rPr lang="en-US" dirty="0"/>
              <a:t>property is temporarily affected, but not </a:t>
            </a:r>
            <a:r>
              <a:rPr lang="en-US" dirty="0" smtClean="0"/>
              <a:t>liveness.</a:t>
            </a:r>
          </a:p>
          <a:p>
            <a:pPr lvl="1" algn="just"/>
            <a:r>
              <a:rPr lang="en-US" sz="2000" dirty="0" smtClean="0"/>
              <a:t>Example </a:t>
            </a:r>
            <a:r>
              <a:rPr lang="en-US" sz="2000" dirty="0"/>
              <a:t>1. </a:t>
            </a:r>
            <a:endParaRPr lang="en-US" sz="2000" dirty="0" smtClean="0"/>
          </a:p>
          <a:p>
            <a:pPr lvl="2" algn="just"/>
            <a:r>
              <a:rPr lang="en-US" sz="1600" dirty="0" smtClean="0"/>
              <a:t>Clocks </a:t>
            </a:r>
            <a:r>
              <a:rPr lang="en-US" sz="1600" dirty="0"/>
              <a:t>lose synchronization, but recover soon thereafter. </a:t>
            </a:r>
            <a:endParaRPr lang="en-US" sz="1600" dirty="0" smtClean="0"/>
          </a:p>
          <a:p>
            <a:pPr lvl="1" algn="just"/>
            <a:r>
              <a:rPr lang="en-US" sz="2000" dirty="0" smtClean="0"/>
              <a:t>Example </a:t>
            </a:r>
            <a:r>
              <a:rPr lang="en-US" sz="2000" dirty="0"/>
              <a:t>2. </a:t>
            </a:r>
            <a:endParaRPr lang="en-US" sz="2000" dirty="0" smtClean="0"/>
          </a:p>
          <a:p>
            <a:pPr lvl="2" algn="just"/>
            <a:r>
              <a:rPr lang="en-US" sz="1600" dirty="0" smtClean="0"/>
              <a:t>Multiple </a:t>
            </a:r>
            <a:r>
              <a:rPr lang="en-US" sz="1600" dirty="0"/>
              <a:t>processes temporarily enter their critical sections, but thereafter, the normal behavior is restored</a:t>
            </a:r>
          </a:p>
        </p:txBody>
      </p:sp>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15</a:t>
            </a:fld>
            <a:endParaRPr lang="en-US" altLang="en-US"/>
          </a:p>
        </p:txBody>
      </p:sp>
    </p:spTree>
    <p:extLst>
      <p:ext uri="{BB962C8B-B14F-4D97-AF65-F5344CB8AC3E}">
        <p14:creationId xmlns:p14="http://schemas.microsoft.com/office/powerpoint/2010/main" val="54474147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Classifying </a:t>
            </a:r>
            <a:r>
              <a:rPr lang="en-US" dirty="0" smtClean="0"/>
              <a:t>Fault-Tolerance</a:t>
            </a:r>
            <a:endParaRPr lang="en-US" dirty="0"/>
          </a:p>
        </p:txBody>
      </p:sp>
      <p:sp>
        <p:nvSpPr>
          <p:cNvPr id="3" name="Content Placeholder 2"/>
          <p:cNvSpPr>
            <a:spLocks noGrp="1"/>
          </p:cNvSpPr>
          <p:nvPr>
            <p:ph idx="1"/>
          </p:nvPr>
        </p:nvSpPr>
        <p:spPr/>
        <p:txBody>
          <a:bodyPr/>
          <a:lstStyle/>
          <a:p>
            <a:pPr algn="just"/>
            <a:r>
              <a:rPr lang="en-US" sz="1800" dirty="0"/>
              <a:t>Fail-safe tolerance </a:t>
            </a:r>
            <a:endParaRPr lang="en-US" sz="1800" dirty="0" smtClean="0"/>
          </a:p>
          <a:p>
            <a:pPr lvl="1" algn="just"/>
            <a:r>
              <a:rPr lang="en-US" sz="1800" dirty="0" smtClean="0"/>
              <a:t>Given </a:t>
            </a:r>
            <a:r>
              <a:rPr lang="en-US" sz="1800" dirty="0"/>
              <a:t>safety predicate is preserved, but liveness may be affected </a:t>
            </a:r>
            <a:endParaRPr lang="en-US" sz="1800" dirty="0" smtClean="0"/>
          </a:p>
          <a:p>
            <a:pPr lvl="1" algn="just"/>
            <a:r>
              <a:rPr lang="en-US" sz="1800" dirty="0" smtClean="0"/>
              <a:t>Example</a:t>
            </a:r>
            <a:r>
              <a:rPr lang="en-US" sz="1800" dirty="0"/>
              <a:t>. </a:t>
            </a:r>
            <a:endParaRPr lang="en-US" sz="1800" dirty="0" smtClean="0"/>
          </a:p>
          <a:p>
            <a:pPr lvl="2" algn="just"/>
            <a:r>
              <a:rPr lang="en-US" sz="1800" dirty="0" smtClean="0"/>
              <a:t>Due </a:t>
            </a:r>
            <a:r>
              <a:rPr lang="en-US" sz="1800" dirty="0"/>
              <a:t>to failure, no process can enter its critical section for an indefinite period. In a traffic crossing, failure changes the traffic in both directions to red</a:t>
            </a:r>
            <a:r>
              <a:rPr lang="en-US" sz="1800" dirty="0" smtClean="0"/>
              <a:t>.</a:t>
            </a:r>
          </a:p>
          <a:p>
            <a:pPr algn="just"/>
            <a:r>
              <a:rPr lang="en-US" sz="1800" dirty="0"/>
              <a:t>Graceful degradation </a:t>
            </a:r>
            <a:endParaRPr lang="en-US" sz="1800" dirty="0" smtClean="0"/>
          </a:p>
          <a:p>
            <a:pPr lvl="1" algn="just"/>
            <a:r>
              <a:rPr lang="en-US" sz="1800" dirty="0" smtClean="0"/>
              <a:t>Application </a:t>
            </a:r>
            <a:r>
              <a:rPr lang="en-US" sz="1800" dirty="0"/>
              <a:t>continues, but in a “</a:t>
            </a:r>
            <a:r>
              <a:rPr lang="en-US" sz="1800" dirty="0" smtClean="0"/>
              <a:t>degraded ”</a:t>
            </a:r>
            <a:r>
              <a:rPr lang="en-US" sz="1800" dirty="0"/>
              <a:t>mode. Much depends on what kind of degradation is acceptable. </a:t>
            </a:r>
            <a:endParaRPr lang="en-US" sz="1800" dirty="0" smtClean="0"/>
          </a:p>
          <a:p>
            <a:pPr lvl="1" algn="just"/>
            <a:r>
              <a:rPr lang="en-US" sz="1800" dirty="0" smtClean="0"/>
              <a:t>Example</a:t>
            </a:r>
            <a:r>
              <a:rPr lang="en-US" sz="1800" dirty="0"/>
              <a:t>. Consider message-based mutual exclusion. Processes will enter their critical sections, but not in timestamp order</a:t>
            </a:r>
          </a:p>
        </p:txBody>
      </p:sp>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16</a:t>
            </a:fld>
            <a:endParaRPr lang="en-US" altLang="en-US"/>
          </a:p>
        </p:txBody>
      </p:sp>
    </p:spTree>
    <p:extLst>
      <p:ext uri="{BB962C8B-B14F-4D97-AF65-F5344CB8AC3E}">
        <p14:creationId xmlns:p14="http://schemas.microsoft.com/office/powerpoint/2010/main" val="23531111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Conventional Approaches</a:t>
            </a:r>
          </a:p>
        </p:txBody>
      </p:sp>
      <p:sp>
        <p:nvSpPr>
          <p:cNvPr id="3" name="Content Placeholder 2"/>
          <p:cNvSpPr>
            <a:spLocks noGrp="1"/>
          </p:cNvSpPr>
          <p:nvPr>
            <p:ph idx="1"/>
          </p:nvPr>
        </p:nvSpPr>
        <p:spPr>
          <a:xfrm>
            <a:off x="838201" y="2362202"/>
            <a:ext cx="7104016" cy="4103912"/>
          </a:xfrm>
        </p:spPr>
        <p:txBody>
          <a:bodyPr/>
          <a:lstStyle/>
          <a:p>
            <a:pPr algn="just"/>
            <a:r>
              <a:rPr lang="en-US" sz="1800" dirty="0"/>
              <a:t>Build redundancy into </a:t>
            </a:r>
            <a:r>
              <a:rPr lang="en-US" sz="1800" dirty="0" smtClean="0"/>
              <a:t>hardware/software</a:t>
            </a:r>
          </a:p>
          <a:p>
            <a:pPr lvl="1" algn="just"/>
            <a:r>
              <a:rPr lang="en-US" sz="1800" dirty="0" smtClean="0"/>
              <a:t>Modular </a:t>
            </a:r>
            <a:r>
              <a:rPr lang="en-US" sz="1800" dirty="0"/>
              <a:t>Redundancy, N-Version </a:t>
            </a:r>
            <a:r>
              <a:rPr lang="en-US" sz="1800" dirty="0" smtClean="0"/>
              <a:t>Programming Conventional </a:t>
            </a:r>
            <a:r>
              <a:rPr lang="en-US" sz="1800" dirty="0"/>
              <a:t>TRM (Triple Modular Redundancy) can incur 200% overheads without optimization. </a:t>
            </a:r>
            <a:r>
              <a:rPr lang="en-US" sz="1800" dirty="0" smtClean="0"/>
              <a:t>❘</a:t>
            </a:r>
          </a:p>
          <a:p>
            <a:pPr lvl="1" algn="just"/>
            <a:r>
              <a:rPr lang="en-US" sz="1800" dirty="0" smtClean="0"/>
              <a:t>Replication </a:t>
            </a:r>
            <a:r>
              <a:rPr lang="en-US" sz="1800" dirty="0"/>
              <a:t>of tasks and processes may result in </a:t>
            </a:r>
            <a:r>
              <a:rPr lang="en-US" sz="1800" dirty="0" smtClean="0"/>
              <a:t>overprovisioning</a:t>
            </a:r>
          </a:p>
          <a:p>
            <a:pPr lvl="1" algn="just"/>
            <a:r>
              <a:rPr lang="en-US" sz="1800" dirty="0" smtClean="0"/>
              <a:t>Error </a:t>
            </a:r>
            <a:r>
              <a:rPr lang="en-US" sz="1800" dirty="0"/>
              <a:t>Control </a:t>
            </a:r>
            <a:r>
              <a:rPr lang="en-US" sz="1800" dirty="0" smtClean="0"/>
              <a:t>Coding</a:t>
            </a:r>
          </a:p>
          <a:p>
            <a:pPr algn="just"/>
            <a:r>
              <a:rPr lang="en-US" sz="1800" dirty="0" err="1"/>
              <a:t>Checkpointing</a:t>
            </a:r>
            <a:r>
              <a:rPr lang="en-US" sz="1800" dirty="0"/>
              <a:t> and </a:t>
            </a:r>
            <a:r>
              <a:rPr lang="en-US" sz="1800" dirty="0" smtClean="0"/>
              <a:t>rollbacks</a:t>
            </a:r>
          </a:p>
          <a:p>
            <a:pPr lvl="1" algn="just"/>
            <a:r>
              <a:rPr lang="en-US" sz="1800" dirty="0" smtClean="0"/>
              <a:t>Usually </a:t>
            </a:r>
            <a:r>
              <a:rPr lang="en-US" sz="1800" dirty="0"/>
              <a:t>accomplished through logging (e.g. </a:t>
            </a:r>
            <a:r>
              <a:rPr lang="en-US" sz="1800" dirty="0" smtClean="0"/>
              <a:t>messages)</a:t>
            </a:r>
          </a:p>
          <a:p>
            <a:pPr lvl="1" algn="just"/>
            <a:r>
              <a:rPr lang="en-US" sz="1800" dirty="0" smtClean="0"/>
              <a:t>Backward </a:t>
            </a:r>
            <a:r>
              <a:rPr lang="en-US" sz="1800" dirty="0"/>
              <a:t>Recovery with Checkpoints cannot guarantee the completion time of a task</a:t>
            </a:r>
            <a:r>
              <a:rPr lang="en-US" sz="1800" dirty="0" smtClean="0"/>
              <a:t>.</a:t>
            </a:r>
          </a:p>
          <a:p>
            <a:pPr algn="just"/>
            <a:r>
              <a:rPr lang="en-US" sz="1800" dirty="0" smtClean="0"/>
              <a:t>Hybrid</a:t>
            </a:r>
          </a:p>
          <a:p>
            <a:pPr lvl="1" algn="just"/>
            <a:r>
              <a:rPr lang="en-US" sz="1800" dirty="0" smtClean="0"/>
              <a:t>Recovery </a:t>
            </a:r>
            <a:r>
              <a:rPr lang="en-US" sz="1800" dirty="0"/>
              <a:t>Blocks</a:t>
            </a:r>
          </a:p>
        </p:txBody>
      </p:sp>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17</a:t>
            </a:fld>
            <a:endParaRPr lang="en-US" altLang="en-US"/>
          </a:p>
        </p:txBody>
      </p:sp>
    </p:spTree>
    <p:extLst>
      <p:ext uri="{BB962C8B-B14F-4D97-AF65-F5344CB8AC3E}">
        <p14:creationId xmlns:p14="http://schemas.microsoft.com/office/powerpoint/2010/main" val="65720657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Modular Redundancy</a:t>
            </a:r>
          </a:p>
        </p:txBody>
      </p:sp>
      <p:pic>
        <p:nvPicPr>
          <p:cNvPr id="5" name="Content Placeholder 4"/>
          <p:cNvPicPr>
            <a:picLocks noGrp="1" noChangeAspect="1"/>
          </p:cNvPicPr>
          <p:nvPr>
            <p:ph idx="1"/>
          </p:nvPr>
        </p:nvPicPr>
        <p:blipFill>
          <a:blip r:embed="rId2"/>
          <a:stretch>
            <a:fillRect/>
          </a:stretch>
        </p:blipFill>
        <p:spPr>
          <a:xfrm>
            <a:off x="1000442" y="2448743"/>
            <a:ext cx="6994027" cy="3089908"/>
          </a:xfrm>
          <a:prstGeom prst="rect">
            <a:avLst/>
          </a:prstGeom>
        </p:spPr>
      </p:pic>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18</a:t>
            </a:fld>
            <a:endParaRPr lang="en-US" altLang="en-US"/>
          </a:p>
        </p:txBody>
      </p:sp>
    </p:spTree>
    <p:extLst>
      <p:ext uri="{BB962C8B-B14F-4D97-AF65-F5344CB8AC3E}">
        <p14:creationId xmlns:p14="http://schemas.microsoft.com/office/powerpoint/2010/main" val="280316029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N-version Programming</a:t>
            </a:r>
          </a:p>
        </p:txBody>
      </p:sp>
      <p:pic>
        <p:nvPicPr>
          <p:cNvPr id="5" name="Content Placeholder 4"/>
          <p:cNvPicPr>
            <a:picLocks noGrp="1" noChangeAspect="1"/>
          </p:cNvPicPr>
          <p:nvPr>
            <p:ph idx="1"/>
          </p:nvPr>
        </p:nvPicPr>
        <p:blipFill>
          <a:blip r:embed="rId2"/>
          <a:stretch>
            <a:fillRect/>
          </a:stretch>
        </p:blipFill>
        <p:spPr>
          <a:xfrm>
            <a:off x="929005" y="2453230"/>
            <a:ext cx="6712766" cy="3788819"/>
          </a:xfrm>
          <a:prstGeom prst="rect">
            <a:avLst/>
          </a:prstGeom>
        </p:spPr>
      </p:pic>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19</a:t>
            </a:fld>
            <a:endParaRPr lang="en-US" altLang="en-US"/>
          </a:p>
        </p:txBody>
      </p:sp>
    </p:spTree>
    <p:extLst>
      <p:ext uri="{BB962C8B-B14F-4D97-AF65-F5344CB8AC3E}">
        <p14:creationId xmlns:p14="http://schemas.microsoft.com/office/powerpoint/2010/main" val="276407231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Error-Control Coding</a:t>
            </a:r>
          </a:p>
        </p:txBody>
      </p:sp>
      <p:pic>
        <p:nvPicPr>
          <p:cNvPr id="5" name="Content Placeholder 4"/>
          <p:cNvPicPr>
            <a:picLocks noGrp="1" noChangeAspect="1"/>
          </p:cNvPicPr>
          <p:nvPr>
            <p:ph idx="1"/>
          </p:nvPr>
        </p:nvPicPr>
        <p:blipFill>
          <a:blip r:embed="rId2"/>
          <a:stretch>
            <a:fillRect/>
          </a:stretch>
        </p:blipFill>
        <p:spPr>
          <a:xfrm>
            <a:off x="937576" y="2372405"/>
            <a:ext cx="6625817" cy="3623446"/>
          </a:xfrm>
          <a:prstGeom prst="rect">
            <a:avLst/>
          </a:prstGeom>
        </p:spPr>
      </p:pic>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20</a:t>
            </a:fld>
            <a:endParaRPr lang="en-US" altLang="en-US"/>
          </a:p>
        </p:txBody>
      </p:sp>
    </p:spTree>
    <p:extLst>
      <p:ext uri="{BB962C8B-B14F-4D97-AF65-F5344CB8AC3E}">
        <p14:creationId xmlns:p14="http://schemas.microsoft.com/office/powerpoint/2010/main" val="323318033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Consensus</a:t>
            </a:r>
          </a:p>
        </p:txBody>
      </p:sp>
      <p:sp>
        <p:nvSpPr>
          <p:cNvPr id="3" name="Content Placeholder 2"/>
          <p:cNvSpPr>
            <a:spLocks noGrp="1"/>
          </p:cNvSpPr>
          <p:nvPr>
            <p:ph idx="1"/>
          </p:nvPr>
        </p:nvSpPr>
        <p:spPr>
          <a:xfrm>
            <a:off x="838202" y="2362202"/>
            <a:ext cx="6881948" cy="4182289"/>
          </a:xfrm>
        </p:spPr>
        <p:txBody>
          <a:bodyPr/>
          <a:lstStyle/>
          <a:p>
            <a:pPr algn="just"/>
            <a:r>
              <a:rPr lang="en-US" sz="1600" dirty="0"/>
              <a:t>Reaching Agreement is a fundamental problem in distributed </a:t>
            </a:r>
            <a:r>
              <a:rPr lang="en-US" sz="1600" dirty="0" smtClean="0"/>
              <a:t>computing</a:t>
            </a:r>
          </a:p>
          <a:p>
            <a:pPr algn="just"/>
            <a:r>
              <a:rPr lang="en-US" sz="1600" dirty="0" smtClean="0"/>
              <a:t>Mutual Exclusion</a:t>
            </a:r>
          </a:p>
          <a:p>
            <a:pPr lvl="1" algn="just"/>
            <a:r>
              <a:rPr lang="en-US" sz="1600" dirty="0" smtClean="0"/>
              <a:t>processes </a:t>
            </a:r>
            <a:r>
              <a:rPr lang="en-US" sz="1600" dirty="0"/>
              <a:t>agree on which process can enter the critical </a:t>
            </a:r>
            <a:r>
              <a:rPr lang="en-US" sz="1600" dirty="0" smtClean="0"/>
              <a:t>section</a:t>
            </a:r>
          </a:p>
          <a:p>
            <a:pPr algn="just"/>
            <a:r>
              <a:rPr lang="en-US" sz="1600" dirty="0" smtClean="0"/>
              <a:t>Leader Election</a:t>
            </a:r>
          </a:p>
          <a:p>
            <a:pPr lvl="1" algn="just"/>
            <a:r>
              <a:rPr lang="en-US" sz="1600" dirty="0" smtClean="0"/>
              <a:t>the </a:t>
            </a:r>
            <a:r>
              <a:rPr lang="en-US" sz="1600" dirty="0"/>
              <a:t>processes agree on which is the elected </a:t>
            </a:r>
            <a:r>
              <a:rPr lang="en-US" sz="1600" dirty="0" smtClean="0"/>
              <a:t>process</a:t>
            </a:r>
          </a:p>
          <a:p>
            <a:pPr algn="just"/>
            <a:r>
              <a:rPr lang="en-US" sz="1600" dirty="0" smtClean="0"/>
              <a:t>Totally </a:t>
            </a:r>
            <a:r>
              <a:rPr lang="en-US" sz="1600" dirty="0"/>
              <a:t>Ordered Multicast </a:t>
            </a:r>
          </a:p>
          <a:p>
            <a:pPr lvl="1" algn="just"/>
            <a:r>
              <a:rPr lang="en-US" sz="1600" dirty="0" smtClean="0"/>
              <a:t>the </a:t>
            </a:r>
            <a:r>
              <a:rPr lang="en-US" sz="1600" dirty="0"/>
              <a:t>processes agree on the order of message </a:t>
            </a:r>
            <a:r>
              <a:rPr lang="en-US" sz="1600" dirty="0" smtClean="0"/>
              <a:t>delivery</a:t>
            </a:r>
          </a:p>
          <a:p>
            <a:pPr algn="just"/>
            <a:r>
              <a:rPr lang="en-US" sz="1600" dirty="0" smtClean="0"/>
              <a:t>Commit </a:t>
            </a:r>
            <a:r>
              <a:rPr lang="en-US" sz="1600" dirty="0"/>
              <a:t>or Abort in distributed </a:t>
            </a:r>
            <a:r>
              <a:rPr lang="en-US" sz="1600" dirty="0" smtClean="0"/>
              <a:t>transactions</a:t>
            </a:r>
          </a:p>
          <a:p>
            <a:pPr lvl="1" algn="just"/>
            <a:r>
              <a:rPr lang="en-US" sz="1600" dirty="0" smtClean="0"/>
              <a:t>Reaching </a:t>
            </a:r>
            <a:r>
              <a:rPr lang="en-US" sz="1600" dirty="0"/>
              <a:t>agreement about which process has </a:t>
            </a:r>
            <a:r>
              <a:rPr lang="en-US" sz="1600" dirty="0" smtClean="0"/>
              <a:t>failed</a:t>
            </a:r>
          </a:p>
          <a:p>
            <a:pPr algn="just"/>
            <a:r>
              <a:rPr lang="en-US" sz="1600" dirty="0" smtClean="0"/>
              <a:t>Other </a:t>
            </a:r>
            <a:r>
              <a:rPr lang="en-US" sz="1600" dirty="0"/>
              <a:t>examples </a:t>
            </a:r>
          </a:p>
          <a:p>
            <a:pPr lvl="1" algn="just"/>
            <a:r>
              <a:rPr lang="en-US" sz="1600" dirty="0" smtClean="0"/>
              <a:t>Air </a:t>
            </a:r>
            <a:r>
              <a:rPr lang="en-US" sz="1600" dirty="0"/>
              <a:t>traffic control system: all aircrafts must have the same view </a:t>
            </a:r>
          </a:p>
          <a:p>
            <a:pPr lvl="1" algn="just"/>
            <a:r>
              <a:rPr lang="en-US" sz="1600" dirty="0" smtClean="0"/>
              <a:t>Spaceship </a:t>
            </a:r>
            <a:r>
              <a:rPr lang="en-US" sz="1600" dirty="0"/>
              <a:t>engine control – action from multiple control processes( “proceed” or “abort” ) </a:t>
            </a:r>
          </a:p>
          <a:p>
            <a:pPr lvl="1" algn="just"/>
            <a:r>
              <a:rPr lang="en-US" sz="1600" dirty="0" smtClean="0"/>
              <a:t>Two </a:t>
            </a:r>
            <a:r>
              <a:rPr lang="en-US" sz="1600" dirty="0"/>
              <a:t>armies should decide consistently to attack or retreat</a:t>
            </a:r>
          </a:p>
        </p:txBody>
      </p:sp>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21</a:t>
            </a:fld>
            <a:endParaRPr lang="en-US" altLang="en-US"/>
          </a:p>
        </p:txBody>
      </p:sp>
    </p:spTree>
    <p:extLst>
      <p:ext uri="{BB962C8B-B14F-4D97-AF65-F5344CB8AC3E}">
        <p14:creationId xmlns:p14="http://schemas.microsoft.com/office/powerpoint/2010/main" val="254868141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Consensus </a:t>
            </a:r>
          </a:p>
        </p:txBody>
      </p:sp>
      <p:sp>
        <p:nvSpPr>
          <p:cNvPr id="3" name="Content Placeholder 2"/>
          <p:cNvSpPr>
            <a:spLocks noGrp="1"/>
          </p:cNvSpPr>
          <p:nvPr>
            <p:ph idx="1"/>
          </p:nvPr>
        </p:nvSpPr>
        <p:spPr>
          <a:xfrm>
            <a:off x="838201" y="2362202"/>
            <a:ext cx="6999513" cy="3724275"/>
          </a:xfrm>
        </p:spPr>
        <p:txBody>
          <a:bodyPr/>
          <a:lstStyle/>
          <a:p>
            <a:pPr algn="just"/>
            <a:r>
              <a:rPr lang="en-US" sz="1800" dirty="0"/>
              <a:t>N </a:t>
            </a:r>
            <a:r>
              <a:rPr lang="en-US" sz="1800" dirty="0" smtClean="0"/>
              <a:t>processes</a:t>
            </a:r>
          </a:p>
          <a:p>
            <a:pPr algn="just"/>
            <a:r>
              <a:rPr lang="en-US" sz="1800" dirty="0" smtClean="0"/>
              <a:t>Each </a:t>
            </a:r>
            <a:r>
              <a:rPr lang="en-US" sz="1800" dirty="0"/>
              <a:t>process p </a:t>
            </a:r>
            <a:r>
              <a:rPr lang="en-US" sz="1800" dirty="0" smtClean="0"/>
              <a:t>has</a:t>
            </a:r>
          </a:p>
          <a:p>
            <a:pPr lvl="1" algn="just"/>
            <a:r>
              <a:rPr lang="en-US" sz="1800" dirty="0" smtClean="0"/>
              <a:t>input </a:t>
            </a:r>
            <a:r>
              <a:rPr lang="en-US" sz="1800" dirty="0"/>
              <a:t>variable </a:t>
            </a:r>
            <a:r>
              <a:rPr lang="en-US" sz="1800" dirty="0" err="1"/>
              <a:t>xp</a:t>
            </a:r>
            <a:r>
              <a:rPr lang="en-US" sz="1800" dirty="0"/>
              <a:t> : initially either 0 or 1 1. </a:t>
            </a:r>
            <a:endParaRPr lang="en-US" sz="1800" dirty="0" smtClean="0"/>
          </a:p>
          <a:p>
            <a:pPr lvl="1" algn="just"/>
            <a:r>
              <a:rPr lang="en-US" sz="1800" dirty="0" smtClean="0"/>
              <a:t>output </a:t>
            </a:r>
            <a:r>
              <a:rPr lang="en-US" sz="1800" dirty="0"/>
              <a:t>variable </a:t>
            </a:r>
            <a:r>
              <a:rPr lang="en-US" sz="1800" dirty="0" err="1"/>
              <a:t>yp</a:t>
            </a:r>
            <a:r>
              <a:rPr lang="en-US" sz="1800" dirty="0"/>
              <a:t> : initially b (b=undecided) – can be changed only once </a:t>
            </a:r>
            <a:endParaRPr lang="en-US" sz="1800" dirty="0" smtClean="0"/>
          </a:p>
          <a:p>
            <a:pPr algn="just"/>
            <a:r>
              <a:rPr lang="en-US" sz="1800" dirty="0" smtClean="0"/>
              <a:t>Consensus </a:t>
            </a:r>
            <a:r>
              <a:rPr lang="en-US" sz="1800" dirty="0"/>
              <a:t>problem: </a:t>
            </a:r>
            <a:endParaRPr lang="en-US" sz="1800" dirty="0" smtClean="0"/>
          </a:p>
          <a:p>
            <a:pPr lvl="1" algn="just"/>
            <a:r>
              <a:rPr lang="en-US" sz="1800" dirty="0" smtClean="0"/>
              <a:t>design </a:t>
            </a:r>
            <a:r>
              <a:rPr lang="en-US" sz="1800" dirty="0"/>
              <a:t>a protocol so that either </a:t>
            </a:r>
            <a:endParaRPr lang="en-US" sz="1800" dirty="0" smtClean="0"/>
          </a:p>
          <a:p>
            <a:pPr lvl="2" algn="just"/>
            <a:r>
              <a:rPr lang="en-US" sz="1800" dirty="0" smtClean="0"/>
              <a:t>all </a:t>
            </a:r>
            <a:r>
              <a:rPr lang="en-US" sz="1800" dirty="0"/>
              <a:t>non-faulty processes set their output variables to </a:t>
            </a:r>
            <a:r>
              <a:rPr lang="en-US" sz="1800" dirty="0" smtClean="0"/>
              <a:t>0</a:t>
            </a:r>
          </a:p>
          <a:p>
            <a:pPr lvl="2" algn="just"/>
            <a:r>
              <a:rPr lang="en-US" sz="1800" dirty="0" smtClean="0"/>
              <a:t> </a:t>
            </a:r>
            <a:r>
              <a:rPr lang="en-US" sz="1800" dirty="0"/>
              <a:t>Or non-faulty all processes set their output variables to 1 </a:t>
            </a:r>
          </a:p>
          <a:p>
            <a:pPr lvl="2" algn="just"/>
            <a:r>
              <a:rPr lang="en-US" sz="1800" dirty="0" smtClean="0"/>
              <a:t>There </a:t>
            </a:r>
            <a:r>
              <a:rPr lang="en-US" sz="1800" dirty="0"/>
              <a:t>is at least one initial state that leads to each outcomes 1 and 2 above</a:t>
            </a:r>
          </a:p>
        </p:txBody>
      </p:sp>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22</a:t>
            </a:fld>
            <a:endParaRPr lang="en-US" altLang="en-US"/>
          </a:p>
        </p:txBody>
      </p:sp>
    </p:spTree>
    <p:extLst>
      <p:ext uri="{BB962C8B-B14F-4D97-AF65-F5344CB8AC3E}">
        <p14:creationId xmlns:p14="http://schemas.microsoft.com/office/powerpoint/2010/main" val="3587344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Solving Consensus</a:t>
            </a:r>
          </a:p>
        </p:txBody>
      </p:sp>
      <p:sp>
        <p:nvSpPr>
          <p:cNvPr id="3" name="Content Placeholder 2"/>
          <p:cNvSpPr>
            <a:spLocks noGrp="1"/>
          </p:cNvSpPr>
          <p:nvPr>
            <p:ph idx="1"/>
          </p:nvPr>
        </p:nvSpPr>
        <p:spPr>
          <a:xfrm>
            <a:off x="838201" y="2362202"/>
            <a:ext cx="7693025" cy="4195352"/>
          </a:xfrm>
        </p:spPr>
        <p:txBody>
          <a:bodyPr/>
          <a:lstStyle/>
          <a:p>
            <a:pPr algn="just"/>
            <a:r>
              <a:rPr lang="en-US" sz="2000" dirty="0"/>
              <a:t>No failures </a:t>
            </a:r>
            <a:r>
              <a:rPr lang="en-US" sz="2000" dirty="0" smtClean="0"/>
              <a:t>-trivial </a:t>
            </a:r>
          </a:p>
          <a:p>
            <a:pPr lvl="2" algn="just"/>
            <a:r>
              <a:rPr lang="en-US" dirty="0" smtClean="0"/>
              <a:t>All-to-all </a:t>
            </a:r>
            <a:r>
              <a:rPr lang="en-US" dirty="0"/>
              <a:t>broadcast </a:t>
            </a:r>
            <a:r>
              <a:rPr lang="en-US" dirty="0" smtClean="0"/>
              <a:t> </a:t>
            </a:r>
          </a:p>
          <a:p>
            <a:pPr lvl="2" algn="just"/>
            <a:r>
              <a:rPr lang="en-US" dirty="0" smtClean="0"/>
              <a:t>With </a:t>
            </a:r>
            <a:r>
              <a:rPr lang="en-US" dirty="0"/>
              <a:t>failures </a:t>
            </a:r>
          </a:p>
          <a:p>
            <a:pPr lvl="3" algn="just"/>
            <a:r>
              <a:rPr lang="en-US" dirty="0" smtClean="0"/>
              <a:t>Assumption</a:t>
            </a:r>
            <a:r>
              <a:rPr lang="en-US" dirty="0"/>
              <a:t>: Processes fail only by crash-stopping </a:t>
            </a:r>
            <a:endParaRPr lang="en-US" dirty="0" smtClean="0"/>
          </a:p>
          <a:p>
            <a:pPr lvl="2" algn="just"/>
            <a:r>
              <a:rPr lang="en-US" dirty="0" smtClean="0"/>
              <a:t>Synchronous </a:t>
            </a:r>
            <a:r>
              <a:rPr lang="en-US" dirty="0"/>
              <a:t>system: </a:t>
            </a:r>
            <a:endParaRPr lang="en-US" dirty="0" smtClean="0"/>
          </a:p>
          <a:p>
            <a:pPr lvl="3" algn="just"/>
            <a:r>
              <a:rPr lang="en-US" dirty="0" smtClean="0"/>
              <a:t>bounds </a:t>
            </a:r>
            <a:r>
              <a:rPr lang="en-US" dirty="0"/>
              <a:t>on ❙ Message delays </a:t>
            </a:r>
          </a:p>
          <a:p>
            <a:pPr lvl="3" algn="just"/>
            <a:r>
              <a:rPr lang="en-US" dirty="0" smtClean="0"/>
              <a:t>Max </a:t>
            </a:r>
            <a:r>
              <a:rPr lang="en-US" dirty="0"/>
              <a:t>time for each process step </a:t>
            </a:r>
            <a:endParaRPr lang="en-US" dirty="0" smtClean="0"/>
          </a:p>
          <a:p>
            <a:pPr lvl="3" algn="just"/>
            <a:r>
              <a:rPr lang="en-US" dirty="0" smtClean="0"/>
              <a:t>e.g</a:t>
            </a:r>
            <a:r>
              <a:rPr lang="en-US" dirty="0"/>
              <a:t>., multiprocessor (common clock across processors) </a:t>
            </a:r>
          </a:p>
          <a:p>
            <a:pPr lvl="2" algn="just"/>
            <a:r>
              <a:rPr lang="en-US" dirty="0" smtClean="0"/>
              <a:t>Asynchronous </a:t>
            </a:r>
            <a:r>
              <a:rPr lang="en-US" dirty="0"/>
              <a:t>system</a:t>
            </a:r>
            <a:r>
              <a:rPr lang="en-US" dirty="0" smtClean="0"/>
              <a:t>:</a:t>
            </a:r>
          </a:p>
          <a:p>
            <a:pPr lvl="2" algn="just"/>
            <a:r>
              <a:rPr lang="en-US" dirty="0" smtClean="0"/>
              <a:t> </a:t>
            </a:r>
            <a:r>
              <a:rPr lang="en-US" dirty="0"/>
              <a:t>no such bounds! e.g., The Internet! The Web! </a:t>
            </a:r>
          </a:p>
        </p:txBody>
      </p:sp>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23</a:t>
            </a:fld>
            <a:endParaRPr lang="en-US" altLang="en-US"/>
          </a:p>
        </p:txBody>
      </p:sp>
    </p:spTree>
    <p:extLst>
      <p:ext uri="{BB962C8B-B14F-4D97-AF65-F5344CB8AC3E}">
        <p14:creationId xmlns:p14="http://schemas.microsoft.com/office/powerpoint/2010/main" val="426619700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Variant of Consensus Problem</a:t>
            </a:r>
          </a:p>
        </p:txBody>
      </p:sp>
      <p:sp>
        <p:nvSpPr>
          <p:cNvPr id="3" name="Content Placeholder 2"/>
          <p:cNvSpPr>
            <a:spLocks noGrp="1"/>
          </p:cNvSpPr>
          <p:nvPr>
            <p:ph idx="1"/>
          </p:nvPr>
        </p:nvSpPr>
        <p:spPr>
          <a:xfrm>
            <a:off x="838201" y="2362202"/>
            <a:ext cx="7693025" cy="3879848"/>
          </a:xfrm>
        </p:spPr>
        <p:txBody>
          <a:bodyPr/>
          <a:lstStyle/>
          <a:p>
            <a:pPr algn="just"/>
            <a:r>
              <a:rPr lang="en-US" sz="2400" dirty="0"/>
              <a:t>Consensus Problem (C) </a:t>
            </a:r>
            <a:endParaRPr lang="en-US" sz="2400" dirty="0" smtClean="0"/>
          </a:p>
          <a:p>
            <a:pPr lvl="1" algn="just"/>
            <a:r>
              <a:rPr lang="en-US" dirty="0" smtClean="0"/>
              <a:t> </a:t>
            </a:r>
            <a:r>
              <a:rPr lang="en-US" dirty="0"/>
              <a:t>Each process propose a value </a:t>
            </a:r>
          </a:p>
          <a:p>
            <a:pPr lvl="1" algn="just"/>
            <a:r>
              <a:rPr lang="en-US" dirty="0" smtClean="0"/>
              <a:t>All </a:t>
            </a:r>
            <a:r>
              <a:rPr lang="en-US" dirty="0"/>
              <a:t>processes agree on a single </a:t>
            </a:r>
            <a:r>
              <a:rPr lang="en-US" dirty="0" smtClean="0"/>
              <a:t>value</a:t>
            </a:r>
          </a:p>
          <a:p>
            <a:pPr algn="just"/>
            <a:r>
              <a:rPr lang="en-US" sz="2400" dirty="0" smtClean="0"/>
              <a:t>Byzantine </a:t>
            </a:r>
            <a:r>
              <a:rPr lang="en-US" sz="2400" dirty="0"/>
              <a:t>General Problem (BG) </a:t>
            </a:r>
          </a:p>
          <a:p>
            <a:pPr lvl="1" algn="just"/>
            <a:r>
              <a:rPr lang="en-US" dirty="0" smtClean="0"/>
              <a:t>Process </a:t>
            </a:r>
            <a:r>
              <a:rPr lang="en-US" dirty="0"/>
              <a:t>fails arbitrarily, byzantine failure </a:t>
            </a:r>
          </a:p>
          <a:p>
            <a:pPr lvl="1" algn="just"/>
            <a:r>
              <a:rPr lang="en-US" dirty="0" smtClean="0"/>
              <a:t>Still </a:t>
            </a:r>
            <a:r>
              <a:rPr lang="en-US" dirty="0"/>
              <a:t>processes need to agree </a:t>
            </a:r>
            <a:endParaRPr lang="en-US" dirty="0" smtClean="0"/>
          </a:p>
          <a:p>
            <a:pPr algn="just"/>
            <a:r>
              <a:rPr lang="en-US" sz="2400" dirty="0" smtClean="0"/>
              <a:t>Interactive </a:t>
            </a:r>
            <a:r>
              <a:rPr lang="en-US" sz="2400" dirty="0"/>
              <a:t>Consistency (IC) </a:t>
            </a:r>
          </a:p>
          <a:p>
            <a:pPr lvl="1" algn="just"/>
            <a:r>
              <a:rPr lang="en-US" dirty="0" smtClean="0"/>
              <a:t>Each </a:t>
            </a:r>
            <a:r>
              <a:rPr lang="en-US" dirty="0"/>
              <a:t>process propose its value </a:t>
            </a:r>
          </a:p>
          <a:p>
            <a:pPr lvl="1" algn="just"/>
            <a:r>
              <a:rPr lang="en-US" dirty="0" smtClean="0"/>
              <a:t>All </a:t>
            </a:r>
            <a:r>
              <a:rPr lang="en-US" dirty="0"/>
              <a:t>processes agree on the vector </a:t>
            </a:r>
          </a:p>
        </p:txBody>
      </p:sp>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24</a:t>
            </a:fld>
            <a:endParaRPr lang="en-US" altLang="en-US"/>
          </a:p>
        </p:txBody>
      </p:sp>
    </p:spTree>
    <p:extLst>
      <p:ext uri="{BB962C8B-B14F-4D97-AF65-F5344CB8AC3E}">
        <p14:creationId xmlns:p14="http://schemas.microsoft.com/office/powerpoint/2010/main" val="399521357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Consensus in Synchronous System</a:t>
            </a:r>
          </a:p>
        </p:txBody>
      </p:sp>
      <p:sp>
        <p:nvSpPr>
          <p:cNvPr id="3" name="Content Placeholder 2"/>
          <p:cNvSpPr>
            <a:spLocks noGrp="1"/>
          </p:cNvSpPr>
          <p:nvPr>
            <p:ph idx="1"/>
          </p:nvPr>
        </p:nvSpPr>
        <p:spPr/>
        <p:txBody>
          <a:bodyPr/>
          <a:lstStyle/>
          <a:p>
            <a:pPr algn="just"/>
            <a:r>
              <a:rPr lang="en-US" sz="1800" dirty="0"/>
              <a:t>Possible </a:t>
            </a:r>
          </a:p>
          <a:p>
            <a:pPr lvl="1" algn="just"/>
            <a:r>
              <a:rPr lang="en-US" sz="1800" dirty="0" smtClean="0"/>
              <a:t>With </a:t>
            </a:r>
            <a:r>
              <a:rPr lang="en-US" sz="1800" dirty="0"/>
              <a:t>one or more faulty </a:t>
            </a:r>
            <a:r>
              <a:rPr lang="en-US" sz="1800" dirty="0" smtClean="0"/>
              <a:t>processes</a:t>
            </a:r>
          </a:p>
          <a:p>
            <a:pPr algn="just"/>
            <a:r>
              <a:rPr lang="en-US" sz="1800" dirty="0" smtClean="0"/>
              <a:t>Solution</a:t>
            </a:r>
            <a:r>
              <a:rPr lang="en-US" sz="1800" dirty="0"/>
              <a:t>: </a:t>
            </a:r>
          </a:p>
          <a:p>
            <a:pPr lvl="1" algn="just"/>
            <a:r>
              <a:rPr lang="en-US" sz="1800" dirty="0" smtClean="0"/>
              <a:t>Basic </a:t>
            </a:r>
            <a:r>
              <a:rPr lang="en-US" sz="1800" dirty="0"/>
              <a:t>idea: all processes exchange (multicast) what other processes tell them in several </a:t>
            </a:r>
            <a:r>
              <a:rPr lang="en-US" sz="1800" dirty="0" smtClean="0"/>
              <a:t>rounds</a:t>
            </a:r>
          </a:p>
          <a:p>
            <a:pPr algn="just"/>
            <a:r>
              <a:rPr lang="en-US" sz="1800" dirty="0" smtClean="0"/>
              <a:t>Proof</a:t>
            </a:r>
            <a:r>
              <a:rPr lang="en-US" sz="1800" dirty="0"/>
              <a:t>: </a:t>
            </a:r>
            <a:endParaRPr lang="en-US" sz="1800" dirty="0" smtClean="0"/>
          </a:p>
          <a:p>
            <a:pPr lvl="1" algn="just"/>
            <a:r>
              <a:rPr lang="en-US" sz="1800" dirty="0" smtClean="0"/>
              <a:t>to </a:t>
            </a:r>
            <a:r>
              <a:rPr lang="en-US" sz="1800" dirty="0"/>
              <a:t>reach consensus with f failures, the algorithm needs to run in f + 1 rounds </a:t>
            </a:r>
          </a:p>
          <a:p>
            <a:pPr lvl="1" algn="just"/>
            <a:r>
              <a:rPr lang="en-US" sz="1800" dirty="0" smtClean="0"/>
              <a:t>Basic </a:t>
            </a:r>
            <a:r>
              <a:rPr lang="en-US" sz="1800" dirty="0"/>
              <a:t>idea: if A and B do not agree on value X, then some other process C, did send X to A, but not to B. </a:t>
            </a:r>
          </a:p>
          <a:p>
            <a:pPr lvl="1" algn="just"/>
            <a:r>
              <a:rPr lang="en-US" sz="1800" dirty="0" smtClean="0"/>
              <a:t>Requires </a:t>
            </a:r>
            <a:r>
              <a:rPr lang="en-US" sz="1800" dirty="0"/>
              <a:t>1 failure in each round, so f+1 fails. </a:t>
            </a:r>
            <a:endParaRPr lang="en-US" sz="1800" dirty="0" smtClean="0"/>
          </a:p>
          <a:p>
            <a:pPr lvl="1" algn="just"/>
            <a:r>
              <a:rPr lang="en-US" dirty="0" smtClean="0"/>
              <a:t>Contradiction</a:t>
            </a:r>
            <a:endParaRPr lang="en-US" dirty="0"/>
          </a:p>
        </p:txBody>
      </p:sp>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25</a:t>
            </a:fld>
            <a:endParaRPr lang="en-US" altLang="en-US"/>
          </a:p>
        </p:txBody>
      </p:sp>
    </p:spTree>
    <p:extLst>
      <p:ext uri="{BB962C8B-B14F-4D97-AF65-F5344CB8AC3E}">
        <p14:creationId xmlns:p14="http://schemas.microsoft.com/office/powerpoint/2010/main" val="319716552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Asynchronous Consensus</a:t>
            </a:r>
          </a:p>
        </p:txBody>
      </p:sp>
      <p:sp>
        <p:nvSpPr>
          <p:cNvPr id="3" name="Content Placeholder 2"/>
          <p:cNvSpPr>
            <a:spLocks noGrp="1"/>
          </p:cNvSpPr>
          <p:nvPr>
            <p:ph idx="1"/>
          </p:nvPr>
        </p:nvSpPr>
        <p:spPr>
          <a:xfrm>
            <a:off x="838202" y="2362202"/>
            <a:ext cx="7077890" cy="3724275"/>
          </a:xfrm>
        </p:spPr>
        <p:txBody>
          <a:bodyPr/>
          <a:lstStyle/>
          <a:p>
            <a:pPr algn="just"/>
            <a:r>
              <a:rPr lang="en-US" sz="2000" dirty="0"/>
              <a:t>Messages have arbitrary delay, processes arbitrarily </a:t>
            </a:r>
            <a:r>
              <a:rPr lang="en-US" sz="2000" dirty="0" smtClean="0"/>
              <a:t>slow</a:t>
            </a:r>
          </a:p>
          <a:p>
            <a:pPr algn="just"/>
            <a:r>
              <a:rPr lang="en-US" sz="2000" dirty="0" smtClean="0"/>
              <a:t>Impossible </a:t>
            </a:r>
            <a:r>
              <a:rPr lang="en-US" sz="2000" dirty="0"/>
              <a:t>to achieve! </a:t>
            </a:r>
          </a:p>
          <a:p>
            <a:pPr lvl="1" algn="just"/>
            <a:r>
              <a:rPr lang="en-US" sz="2000" dirty="0" smtClean="0"/>
              <a:t>a </a:t>
            </a:r>
            <a:r>
              <a:rPr lang="en-US" sz="2000" dirty="0"/>
              <a:t>slow process indistinguishable from a crashed process </a:t>
            </a:r>
            <a:endParaRPr lang="en-US" sz="2000" dirty="0" smtClean="0"/>
          </a:p>
          <a:p>
            <a:pPr algn="just"/>
            <a:r>
              <a:rPr lang="en-US" sz="2000" dirty="0" smtClean="0"/>
              <a:t>Theorem</a:t>
            </a:r>
            <a:r>
              <a:rPr lang="en-US" sz="2000" dirty="0"/>
              <a:t>: </a:t>
            </a:r>
            <a:endParaRPr lang="en-US" sz="2000" dirty="0" smtClean="0"/>
          </a:p>
          <a:p>
            <a:pPr lvl="1" algn="just"/>
            <a:r>
              <a:rPr lang="en-US" sz="2000" dirty="0" smtClean="0"/>
              <a:t>In </a:t>
            </a:r>
            <a:r>
              <a:rPr lang="en-US" sz="2000" dirty="0"/>
              <a:t>a purely asynchronous distributed system, the consensus problem is impossible to solve if even a single process crashes </a:t>
            </a:r>
          </a:p>
          <a:p>
            <a:pPr algn="just"/>
            <a:r>
              <a:rPr lang="en-US" sz="2000" dirty="0" smtClean="0"/>
              <a:t>Result </a:t>
            </a:r>
            <a:r>
              <a:rPr lang="en-US" sz="2000" dirty="0"/>
              <a:t>due to Fischer, Lynch, Patterson (commonly known as FLP 85). </a:t>
            </a:r>
          </a:p>
        </p:txBody>
      </p:sp>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26</a:t>
            </a:fld>
            <a:endParaRPr lang="en-US" altLang="en-US"/>
          </a:p>
        </p:txBody>
      </p:sp>
    </p:spTree>
    <p:extLst>
      <p:ext uri="{BB962C8B-B14F-4D97-AF65-F5344CB8AC3E}">
        <p14:creationId xmlns:p14="http://schemas.microsoft.com/office/powerpoint/2010/main" val="271873085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Byzantine General Problem</a:t>
            </a:r>
          </a:p>
        </p:txBody>
      </p:sp>
      <p:pic>
        <p:nvPicPr>
          <p:cNvPr id="5" name="Content Placeholder 4"/>
          <p:cNvPicPr>
            <a:picLocks noGrp="1" noChangeAspect="1"/>
          </p:cNvPicPr>
          <p:nvPr>
            <p:ph idx="1"/>
          </p:nvPr>
        </p:nvPicPr>
        <p:blipFill>
          <a:blip r:embed="rId2"/>
          <a:stretch>
            <a:fillRect/>
          </a:stretch>
        </p:blipFill>
        <p:spPr>
          <a:xfrm>
            <a:off x="927464" y="2362200"/>
            <a:ext cx="6805748" cy="4368800"/>
          </a:xfrm>
          <a:prstGeom prst="rect">
            <a:avLst/>
          </a:prstGeom>
        </p:spPr>
      </p:pic>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27</a:t>
            </a:fld>
            <a:endParaRPr lang="en-US" altLang="en-US"/>
          </a:p>
        </p:txBody>
      </p:sp>
      <mc:AlternateContent xmlns:mc="http://schemas.openxmlformats.org/markup-compatibility/2006" xmlns:p14="http://schemas.microsoft.com/office/powerpoint/2010/main">
        <mc:Choice Requires="p14">
          <p:contentPart p14:bwMode="auto" r:id="rId3">
            <p14:nvContentPartPr>
              <p14:cNvPr id="3" name="Ink 2"/>
              <p14:cNvContentPartPr/>
              <p14:nvPr/>
            </p14:nvContentPartPr>
            <p14:xfrm>
              <a:off x="1340640" y="2172960"/>
              <a:ext cx="5263560" cy="4360680"/>
            </p14:xfrm>
          </p:contentPart>
        </mc:Choice>
        <mc:Fallback xmlns="">
          <p:pic>
            <p:nvPicPr>
              <p:cNvPr id="3" name="Ink 2"/>
              <p:cNvPicPr/>
              <p:nvPr/>
            </p:nvPicPr>
            <p:blipFill>
              <a:blip r:embed="rId4"/>
              <a:stretch>
                <a:fillRect/>
              </a:stretch>
            </p:blipFill>
            <p:spPr>
              <a:xfrm>
                <a:off x="1331280" y="2163600"/>
                <a:ext cx="5282280" cy="4379400"/>
              </a:xfrm>
              <a:prstGeom prst="rect">
                <a:avLst/>
              </a:prstGeom>
            </p:spPr>
          </p:pic>
        </mc:Fallback>
      </mc:AlternateContent>
    </p:spTree>
    <p:extLst>
      <p:ext uri="{BB962C8B-B14F-4D97-AF65-F5344CB8AC3E}">
        <p14:creationId xmlns:p14="http://schemas.microsoft.com/office/powerpoint/2010/main" val="407260239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Byzantine General Problem </a:t>
            </a:r>
          </a:p>
        </p:txBody>
      </p:sp>
      <p:pic>
        <p:nvPicPr>
          <p:cNvPr id="5" name="Content Placeholder 4"/>
          <p:cNvPicPr>
            <a:picLocks noGrp="1" noChangeAspect="1"/>
          </p:cNvPicPr>
          <p:nvPr>
            <p:ph idx="1"/>
          </p:nvPr>
        </p:nvPicPr>
        <p:blipFill>
          <a:blip r:embed="rId2"/>
          <a:stretch>
            <a:fillRect/>
          </a:stretch>
        </p:blipFill>
        <p:spPr>
          <a:xfrm>
            <a:off x="862150" y="2362200"/>
            <a:ext cx="7009768" cy="4368800"/>
          </a:xfrm>
          <a:prstGeom prst="rect">
            <a:avLst/>
          </a:prstGeom>
        </p:spPr>
      </p:pic>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28</a:t>
            </a:fld>
            <a:endParaRPr lang="en-US" altLang="en-US"/>
          </a:p>
        </p:txBody>
      </p:sp>
    </p:spTree>
    <p:extLst>
      <p:ext uri="{BB962C8B-B14F-4D97-AF65-F5344CB8AC3E}">
        <p14:creationId xmlns:p14="http://schemas.microsoft.com/office/powerpoint/2010/main" val="394574794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Failure </a:t>
            </a:r>
            <a:r>
              <a:rPr lang="en-US" dirty="0" smtClean="0"/>
              <a:t>Detection</a:t>
            </a:r>
            <a:endParaRPr lang="en-US" dirty="0"/>
          </a:p>
        </p:txBody>
      </p:sp>
      <p:sp>
        <p:nvSpPr>
          <p:cNvPr id="3" name="Content Placeholder 2"/>
          <p:cNvSpPr>
            <a:spLocks noGrp="1"/>
          </p:cNvSpPr>
          <p:nvPr>
            <p:ph idx="1"/>
          </p:nvPr>
        </p:nvSpPr>
        <p:spPr>
          <a:xfrm>
            <a:off x="838201" y="2362202"/>
            <a:ext cx="7693025" cy="4051661"/>
          </a:xfrm>
        </p:spPr>
        <p:txBody>
          <a:bodyPr/>
          <a:lstStyle/>
          <a:p>
            <a:pPr algn="just"/>
            <a:r>
              <a:rPr lang="en-US" sz="2400" dirty="0"/>
              <a:t>The design of fault-tolerant algorithms will be simple if processes can detect </a:t>
            </a:r>
            <a:r>
              <a:rPr lang="en-US" sz="2400" dirty="0" smtClean="0"/>
              <a:t>failures.</a:t>
            </a:r>
          </a:p>
          <a:p>
            <a:pPr algn="just"/>
            <a:r>
              <a:rPr lang="en-US" sz="2400" dirty="0" smtClean="0"/>
              <a:t>In </a:t>
            </a:r>
            <a:r>
              <a:rPr lang="en-US" sz="2400" dirty="0"/>
              <a:t>synchronous systems with bounded delay channels, crash failures can definitely be detected using </a:t>
            </a:r>
            <a:r>
              <a:rPr lang="en-US" sz="2400" dirty="0" smtClean="0"/>
              <a:t>timeouts.</a:t>
            </a:r>
          </a:p>
          <a:p>
            <a:pPr algn="just"/>
            <a:r>
              <a:rPr lang="en-US" sz="2400" dirty="0" smtClean="0"/>
              <a:t>In </a:t>
            </a:r>
            <a:r>
              <a:rPr lang="en-US" sz="2400" dirty="0"/>
              <a:t>asynchronous distributed systems, the detection of crash failures is </a:t>
            </a:r>
            <a:r>
              <a:rPr lang="en-US" sz="2400" dirty="0" smtClean="0"/>
              <a:t>imperfect.</a:t>
            </a:r>
          </a:p>
          <a:p>
            <a:pPr algn="just"/>
            <a:r>
              <a:rPr lang="en-US" sz="2400" dirty="0" smtClean="0"/>
              <a:t>Completeness </a:t>
            </a:r>
            <a:r>
              <a:rPr lang="en-US" sz="2400" dirty="0"/>
              <a:t>– Every crashed process is </a:t>
            </a:r>
            <a:r>
              <a:rPr lang="en-US" sz="2400" dirty="0" smtClean="0"/>
              <a:t>suspected</a:t>
            </a:r>
          </a:p>
          <a:p>
            <a:pPr algn="just"/>
            <a:r>
              <a:rPr lang="en-US" sz="2400" dirty="0" smtClean="0"/>
              <a:t>Accuracy </a:t>
            </a:r>
            <a:r>
              <a:rPr lang="en-US" sz="2400" dirty="0"/>
              <a:t>– No correct process is suspected.</a:t>
            </a:r>
          </a:p>
        </p:txBody>
      </p:sp>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29</a:t>
            </a:fld>
            <a:endParaRPr lang="en-US" altLang="en-US"/>
          </a:p>
        </p:txBody>
      </p:sp>
    </p:spTree>
    <p:extLst>
      <p:ext uri="{BB962C8B-B14F-4D97-AF65-F5344CB8AC3E}">
        <p14:creationId xmlns:p14="http://schemas.microsoft.com/office/powerpoint/2010/main" val="234373465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5" name="Content Placeholder 4"/>
          <p:cNvPicPr>
            <a:picLocks noGrp="1" noChangeAspect="1"/>
          </p:cNvPicPr>
          <p:nvPr>
            <p:ph idx="1"/>
          </p:nvPr>
        </p:nvPicPr>
        <p:blipFill>
          <a:blip r:embed="rId2"/>
          <a:stretch>
            <a:fillRect/>
          </a:stretch>
        </p:blipFill>
        <p:spPr>
          <a:xfrm>
            <a:off x="1018903" y="2414587"/>
            <a:ext cx="6505303" cy="4090716"/>
          </a:xfrm>
          <a:prstGeom prst="rect">
            <a:avLst/>
          </a:prstGeom>
        </p:spPr>
      </p:pic>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30</a:t>
            </a:fld>
            <a:endParaRPr lang="en-US" altLang="en-US"/>
          </a:p>
        </p:txBody>
      </p:sp>
    </p:spTree>
    <p:extLst>
      <p:ext uri="{BB962C8B-B14F-4D97-AF65-F5344CB8AC3E}">
        <p14:creationId xmlns:p14="http://schemas.microsoft.com/office/powerpoint/2010/main" val="149021526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Classification of </a:t>
            </a:r>
            <a:r>
              <a:rPr lang="en-US" dirty="0" smtClean="0"/>
              <a:t>Completeness</a:t>
            </a:r>
            <a:endParaRPr lang="en-US" dirty="0"/>
          </a:p>
        </p:txBody>
      </p:sp>
      <p:sp>
        <p:nvSpPr>
          <p:cNvPr id="3" name="Content Placeholder 2"/>
          <p:cNvSpPr>
            <a:spLocks noGrp="1"/>
          </p:cNvSpPr>
          <p:nvPr>
            <p:ph idx="1"/>
          </p:nvPr>
        </p:nvSpPr>
        <p:spPr>
          <a:xfrm>
            <a:off x="838201" y="2362202"/>
            <a:ext cx="7693025" cy="4038598"/>
          </a:xfrm>
        </p:spPr>
        <p:txBody>
          <a:bodyPr/>
          <a:lstStyle/>
          <a:p>
            <a:pPr algn="just"/>
            <a:r>
              <a:rPr lang="en-US" sz="2400" dirty="0"/>
              <a:t>Strong completeness. </a:t>
            </a:r>
            <a:endParaRPr lang="en-US" sz="2400" dirty="0" smtClean="0"/>
          </a:p>
          <a:p>
            <a:pPr lvl="1" algn="just"/>
            <a:r>
              <a:rPr lang="en-US" dirty="0" smtClean="0"/>
              <a:t>Every </a:t>
            </a:r>
            <a:r>
              <a:rPr lang="en-US" dirty="0"/>
              <a:t>crashed process is eventually suspected by every correct process, and remains a suspect </a:t>
            </a:r>
            <a:r>
              <a:rPr lang="en-US" dirty="0" smtClean="0"/>
              <a:t>thereafter.</a:t>
            </a:r>
          </a:p>
          <a:p>
            <a:pPr algn="just"/>
            <a:r>
              <a:rPr lang="en-US" sz="2400" dirty="0" smtClean="0"/>
              <a:t>Weak </a:t>
            </a:r>
            <a:r>
              <a:rPr lang="en-US" sz="2400" dirty="0"/>
              <a:t>completeness. </a:t>
            </a:r>
            <a:endParaRPr lang="en-US" sz="2400" dirty="0" smtClean="0"/>
          </a:p>
          <a:p>
            <a:pPr lvl="1" algn="just"/>
            <a:r>
              <a:rPr lang="en-US" dirty="0" smtClean="0"/>
              <a:t>Every </a:t>
            </a:r>
            <a:r>
              <a:rPr lang="en-US" dirty="0"/>
              <a:t>crashed process is eventually suspected by at least one correct process, and remains a suspect thereafter. </a:t>
            </a:r>
            <a:endParaRPr lang="en-US" dirty="0" smtClean="0"/>
          </a:p>
          <a:p>
            <a:pPr lvl="1" algn="just"/>
            <a:r>
              <a:rPr lang="en-US" dirty="0" smtClean="0"/>
              <a:t>Note </a:t>
            </a:r>
            <a:r>
              <a:rPr lang="en-US" dirty="0"/>
              <a:t>that we don’t care what mechanism is used for suspecting a process</a:t>
            </a:r>
          </a:p>
        </p:txBody>
      </p:sp>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31</a:t>
            </a:fld>
            <a:endParaRPr lang="en-US" altLang="en-US"/>
          </a:p>
        </p:txBody>
      </p:sp>
    </p:spTree>
    <p:extLst>
      <p:ext uri="{BB962C8B-B14F-4D97-AF65-F5344CB8AC3E}">
        <p14:creationId xmlns:p14="http://schemas.microsoft.com/office/powerpoint/2010/main" val="313935572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Classification of accuracy</a:t>
            </a:r>
          </a:p>
        </p:txBody>
      </p:sp>
      <p:sp>
        <p:nvSpPr>
          <p:cNvPr id="3" name="Content Placeholder 2"/>
          <p:cNvSpPr>
            <a:spLocks noGrp="1"/>
          </p:cNvSpPr>
          <p:nvPr>
            <p:ph idx="1"/>
          </p:nvPr>
        </p:nvSpPr>
        <p:spPr/>
        <p:txBody>
          <a:bodyPr/>
          <a:lstStyle/>
          <a:p>
            <a:pPr algn="just"/>
            <a:r>
              <a:rPr lang="en-US" dirty="0"/>
              <a:t>Strong accuracy. </a:t>
            </a:r>
            <a:endParaRPr lang="en-US" dirty="0" smtClean="0"/>
          </a:p>
          <a:p>
            <a:pPr lvl="1" algn="just"/>
            <a:r>
              <a:rPr lang="en-US" dirty="0" smtClean="0"/>
              <a:t>No </a:t>
            </a:r>
            <a:r>
              <a:rPr lang="en-US" dirty="0"/>
              <a:t>correct process is ever suspected. </a:t>
            </a:r>
          </a:p>
          <a:p>
            <a:pPr algn="just"/>
            <a:r>
              <a:rPr lang="en-US" dirty="0" smtClean="0"/>
              <a:t>Weak </a:t>
            </a:r>
            <a:r>
              <a:rPr lang="en-US" dirty="0"/>
              <a:t>accuracy. </a:t>
            </a:r>
            <a:endParaRPr lang="en-US" dirty="0" smtClean="0"/>
          </a:p>
          <a:p>
            <a:pPr lvl="1" algn="just"/>
            <a:r>
              <a:rPr lang="en-US" dirty="0" smtClean="0"/>
              <a:t>There </a:t>
            </a:r>
            <a:r>
              <a:rPr lang="en-US" dirty="0"/>
              <a:t>is at least one correct process that is never suspected. </a:t>
            </a:r>
          </a:p>
        </p:txBody>
      </p:sp>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32</a:t>
            </a:fld>
            <a:endParaRPr lang="en-US" altLang="en-US"/>
          </a:p>
        </p:txBody>
      </p:sp>
    </p:spTree>
    <p:extLst>
      <p:ext uri="{BB962C8B-B14F-4D97-AF65-F5344CB8AC3E}">
        <p14:creationId xmlns:p14="http://schemas.microsoft.com/office/powerpoint/2010/main" val="311922218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Eventual </a:t>
            </a:r>
            <a:r>
              <a:rPr lang="en-US" dirty="0" smtClean="0"/>
              <a:t>Accuracy</a:t>
            </a:r>
            <a:endParaRPr lang="en-US" dirty="0"/>
          </a:p>
        </p:txBody>
      </p:sp>
      <p:sp>
        <p:nvSpPr>
          <p:cNvPr id="3" name="Content Placeholder 2"/>
          <p:cNvSpPr>
            <a:spLocks noGrp="1"/>
          </p:cNvSpPr>
          <p:nvPr>
            <p:ph idx="1"/>
          </p:nvPr>
        </p:nvSpPr>
        <p:spPr/>
        <p:txBody>
          <a:bodyPr/>
          <a:lstStyle/>
          <a:p>
            <a:pPr algn="just"/>
            <a:r>
              <a:rPr lang="en-US" sz="2400" dirty="0"/>
              <a:t>A failure detector is eventually strongly accurate, if there exists a time T after which no correct process is suspected. </a:t>
            </a:r>
            <a:endParaRPr lang="en-US" sz="2400" dirty="0" smtClean="0"/>
          </a:p>
          <a:p>
            <a:pPr algn="just"/>
            <a:r>
              <a:rPr lang="en-US" sz="2400" dirty="0" smtClean="0"/>
              <a:t>(</a:t>
            </a:r>
            <a:r>
              <a:rPr lang="en-US" sz="2400" dirty="0"/>
              <a:t>Before that time, a correct process be added to and removed from the list of suspects any number of times) </a:t>
            </a:r>
            <a:endParaRPr lang="en-US" sz="2400" dirty="0" smtClean="0"/>
          </a:p>
          <a:p>
            <a:pPr algn="just"/>
            <a:r>
              <a:rPr lang="en-US" sz="2400" dirty="0" smtClean="0"/>
              <a:t>A </a:t>
            </a:r>
            <a:r>
              <a:rPr lang="en-US" sz="2400" dirty="0"/>
              <a:t>failure detector is eventually weakly accurate, if there exists a time T after which at least one process is no more suspected</a:t>
            </a:r>
          </a:p>
        </p:txBody>
      </p:sp>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33</a:t>
            </a:fld>
            <a:endParaRPr lang="en-US" altLang="en-US"/>
          </a:p>
        </p:txBody>
      </p:sp>
    </p:spTree>
    <p:extLst>
      <p:ext uri="{BB962C8B-B14F-4D97-AF65-F5344CB8AC3E}">
        <p14:creationId xmlns:p14="http://schemas.microsoft.com/office/powerpoint/2010/main" val="57531484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Classifying </a:t>
            </a:r>
            <a:r>
              <a:rPr lang="en-US" dirty="0" smtClean="0"/>
              <a:t>Failure Detectors</a:t>
            </a:r>
            <a:endParaRPr lang="en-US" dirty="0"/>
          </a:p>
        </p:txBody>
      </p:sp>
      <p:sp>
        <p:nvSpPr>
          <p:cNvPr id="3" name="Content Placeholder 2"/>
          <p:cNvSpPr>
            <a:spLocks noGrp="1"/>
          </p:cNvSpPr>
          <p:nvPr>
            <p:ph idx="1"/>
          </p:nvPr>
        </p:nvSpPr>
        <p:spPr/>
        <p:txBody>
          <a:bodyPr/>
          <a:lstStyle/>
          <a:p>
            <a:pPr algn="just"/>
            <a:r>
              <a:rPr lang="en-US" sz="2400" dirty="0"/>
              <a:t>Perfect P. (Strongly) Complete and strongly accurate </a:t>
            </a:r>
            <a:endParaRPr lang="en-US" sz="2400" dirty="0" smtClean="0"/>
          </a:p>
          <a:p>
            <a:pPr algn="just"/>
            <a:r>
              <a:rPr lang="en-US" sz="2400" dirty="0" smtClean="0"/>
              <a:t>Strong </a:t>
            </a:r>
            <a:r>
              <a:rPr lang="en-US" sz="2400" dirty="0"/>
              <a:t>S. (Strongly) Complete and weakly accurate </a:t>
            </a:r>
            <a:endParaRPr lang="en-US" sz="2400" dirty="0" smtClean="0"/>
          </a:p>
          <a:p>
            <a:pPr algn="just"/>
            <a:r>
              <a:rPr lang="en-US" sz="2400" dirty="0" smtClean="0"/>
              <a:t>Eventually </a:t>
            </a:r>
            <a:r>
              <a:rPr lang="en-US" sz="2400" dirty="0"/>
              <a:t>perfect ◊P. (Strongly) Complete and eventually strongly accurate </a:t>
            </a:r>
            <a:endParaRPr lang="en-US" sz="2400" dirty="0" smtClean="0"/>
          </a:p>
          <a:p>
            <a:pPr algn="just"/>
            <a:r>
              <a:rPr lang="en-US" sz="2400" dirty="0" smtClean="0"/>
              <a:t>Eventually </a:t>
            </a:r>
            <a:r>
              <a:rPr lang="en-US" sz="2400" dirty="0"/>
              <a:t>strong ◊S (Strongly) Complete and eventually weakly accurate </a:t>
            </a:r>
            <a:endParaRPr lang="en-US" sz="2400" dirty="0" smtClean="0"/>
          </a:p>
          <a:p>
            <a:pPr algn="just"/>
            <a:r>
              <a:rPr lang="en-US" sz="2400" dirty="0" smtClean="0"/>
              <a:t>Other </a:t>
            </a:r>
            <a:r>
              <a:rPr lang="en-US" sz="2400" dirty="0"/>
              <a:t>classes are feasible: W (weak completeness) and weak accuracy) and ◊W </a:t>
            </a:r>
          </a:p>
        </p:txBody>
      </p:sp>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34</a:t>
            </a:fld>
            <a:endParaRPr lang="en-US" altLang="en-US"/>
          </a:p>
        </p:txBody>
      </p:sp>
    </p:spTree>
    <p:extLst>
      <p:ext uri="{BB962C8B-B14F-4D97-AF65-F5344CB8AC3E}">
        <p14:creationId xmlns:p14="http://schemas.microsoft.com/office/powerpoint/2010/main" val="199762500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Detection of </a:t>
            </a:r>
            <a:r>
              <a:rPr lang="en-US" dirty="0" smtClean="0"/>
              <a:t>Crash Failures</a:t>
            </a:r>
            <a:endParaRPr lang="en-US" dirty="0"/>
          </a:p>
        </p:txBody>
      </p:sp>
      <p:sp>
        <p:nvSpPr>
          <p:cNvPr id="3" name="Content Placeholder 2"/>
          <p:cNvSpPr>
            <a:spLocks noGrp="1"/>
          </p:cNvSpPr>
          <p:nvPr>
            <p:ph idx="1"/>
          </p:nvPr>
        </p:nvSpPr>
        <p:spPr/>
        <p:txBody>
          <a:bodyPr/>
          <a:lstStyle/>
          <a:p>
            <a:pPr algn="just"/>
            <a:r>
              <a:rPr lang="en-US" dirty="0"/>
              <a:t>Failure can be detected using heartbeat messages (periodic “I am alive” broadcast) and timeout </a:t>
            </a:r>
          </a:p>
          <a:p>
            <a:pPr lvl="1" algn="just"/>
            <a:r>
              <a:rPr lang="en-US" dirty="0" smtClean="0"/>
              <a:t>if </a:t>
            </a:r>
            <a:r>
              <a:rPr lang="en-US" dirty="0"/>
              <a:t>processors speed has a known lower bound </a:t>
            </a:r>
          </a:p>
          <a:p>
            <a:pPr lvl="1" algn="just"/>
            <a:r>
              <a:rPr lang="en-US" dirty="0" smtClean="0"/>
              <a:t>channel </a:t>
            </a:r>
            <a:r>
              <a:rPr lang="en-US" dirty="0"/>
              <a:t>delays have a known upper bound</a:t>
            </a:r>
          </a:p>
        </p:txBody>
      </p:sp>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35</a:t>
            </a:fld>
            <a:endParaRPr lang="en-US" altLang="en-US"/>
          </a:p>
        </p:txBody>
      </p:sp>
    </p:spTree>
    <p:extLst>
      <p:ext uri="{BB962C8B-B14F-4D97-AF65-F5344CB8AC3E}">
        <p14:creationId xmlns:p14="http://schemas.microsoft.com/office/powerpoint/2010/main" val="39875033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Tolerating </a:t>
            </a:r>
            <a:r>
              <a:rPr lang="en-US" dirty="0" smtClean="0"/>
              <a:t>Crash Failures</a:t>
            </a:r>
            <a:endParaRPr lang="en-US" dirty="0"/>
          </a:p>
        </p:txBody>
      </p:sp>
      <p:pic>
        <p:nvPicPr>
          <p:cNvPr id="5" name="Content Placeholder 4"/>
          <p:cNvPicPr>
            <a:picLocks noGrp="1" noChangeAspect="1"/>
          </p:cNvPicPr>
          <p:nvPr>
            <p:ph idx="1"/>
          </p:nvPr>
        </p:nvPicPr>
        <p:blipFill>
          <a:blip r:embed="rId2"/>
          <a:stretch>
            <a:fillRect/>
          </a:stretch>
        </p:blipFill>
        <p:spPr>
          <a:xfrm>
            <a:off x="940526" y="2403566"/>
            <a:ext cx="6518366" cy="3984171"/>
          </a:xfrm>
          <a:prstGeom prst="rect">
            <a:avLst/>
          </a:prstGeom>
        </p:spPr>
      </p:pic>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36</a:t>
            </a:fld>
            <a:endParaRPr lang="en-US" altLang="en-US"/>
          </a:p>
        </p:txBody>
      </p:sp>
    </p:spTree>
    <p:extLst>
      <p:ext uri="{BB962C8B-B14F-4D97-AF65-F5344CB8AC3E}">
        <p14:creationId xmlns:p14="http://schemas.microsoft.com/office/powerpoint/2010/main" val="245562570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Detection of </a:t>
            </a:r>
            <a:r>
              <a:rPr lang="en-US" dirty="0" smtClean="0"/>
              <a:t>Omission Failures</a:t>
            </a:r>
            <a:endParaRPr lang="en-US" dirty="0"/>
          </a:p>
        </p:txBody>
      </p:sp>
      <p:sp>
        <p:nvSpPr>
          <p:cNvPr id="3" name="Content Placeholder 2"/>
          <p:cNvSpPr>
            <a:spLocks noGrp="1"/>
          </p:cNvSpPr>
          <p:nvPr>
            <p:ph idx="1"/>
          </p:nvPr>
        </p:nvSpPr>
        <p:spPr>
          <a:xfrm>
            <a:off x="838202" y="2362202"/>
            <a:ext cx="6895010" cy="3724275"/>
          </a:xfrm>
        </p:spPr>
        <p:txBody>
          <a:bodyPr/>
          <a:lstStyle/>
          <a:p>
            <a:pPr algn="just"/>
            <a:r>
              <a:rPr lang="en-US" sz="2000" dirty="0"/>
              <a:t>For FIFO channels: Use sequence numbers with messages. </a:t>
            </a:r>
            <a:endParaRPr lang="en-US" sz="2000" dirty="0" smtClean="0"/>
          </a:p>
          <a:p>
            <a:pPr lvl="1" algn="just"/>
            <a:r>
              <a:rPr lang="en-US" sz="2000" dirty="0" smtClean="0"/>
              <a:t>(</a:t>
            </a:r>
            <a:r>
              <a:rPr lang="en-US" sz="2000" dirty="0"/>
              <a:t>1, 2, 3, 5, 6 … ) ⇒ message 4 is missing </a:t>
            </a:r>
            <a:endParaRPr lang="en-US" sz="2000" dirty="0" smtClean="0"/>
          </a:p>
          <a:p>
            <a:pPr lvl="1" algn="just"/>
            <a:r>
              <a:rPr lang="en-US" sz="2000" dirty="0" smtClean="0"/>
              <a:t>Non-FIFO </a:t>
            </a:r>
            <a:r>
              <a:rPr lang="en-US" sz="2000" dirty="0"/>
              <a:t>bounded delay channels- use </a:t>
            </a:r>
            <a:r>
              <a:rPr lang="en-US" sz="2000" dirty="0" smtClean="0"/>
              <a:t>timeout</a:t>
            </a:r>
          </a:p>
          <a:p>
            <a:pPr lvl="1" algn="just"/>
            <a:r>
              <a:rPr lang="en-US" sz="2000" dirty="0" smtClean="0"/>
              <a:t>What </a:t>
            </a:r>
            <a:r>
              <a:rPr lang="en-US" sz="2000" dirty="0"/>
              <a:t>about non-FIFO channels for which the upper bound of the delay is not known? </a:t>
            </a:r>
            <a:endParaRPr lang="en-US" sz="2000" dirty="0" smtClean="0"/>
          </a:p>
          <a:p>
            <a:pPr lvl="1" algn="just"/>
            <a:r>
              <a:rPr lang="en-US" sz="2000" dirty="0" smtClean="0"/>
              <a:t>Use </a:t>
            </a:r>
            <a:r>
              <a:rPr lang="en-US" sz="2000" dirty="0"/>
              <a:t>unbounded sequence numbers and acknowledgments. But acknowledgments may be lost too</a:t>
            </a:r>
            <a:r>
              <a:rPr lang="en-US" sz="2000" dirty="0" smtClean="0"/>
              <a:t>!</a:t>
            </a:r>
          </a:p>
          <a:p>
            <a:pPr lvl="1" algn="just"/>
            <a:r>
              <a:rPr lang="en-US" sz="2000" dirty="0" smtClean="0"/>
              <a:t> </a:t>
            </a:r>
            <a:r>
              <a:rPr lang="en-US" sz="2000" dirty="0"/>
              <a:t>Let us look how a real protocol deals with omission …</a:t>
            </a:r>
          </a:p>
        </p:txBody>
      </p:sp>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37</a:t>
            </a:fld>
            <a:endParaRPr lang="en-US" altLang="en-US"/>
          </a:p>
        </p:txBody>
      </p:sp>
    </p:spTree>
    <p:extLst>
      <p:ext uri="{BB962C8B-B14F-4D97-AF65-F5344CB8AC3E}">
        <p14:creationId xmlns:p14="http://schemas.microsoft.com/office/powerpoint/2010/main" val="96731888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Tolerating </a:t>
            </a:r>
            <a:r>
              <a:rPr lang="en-US" dirty="0" smtClean="0"/>
              <a:t>Omission Failures</a:t>
            </a:r>
            <a:endParaRPr lang="en-US" dirty="0"/>
          </a:p>
        </p:txBody>
      </p:sp>
      <p:pic>
        <p:nvPicPr>
          <p:cNvPr id="5" name="Content Placeholder 4"/>
          <p:cNvPicPr>
            <a:picLocks noGrp="1" noChangeAspect="1"/>
          </p:cNvPicPr>
          <p:nvPr>
            <p:ph idx="1"/>
          </p:nvPr>
        </p:nvPicPr>
        <p:blipFill>
          <a:blip r:embed="rId2"/>
          <a:stretch>
            <a:fillRect/>
          </a:stretch>
        </p:blipFill>
        <p:spPr>
          <a:xfrm>
            <a:off x="912812" y="2338932"/>
            <a:ext cx="6663645" cy="4270874"/>
          </a:xfrm>
          <a:prstGeom prst="rect">
            <a:avLst/>
          </a:prstGeom>
        </p:spPr>
      </p:pic>
      <p:sp>
        <p:nvSpPr>
          <p:cNvPr id="4" name="Slide Number Placeholder 3"/>
          <p:cNvSpPr>
            <a:spLocks noGrp="1"/>
          </p:cNvSpPr>
          <p:nvPr>
            <p:ph type="sldNum" sz="quarter" idx="12"/>
          </p:nvPr>
        </p:nvSpPr>
        <p:spPr/>
        <p:txBody>
          <a:bodyPr/>
          <a:lstStyle/>
          <a:p>
            <a:pPr>
              <a:defRPr/>
            </a:pPr>
            <a:fld id="{D654C4A7-1AB6-4A61-9F0E-92056327BF78}" type="slidenum">
              <a:rPr lang="en-US" altLang="en-US" smtClean="0"/>
              <a:pPr>
                <a:defRPr/>
              </a:pPr>
              <a:t>38</a:t>
            </a:fld>
            <a:endParaRPr lang="en-US" altLang="en-US"/>
          </a:p>
        </p:txBody>
      </p:sp>
    </p:spTree>
    <p:extLst>
      <p:ext uri="{BB962C8B-B14F-4D97-AF65-F5344CB8AC3E}">
        <p14:creationId xmlns:p14="http://schemas.microsoft.com/office/powerpoint/2010/main" val="1921354820"/>
      </p:ext>
    </p:extLst>
  </p:cSld>
  <p:clrMapOvr>
    <a:masterClrMapping/>
  </p:clrMapOvr>
  <p:timing>
    <p:tnLst>
      <p:par>
        <p:cTn id="1" dur="indefinite" restart="never" nodeType="tmRoot"/>
      </p:par>
    </p:tnLst>
  </p:timing>
</p:sld>
</file>

<file path=ppt/theme/theme1.xml><?xml version="1.0" encoding="utf-8"?>
<a:theme xmlns:a="http://schemas.openxmlformats.org/drawingml/2006/main" name="Theme1">
  <a:themeElements>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fontScheme name="Capsule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clrMap bg1="lt1" tx1="dk1" bg2="lt2" tx2="dk2" accent1="accent1" accent2="accent2" accent3="accent3" accent4="accent4" accent5="accent5" accent6="accent6" hlink="hlink" folHlink="folHlink"/>
    </a:extraClrScheme>
    <a:extraClrScheme>
      <a:clrScheme name="Capsules 2">
        <a:dk1>
          <a:srgbClr val="000000"/>
        </a:dk1>
        <a:lt1>
          <a:srgbClr val="FFFFFF"/>
        </a:lt1>
        <a:dk2>
          <a:srgbClr val="000000"/>
        </a:dk2>
        <a:lt2>
          <a:srgbClr val="808000"/>
        </a:lt2>
        <a:accent1>
          <a:srgbClr val="FFCC99"/>
        </a:accent1>
        <a:accent2>
          <a:srgbClr val="99CC00"/>
        </a:accent2>
        <a:accent3>
          <a:srgbClr val="FFFFFF"/>
        </a:accent3>
        <a:accent4>
          <a:srgbClr val="000000"/>
        </a:accent4>
        <a:accent5>
          <a:srgbClr val="FFE2CA"/>
        </a:accent5>
        <a:accent6>
          <a:srgbClr val="8AB900"/>
        </a:accent6>
        <a:hlink>
          <a:srgbClr val="336600"/>
        </a:hlink>
        <a:folHlink>
          <a:srgbClr val="FFCC00"/>
        </a:folHlink>
      </a:clrScheme>
      <a:clrMap bg1="lt1" tx1="dk1" bg2="lt2" tx2="dk2" accent1="accent1" accent2="accent2" accent3="accent3" accent4="accent4" accent5="accent5" accent6="accent6" hlink="hlink" folHlink="folHlink"/>
    </a:extraClrScheme>
    <a:extraClrScheme>
      <a:clrScheme name="Capsules 3">
        <a:dk1>
          <a:srgbClr val="006699"/>
        </a:dk1>
        <a:lt1>
          <a:srgbClr val="FFFFFF"/>
        </a:lt1>
        <a:dk2>
          <a:srgbClr val="6699FF"/>
        </a:dk2>
        <a:lt2>
          <a:srgbClr val="FFFFFF"/>
        </a:lt2>
        <a:accent1>
          <a:srgbClr val="33CCCC"/>
        </a:accent1>
        <a:accent2>
          <a:srgbClr val="006699"/>
        </a:accent2>
        <a:accent3>
          <a:srgbClr val="B8CAFF"/>
        </a:accent3>
        <a:accent4>
          <a:srgbClr val="DADADA"/>
        </a:accent4>
        <a:accent5>
          <a:srgbClr val="ADE2E2"/>
        </a:accent5>
        <a:accent6>
          <a:srgbClr val="005C8A"/>
        </a:accent6>
        <a:hlink>
          <a:srgbClr val="99CC00"/>
        </a:hlink>
        <a:folHlink>
          <a:srgbClr val="FFFFCC"/>
        </a:folHlink>
      </a:clrScheme>
      <a:clrMap bg1="dk2" tx1="lt1" bg2="dk1" tx2="lt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6600"/>
        </a:lt2>
        <a:accent1>
          <a:srgbClr val="33CC33"/>
        </a:accent1>
        <a:accent2>
          <a:srgbClr val="FFCC66"/>
        </a:accent2>
        <a:accent3>
          <a:srgbClr val="FFFFFF"/>
        </a:accent3>
        <a:accent4>
          <a:srgbClr val="000000"/>
        </a:accent4>
        <a:accent5>
          <a:srgbClr val="ADE2AD"/>
        </a:accent5>
        <a:accent6>
          <a:srgbClr val="E7B95C"/>
        </a:accent6>
        <a:hlink>
          <a:srgbClr val="0033CC"/>
        </a:hlink>
        <a:folHlink>
          <a:srgbClr val="CC0066"/>
        </a:folHlink>
      </a:clrScheme>
      <a:clrMap bg1="lt1" tx1="dk1" bg2="lt2" tx2="dk2" accent1="accent1" accent2="accent2" accent3="accent3" accent4="accent4" accent5="accent5" accent6="accent6" hlink="hlink" folHlink="folHlink"/>
    </a:extraClrScheme>
    <a:extraClrScheme>
      <a:clrScheme name="Capsules 5">
        <a:dk1>
          <a:srgbClr val="000066"/>
        </a:dk1>
        <a:lt1>
          <a:srgbClr val="FFFFFF"/>
        </a:lt1>
        <a:dk2>
          <a:srgbClr val="336699"/>
        </a:dk2>
        <a:lt2>
          <a:srgbClr val="FFFFEB"/>
        </a:lt2>
        <a:accent1>
          <a:srgbClr val="99CCFF"/>
        </a:accent1>
        <a:accent2>
          <a:srgbClr val="9999FF"/>
        </a:accent2>
        <a:accent3>
          <a:srgbClr val="ADB8CA"/>
        </a:accent3>
        <a:accent4>
          <a:srgbClr val="DADADA"/>
        </a:accent4>
        <a:accent5>
          <a:srgbClr val="CAE2FF"/>
        </a:accent5>
        <a:accent6>
          <a:srgbClr val="8A8A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6">
        <a:dk1>
          <a:srgbClr val="808000"/>
        </a:dk1>
        <a:lt1>
          <a:srgbClr val="FFFFFF"/>
        </a:lt1>
        <a:dk2>
          <a:srgbClr val="006666"/>
        </a:dk2>
        <a:lt2>
          <a:srgbClr val="FFFFFF"/>
        </a:lt2>
        <a:accent1>
          <a:srgbClr val="FFCC66"/>
        </a:accent1>
        <a:accent2>
          <a:srgbClr val="00ACA8"/>
        </a:accent2>
        <a:accent3>
          <a:srgbClr val="AAB8B8"/>
        </a:accent3>
        <a:accent4>
          <a:srgbClr val="DADADA"/>
        </a:accent4>
        <a:accent5>
          <a:srgbClr val="FFE2B8"/>
        </a:accent5>
        <a:accent6>
          <a:srgbClr val="009B98"/>
        </a:accent6>
        <a:hlink>
          <a:srgbClr val="CCCC00"/>
        </a:hlink>
        <a:folHlink>
          <a:srgbClr val="33CCCC"/>
        </a:folHlink>
      </a:clrScheme>
      <a:clrMap bg1="dk2" tx1="lt1" bg2="dk1" tx2="lt2" accent1="accent1" accent2="accent2" accent3="accent3" accent4="accent4" accent5="accent5" accent6="accent6" hlink="hlink" folHlink="folHlink"/>
    </a:extraClrScheme>
    <a:extraClrScheme>
      <a:clrScheme name="Capsules 7">
        <a:dk1>
          <a:srgbClr val="FFFFCC"/>
        </a:dk1>
        <a:lt1>
          <a:srgbClr val="FFFFFF"/>
        </a:lt1>
        <a:dk2>
          <a:srgbClr val="660033"/>
        </a:dk2>
        <a:lt2>
          <a:srgbClr val="FFFFFF"/>
        </a:lt2>
        <a:accent1>
          <a:srgbClr val="FF9900"/>
        </a:accent1>
        <a:accent2>
          <a:srgbClr val="CC3300"/>
        </a:accent2>
        <a:accent3>
          <a:srgbClr val="B8AAAD"/>
        </a:accent3>
        <a:accent4>
          <a:srgbClr val="DADADA"/>
        </a:accent4>
        <a:accent5>
          <a:srgbClr val="FFCAAA"/>
        </a:accent5>
        <a:accent6>
          <a:srgbClr val="B92D00"/>
        </a:accent6>
        <a:hlink>
          <a:srgbClr val="FFCC00"/>
        </a:hlink>
        <a:folHlink>
          <a:srgbClr val="FFCC99"/>
        </a:folHlink>
      </a:clrScheme>
      <a:clrMap bg1="dk2" tx1="lt1" bg2="dk1" tx2="lt2" accent1="accent1" accent2="accent2" accent3="accent3" accent4="accent4" accent5="accent5" accent6="accent6" hlink="hlink" folHlink="folHlink"/>
    </a:extraClrScheme>
    <a:extraClrScheme>
      <a:clrScheme name="Capsules 8">
        <a:dk1>
          <a:srgbClr val="FF0000"/>
        </a:dk1>
        <a:lt1>
          <a:srgbClr val="FFFFFF"/>
        </a:lt1>
        <a:dk2>
          <a:srgbClr val="000000"/>
        </a:dk2>
        <a:lt2>
          <a:srgbClr val="FFFFFF"/>
        </a:lt2>
        <a:accent1>
          <a:srgbClr val="FFCC00"/>
        </a:accent1>
        <a:accent2>
          <a:srgbClr val="CC3300"/>
        </a:accent2>
        <a:accent3>
          <a:srgbClr val="AAAAAA"/>
        </a:accent3>
        <a:accent4>
          <a:srgbClr val="DADADA"/>
        </a:accent4>
        <a:accent5>
          <a:srgbClr val="FFE2AA"/>
        </a:accent5>
        <a:accent6>
          <a:srgbClr val="B92D00"/>
        </a:accent6>
        <a:hlink>
          <a:srgbClr val="FF6600"/>
        </a:hlink>
        <a:folHlink>
          <a:srgbClr val="FF7C8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1" id="{85C8782E-8FD1-4DD5-B1D4-2219BDDE01B3}" vid="{796131F4-60EA-4B71-AF3A-7C794936D88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499</TotalTime>
  <Words>1702</Words>
  <Application>Microsoft Office PowerPoint</Application>
  <PresentationFormat>On-screen Show (4:3)</PresentationFormat>
  <Paragraphs>224</Paragraphs>
  <Slides>38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Garamond</vt:lpstr>
      <vt:lpstr>Times New Roman</vt:lpstr>
      <vt:lpstr>Wingdings</vt:lpstr>
      <vt:lpstr>Theme1</vt:lpstr>
      <vt:lpstr>Parallel &amp; Distributed Computing Fault Tolerance in Distributed Systems</vt:lpstr>
      <vt:lpstr>Fundamentals  </vt:lpstr>
      <vt:lpstr>Reliability</vt:lpstr>
      <vt:lpstr>Classification of Failures</vt:lpstr>
      <vt:lpstr>Crash Failures</vt:lpstr>
      <vt:lpstr>Transient Failure</vt:lpstr>
      <vt:lpstr>Temporal Failures</vt:lpstr>
      <vt:lpstr>Byzantine Failure</vt:lpstr>
      <vt:lpstr>Errors/Failures across system layers</vt:lpstr>
      <vt:lpstr>Hardware Errors and Error 11 Control Schemes</vt:lpstr>
      <vt:lpstr>Software Errors and Error 14 Control Schemes</vt:lpstr>
      <vt:lpstr>Software Failures</vt:lpstr>
      <vt:lpstr>Software Failures</vt:lpstr>
      <vt:lpstr>Network Errors and Error 17 Control Schemes</vt:lpstr>
      <vt:lpstr>Classifying Fault-Tolerance</vt:lpstr>
      <vt:lpstr>Classifying Fault-Tolerance</vt:lpstr>
      <vt:lpstr>Conventional Approaches</vt:lpstr>
      <vt:lpstr>Modular Redundancy</vt:lpstr>
      <vt:lpstr>N-version Programming</vt:lpstr>
      <vt:lpstr>Error-Control Coding</vt:lpstr>
      <vt:lpstr>Consensus</vt:lpstr>
      <vt:lpstr>Defining Consensus </vt:lpstr>
      <vt:lpstr>Solving Consensus</vt:lpstr>
      <vt:lpstr>Variant of Consensus Problem</vt:lpstr>
      <vt:lpstr>Consensus in Synchronous System</vt:lpstr>
      <vt:lpstr>Asynchronous Consensus</vt:lpstr>
      <vt:lpstr>Byzantine General Problem</vt:lpstr>
      <vt:lpstr>Byzantine General Problem </vt:lpstr>
      <vt:lpstr>Failure Detection</vt:lpstr>
      <vt:lpstr>Example</vt:lpstr>
      <vt:lpstr>Classification of Completeness</vt:lpstr>
      <vt:lpstr>Classification of accuracy</vt:lpstr>
      <vt:lpstr>Eventual Accuracy</vt:lpstr>
      <vt:lpstr>Classifying Failure Detectors</vt:lpstr>
      <vt:lpstr>Detection of Crash Failures</vt:lpstr>
      <vt:lpstr>Tolerating Crash Failures</vt:lpstr>
      <vt:lpstr>Detection of Omission Failures</vt:lpstr>
      <vt:lpstr>Tolerating Omission Failures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Farhad Muhammad Riaz</dc:creator>
  <cp:lastModifiedBy>Moorche</cp:lastModifiedBy>
  <cp:revision>59</cp:revision>
  <dcterms:created xsi:type="dcterms:W3CDTF">2016-01-10T08:53:57Z</dcterms:created>
  <dcterms:modified xsi:type="dcterms:W3CDTF">2023-05-29T05:34:12Z</dcterms:modified>
</cp:coreProperties>
</file>