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85" r:id="rId21"/>
    <p:sldId id="277" r:id="rId22"/>
    <p:sldId id="280" r:id="rId23"/>
    <p:sldId id="281" r:id="rId24"/>
    <p:sldId id="282" r:id="rId25"/>
    <p:sldId id="283" r:id="rId26"/>
    <p:sldId id="284" r:id="rId2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7534" y="2493087"/>
            <a:ext cx="7636932" cy="713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3390" y="499110"/>
            <a:ext cx="10305220" cy="5078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3390" y="1725625"/>
            <a:ext cx="10253133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orbes.com/sites/karlmoore/2011/03/28/po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1" y="1600200"/>
            <a:ext cx="9143999" cy="3776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9468" y="1816282"/>
            <a:ext cx="6301080" cy="46999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43249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5" dirty="0"/>
              <a:t>Power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Suppliers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182368"/>
            <a:ext cx="6096000" cy="3639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543" y="725552"/>
            <a:ext cx="43249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3300" dirty="0">
                <a:latin typeface="Georgia"/>
                <a:cs typeface="Georgia"/>
              </a:rPr>
              <a:t>The</a:t>
            </a:r>
            <a:r>
              <a:rPr sz="3300" spc="-20" dirty="0">
                <a:latin typeface="Georgia"/>
                <a:cs typeface="Georgia"/>
              </a:rPr>
              <a:t> </a:t>
            </a:r>
            <a:r>
              <a:rPr sz="3300" spc="5" dirty="0">
                <a:latin typeface="Georgia"/>
                <a:cs typeface="Georgia"/>
              </a:rPr>
              <a:t>Power</a:t>
            </a:r>
            <a:r>
              <a:rPr sz="3300" spc="-45" dirty="0">
                <a:latin typeface="Georgia"/>
                <a:cs typeface="Georgia"/>
              </a:rPr>
              <a:t> </a:t>
            </a:r>
            <a:r>
              <a:rPr sz="3300" dirty="0">
                <a:latin typeface="Georgia"/>
                <a:cs typeface="Georgia"/>
              </a:rPr>
              <a:t>of</a:t>
            </a:r>
            <a:r>
              <a:rPr sz="3300" spc="-25" dirty="0">
                <a:latin typeface="Georgia"/>
                <a:cs typeface="Georgia"/>
              </a:rPr>
              <a:t> </a:t>
            </a:r>
            <a:r>
              <a:rPr sz="3300" dirty="0">
                <a:latin typeface="Georgia"/>
                <a:cs typeface="Georgia"/>
              </a:rPr>
              <a:t>Suppliers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543" y="1813942"/>
            <a:ext cx="7699375" cy="12223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440"/>
              </a:spcBef>
            </a:pPr>
            <a:r>
              <a:rPr sz="2800" spc="5" dirty="0">
                <a:latin typeface="Verdana"/>
                <a:cs typeface="Verdana"/>
              </a:rPr>
              <a:t>Suppliers </a:t>
            </a:r>
            <a:r>
              <a:rPr sz="2800" dirty="0">
                <a:latin typeface="Verdana"/>
                <a:cs typeface="Verdana"/>
              </a:rPr>
              <a:t>are those </a:t>
            </a:r>
            <a:r>
              <a:rPr sz="2800" spc="5" dirty="0">
                <a:latin typeface="Verdana"/>
                <a:cs typeface="Verdana"/>
              </a:rPr>
              <a:t>who supply </a:t>
            </a:r>
            <a:r>
              <a:rPr sz="2800" spc="-5" dirty="0">
                <a:latin typeface="Verdana"/>
                <a:cs typeface="Verdana"/>
              </a:rPr>
              <a:t>the 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organization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with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what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it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needs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produce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product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or service</a:t>
            </a:r>
            <a:endParaRPr sz="2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43249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5" dirty="0"/>
              <a:t>Power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Suppliers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7562" y="1453641"/>
            <a:ext cx="991235" cy="1000760"/>
            <a:chOff x="813561" y="1453641"/>
            <a:chExt cx="991235" cy="1000760"/>
          </a:xfrm>
        </p:grpSpPr>
        <p:sp>
          <p:nvSpPr>
            <p:cNvPr id="4" name="object 4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489203" y="0"/>
                  </a:moveTo>
                  <a:lnTo>
                    <a:pt x="442090" y="2260"/>
                  </a:lnTo>
                  <a:lnTo>
                    <a:pt x="396243" y="8904"/>
                  </a:lnTo>
                  <a:lnTo>
                    <a:pt x="351869" y="19725"/>
                  </a:lnTo>
                  <a:lnTo>
                    <a:pt x="309172" y="34515"/>
                  </a:lnTo>
                  <a:lnTo>
                    <a:pt x="268356" y="53067"/>
                  </a:lnTo>
                  <a:lnTo>
                    <a:pt x="229628" y="75174"/>
                  </a:lnTo>
                  <a:lnTo>
                    <a:pt x="193192" y="100629"/>
                  </a:lnTo>
                  <a:lnTo>
                    <a:pt x="159253" y="129225"/>
                  </a:lnTo>
                  <a:lnTo>
                    <a:pt x="128016" y="160756"/>
                  </a:lnTo>
                  <a:lnTo>
                    <a:pt x="99687" y="195013"/>
                  </a:lnTo>
                  <a:lnTo>
                    <a:pt x="74469" y="231790"/>
                  </a:lnTo>
                  <a:lnTo>
                    <a:pt x="52569" y="270880"/>
                  </a:lnTo>
                  <a:lnTo>
                    <a:pt x="34190" y="312076"/>
                  </a:lnTo>
                  <a:lnTo>
                    <a:pt x="19539" y="355170"/>
                  </a:lnTo>
                  <a:lnTo>
                    <a:pt x="8821" y="399956"/>
                  </a:lnTo>
                  <a:lnTo>
                    <a:pt x="2239" y="446227"/>
                  </a:lnTo>
                  <a:lnTo>
                    <a:pt x="0" y="493775"/>
                  </a:lnTo>
                  <a:lnTo>
                    <a:pt x="2239" y="541324"/>
                  </a:lnTo>
                  <a:lnTo>
                    <a:pt x="8821" y="587595"/>
                  </a:lnTo>
                  <a:lnTo>
                    <a:pt x="19539" y="632381"/>
                  </a:lnTo>
                  <a:lnTo>
                    <a:pt x="34190" y="675475"/>
                  </a:lnTo>
                  <a:lnTo>
                    <a:pt x="52569" y="716671"/>
                  </a:lnTo>
                  <a:lnTo>
                    <a:pt x="74469" y="755761"/>
                  </a:lnTo>
                  <a:lnTo>
                    <a:pt x="99687" y="792538"/>
                  </a:lnTo>
                  <a:lnTo>
                    <a:pt x="128016" y="826795"/>
                  </a:lnTo>
                  <a:lnTo>
                    <a:pt x="159253" y="858326"/>
                  </a:lnTo>
                  <a:lnTo>
                    <a:pt x="193192" y="886922"/>
                  </a:lnTo>
                  <a:lnTo>
                    <a:pt x="229628" y="912377"/>
                  </a:lnTo>
                  <a:lnTo>
                    <a:pt x="268356" y="934484"/>
                  </a:lnTo>
                  <a:lnTo>
                    <a:pt x="309172" y="953036"/>
                  </a:lnTo>
                  <a:lnTo>
                    <a:pt x="351869" y="967826"/>
                  </a:lnTo>
                  <a:lnTo>
                    <a:pt x="396243" y="978647"/>
                  </a:lnTo>
                  <a:lnTo>
                    <a:pt x="442090" y="985291"/>
                  </a:lnTo>
                  <a:lnTo>
                    <a:pt x="489203" y="987552"/>
                  </a:lnTo>
                  <a:lnTo>
                    <a:pt x="536309" y="985291"/>
                  </a:lnTo>
                  <a:lnTo>
                    <a:pt x="582150" y="978647"/>
                  </a:lnTo>
                  <a:lnTo>
                    <a:pt x="626520" y="967826"/>
                  </a:lnTo>
                  <a:lnTo>
                    <a:pt x="669214" y="953036"/>
                  </a:lnTo>
                  <a:lnTo>
                    <a:pt x="710028" y="934484"/>
                  </a:lnTo>
                  <a:lnTo>
                    <a:pt x="748756" y="912377"/>
                  </a:lnTo>
                  <a:lnTo>
                    <a:pt x="785193" y="886922"/>
                  </a:lnTo>
                  <a:lnTo>
                    <a:pt x="819134" y="858326"/>
                  </a:lnTo>
                  <a:lnTo>
                    <a:pt x="850373" y="826795"/>
                  </a:lnTo>
                  <a:lnTo>
                    <a:pt x="878705" y="792538"/>
                  </a:lnTo>
                  <a:lnTo>
                    <a:pt x="903926" y="755761"/>
                  </a:lnTo>
                  <a:lnTo>
                    <a:pt x="925829" y="716671"/>
                  </a:lnTo>
                  <a:lnTo>
                    <a:pt x="944210" y="675475"/>
                  </a:lnTo>
                  <a:lnTo>
                    <a:pt x="958864" y="632381"/>
                  </a:lnTo>
                  <a:lnTo>
                    <a:pt x="969585" y="587595"/>
                  </a:lnTo>
                  <a:lnTo>
                    <a:pt x="976168" y="541324"/>
                  </a:lnTo>
                  <a:lnTo>
                    <a:pt x="978407" y="493775"/>
                  </a:lnTo>
                  <a:lnTo>
                    <a:pt x="976168" y="446227"/>
                  </a:lnTo>
                  <a:lnTo>
                    <a:pt x="969585" y="399956"/>
                  </a:lnTo>
                  <a:lnTo>
                    <a:pt x="958864" y="355170"/>
                  </a:lnTo>
                  <a:lnTo>
                    <a:pt x="944210" y="312076"/>
                  </a:lnTo>
                  <a:lnTo>
                    <a:pt x="925829" y="270880"/>
                  </a:lnTo>
                  <a:lnTo>
                    <a:pt x="903926" y="231790"/>
                  </a:lnTo>
                  <a:lnTo>
                    <a:pt x="878705" y="195013"/>
                  </a:lnTo>
                  <a:lnTo>
                    <a:pt x="850373" y="160756"/>
                  </a:lnTo>
                  <a:lnTo>
                    <a:pt x="819134" y="129225"/>
                  </a:lnTo>
                  <a:lnTo>
                    <a:pt x="785193" y="100629"/>
                  </a:lnTo>
                  <a:lnTo>
                    <a:pt x="748756" y="75174"/>
                  </a:lnTo>
                  <a:lnTo>
                    <a:pt x="710028" y="53067"/>
                  </a:lnTo>
                  <a:lnTo>
                    <a:pt x="669214" y="34515"/>
                  </a:lnTo>
                  <a:lnTo>
                    <a:pt x="626520" y="19725"/>
                  </a:lnTo>
                  <a:lnTo>
                    <a:pt x="582150" y="8904"/>
                  </a:lnTo>
                  <a:lnTo>
                    <a:pt x="536309" y="22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0" y="493775"/>
                  </a:moveTo>
                  <a:lnTo>
                    <a:pt x="2239" y="446227"/>
                  </a:lnTo>
                  <a:lnTo>
                    <a:pt x="8821" y="399956"/>
                  </a:lnTo>
                  <a:lnTo>
                    <a:pt x="19539" y="355170"/>
                  </a:lnTo>
                  <a:lnTo>
                    <a:pt x="34190" y="312076"/>
                  </a:lnTo>
                  <a:lnTo>
                    <a:pt x="52569" y="270880"/>
                  </a:lnTo>
                  <a:lnTo>
                    <a:pt x="74469" y="231790"/>
                  </a:lnTo>
                  <a:lnTo>
                    <a:pt x="99687" y="195013"/>
                  </a:lnTo>
                  <a:lnTo>
                    <a:pt x="128016" y="160756"/>
                  </a:lnTo>
                  <a:lnTo>
                    <a:pt x="159253" y="129225"/>
                  </a:lnTo>
                  <a:lnTo>
                    <a:pt x="193192" y="100629"/>
                  </a:lnTo>
                  <a:lnTo>
                    <a:pt x="229628" y="75174"/>
                  </a:lnTo>
                  <a:lnTo>
                    <a:pt x="268356" y="53067"/>
                  </a:lnTo>
                  <a:lnTo>
                    <a:pt x="309172" y="34515"/>
                  </a:lnTo>
                  <a:lnTo>
                    <a:pt x="351869" y="19725"/>
                  </a:lnTo>
                  <a:lnTo>
                    <a:pt x="396243" y="8904"/>
                  </a:lnTo>
                  <a:lnTo>
                    <a:pt x="442090" y="2260"/>
                  </a:lnTo>
                  <a:lnTo>
                    <a:pt x="489203" y="0"/>
                  </a:lnTo>
                  <a:lnTo>
                    <a:pt x="536309" y="2260"/>
                  </a:lnTo>
                  <a:lnTo>
                    <a:pt x="582150" y="8904"/>
                  </a:lnTo>
                  <a:lnTo>
                    <a:pt x="626520" y="19725"/>
                  </a:lnTo>
                  <a:lnTo>
                    <a:pt x="669214" y="34515"/>
                  </a:lnTo>
                  <a:lnTo>
                    <a:pt x="710028" y="53067"/>
                  </a:lnTo>
                  <a:lnTo>
                    <a:pt x="748756" y="75174"/>
                  </a:lnTo>
                  <a:lnTo>
                    <a:pt x="785193" y="100629"/>
                  </a:lnTo>
                  <a:lnTo>
                    <a:pt x="819134" y="129225"/>
                  </a:lnTo>
                  <a:lnTo>
                    <a:pt x="850373" y="160756"/>
                  </a:lnTo>
                  <a:lnTo>
                    <a:pt x="878705" y="195013"/>
                  </a:lnTo>
                  <a:lnTo>
                    <a:pt x="903926" y="231790"/>
                  </a:lnTo>
                  <a:lnTo>
                    <a:pt x="925829" y="270880"/>
                  </a:lnTo>
                  <a:lnTo>
                    <a:pt x="944210" y="312076"/>
                  </a:lnTo>
                  <a:lnTo>
                    <a:pt x="958864" y="355170"/>
                  </a:lnTo>
                  <a:lnTo>
                    <a:pt x="969585" y="399956"/>
                  </a:lnTo>
                  <a:lnTo>
                    <a:pt x="976168" y="446227"/>
                  </a:lnTo>
                  <a:lnTo>
                    <a:pt x="978407" y="493775"/>
                  </a:lnTo>
                  <a:lnTo>
                    <a:pt x="976168" y="541324"/>
                  </a:lnTo>
                  <a:lnTo>
                    <a:pt x="969585" y="587595"/>
                  </a:lnTo>
                  <a:lnTo>
                    <a:pt x="958864" y="632381"/>
                  </a:lnTo>
                  <a:lnTo>
                    <a:pt x="944210" y="675475"/>
                  </a:lnTo>
                  <a:lnTo>
                    <a:pt x="925829" y="716671"/>
                  </a:lnTo>
                  <a:lnTo>
                    <a:pt x="903926" y="755761"/>
                  </a:lnTo>
                  <a:lnTo>
                    <a:pt x="878705" y="792538"/>
                  </a:lnTo>
                  <a:lnTo>
                    <a:pt x="850373" y="826795"/>
                  </a:lnTo>
                  <a:lnTo>
                    <a:pt x="819134" y="858326"/>
                  </a:lnTo>
                  <a:lnTo>
                    <a:pt x="785193" y="886922"/>
                  </a:lnTo>
                  <a:lnTo>
                    <a:pt x="748756" y="912377"/>
                  </a:lnTo>
                  <a:lnTo>
                    <a:pt x="710028" y="934484"/>
                  </a:lnTo>
                  <a:lnTo>
                    <a:pt x="669214" y="953036"/>
                  </a:lnTo>
                  <a:lnTo>
                    <a:pt x="626520" y="967826"/>
                  </a:lnTo>
                  <a:lnTo>
                    <a:pt x="582150" y="978647"/>
                  </a:lnTo>
                  <a:lnTo>
                    <a:pt x="536309" y="985291"/>
                  </a:lnTo>
                  <a:lnTo>
                    <a:pt x="489203" y="987552"/>
                  </a:lnTo>
                  <a:lnTo>
                    <a:pt x="442090" y="985291"/>
                  </a:lnTo>
                  <a:lnTo>
                    <a:pt x="396243" y="978647"/>
                  </a:lnTo>
                  <a:lnTo>
                    <a:pt x="351869" y="967826"/>
                  </a:lnTo>
                  <a:lnTo>
                    <a:pt x="309172" y="953036"/>
                  </a:lnTo>
                  <a:lnTo>
                    <a:pt x="268356" y="934484"/>
                  </a:lnTo>
                  <a:lnTo>
                    <a:pt x="229628" y="912377"/>
                  </a:lnTo>
                  <a:lnTo>
                    <a:pt x="193192" y="886922"/>
                  </a:lnTo>
                  <a:lnTo>
                    <a:pt x="159253" y="858326"/>
                  </a:lnTo>
                  <a:lnTo>
                    <a:pt x="128016" y="826795"/>
                  </a:lnTo>
                  <a:lnTo>
                    <a:pt x="99687" y="792538"/>
                  </a:lnTo>
                  <a:lnTo>
                    <a:pt x="74469" y="755761"/>
                  </a:lnTo>
                  <a:lnTo>
                    <a:pt x="52569" y="716671"/>
                  </a:lnTo>
                  <a:lnTo>
                    <a:pt x="34190" y="675475"/>
                  </a:lnTo>
                  <a:lnTo>
                    <a:pt x="19539" y="632381"/>
                  </a:lnTo>
                  <a:lnTo>
                    <a:pt x="8821" y="587595"/>
                  </a:lnTo>
                  <a:lnTo>
                    <a:pt x="2239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231543" y="1725626"/>
            <a:ext cx="7564755" cy="39795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8315" algn="just">
              <a:spcBef>
                <a:spcPts val="110"/>
              </a:spcBef>
            </a:pP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2800" dirty="0">
              <a:latin typeface="Verdana"/>
              <a:cs typeface="Verdana"/>
            </a:endParaRPr>
          </a:p>
          <a:p>
            <a:pPr algn="just">
              <a:spcBef>
                <a:spcPts val="50"/>
              </a:spcBef>
            </a:pPr>
            <a:endParaRPr sz="2750" dirty="0">
              <a:latin typeface="Verdana"/>
              <a:cs typeface="Verdana"/>
            </a:endParaRPr>
          </a:p>
          <a:p>
            <a:pPr marL="12700" algn="just"/>
            <a:r>
              <a:rPr sz="2600" spc="-15" dirty="0">
                <a:latin typeface="Verdana"/>
                <a:cs typeface="Verdana"/>
              </a:rPr>
              <a:t>Concentrated</a:t>
            </a:r>
            <a:r>
              <a:rPr sz="2600" spc="5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Suppliers</a:t>
            </a:r>
            <a:endParaRPr sz="2600" dirty="0">
              <a:latin typeface="Verdana"/>
              <a:cs typeface="Verdana"/>
            </a:endParaRPr>
          </a:p>
          <a:p>
            <a:pPr marL="12700" marR="5080" algn="just">
              <a:lnSpc>
                <a:spcPts val="2810"/>
              </a:lnSpc>
              <a:spcBef>
                <a:spcPts val="835"/>
              </a:spcBef>
            </a:pPr>
            <a:r>
              <a:rPr sz="2600" spc="-10" dirty="0">
                <a:latin typeface="Verdana"/>
                <a:cs typeface="Verdana"/>
              </a:rPr>
              <a:t>Where</a:t>
            </a:r>
            <a:r>
              <a:rPr sz="2600" spc="5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just</a:t>
            </a:r>
            <a:r>
              <a:rPr sz="2600" spc="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 few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producers</a:t>
            </a:r>
            <a:r>
              <a:rPr sz="2600" spc="8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dominate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supply,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suppliers</a:t>
            </a:r>
            <a:r>
              <a:rPr sz="2600" spc="5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have</a:t>
            </a:r>
            <a:r>
              <a:rPr sz="2600" spc="3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more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power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over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buyers.</a:t>
            </a:r>
            <a:endParaRPr sz="2600" dirty="0">
              <a:latin typeface="Verdana"/>
              <a:cs typeface="Verdana"/>
            </a:endParaRPr>
          </a:p>
          <a:p>
            <a:pPr marL="12700" marR="177800" algn="just">
              <a:lnSpc>
                <a:spcPct val="90000"/>
              </a:lnSpc>
              <a:spcBef>
                <a:spcPts val="750"/>
              </a:spcBef>
            </a:pPr>
            <a:r>
              <a:rPr sz="2600" spc="-10" dirty="0">
                <a:latin typeface="Verdana"/>
                <a:cs typeface="Verdana"/>
              </a:rPr>
              <a:t>Example:</a:t>
            </a:r>
            <a:r>
              <a:rPr sz="2600" spc="3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The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iron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ore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industry</a:t>
            </a:r>
            <a:r>
              <a:rPr sz="2600" spc="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is</a:t>
            </a:r>
            <a:r>
              <a:rPr sz="2600" spc="-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now </a:t>
            </a:r>
            <a:r>
              <a:rPr sz="2600" spc="-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concentrated</a:t>
            </a:r>
            <a:r>
              <a:rPr sz="2600" spc="7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in </a:t>
            </a:r>
            <a:r>
              <a:rPr sz="2600" spc="-10" dirty="0">
                <a:latin typeface="Verdana"/>
                <a:cs typeface="Verdana"/>
              </a:rPr>
              <a:t>the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hands</a:t>
            </a:r>
            <a:r>
              <a:rPr sz="2600" spc="6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of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three</a:t>
            </a:r>
            <a:r>
              <a:rPr sz="2600" spc="3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main 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producers,</a:t>
            </a:r>
            <a:r>
              <a:rPr sz="2600" spc="8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leaving</a:t>
            </a:r>
            <a:r>
              <a:rPr sz="2600" spc="3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steel</a:t>
            </a:r>
            <a:r>
              <a:rPr sz="2600" spc="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companies,</a:t>
            </a:r>
            <a:r>
              <a:rPr sz="2600" spc="45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still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relatively</a:t>
            </a:r>
            <a:r>
              <a:rPr sz="2600" spc="2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fragmented,</a:t>
            </a:r>
            <a:r>
              <a:rPr sz="2600" spc="8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in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</a:t>
            </a:r>
            <a:r>
              <a:rPr sz="2600" spc="15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weak</a:t>
            </a:r>
            <a:r>
              <a:rPr sz="2600" spc="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negotiating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position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for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this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essential</a:t>
            </a:r>
            <a:r>
              <a:rPr sz="2600" spc="35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raw</a:t>
            </a:r>
            <a:r>
              <a:rPr sz="2600" spc="3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material</a:t>
            </a:r>
            <a:endParaRPr sz="2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43249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5" dirty="0"/>
              <a:t>Power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Suppliers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337562" y="1453641"/>
            <a:ext cx="991235" cy="1000760"/>
            <a:chOff x="813561" y="1453641"/>
            <a:chExt cx="991235" cy="1000760"/>
          </a:xfrm>
        </p:grpSpPr>
        <p:sp>
          <p:nvSpPr>
            <p:cNvPr id="6" name="object 6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489203" y="0"/>
                  </a:moveTo>
                  <a:lnTo>
                    <a:pt x="442090" y="2260"/>
                  </a:lnTo>
                  <a:lnTo>
                    <a:pt x="396243" y="8904"/>
                  </a:lnTo>
                  <a:lnTo>
                    <a:pt x="351869" y="19725"/>
                  </a:lnTo>
                  <a:lnTo>
                    <a:pt x="309172" y="34515"/>
                  </a:lnTo>
                  <a:lnTo>
                    <a:pt x="268356" y="53067"/>
                  </a:lnTo>
                  <a:lnTo>
                    <a:pt x="229628" y="75174"/>
                  </a:lnTo>
                  <a:lnTo>
                    <a:pt x="193192" y="100629"/>
                  </a:lnTo>
                  <a:lnTo>
                    <a:pt x="159253" y="129225"/>
                  </a:lnTo>
                  <a:lnTo>
                    <a:pt x="128016" y="160756"/>
                  </a:lnTo>
                  <a:lnTo>
                    <a:pt x="99687" y="195013"/>
                  </a:lnTo>
                  <a:lnTo>
                    <a:pt x="74469" y="231790"/>
                  </a:lnTo>
                  <a:lnTo>
                    <a:pt x="52569" y="270880"/>
                  </a:lnTo>
                  <a:lnTo>
                    <a:pt x="34190" y="312076"/>
                  </a:lnTo>
                  <a:lnTo>
                    <a:pt x="19539" y="355170"/>
                  </a:lnTo>
                  <a:lnTo>
                    <a:pt x="8821" y="399956"/>
                  </a:lnTo>
                  <a:lnTo>
                    <a:pt x="2239" y="446227"/>
                  </a:lnTo>
                  <a:lnTo>
                    <a:pt x="0" y="493775"/>
                  </a:lnTo>
                  <a:lnTo>
                    <a:pt x="2239" y="541324"/>
                  </a:lnTo>
                  <a:lnTo>
                    <a:pt x="8821" y="587595"/>
                  </a:lnTo>
                  <a:lnTo>
                    <a:pt x="19539" y="632381"/>
                  </a:lnTo>
                  <a:lnTo>
                    <a:pt x="34190" y="675475"/>
                  </a:lnTo>
                  <a:lnTo>
                    <a:pt x="52569" y="716671"/>
                  </a:lnTo>
                  <a:lnTo>
                    <a:pt x="74469" y="755761"/>
                  </a:lnTo>
                  <a:lnTo>
                    <a:pt x="99687" y="792538"/>
                  </a:lnTo>
                  <a:lnTo>
                    <a:pt x="128016" y="826795"/>
                  </a:lnTo>
                  <a:lnTo>
                    <a:pt x="159253" y="858326"/>
                  </a:lnTo>
                  <a:lnTo>
                    <a:pt x="193192" y="886922"/>
                  </a:lnTo>
                  <a:lnTo>
                    <a:pt x="229628" y="912377"/>
                  </a:lnTo>
                  <a:lnTo>
                    <a:pt x="268356" y="934484"/>
                  </a:lnTo>
                  <a:lnTo>
                    <a:pt x="309172" y="953036"/>
                  </a:lnTo>
                  <a:lnTo>
                    <a:pt x="351869" y="967826"/>
                  </a:lnTo>
                  <a:lnTo>
                    <a:pt x="396243" y="978647"/>
                  </a:lnTo>
                  <a:lnTo>
                    <a:pt x="442090" y="985291"/>
                  </a:lnTo>
                  <a:lnTo>
                    <a:pt x="489203" y="987552"/>
                  </a:lnTo>
                  <a:lnTo>
                    <a:pt x="536309" y="985291"/>
                  </a:lnTo>
                  <a:lnTo>
                    <a:pt x="582150" y="978647"/>
                  </a:lnTo>
                  <a:lnTo>
                    <a:pt x="626520" y="967826"/>
                  </a:lnTo>
                  <a:lnTo>
                    <a:pt x="669214" y="953036"/>
                  </a:lnTo>
                  <a:lnTo>
                    <a:pt x="710028" y="934484"/>
                  </a:lnTo>
                  <a:lnTo>
                    <a:pt x="748756" y="912377"/>
                  </a:lnTo>
                  <a:lnTo>
                    <a:pt x="785193" y="886922"/>
                  </a:lnTo>
                  <a:lnTo>
                    <a:pt x="819134" y="858326"/>
                  </a:lnTo>
                  <a:lnTo>
                    <a:pt x="850373" y="826795"/>
                  </a:lnTo>
                  <a:lnTo>
                    <a:pt x="878705" y="792538"/>
                  </a:lnTo>
                  <a:lnTo>
                    <a:pt x="903926" y="755761"/>
                  </a:lnTo>
                  <a:lnTo>
                    <a:pt x="925829" y="716671"/>
                  </a:lnTo>
                  <a:lnTo>
                    <a:pt x="944210" y="675475"/>
                  </a:lnTo>
                  <a:lnTo>
                    <a:pt x="958864" y="632381"/>
                  </a:lnTo>
                  <a:lnTo>
                    <a:pt x="969585" y="587595"/>
                  </a:lnTo>
                  <a:lnTo>
                    <a:pt x="976168" y="541324"/>
                  </a:lnTo>
                  <a:lnTo>
                    <a:pt x="978407" y="493775"/>
                  </a:lnTo>
                  <a:lnTo>
                    <a:pt x="976168" y="446227"/>
                  </a:lnTo>
                  <a:lnTo>
                    <a:pt x="969585" y="399956"/>
                  </a:lnTo>
                  <a:lnTo>
                    <a:pt x="958864" y="355170"/>
                  </a:lnTo>
                  <a:lnTo>
                    <a:pt x="944210" y="312076"/>
                  </a:lnTo>
                  <a:lnTo>
                    <a:pt x="925829" y="270880"/>
                  </a:lnTo>
                  <a:lnTo>
                    <a:pt x="903926" y="231790"/>
                  </a:lnTo>
                  <a:lnTo>
                    <a:pt x="878705" y="195013"/>
                  </a:lnTo>
                  <a:lnTo>
                    <a:pt x="850373" y="160756"/>
                  </a:lnTo>
                  <a:lnTo>
                    <a:pt x="819134" y="129225"/>
                  </a:lnTo>
                  <a:lnTo>
                    <a:pt x="785193" y="100629"/>
                  </a:lnTo>
                  <a:lnTo>
                    <a:pt x="748756" y="75174"/>
                  </a:lnTo>
                  <a:lnTo>
                    <a:pt x="710028" y="53067"/>
                  </a:lnTo>
                  <a:lnTo>
                    <a:pt x="669214" y="34515"/>
                  </a:lnTo>
                  <a:lnTo>
                    <a:pt x="626520" y="19725"/>
                  </a:lnTo>
                  <a:lnTo>
                    <a:pt x="582150" y="8904"/>
                  </a:lnTo>
                  <a:lnTo>
                    <a:pt x="536309" y="22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0" y="493775"/>
                  </a:moveTo>
                  <a:lnTo>
                    <a:pt x="2239" y="446227"/>
                  </a:lnTo>
                  <a:lnTo>
                    <a:pt x="8821" y="399956"/>
                  </a:lnTo>
                  <a:lnTo>
                    <a:pt x="19539" y="355170"/>
                  </a:lnTo>
                  <a:lnTo>
                    <a:pt x="34190" y="312076"/>
                  </a:lnTo>
                  <a:lnTo>
                    <a:pt x="52569" y="270880"/>
                  </a:lnTo>
                  <a:lnTo>
                    <a:pt x="74469" y="231790"/>
                  </a:lnTo>
                  <a:lnTo>
                    <a:pt x="99687" y="195013"/>
                  </a:lnTo>
                  <a:lnTo>
                    <a:pt x="128016" y="160756"/>
                  </a:lnTo>
                  <a:lnTo>
                    <a:pt x="159253" y="129225"/>
                  </a:lnTo>
                  <a:lnTo>
                    <a:pt x="193192" y="100629"/>
                  </a:lnTo>
                  <a:lnTo>
                    <a:pt x="229628" y="75174"/>
                  </a:lnTo>
                  <a:lnTo>
                    <a:pt x="268356" y="53067"/>
                  </a:lnTo>
                  <a:lnTo>
                    <a:pt x="309172" y="34515"/>
                  </a:lnTo>
                  <a:lnTo>
                    <a:pt x="351869" y="19725"/>
                  </a:lnTo>
                  <a:lnTo>
                    <a:pt x="396243" y="8904"/>
                  </a:lnTo>
                  <a:lnTo>
                    <a:pt x="442090" y="2260"/>
                  </a:lnTo>
                  <a:lnTo>
                    <a:pt x="489203" y="0"/>
                  </a:lnTo>
                  <a:lnTo>
                    <a:pt x="536309" y="2260"/>
                  </a:lnTo>
                  <a:lnTo>
                    <a:pt x="582150" y="8904"/>
                  </a:lnTo>
                  <a:lnTo>
                    <a:pt x="626520" y="19725"/>
                  </a:lnTo>
                  <a:lnTo>
                    <a:pt x="669214" y="34515"/>
                  </a:lnTo>
                  <a:lnTo>
                    <a:pt x="710028" y="53067"/>
                  </a:lnTo>
                  <a:lnTo>
                    <a:pt x="748756" y="75174"/>
                  </a:lnTo>
                  <a:lnTo>
                    <a:pt x="785193" y="100629"/>
                  </a:lnTo>
                  <a:lnTo>
                    <a:pt x="819134" y="129225"/>
                  </a:lnTo>
                  <a:lnTo>
                    <a:pt x="850373" y="160756"/>
                  </a:lnTo>
                  <a:lnTo>
                    <a:pt x="878705" y="195013"/>
                  </a:lnTo>
                  <a:lnTo>
                    <a:pt x="903926" y="231790"/>
                  </a:lnTo>
                  <a:lnTo>
                    <a:pt x="925829" y="270880"/>
                  </a:lnTo>
                  <a:lnTo>
                    <a:pt x="944210" y="312076"/>
                  </a:lnTo>
                  <a:lnTo>
                    <a:pt x="958864" y="355170"/>
                  </a:lnTo>
                  <a:lnTo>
                    <a:pt x="969585" y="399956"/>
                  </a:lnTo>
                  <a:lnTo>
                    <a:pt x="976168" y="446227"/>
                  </a:lnTo>
                  <a:lnTo>
                    <a:pt x="978407" y="493775"/>
                  </a:lnTo>
                  <a:lnTo>
                    <a:pt x="976168" y="541324"/>
                  </a:lnTo>
                  <a:lnTo>
                    <a:pt x="969585" y="587595"/>
                  </a:lnTo>
                  <a:lnTo>
                    <a:pt x="958864" y="632381"/>
                  </a:lnTo>
                  <a:lnTo>
                    <a:pt x="944210" y="675475"/>
                  </a:lnTo>
                  <a:lnTo>
                    <a:pt x="925829" y="716671"/>
                  </a:lnTo>
                  <a:lnTo>
                    <a:pt x="903926" y="755761"/>
                  </a:lnTo>
                  <a:lnTo>
                    <a:pt x="878705" y="792538"/>
                  </a:lnTo>
                  <a:lnTo>
                    <a:pt x="850373" y="826795"/>
                  </a:lnTo>
                  <a:lnTo>
                    <a:pt x="819134" y="858326"/>
                  </a:lnTo>
                  <a:lnTo>
                    <a:pt x="785193" y="886922"/>
                  </a:lnTo>
                  <a:lnTo>
                    <a:pt x="748756" y="912377"/>
                  </a:lnTo>
                  <a:lnTo>
                    <a:pt x="710028" y="934484"/>
                  </a:lnTo>
                  <a:lnTo>
                    <a:pt x="669214" y="953036"/>
                  </a:lnTo>
                  <a:lnTo>
                    <a:pt x="626520" y="967826"/>
                  </a:lnTo>
                  <a:lnTo>
                    <a:pt x="582150" y="978647"/>
                  </a:lnTo>
                  <a:lnTo>
                    <a:pt x="536309" y="985291"/>
                  </a:lnTo>
                  <a:lnTo>
                    <a:pt x="489203" y="987552"/>
                  </a:lnTo>
                  <a:lnTo>
                    <a:pt x="442090" y="985291"/>
                  </a:lnTo>
                  <a:lnTo>
                    <a:pt x="396243" y="978647"/>
                  </a:lnTo>
                  <a:lnTo>
                    <a:pt x="351869" y="967826"/>
                  </a:lnTo>
                  <a:lnTo>
                    <a:pt x="309172" y="953036"/>
                  </a:lnTo>
                  <a:lnTo>
                    <a:pt x="268356" y="934484"/>
                  </a:lnTo>
                  <a:lnTo>
                    <a:pt x="229628" y="912377"/>
                  </a:lnTo>
                  <a:lnTo>
                    <a:pt x="193192" y="886922"/>
                  </a:lnTo>
                  <a:lnTo>
                    <a:pt x="159253" y="858326"/>
                  </a:lnTo>
                  <a:lnTo>
                    <a:pt x="128016" y="826795"/>
                  </a:lnTo>
                  <a:lnTo>
                    <a:pt x="99687" y="792538"/>
                  </a:lnTo>
                  <a:lnTo>
                    <a:pt x="74469" y="755761"/>
                  </a:lnTo>
                  <a:lnTo>
                    <a:pt x="52569" y="716671"/>
                  </a:lnTo>
                  <a:lnTo>
                    <a:pt x="34190" y="675475"/>
                  </a:lnTo>
                  <a:lnTo>
                    <a:pt x="19539" y="632381"/>
                  </a:lnTo>
                  <a:lnTo>
                    <a:pt x="8821" y="587595"/>
                  </a:lnTo>
                  <a:lnTo>
                    <a:pt x="2239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2226993" y="1557198"/>
            <a:ext cx="7069407" cy="548842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8315" algn="just">
              <a:spcBef>
                <a:spcPts val="110"/>
              </a:spcBef>
            </a:pPr>
            <a:r>
              <a:rPr sz="2800" spc="5" dirty="0">
                <a:solidFill>
                  <a:srgbClr val="FFFFFF"/>
                </a:solidFill>
              </a:rPr>
              <a:t>2</a:t>
            </a:r>
            <a:endParaRPr sz="2800" dirty="0"/>
          </a:p>
          <a:p>
            <a:pPr algn="just">
              <a:lnSpc>
                <a:spcPct val="100000"/>
              </a:lnSpc>
            </a:pPr>
            <a:endParaRPr sz="2850" dirty="0"/>
          </a:p>
          <a:p>
            <a:pPr marL="12700" algn="just">
              <a:lnSpc>
                <a:spcPts val="3170"/>
              </a:lnSpc>
            </a:pPr>
            <a:r>
              <a:rPr sz="2700" dirty="0"/>
              <a:t>High</a:t>
            </a:r>
            <a:r>
              <a:rPr sz="2700" spc="-25" dirty="0"/>
              <a:t> </a:t>
            </a:r>
            <a:r>
              <a:rPr sz="2700" spc="-5" dirty="0"/>
              <a:t>Switching </a:t>
            </a:r>
            <a:r>
              <a:rPr sz="2700" spc="5" dirty="0"/>
              <a:t>Costs</a:t>
            </a:r>
            <a:endParaRPr sz="2700" dirty="0"/>
          </a:p>
          <a:p>
            <a:pPr marL="12700" algn="just">
              <a:lnSpc>
                <a:spcPts val="2585"/>
              </a:lnSpc>
            </a:pPr>
            <a:r>
              <a:rPr sz="2600" dirty="0"/>
              <a:t>If</a:t>
            </a:r>
            <a:r>
              <a:rPr sz="2600" spc="-10" dirty="0"/>
              <a:t> </a:t>
            </a:r>
            <a:r>
              <a:rPr sz="2600" spc="-5" dirty="0"/>
              <a:t>it</a:t>
            </a:r>
            <a:r>
              <a:rPr sz="2600" spc="-25" dirty="0"/>
              <a:t> </a:t>
            </a:r>
            <a:r>
              <a:rPr sz="2600" spc="-5" dirty="0"/>
              <a:t>is</a:t>
            </a:r>
            <a:r>
              <a:rPr sz="2600" spc="-10" dirty="0"/>
              <a:t> expensive</a:t>
            </a:r>
            <a:r>
              <a:rPr sz="2600" spc="75" dirty="0"/>
              <a:t> </a:t>
            </a:r>
            <a:r>
              <a:rPr sz="2600" dirty="0"/>
              <a:t>or</a:t>
            </a:r>
            <a:r>
              <a:rPr sz="2600" spc="-10" dirty="0"/>
              <a:t> disruptive</a:t>
            </a:r>
            <a:r>
              <a:rPr sz="2600" spc="25" dirty="0"/>
              <a:t> </a:t>
            </a:r>
            <a:r>
              <a:rPr sz="2600" spc="-5" dirty="0"/>
              <a:t>to</a:t>
            </a:r>
            <a:r>
              <a:rPr sz="2600" dirty="0"/>
              <a:t> </a:t>
            </a:r>
            <a:r>
              <a:rPr sz="2600" spc="-15" dirty="0"/>
              <a:t>move</a:t>
            </a:r>
            <a:r>
              <a:rPr sz="2600" spc="-10" dirty="0"/>
              <a:t> </a:t>
            </a:r>
            <a:r>
              <a:rPr sz="2600" spc="-5" dirty="0" smtClean="0"/>
              <a:t>from</a:t>
            </a:r>
            <a:r>
              <a:rPr lang="en-US" sz="2600" dirty="0"/>
              <a:t> </a:t>
            </a:r>
            <a:r>
              <a:rPr sz="2600" spc="-5" dirty="0" smtClean="0"/>
              <a:t>one</a:t>
            </a:r>
            <a:r>
              <a:rPr sz="2600" spc="5" dirty="0" smtClean="0"/>
              <a:t> </a:t>
            </a:r>
            <a:r>
              <a:rPr sz="2600" spc="-10" dirty="0"/>
              <a:t>supplier</a:t>
            </a:r>
            <a:r>
              <a:rPr sz="2600" spc="55" dirty="0"/>
              <a:t> </a:t>
            </a:r>
            <a:r>
              <a:rPr sz="2600" spc="-5" dirty="0"/>
              <a:t>to</a:t>
            </a:r>
            <a:r>
              <a:rPr sz="2600" spc="-15" dirty="0"/>
              <a:t> </a:t>
            </a:r>
            <a:r>
              <a:rPr sz="2600" spc="-55" dirty="0"/>
              <a:t>another,</a:t>
            </a:r>
            <a:r>
              <a:rPr sz="2600" spc="35" dirty="0"/>
              <a:t> </a:t>
            </a:r>
            <a:r>
              <a:rPr sz="2600" spc="-10" dirty="0"/>
              <a:t>then</a:t>
            </a:r>
            <a:r>
              <a:rPr sz="2600" spc="40" dirty="0"/>
              <a:t> </a:t>
            </a:r>
            <a:r>
              <a:rPr sz="2600" spc="-5" dirty="0"/>
              <a:t>the</a:t>
            </a:r>
            <a:r>
              <a:rPr sz="2600" spc="5" dirty="0"/>
              <a:t> </a:t>
            </a:r>
            <a:r>
              <a:rPr sz="2600" spc="-15" dirty="0" smtClean="0"/>
              <a:t>buyer</a:t>
            </a:r>
            <a:r>
              <a:rPr lang="en-US" sz="2600" dirty="0"/>
              <a:t> </a:t>
            </a:r>
            <a:r>
              <a:rPr sz="2600" spc="-10" dirty="0" smtClean="0"/>
              <a:t>becomes</a:t>
            </a:r>
            <a:r>
              <a:rPr sz="2600" spc="20" dirty="0" smtClean="0"/>
              <a:t> </a:t>
            </a:r>
            <a:r>
              <a:rPr sz="2600" spc="-5" dirty="0"/>
              <a:t>relatively</a:t>
            </a:r>
            <a:r>
              <a:rPr sz="2600" spc="5" dirty="0"/>
              <a:t> </a:t>
            </a:r>
            <a:r>
              <a:rPr sz="2600" spc="-15" dirty="0"/>
              <a:t>dependent</a:t>
            </a:r>
            <a:r>
              <a:rPr sz="2600" spc="110" dirty="0"/>
              <a:t> </a:t>
            </a:r>
            <a:r>
              <a:rPr sz="2600" spc="-5" dirty="0"/>
              <a:t>and </a:t>
            </a:r>
            <a:r>
              <a:rPr sz="2600" spc="-900" dirty="0"/>
              <a:t> </a:t>
            </a:r>
            <a:r>
              <a:rPr sz="2600" spc="-10" dirty="0"/>
              <a:t>correspondingly</a:t>
            </a:r>
            <a:r>
              <a:rPr sz="2600" spc="90" dirty="0"/>
              <a:t> </a:t>
            </a:r>
            <a:r>
              <a:rPr sz="2600" spc="-15" dirty="0"/>
              <a:t>weak</a:t>
            </a:r>
            <a:endParaRPr sz="2600" dirty="0"/>
          </a:p>
          <a:p>
            <a:pPr algn="just">
              <a:spcBef>
                <a:spcPts val="5"/>
              </a:spcBef>
            </a:pPr>
            <a:endParaRPr sz="2350" dirty="0"/>
          </a:p>
          <a:p>
            <a:pPr marL="12700" algn="just">
              <a:lnSpc>
                <a:spcPts val="2650"/>
              </a:lnSpc>
            </a:pPr>
            <a:r>
              <a:rPr sz="2600" spc="-10" dirty="0"/>
              <a:t>Example:</a:t>
            </a:r>
            <a:r>
              <a:rPr sz="2600" spc="35" dirty="0"/>
              <a:t> </a:t>
            </a:r>
            <a:r>
              <a:rPr sz="2600" spc="-5" dirty="0"/>
              <a:t>Microsoft</a:t>
            </a:r>
            <a:r>
              <a:rPr sz="2600" spc="5" dirty="0"/>
              <a:t> </a:t>
            </a:r>
            <a:r>
              <a:rPr sz="2600" spc="-5" dirty="0"/>
              <a:t>is a</a:t>
            </a:r>
            <a:r>
              <a:rPr sz="2600" spc="5" dirty="0"/>
              <a:t> </a:t>
            </a:r>
            <a:r>
              <a:rPr sz="2600" spc="-10" dirty="0"/>
              <a:t>powerful</a:t>
            </a:r>
            <a:r>
              <a:rPr sz="2600" spc="45" dirty="0"/>
              <a:t> </a:t>
            </a:r>
            <a:r>
              <a:rPr sz="2600" spc="-10" dirty="0"/>
              <a:t>supplier</a:t>
            </a:r>
            <a:endParaRPr sz="2600" dirty="0"/>
          </a:p>
          <a:p>
            <a:pPr marL="12700" marR="5080" algn="just">
              <a:lnSpc>
                <a:spcPct val="70100"/>
              </a:lnSpc>
              <a:spcBef>
                <a:spcPts val="465"/>
              </a:spcBef>
            </a:pPr>
            <a:r>
              <a:rPr sz="2600" spc="-10" dirty="0" smtClean="0"/>
              <a:t>because</a:t>
            </a:r>
            <a:r>
              <a:rPr sz="2600" spc="55" dirty="0" smtClean="0"/>
              <a:t> </a:t>
            </a:r>
            <a:r>
              <a:rPr sz="2600" spc="-5" dirty="0" smtClean="0"/>
              <a:t>of</a:t>
            </a:r>
            <a:r>
              <a:rPr sz="2600" dirty="0" smtClean="0"/>
              <a:t> </a:t>
            </a:r>
            <a:r>
              <a:rPr sz="2600" spc="-10" dirty="0" smtClean="0"/>
              <a:t>the</a:t>
            </a:r>
            <a:r>
              <a:rPr sz="2600" spc="15" dirty="0" smtClean="0"/>
              <a:t> </a:t>
            </a:r>
            <a:r>
              <a:rPr sz="2600" spc="-10" dirty="0" smtClean="0"/>
              <a:t>high</a:t>
            </a:r>
            <a:r>
              <a:rPr sz="2600" spc="35" dirty="0" smtClean="0"/>
              <a:t> </a:t>
            </a:r>
            <a:r>
              <a:rPr sz="2600" spc="-10" dirty="0" smtClean="0"/>
              <a:t>switching</a:t>
            </a:r>
            <a:r>
              <a:rPr sz="2600" spc="40" dirty="0" smtClean="0"/>
              <a:t> </a:t>
            </a:r>
            <a:r>
              <a:rPr sz="2600" spc="-5" dirty="0" smtClean="0"/>
              <a:t>costs</a:t>
            </a:r>
            <a:r>
              <a:rPr sz="2600" dirty="0" smtClean="0"/>
              <a:t> </a:t>
            </a:r>
            <a:r>
              <a:rPr sz="2600" spc="-5" dirty="0" smtClean="0"/>
              <a:t>of</a:t>
            </a:r>
            <a:r>
              <a:rPr sz="2600" dirty="0" smtClean="0"/>
              <a:t> </a:t>
            </a:r>
            <a:r>
              <a:rPr sz="2600" spc="-10" dirty="0" smtClean="0"/>
              <a:t>moving </a:t>
            </a:r>
            <a:r>
              <a:rPr sz="2600" spc="-900" dirty="0" smtClean="0"/>
              <a:t> </a:t>
            </a:r>
            <a:r>
              <a:rPr sz="2600" spc="-5" dirty="0" smtClean="0"/>
              <a:t>from one</a:t>
            </a:r>
            <a:r>
              <a:rPr sz="2600" spc="5" dirty="0" smtClean="0"/>
              <a:t> </a:t>
            </a:r>
            <a:r>
              <a:rPr sz="2600" spc="-10" dirty="0" smtClean="0"/>
              <a:t>operating</a:t>
            </a:r>
            <a:r>
              <a:rPr sz="2600" spc="50" dirty="0" smtClean="0"/>
              <a:t> </a:t>
            </a:r>
            <a:r>
              <a:rPr sz="2600" spc="-5" dirty="0" smtClean="0"/>
              <a:t>system</a:t>
            </a:r>
            <a:r>
              <a:rPr sz="2600" spc="15" dirty="0" smtClean="0"/>
              <a:t> </a:t>
            </a:r>
            <a:r>
              <a:rPr sz="2600" spc="-5" dirty="0" smtClean="0"/>
              <a:t>to</a:t>
            </a:r>
            <a:r>
              <a:rPr sz="2600" spc="-15" dirty="0" smtClean="0"/>
              <a:t> </a:t>
            </a:r>
            <a:r>
              <a:rPr sz="2600" spc="-55" dirty="0" smtClean="0"/>
              <a:t>another.</a:t>
            </a:r>
            <a:r>
              <a:rPr sz="2600" spc="30" dirty="0" smtClean="0"/>
              <a:t> </a:t>
            </a:r>
            <a:r>
              <a:rPr sz="2600" spc="-15" dirty="0" smtClean="0"/>
              <a:t>Buyers</a:t>
            </a:r>
            <a:r>
              <a:rPr lang="en-US" sz="2600" spc="-15" dirty="0" smtClean="0"/>
              <a:t> </a:t>
            </a:r>
            <a:r>
              <a:rPr lang="en-US" sz="2600" spc="-5" dirty="0" smtClean="0"/>
              <a:t>are</a:t>
            </a:r>
            <a:r>
              <a:rPr lang="en-US" sz="2600" spc="10" dirty="0" smtClean="0"/>
              <a:t> </a:t>
            </a:r>
            <a:r>
              <a:rPr lang="en-US" sz="2600" spc="-15" dirty="0" smtClean="0"/>
              <a:t>prepared</a:t>
            </a:r>
            <a:r>
              <a:rPr lang="en-US" sz="2600" spc="80" dirty="0" smtClean="0"/>
              <a:t> </a:t>
            </a:r>
            <a:r>
              <a:rPr lang="en-US" sz="2600" spc="-5" dirty="0" smtClean="0"/>
              <a:t>to</a:t>
            </a:r>
            <a:r>
              <a:rPr lang="en-US" sz="2600" spc="5" dirty="0" smtClean="0"/>
              <a:t> </a:t>
            </a:r>
            <a:r>
              <a:rPr lang="en-US" sz="2600" spc="-15" dirty="0" smtClean="0"/>
              <a:t>pay</a:t>
            </a:r>
            <a:r>
              <a:rPr lang="en-US" sz="2600" spc="20" dirty="0" smtClean="0"/>
              <a:t> </a:t>
            </a:r>
            <a:r>
              <a:rPr lang="en-US" sz="2600" spc="-5" dirty="0" smtClean="0"/>
              <a:t>a</a:t>
            </a:r>
            <a:r>
              <a:rPr lang="en-US" sz="2600" dirty="0" smtClean="0"/>
              <a:t> </a:t>
            </a:r>
            <a:r>
              <a:rPr lang="en-US" sz="2600" spc="-10" dirty="0" smtClean="0"/>
              <a:t>premium</a:t>
            </a:r>
            <a:r>
              <a:rPr lang="en-US" sz="2600" spc="40" dirty="0" smtClean="0"/>
              <a:t> </a:t>
            </a:r>
            <a:r>
              <a:rPr lang="en-US" sz="2600" spc="-5" dirty="0" smtClean="0"/>
              <a:t>to</a:t>
            </a:r>
            <a:r>
              <a:rPr lang="en-US" sz="2600" spc="5" dirty="0" smtClean="0"/>
              <a:t> </a:t>
            </a:r>
            <a:r>
              <a:rPr lang="en-US" sz="2600" spc="-15" dirty="0" smtClean="0"/>
              <a:t>avoid</a:t>
            </a:r>
            <a:r>
              <a:rPr lang="en-US" sz="2600" spc="-5" dirty="0" smtClean="0"/>
              <a:t> </a:t>
            </a:r>
            <a:r>
              <a:rPr lang="en-US" sz="2600" spc="-10" dirty="0"/>
              <a:t>the trouble, and Microsoft knows it</a:t>
            </a:r>
          </a:p>
          <a:p>
            <a:pPr marL="12700" marR="5080" algn="just">
              <a:lnSpc>
                <a:spcPct val="70100"/>
              </a:lnSpc>
              <a:spcBef>
                <a:spcPts val="465"/>
              </a:spcBef>
            </a:pPr>
            <a:endParaRPr lang="en-US" sz="2600" dirty="0" smtClean="0"/>
          </a:p>
          <a:p>
            <a:pPr marL="12700" marR="5080" algn="just">
              <a:lnSpc>
                <a:spcPct val="70100"/>
              </a:lnSpc>
              <a:spcBef>
                <a:spcPts val="465"/>
              </a:spcBef>
            </a:pPr>
            <a:endParaRPr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43249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5" dirty="0"/>
              <a:t>Power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Suppliers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899586"/>
            <a:ext cx="7711440" cy="318389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 algn="just">
              <a:spcBef>
                <a:spcPts val="885"/>
              </a:spcBef>
            </a:pPr>
            <a:r>
              <a:rPr sz="3600" dirty="0">
                <a:latin typeface="Verdana"/>
                <a:cs typeface="Verdana"/>
              </a:rPr>
              <a:t>Supplier</a:t>
            </a:r>
            <a:r>
              <a:rPr sz="3600" spc="-60" dirty="0">
                <a:latin typeface="Verdana"/>
                <a:cs typeface="Verdana"/>
              </a:rPr>
              <a:t> </a:t>
            </a:r>
            <a:r>
              <a:rPr sz="3600" dirty="0">
                <a:latin typeface="Verdana"/>
                <a:cs typeface="Verdana"/>
              </a:rPr>
              <a:t>Competition</a:t>
            </a:r>
            <a:r>
              <a:rPr sz="3600" spc="-50" dirty="0">
                <a:latin typeface="Verdana"/>
                <a:cs typeface="Verdana"/>
              </a:rPr>
              <a:t> </a:t>
            </a:r>
            <a:r>
              <a:rPr sz="3600" spc="-10" dirty="0">
                <a:latin typeface="Verdana"/>
                <a:cs typeface="Verdana"/>
              </a:rPr>
              <a:t>Threat</a:t>
            </a:r>
            <a:endParaRPr sz="3600" dirty="0">
              <a:latin typeface="Verdana"/>
              <a:cs typeface="Verdana"/>
            </a:endParaRPr>
          </a:p>
          <a:p>
            <a:pPr marL="12700" marR="303530" algn="just">
              <a:lnSpc>
                <a:spcPct val="90100"/>
              </a:lnSpc>
              <a:spcBef>
                <a:spcPts val="815"/>
              </a:spcBef>
            </a:pPr>
            <a:r>
              <a:rPr sz="2400" spc="-10" dirty="0">
                <a:latin typeface="Verdana"/>
                <a:cs typeface="Verdana"/>
              </a:rPr>
              <a:t>Suppliers </a:t>
            </a:r>
            <a:r>
              <a:rPr sz="2400" spc="-15" dirty="0">
                <a:latin typeface="Verdana"/>
                <a:cs typeface="Verdana"/>
              </a:rPr>
              <a:t>have </a:t>
            </a:r>
            <a:r>
              <a:rPr sz="2400" spc="-5" dirty="0">
                <a:latin typeface="Verdana"/>
                <a:cs typeface="Verdana"/>
              </a:rPr>
              <a:t>increased </a:t>
            </a:r>
            <a:r>
              <a:rPr sz="2400" dirty="0">
                <a:latin typeface="Verdana"/>
                <a:cs typeface="Verdana"/>
              </a:rPr>
              <a:t>power where </a:t>
            </a:r>
            <a:r>
              <a:rPr sz="2400" spc="-5" dirty="0">
                <a:latin typeface="Verdana"/>
                <a:cs typeface="Verdana"/>
              </a:rPr>
              <a:t>they </a:t>
            </a:r>
            <a:r>
              <a:rPr sz="2400" dirty="0">
                <a:latin typeface="Verdana"/>
                <a:cs typeface="Verdana"/>
              </a:rPr>
              <a:t>are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able to </a:t>
            </a:r>
            <a:r>
              <a:rPr sz="2400" dirty="0">
                <a:latin typeface="Verdana"/>
                <a:cs typeface="Verdana"/>
              </a:rPr>
              <a:t>enter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industry </a:t>
            </a:r>
            <a:r>
              <a:rPr sz="2400" spc="-5" dirty="0">
                <a:latin typeface="Verdana"/>
                <a:cs typeface="Verdana"/>
              </a:rPr>
              <a:t>themselves </a:t>
            </a:r>
            <a:r>
              <a:rPr sz="2400" dirty="0">
                <a:latin typeface="Verdana"/>
                <a:cs typeface="Verdana"/>
              </a:rPr>
              <a:t>or cut out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buyers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who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acting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intermediaries.</a:t>
            </a:r>
            <a:endParaRPr sz="240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  <a:spcBef>
                <a:spcPts val="795"/>
              </a:spcBef>
            </a:pPr>
            <a:r>
              <a:rPr sz="2400" spc="-5" dirty="0">
                <a:latin typeface="Verdana"/>
                <a:cs typeface="Verdana"/>
              </a:rPr>
              <a:t>Example: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Airlines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been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able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negotiate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tough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contracts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travel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agencies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rise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online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booking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has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allowed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create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direct</a:t>
            </a:r>
            <a:r>
              <a:rPr sz="2400" spc="-5" dirty="0">
                <a:latin typeface="Verdana"/>
                <a:cs typeface="Verdana"/>
              </a:rPr>
              <a:t> route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customers</a:t>
            </a:r>
            <a:endParaRPr sz="24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337562" y="1453641"/>
            <a:ext cx="991235" cy="1000760"/>
            <a:chOff x="813561" y="1453641"/>
            <a:chExt cx="991235" cy="1000760"/>
          </a:xfrm>
        </p:grpSpPr>
        <p:sp>
          <p:nvSpPr>
            <p:cNvPr id="5" name="object 5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489203" y="0"/>
                  </a:moveTo>
                  <a:lnTo>
                    <a:pt x="442090" y="2260"/>
                  </a:lnTo>
                  <a:lnTo>
                    <a:pt x="396243" y="8904"/>
                  </a:lnTo>
                  <a:lnTo>
                    <a:pt x="351869" y="19725"/>
                  </a:lnTo>
                  <a:lnTo>
                    <a:pt x="309172" y="34515"/>
                  </a:lnTo>
                  <a:lnTo>
                    <a:pt x="268356" y="53067"/>
                  </a:lnTo>
                  <a:lnTo>
                    <a:pt x="229628" y="75174"/>
                  </a:lnTo>
                  <a:lnTo>
                    <a:pt x="193192" y="100629"/>
                  </a:lnTo>
                  <a:lnTo>
                    <a:pt x="159253" y="129225"/>
                  </a:lnTo>
                  <a:lnTo>
                    <a:pt x="128016" y="160756"/>
                  </a:lnTo>
                  <a:lnTo>
                    <a:pt x="99687" y="195013"/>
                  </a:lnTo>
                  <a:lnTo>
                    <a:pt x="74469" y="231790"/>
                  </a:lnTo>
                  <a:lnTo>
                    <a:pt x="52569" y="270880"/>
                  </a:lnTo>
                  <a:lnTo>
                    <a:pt x="34190" y="312076"/>
                  </a:lnTo>
                  <a:lnTo>
                    <a:pt x="19539" y="355170"/>
                  </a:lnTo>
                  <a:lnTo>
                    <a:pt x="8821" y="399956"/>
                  </a:lnTo>
                  <a:lnTo>
                    <a:pt x="2239" y="446227"/>
                  </a:lnTo>
                  <a:lnTo>
                    <a:pt x="0" y="493775"/>
                  </a:lnTo>
                  <a:lnTo>
                    <a:pt x="2239" y="541324"/>
                  </a:lnTo>
                  <a:lnTo>
                    <a:pt x="8821" y="587595"/>
                  </a:lnTo>
                  <a:lnTo>
                    <a:pt x="19539" y="632381"/>
                  </a:lnTo>
                  <a:lnTo>
                    <a:pt x="34190" y="675475"/>
                  </a:lnTo>
                  <a:lnTo>
                    <a:pt x="52569" y="716671"/>
                  </a:lnTo>
                  <a:lnTo>
                    <a:pt x="74469" y="755761"/>
                  </a:lnTo>
                  <a:lnTo>
                    <a:pt x="99687" y="792538"/>
                  </a:lnTo>
                  <a:lnTo>
                    <a:pt x="128016" y="826795"/>
                  </a:lnTo>
                  <a:lnTo>
                    <a:pt x="159253" y="858326"/>
                  </a:lnTo>
                  <a:lnTo>
                    <a:pt x="193192" y="886922"/>
                  </a:lnTo>
                  <a:lnTo>
                    <a:pt x="229628" y="912377"/>
                  </a:lnTo>
                  <a:lnTo>
                    <a:pt x="268356" y="934484"/>
                  </a:lnTo>
                  <a:lnTo>
                    <a:pt x="309172" y="953036"/>
                  </a:lnTo>
                  <a:lnTo>
                    <a:pt x="351869" y="967826"/>
                  </a:lnTo>
                  <a:lnTo>
                    <a:pt x="396243" y="978647"/>
                  </a:lnTo>
                  <a:lnTo>
                    <a:pt x="442090" y="985291"/>
                  </a:lnTo>
                  <a:lnTo>
                    <a:pt x="489203" y="987552"/>
                  </a:lnTo>
                  <a:lnTo>
                    <a:pt x="536309" y="985291"/>
                  </a:lnTo>
                  <a:lnTo>
                    <a:pt x="582150" y="978647"/>
                  </a:lnTo>
                  <a:lnTo>
                    <a:pt x="626520" y="967826"/>
                  </a:lnTo>
                  <a:lnTo>
                    <a:pt x="669214" y="953036"/>
                  </a:lnTo>
                  <a:lnTo>
                    <a:pt x="710028" y="934484"/>
                  </a:lnTo>
                  <a:lnTo>
                    <a:pt x="748756" y="912377"/>
                  </a:lnTo>
                  <a:lnTo>
                    <a:pt x="785193" y="886922"/>
                  </a:lnTo>
                  <a:lnTo>
                    <a:pt x="819134" y="858326"/>
                  </a:lnTo>
                  <a:lnTo>
                    <a:pt x="850373" y="826795"/>
                  </a:lnTo>
                  <a:lnTo>
                    <a:pt x="878705" y="792538"/>
                  </a:lnTo>
                  <a:lnTo>
                    <a:pt x="903926" y="755761"/>
                  </a:lnTo>
                  <a:lnTo>
                    <a:pt x="925829" y="716671"/>
                  </a:lnTo>
                  <a:lnTo>
                    <a:pt x="944210" y="675475"/>
                  </a:lnTo>
                  <a:lnTo>
                    <a:pt x="958864" y="632381"/>
                  </a:lnTo>
                  <a:lnTo>
                    <a:pt x="969585" y="587595"/>
                  </a:lnTo>
                  <a:lnTo>
                    <a:pt x="976168" y="541324"/>
                  </a:lnTo>
                  <a:lnTo>
                    <a:pt x="978407" y="493775"/>
                  </a:lnTo>
                  <a:lnTo>
                    <a:pt x="976168" y="446227"/>
                  </a:lnTo>
                  <a:lnTo>
                    <a:pt x="969585" y="399956"/>
                  </a:lnTo>
                  <a:lnTo>
                    <a:pt x="958864" y="355170"/>
                  </a:lnTo>
                  <a:lnTo>
                    <a:pt x="944210" y="312076"/>
                  </a:lnTo>
                  <a:lnTo>
                    <a:pt x="925829" y="270880"/>
                  </a:lnTo>
                  <a:lnTo>
                    <a:pt x="903926" y="231790"/>
                  </a:lnTo>
                  <a:lnTo>
                    <a:pt x="878705" y="195013"/>
                  </a:lnTo>
                  <a:lnTo>
                    <a:pt x="850373" y="160756"/>
                  </a:lnTo>
                  <a:lnTo>
                    <a:pt x="819134" y="129225"/>
                  </a:lnTo>
                  <a:lnTo>
                    <a:pt x="785193" y="100629"/>
                  </a:lnTo>
                  <a:lnTo>
                    <a:pt x="748756" y="75174"/>
                  </a:lnTo>
                  <a:lnTo>
                    <a:pt x="710028" y="53067"/>
                  </a:lnTo>
                  <a:lnTo>
                    <a:pt x="669214" y="34515"/>
                  </a:lnTo>
                  <a:lnTo>
                    <a:pt x="626520" y="19725"/>
                  </a:lnTo>
                  <a:lnTo>
                    <a:pt x="582150" y="8904"/>
                  </a:lnTo>
                  <a:lnTo>
                    <a:pt x="536309" y="22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0" y="493775"/>
                  </a:moveTo>
                  <a:lnTo>
                    <a:pt x="2239" y="446227"/>
                  </a:lnTo>
                  <a:lnTo>
                    <a:pt x="8821" y="399956"/>
                  </a:lnTo>
                  <a:lnTo>
                    <a:pt x="19539" y="355170"/>
                  </a:lnTo>
                  <a:lnTo>
                    <a:pt x="34190" y="312076"/>
                  </a:lnTo>
                  <a:lnTo>
                    <a:pt x="52569" y="270880"/>
                  </a:lnTo>
                  <a:lnTo>
                    <a:pt x="74469" y="231790"/>
                  </a:lnTo>
                  <a:lnTo>
                    <a:pt x="99687" y="195013"/>
                  </a:lnTo>
                  <a:lnTo>
                    <a:pt x="128016" y="160756"/>
                  </a:lnTo>
                  <a:lnTo>
                    <a:pt x="159253" y="129225"/>
                  </a:lnTo>
                  <a:lnTo>
                    <a:pt x="193192" y="100629"/>
                  </a:lnTo>
                  <a:lnTo>
                    <a:pt x="229628" y="75174"/>
                  </a:lnTo>
                  <a:lnTo>
                    <a:pt x="268356" y="53067"/>
                  </a:lnTo>
                  <a:lnTo>
                    <a:pt x="309172" y="34515"/>
                  </a:lnTo>
                  <a:lnTo>
                    <a:pt x="351869" y="19725"/>
                  </a:lnTo>
                  <a:lnTo>
                    <a:pt x="396243" y="8904"/>
                  </a:lnTo>
                  <a:lnTo>
                    <a:pt x="442090" y="2260"/>
                  </a:lnTo>
                  <a:lnTo>
                    <a:pt x="489203" y="0"/>
                  </a:lnTo>
                  <a:lnTo>
                    <a:pt x="536309" y="2260"/>
                  </a:lnTo>
                  <a:lnTo>
                    <a:pt x="582150" y="8904"/>
                  </a:lnTo>
                  <a:lnTo>
                    <a:pt x="626520" y="19725"/>
                  </a:lnTo>
                  <a:lnTo>
                    <a:pt x="669214" y="34515"/>
                  </a:lnTo>
                  <a:lnTo>
                    <a:pt x="710028" y="53067"/>
                  </a:lnTo>
                  <a:lnTo>
                    <a:pt x="748756" y="75174"/>
                  </a:lnTo>
                  <a:lnTo>
                    <a:pt x="785193" y="100629"/>
                  </a:lnTo>
                  <a:lnTo>
                    <a:pt x="819134" y="129225"/>
                  </a:lnTo>
                  <a:lnTo>
                    <a:pt x="850373" y="160756"/>
                  </a:lnTo>
                  <a:lnTo>
                    <a:pt x="878705" y="195013"/>
                  </a:lnTo>
                  <a:lnTo>
                    <a:pt x="903926" y="231790"/>
                  </a:lnTo>
                  <a:lnTo>
                    <a:pt x="925829" y="270880"/>
                  </a:lnTo>
                  <a:lnTo>
                    <a:pt x="944210" y="312076"/>
                  </a:lnTo>
                  <a:lnTo>
                    <a:pt x="958864" y="355170"/>
                  </a:lnTo>
                  <a:lnTo>
                    <a:pt x="969585" y="399956"/>
                  </a:lnTo>
                  <a:lnTo>
                    <a:pt x="976168" y="446227"/>
                  </a:lnTo>
                  <a:lnTo>
                    <a:pt x="978407" y="493775"/>
                  </a:lnTo>
                  <a:lnTo>
                    <a:pt x="976168" y="541324"/>
                  </a:lnTo>
                  <a:lnTo>
                    <a:pt x="969585" y="587595"/>
                  </a:lnTo>
                  <a:lnTo>
                    <a:pt x="958864" y="632381"/>
                  </a:lnTo>
                  <a:lnTo>
                    <a:pt x="944210" y="675475"/>
                  </a:lnTo>
                  <a:lnTo>
                    <a:pt x="925829" y="716671"/>
                  </a:lnTo>
                  <a:lnTo>
                    <a:pt x="903926" y="755761"/>
                  </a:lnTo>
                  <a:lnTo>
                    <a:pt x="878705" y="792538"/>
                  </a:lnTo>
                  <a:lnTo>
                    <a:pt x="850373" y="826795"/>
                  </a:lnTo>
                  <a:lnTo>
                    <a:pt x="819134" y="858326"/>
                  </a:lnTo>
                  <a:lnTo>
                    <a:pt x="785193" y="886922"/>
                  </a:lnTo>
                  <a:lnTo>
                    <a:pt x="748756" y="912377"/>
                  </a:lnTo>
                  <a:lnTo>
                    <a:pt x="710028" y="934484"/>
                  </a:lnTo>
                  <a:lnTo>
                    <a:pt x="669214" y="953036"/>
                  </a:lnTo>
                  <a:lnTo>
                    <a:pt x="626520" y="967826"/>
                  </a:lnTo>
                  <a:lnTo>
                    <a:pt x="582150" y="978647"/>
                  </a:lnTo>
                  <a:lnTo>
                    <a:pt x="536309" y="985291"/>
                  </a:lnTo>
                  <a:lnTo>
                    <a:pt x="489203" y="987552"/>
                  </a:lnTo>
                  <a:lnTo>
                    <a:pt x="442090" y="985291"/>
                  </a:lnTo>
                  <a:lnTo>
                    <a:pt x="396243" y="978647"/>
                  </a:lnTo>
                  <a:lnTo>
                    <a:pt x="351869" y="967826"/>
                  </a:lnTo>
                  <a:lnTo>
                    <a:pt x="309172" y="953036"/>
                  </a:lnTo>
                  <a:lnTo>
                    <a:pt x="268356" y="934484"/>
                  </a:lnTo>
                  <a:lnTo>
                    <a:pt x="229628" y="912377"/>
                  </a:lnTo>
                  <a:lnTo>
                    <a:pt x="193192" y="886922"/>
                  </a:lnTo>
                  <a:lnTo>
                    <a:pt x="159253" y="858326"/>
                  </a:lnTo>
                  <a:lnTo>
                    <a:pt x="128016" y="826795"/>
                  </a:lnTo>
                  <a:lnTo>
                    <a:pt x="99687" y="792538"/>
                  </a:lnTo>
                  <a:lnTo>
                    <a:pt x="74469" y="755761"/>
                  </a:lnTo>
                  <a:lnTo>
                    <a:pt x="52569" y="716671"/>
                  </a:lnTo>
                  <a:lnTo>
                    <a:pt x="34190" y="675475"/>
                  </a:lnTo>
                  <a:lnTo>
                    <a:pt x="19539" y="632381"/>
                  </a:lnTo>
                  <a:lnTo>
                    <a:pt x="8821" y="587595"/>
                  </a:lnTo>
                  <a:lnTo>
                    <a:pt x="2239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707640" y="1725626"/>
            <a:ext cx="25272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43249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5" dirty="0"/>
              <a:t>Power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Suppliers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2729306"/>
            <a:ext cx="458660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3100" spc="-5" dirty="0">
                <a:latin typeface="Verdana"/>
                <a:cs typeface="Verdana"/>
              </a:rPr>
              <a:t>Differentiated</a:t>
            </a:r>
            <a:r>
              <a:rPr sz="3100" spc="-10" dirty="0">
                <a:latin typeface="Verdana"/>
                <a:cs typeface="Verdana"/>
              </a:rPr>
              <a:t> products</a:t>
            </a:r>
            <a:endParaRPr sz="31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1542" y="3193160"/>
            <a:ext cx="6333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When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products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services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highly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1543" y="3448889"/>
            <a:ext cx="70967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differentiated,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suppliers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will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more powerful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1543" y="4165550"/>
            <a:ext cx="7331075" cy="64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Example: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Although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discount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retailers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like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ts val="2450"/>
              </a:lnSpc>
            </a:pPr>
            <a:r>
              <a:rPr sz="2400" spc="-20" dirty="0">
                <a:latin typeface="Verdana"/>
                <a:cs typeface="Verdana"/>
              </a:rPr>
              <a:t>Walmart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extremely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powerful,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suppliers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with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1543" y="4678171"/>
            <a:ext cx="7197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strong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brands,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P&amp;G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with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Gillette,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still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1543" y="4933900"/>
            <a:ext cx="36429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high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negotiating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power.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1543" y="5648045"/>
            <a:ext cx="7698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Also,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few </a:t>
            </a:r>
            <a:r>
              <a:rPr sz="2400" spc="-10" dirty="0">
                <a:latin typeface="Verdana"/>
                <a:cs typeface="Verdana"/>
              </a:rPr>
              <a:t>substitutes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input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31543" y="5904077"/>
            <a:ext cx="7007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supplier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group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will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dirty="0">
                <a:latin typeface="Verdana"/>
                <a:cs typeface="Verdana"/>
              </a:rPr>
              <a:t> more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powerful,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like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31543" y="6159805"/>
            <a:ext cx="54400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pilots’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unions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airline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industry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37562" y="1453641"/>
            <a:ext cx="991235" cy="1000760"/>
            <a:chOff x="813561" y="1453641"/>
            <a:chExt cx="991235" cy="1000760"/>
          </a:xfrm>
        </p:grpSpPr>
        <p:sp>
          <p:nvSpPr>
            <p:cNvPr id="13" name="object 13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489203" y="0"/>
                  </a:moveTo>
                  <a:lnTo>
                    <a:pt x="442090" y="2260"/>
                  </a:lnTo>
                  <a:lnTo>
                    <a:pt x="396243" y="8904"/>
                  </a:lnTo>
                  <a:lnTo>
                    <a:pt x="351869" y="19725"/>
                  </a:lnTo>
                  <a:lnTo>
                    <a:pt x="309172" y="34515"/>
                  </a:lnTo>
                  <a:lnTo>
                    <a:pt x="268356" y="53067"/>
                  </a:lnTo>
                  <a:lnTo>
                    <a:pt x="229628" y="75174"/>
                  </a:lnTo>
                  <a:lnTo>
                    <a:pt x="193192" y="100629"/>
                  </a:lnTo>
                  <a:lnTo>
                    <a:pt x="159253" y="129225"/>
                  </a:lnTo>
                  <a:lnTo>
                    <a:pt x="128016" y="160756"/>
                  </a:lnTo>
                  <a:lnTo>
                    <a:pt x="99687" y="195013"/>
                  </a:lnTo>
                  <a:lnTo>
                    <a:pt x="74469" y="231790"/>
                  </a:lnTo>
                  <a:lnTo>
                    <a:pt x="52569" y="270880"/>
                  </a:lnTo>
                  <a:lnTo>
                    <a:pt x="34190" y="312076"/>
                  </a:lnTo>
                  <a:lnTo>
                    <a:pt x="19539" y="355170"/>
                  </a:lnTo>
                  <a:lnTo>
                    <a:pt x="8821" y="399956"/>
                  </a:lnTo>
                  <a:lnTo>
                    <a:pt x="2239" y="446227"/>
                  </a:lnTo>
                  <a:lnTo>
                    <a:pt x="0" y="493775"/>
                  </a:lnTo>
                  <a:lnTo>
                    <a:pt x="2239" y="541324"/>
                  </a:lnTo>
                  <a:lnTo>
                    <a:pt x="8821" y="587595"/>
                  </a:lnTo>
                  <a:lnTo>
                    <a:pt x="19539" y="632381"/>
                  </a:lnTo>
                  <a:lnTo>
                    <a:pt x="34190" y="675475"/>
                  </a:lnTo>
                  <a:lnTo>
                    <a:pt x="52569" y="716671"/>
                  </a:lnTo>
                  <a:lnTo>
                    <a:pt x="74469" y="755761"/>
                  </a:lnTo>
                  <a:lnTo>
                    <a:pt x="99687" y="792538"/>
                  </a:lnTo>
                  <a:lnTo>
                    <a:pt x="128016" y="826795"/>
                  </a:lnTo>
                  <a:lnTo>
                    <a:pt x="159253" y="858326"/>
                  </a:lnTo>
                  <a:lnTo>
                    <a:pt x="193192" y="886922"/>
                  </a:lnTo>
                  <a:lnTo>
                    <a:pt x="229628" y="912377"/>
                  </a:lnTo>
                  <a:lnTo>
                    <a:pt x="268356" y="934484"/>
                  </a:lnTo>
                  <a:lnTo>
                    <a:pt x="309172" y="953036"/>
                  </a:lnTo>
                  <a:lnTo>
                    <a:pt x="351869" y="967826"/>
                  </a:lnTo>
                  <a:lnTo>
                    <a:pt x="396243" y="978647"/>
                  </a:lnTo>
                  <a:lnTo>
                    <a:pt x="442090" y="985291"/>
                  </a:lnTo>
                  <a:lnTo>
                    <a:pt x="489203" y="987552"/>
                  </a:lnTo>
                  <a:lnTo>
                    <a:pt x="536309" y="985291"/>
                  </a:lnTo>
                  <a:lnTo>
                    <a:pt x="582150" y="978647"/>
                  </a:lnTo>
                  <a:lnTo>
                    <a:pt x="626520" y="967826"/>
                  </a:lnTo>
                  <a:lnTo>
                    <a:pt x="669214" y="953036"/>
                  </a:lnTo>
                  <a:lnTo>
                    <a:pt x="710028" y="934484"/>
                  </a:lnTo>
                  <a:lnTo>
                    <a:pt x="748756" y="912377"/>
                  </a:lnTo>
                  <a:lnTo>
                    <a:pt x="785193" y="886922"/>
                  </a:lnTo>
                  <a:lnTo>
                    <a:pt x="819134" y="858326"/>
                  </a:lnTo>
                  <a:lnTo>
                    <a:pt x="850373" y="826795"/>
                  </a:lnTo>
                  <a:lnTo>
                    <a:pt x="878705" y="792538"/>
                  </a:lnTo>
                  <a:lnTo>
                    <a:pt x="903926" y="755761"/>
                  </a:lnTo>
                  <a:lnTo>
                    <a:pt x="925829" y="716671"/>
                  </a:lnTo>
                  <a:lnTo>
                    <a:pt x="944210" y="675475"/>
                  </a:lnTo>
                  <a:lnTo>
                    <a:pt x="958864" y="632381"/>
                  </a:lnTo>
                  <a:lnTo>
                    <a:pt x="969585" y="587595"/>
                  </a:lnTo>
                  <a:lnTo>
                    <a:pt x="976168" y="541324"/>
                  </a:lnTo>
                  <a:lnTo>
                    <a:pt x="978407" y="493775"/>
                  </a:lnTo>
                  <a:lnTo>
                    <a:pt x="976168" y="446227"/>
                  </a:lnTo>
                  <a:lnTo>
                    <a:pt x="969585" y="399956"/>
                  </a:lnTo>
                  <a:lnTo>
                    <a:pt x="958864" y="355170"/>
                  </a:lnTo>
                  <a:lnTo>
                    <a:pt x="944210" y="312076"/>
                  </a:lnTo>
                  <a:lnTo>
                    <a:pt x="925829" y="270880"/>
                  </a:lnTo>
                  <a:lnTo>
                    <a:pt x="903926" y="231790"/>
                  </a:lnTo>
                  <a:lnTo>
                    <a:pt x="878705" y="195013"/>
                  </a:lnTo>
                  <a:lnTo>
                    <a:pt x="850373" y="160756"/>
                  </a:lnTo>
                  <a:lnTo>
                    <a:pt x="819134" y="129225"/>
                  </a:lnTo>
                  <a:lnTo>
                    <a:pt x="785193" y="100629"/>
                  </a:lnTo>
                  <a:lnTo>
                    <a:pt x="748756" y="75174"/>
                  </a:lnTo>
                  <a:lnTo>
                    <a:pt x="710028" y="53067"/>
                  </a:lnTo>
                  <a:lnTo>
                    <a:pt x="669214" y="34515"/>
                  </a:lnTo>
                  <a:lnTo>
                    <a:pt x="626520" y="19725"/>
                  </a:lnTo>
                  <a:lnTo>
                    <a:pt x="582150" y="8904"/>
                  </a:lnTo>
                  <a:lnTo>
                    <a:pt x="536309" y="2260"/>
                  </a:lnTo>
                  <a:lnTo>
                    <a:pt x="48920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9911" y="1459991"/>
              <a:ext cx="978535" cy="988060"/>
            </a:xfrm>
            <a:custGeom>
              <a:avLst/>
              <a:gdLst/>
              <a:ahLst/>
              <a:cxnLst/>
              <a:rect l="l" t="t" r="r" b="b"/>
              <a:pathLst>
                <a:path w="978535" h="988060">
                  <a:moveTo>
                    <a:pt x="0" y="493775"/>
                  </a:moveTo>
                  <a:lnTo>
                    <a:pt x="2239" y="446227"/>
                  </a:lnTo>
                  <a:lnTo>
                    <a:pt x="8821" y="399956"/>
                  </a:lnTo>
                  <a:lnTo>
                    <a:pt x="19539" y="355170"/>
                  </a:lnTo>
                  <a:lnTo>
                    <a:pt x="34190" y="312076"/>
                  </a:lnTo>
                  <a:lnTo>
                    <a:pt x="52569" y="270880"/>
                  </a:lnTo>
                  <a:lnTo>
                    <a:pt x="74469" y="231790"/>
                  </a:lnTo>
                  <a:lnTo>
                    <a:pt x="99687" y="195013"/>
                  </a:lnTo>
                  <a:lnTo>
                    <a:pt x="128016" y="160756"/>
                  </a:lnTo>
                  <a:lnTo>
                    <a:pt x="159253" y="129225"/>
                  </a:lnTo>
                  <a:lnTo>
                    <a:pt x="193192" y="100629"/>
                  </a:lnTo>
                  <a:lnTo>
                    <a:pt x="229628" y="75174"/>
                  </a:lnTo>
                  <a:lnTo>
                    <a:pt x="268356" y="53067"/>
                  </a:lnTo>
                  <a:lnTo>
                    <a:pt x="309172" y="34515"/>
                  </a:lnTo>
                  <a:lnTo>
                    <a:pt x="351869" y="19725"/>
                  </a:lnTo>
                  <a:lnTo>
                    <a:pt x="396243" y="8904"/>
                  </a:lnTo>
                  <a:lnTo>
                    <a:pt x="442090" y="2260"/>
                  </a:lnTo>
                  <a:lnTo>
                    <a:pt x="489203" y="0"/>
                  </a:lnTo>
                  <a:lnTo>
                    <a:pt x="536309" y="2260"/>
                  </a:lnTo>
                  <a:lnTo>
                    <a:pt x="582150" y="8904"/>
                  </a:lnTo>
                  <a:lnTo>
                    <a:pt x="626520" y="19725"/>
                  </a:lnTo>
                  <a:lnTo>
                    <a:pt x="669214" y="34515"/>
                  </a:lnTo>
                  <a:lnTo>
                    <a:pt x="710028" y="53067"/>
                  </a:lnTo>
                  <a:lnTo>
                    <a:pt x="748756" y="75174"/>
                  </a:lnTo>
                  <a:lnTo>
                    <a:pt x="785193" y="100629"/>
                  </a:lnTo>
                  <a:lnTo>
                    <a:pt x="819134" y="129225"/>
                  </a:lnTo>
                  <a:lnTo>
                    <a:pt x="850373" y="160756"/>
                  </a:lnTo>
                  <a:lnTo>
                    <a:pt x="878705" y="195013"/>
                  </a:lnTo>
                  <a:lnTo>
                    <a:pt x="903926" y="231790"/>
                  </a:lnTo>
                  <a:lnTo>
                    <a:pt x="925829" y="270880"/>
                  </a:lnTo>
                  <a:lnTo>
                    <a:pt x="944210" y="312076"/>
                  </a:lnTo>
                  <a:lnTo>
                    <a:pt x="958864" y="355170"/>
                  </a:lnTo>
                  <a:lnTo>
                    <a:pt x="969585" y="399956"/>
                  </a:lnTo>
                  <a:lnTo>
                    <a:pt x="976168" y="446227"/>
                  </a:lnTo>
                  <a:lnTo>
                    <a:pt x="978407" y="493775"/>
                  </a:lnTo>
                  <a:lnTo>
                    <a:pt x="976168" y="541324"/>
                  </a:lnTo>
                  <a:lnTo>
                    <a:pt x="969585" y="587595"/>
                  </a:lnTo>
                  <a:lnTo>
                    <a:pt x="958864" y="632381"/>
                  </a:lnTo>
                  <a:lnTo>
                    <a:pt x="944210" y="675475"/>
                  </a:lnTo>
                  <a:lnTo>
                    <a:pt x="925829" y="716671"/>
                  </a:lnTo>
                  <a:lnTo>
                    <a:pt x="903926" y="755761"/>
                  </a:lnTo>
                  <a:lnTo>
                    <a:pt x="878705" y="792538"/>
                  </a:lnTo>
                  <a:lnTo>
                    <a:pt x="850373" y="826795"/>
                  </a:lnTo>
                  <a:lnTo>
                    <a:pt x="819134" y="858326"/>
                  </a:lnTo>
                  <a:lnTo>
                    <a:pt x="785193" y="886922"/>
                  </a:lnTo>
                  <a:lnTo>
                    <a:pt x="748756" y="912377"/>
                  </a:lnTo>
                  <a:lnTo>
                    <a:pt x="710028" y="934484"/>
                  </a:lnTo>
                  <a:lnTo>
                    <a:pt x="669214" y="953036"/>
                  </a:lnTo>
                  <a:lnTo>
                    <a:pt x="626520" y="967826"/>
                  </a:lnTo>
                  <a:lnTo>
                    <a:pt x="582150" y="978647"/>
                  </a:lnTo>
                  <a:lnTo>
                    <a:pt x="536309" y="985291"/>
                  </a:lnTo>
                  <a:lnTo>
                    <a:pt x="489203" y="987552"/>
                  </a:lnTo>
                  <a:lnTo>
                    <a:pt x="442090" y="985291"/>
                  </a:lnTo>
                  <a:lnTo>
                    <a:pt x="396243" y="978647"/>
                  </a:lnTo>
                  <a:lnTo>
                    <a:pt x="351869" y="967826"/>
                  </a:lnTo>
                  <a:lnTo>
                    <a:pt x="309172" y="953036"/>
                  </a:lnTo>
                  <a:lnTo>
                    <a:pt x="268356" y="934484"/>
                  </a:lnTo>
                  <a:lnTo>
                    <a:pt x="229628" y="912377"/>
                  </a:lnTo>
                  <a:lnTo>
                    <a:pt x="193192" y="886922"/>
                  </a:lnTo>
                  <a:lnTo>
                    <a:pt x="159253" y="858326"/>
                  </a:lnTo>
                  <a:lnTo>
                    <a:pt x="128016" y="826795"/>
                  </a:lnTo>
                  <a:lnTo>
                    <a:pt x="99687" y="792538"/>
                  </a:lnTo>
                  <a:lnTo>
                    <a:pt x="74469" y="755761"/>
                  </a:lnTo>
                  <a:lnTo>
                    <a:pt x="52569" y="716671"/>
                  </a:lnTo>
                  <a:lnTo>
                    <a:pt x="34190" y="675475"/>
                  </a:lnTo>
                  <a:lnTo>
                    <a:pt x="19539" y="632381"/>
                  </a:lnTo>
                  <a:lnTo>
                    <a:pt x="8821" y="587595"/>
                  </a:lnTo>
                  <a:lnTo>
                    <a:pt x="2239" y="541324"/>
                  </a:lnTo>
                  <a:lnTo>
                    <a:pt x="0" y="49377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07640" y="1725626"/>
            <a:ext cx="252729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800" spc="5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533400"/>
            <a:ext cx="10305220" cy="534762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550"/>
              </a:lnSpc>
              <a:spcBef>
                <a:spcPts val="570"/>
              </a:spcBef>
            </a:pPr>
            <a:r>
              <a:rPr dirty="0"/>
              <a:t>Implications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5" dirty="0"/>
              <a:t>Competitive</a:t>
            </a:r>
            <a:r>
              <a:rPr spc="-20" dirty="0"/>
              <a:t> </a:t>
            </a:r>
            <a:r>
              <a:rPr spc="-5" dirty="0"/>
              <a:t>Five </a:t>
            </a:r>
            <a:r>
              <a:rPr spc="-780" dirty="0"/>
              <a:t> </a:t>
            </a:r>
            <a:r>
              <a:rPr spc="5" dirty="0"/>
              <a:t>Forces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66800" y="1828800"/>
            <a:ext cx="10253133" cy="1911677"/>
          </a:xfrm>
          <a:prstGeom prst="rect">
            <a:avLst/>
          </a:prstGeom>
        </p:spPr>
        <p:txBody>
          <a:bodyPr vert="horz" wrap="square" lIns="0" tIns="576453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90"/>
              </a:spcBef>
            </a:pPr>
            <a:r>
              <a:rPr sz="2400" dirty="0"/>
              <a:t>The </a:t>
            </a:r>
            <a:r>
              <a:rPr sz="2400" spc="-5" dirty="0"/>
              <a:t>aim</a:t>
            </a:r>
            <a:r>
              <a:rPr sz="2400" spc="10" dirty="0"/>
              <a:t> </a:t>
            </a:r>
            <a:r>
              <a:rPr sz="2400" dirty="0"/>
              <a:t>of</a:t>
            </a:r>
            <a:r>
              <a:rPr sz="2400" spc="10" dirty="0"/>
              <a:t> </a:t>
            </a:r>
            <a:r>
              <a:rPr sz="2400" spc="-5" dirty="0"/>
              <a:t>the</a:t>
            </a:r>
            <a:r>
              <a:rPr sz="2400" spc="20" dirty="0"/>
              <a:t> </a:t>
            </a:r>
            <a:r>
              <a:rPr sz="2400" spc="-10" dirty="0"/>
              <a:t>five-force</a:t>
            </a:r>
            <a:r>
              <a:rPr sz="2400" spc="25" dirty="0"/>
              <a:t> </a:t>
            </a:r>
            <a:r>
              <a:rPr sz="2400" spc="-5" dirty="0"/>
              <a:t>analysis</a:t>
            </a:r>
            <a:r>
              <a:rPr sz="2400" spc="25" dirty="0"/>
              <a:t> </a:t>
            </a:r>
            <a:r>
              <a:rPr sz="2400" spc="-5" dirty="0"/>
              <a:t>is</a:t>
            </a:r>
            <a:r>
              <a:rPr sz="2400" spc="25" dirty="0"/>
              <a:t> </a:t>
            </a:r>
            <a:r>
              <a:rPr sz="2400" spc="-10" dirty="0"/>
              <a:t>thus</a:t>
            </a:r>
            <a:r>
              <a:rPr sz="2400" spc="35" dirty="0"/>
              <a:t> </a:t>
            </a:r>
            <a:r>
              <a:rPr sz="2400" dirty="0"/>
              <a:t>an </a:t>
            </a:r>
            <a:r>
              <a:rPr sz="2400" spc="5" dirty="0"/>
              <a:t> </a:t>
            </a:r>
            <a:r>
              <a:rPr sz="2400" dirty="0"/>
              <a:t>assessment</a:t>
            </a:r>
            <a:r>
              <a:rPr sz="2400" spc="-10" dirty="0"/>
              <a:t> </a:t>
            </a:r>
            <a:r>
              <a:rPr sz="2400" dirty="0"/>
              <a:t>of</a:t>
            </a:r>
            <a:r>
              <a:rPr sz="2400" spc="10" dirty="0"/>
              <a:t> </a:t>
            </a:r>
            <a:r>
              <a:rPr sz="2400" spc="-5" dirty="0"/>
              <a:t>the</a:t>
            </a:r>
            <a:r>
              <a:rPr sz="2400" spc="20" dirty="0"/>
              <a:t> </a:t>
            </a:r>
            <a:r>
              <a:rPr sz="2400" i="1" spc="-5" dirty="0">
                <a:solidFill>
                  <a:srgbClr val="C00000"/>
                </a:solidFill>
              </a:rPr>
              <a:t>attractiveness</a:t>
            </a:r>
            <a:r>
              <a:rPr sz="2400" i="1" spc="15" dirty="0">
                <a:solidFill>
                  <a:srgbClr val="C00000"/>
                </a:solidFill>
              </a:rPr>
              <a:t> </a:t>
            </a:r>
            <a:r>
              <a:rPr sz="2400" dirty="0"/>
              <a:t>of</a:t>
            </a:r>
            <a:r>
              <a:rPr sz="2400" spc="10" dirty="0"/>
              <a:t> </a:t>
            </a:r>
            <a:r>
              <a:rPr sz="2400" spc="-10" dirty="0"/>
              <a:t>the</a:t>
            </a:r>
            <a:r>
              <a:rPr sz="2400" spc="20" dirty="0"/>
              <a:t> </a:t>
            </a:r>
            <a:r>
              <a:rPr sz="2400" spc="-10" dirty="0"/>
              <a:t>industry </a:t>
            </a:r>
            <a:r>
              <a:rPr sz="2400" spc="-830" dirty="0"/>
              <a:t> </a:t>
            </a:r>
            <a:r>
              <a:rPr sz="2400" spc="-5" dirty="0"/>
              <a:t>and</a:t>
            </a:r>
            <a:r>
              <a:rPr sz="2400" spc="5" dirty="0"/>
              <a:t> </a:t>
            </a:r>
            <a:r>
              <a:rPr sz="2400" spc="-15" dirty="0"/>
              <a:t>any</a:t>
            </a:r>
            <a:r>
              <a:rPr sz="2400" spc="35" dirty="0"/>
              <a:t> </a:t>
            </a:r>
            <a:r>
              <a:rPr sz="2400" spc="-10" dirty="0"/>
              <a:t>possibilities</a:t>
            </a:r>
            <a:r>
              <a:rPr sz="2400" spc="75" dirty="0"/>
              <a:t> </a:t>
            </a:r>
            <a:r>
              <a:rPr sz="2400" spc="-5" dirty="0"/>
              <a:t>to</a:t>
            </a:r>
            <a:r>
              <a:rPr sz="2400" spc="35" dirty="0"/>
              <a:t> </a:t>
            </a:r>
            <a:r>
              <a:rPr sz="2400" i="1" spc="-5" dirty="0">
                <a:solidFill>
                  <a:srgbClr val="C00000"/>
                </a:solidFill>
              </a:rPr>
              <a:t>manage</a:t>
            </a:r>
            <a:r>
              <a:rPr sz="2400" i="1" spc="20" dirty="0">
                <a:solidFill>
                  <a:srgbClr val="C00000"/>
                </a:solidFill>
              </a:rPr>
              <a:t> </a:t>
            </a:r>
            <a:r>
              <a:rPr sz="2400" i="1" spc="-5" dirty="0">
                <a:solidFill>
                  <a:srgbClr val="C00000"/>
                </a:solidFill>
              </a:rPr>
              <a:t>strategies </a:t>
            </a:r>
            <a:r>
              <a:rPr sz="2400" spc="-10" dirty="0"/>
              <a:t>in </a:t>
            </a:r>
            <a:r>
              <a:rPr sz="2400" spc="-5" dirty="0"/>
              <a:t> </a:t>
            </a:r>
            <a:r>
              <a:rPr sz="2400" spc="-10" dirty="0"/>
              <a:t>relation</a:t>
            </a:r>
            <a:r>
              <a:rPr sz="2400" spc="25" dirty="0"/>
              <a:t> </a:t>
            </a:r>
            <a:r>
              <a:rPr sz="2400" spc="-5" dirty="0"/>
              <a:t>to</a:t>
            </a:r>
            <a:r>
              <a:rPr sz="2400" spc="20" dirty="0"/>
              <a:t> </a:t>
            </a:r>
            <a:r>
              <a:rPr sz="2400" spc="-5" dirty="0"/>
              <a:t>the</a:t>
            </a:r>
            <a:r>
              <a:rPr sz="2400" spc="20" dirty="0"/>
              <a:t> </a:t>
            </a:r>
            <a:r>
              <a:rPr sz="2400" dirty="0"/>
              <a:t>forces</a:t>
            </a:r>
            <a:r>
              <a:rPr sz="2400" spc="-15" dirty="0"/>
              <a:t> </a:t>
            </a:r>
            <a:r>
              <a:rPr sz="2400" spc="-5" dirty="0"/>
              <a:t>to</a:t>
            </a:r>
            <a:r>
              <a:rPr sz="2400" dirty="0"/>
              <a:t> promote</a:t>
            </a:r>
            <a:r>
              <a:rPr sz="2400" spc="15" dirty="0"/>
              <a:t> </a:t>
            </a:r>
            <a:r>
              <a:rPr sz="2400" dirty="0"/>
              <a:t>long-term </a:t>
            </a:r>
            <a:r>
              <a:rPr sz="2400" spc="5" dirty="0"/>
              <a:t> </a:t>
            </a:r>
            <a:r>
              <a:rPr sz="2400" spc="-10" dirty="0"/>
              <a:t>survival</a:t>
            </a:r>
            <a:r>
              <a:rPr sz="2400" spc="55" dirty="0"/>
              <a:t> </a:t>
            </a:r>
            <a:r>
              <a:rPr sz="2400" spc="-5" dirty="0"/>
              <a:t>and</a:t>
            </a:r>
            <a:r>
              <a:rPr sz="2400" spc="10" dirty="0"/>
              <a:t> </a:t>
            </a:r>
            <a:r>
              <a:rPr sz="2400" spc="-10" dirty="0"/>
              <a:t>competitive</a:t>
            </a:r>
            <a:r>
              <a:rPr sz="2400" spc="65" dirty="0"/>
              <a:t> </a:t>
            </a:r>
            <a:r>
              <a:rPr sz="2400" spc="-10" dirty="0"/>
              <a:t>advantage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6780" y="457200"/>
            <a:ext cx="10305220" cy="534762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550"/>
              </a:lnSpc>
              <a:spcBef>
                <a:spcPts val="570"/>
              </a:spcBef>
            </a:pPr>
            <a:r>
              <a:rPr dirty="0"/>
              <a:t>Implications</a:t>
            </a:r>
            <a:r>
              <a:rPr spc="-2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5" dirty="0"/>
              <a:t>Competitive</a:t>
            </a:r>
            <a:r>
              <a:rPr spc="-20" dirty="0"/>
              <a:t> </a:t>
            </a:r>
            <a:r>
              <a:rPr spc="-5" dirty="0"/>
              <a:t>Five </a:t>
            </a:r>
            <a:r>
              <a:rPr spc="-780" dirty="0"/>
              <a:t> </a:t>
            </a:r>
            <a:r>
              <a:rPr spc="5" dirty="0"/>
              <a:t>Forces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06014" y="2252548"/>
            <a:ext cx="6374765" cy="211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Which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industries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enter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(or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leave)?</a:t>
            </a:r>
            <a:endParaRPr sz="2400">
              <a:latin typeface="Verdana"/>
              <a:cs typeface="Verdana"/>
            </a:endParaRPr>
          </a:p>
          <a:p>
            <a:pPr>
              <a:spcBef>
                <a:spcPts val="5"/>
              </a:spcBef>
            </a:pPr>
            <a:endParaRPr sz="3200">
              <a:latin typeface="Verdana"/>
              <a:cs typeface="Verdana"/>
            </a:endParaRPr>
          </a:p>
          <a:p>
            <a:pPr marL="3175" algn="ctr"/>
            <a:r>
              <a:rPr sz="2400" spc="-5" dirty="0">
                <a:latin typeface="Verdana"/>
                <a:cs typeface="Verdana"/>
              </a:rPr>
              <a:t>How can </a:t>
            </a:r>
            <a:r>
              <a:rPr sz="2400" spc="-10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five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forces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managed?</a:t>
            </a:r>
            <a:endParaRPr sz="2400">
              <a:latin typeface="Verdana"/>
              <a:cs typeface="Verdana"/>
            </a:endParaRPr>
          </a:p>
          <a:p>
            <a:pPr>
              <a:spcBef>
                <a:spcPts val="25"/>
              </a:spcBef>
            </a:pPr>
            <a:endParaRPr sz="3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latin typeface="Verdana"/>
                <a:cs typeface="Verdana"/>
              </a:rPr>
              <a:t>How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competitors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affected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differently?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9506" y="712165"/>
            <a:ext cx="2060575" cy="14363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509"/>
              </a:spcBef>
            </a:pPr>
            <a:r>
              <a:rPr dirty="0"/>
              <a:t>Objections </a:t>
            </a:r>
            <a:r>
              <a:rPr spc="-785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spc="5" dirty="0"/>
              <a:t>Porter’s </a:t>
            </a:r>
            <a:r>
              <a:rPr spc="-785" dirty="0"/>
              <a:t> </a:t>
            </a:r>
            <a:r>
              <a:rPr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7570" y="2438400"/>
            <a:ext cx="2544445" cy="377634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algn="ctr">
              <a:lnSpc>
                <a:spcPct val="80000"/>
              </a:lnSpc>
              <a:spcBef>
                <a:spcPts val="635"/>
              </a:spcBef>
              <a:tabLst>
                <a:tab pos="1273810" algn="l"/>
              </a:tabLst>
            </a:pPr>
            <a:r>
              <a:rPr sz="2200" spc="5" dirty="0">
                <a:latin typeface="Verdana"/>
                <a:cs typeface="Verdana"/>
              </a:rPr>
              <a:t>The </a:t>
            </a:r>
            <a:r>
              <a:rPr sz="2200" spc="-5" dirty="0">
                <a:latin typeface="Verdana"/>
                <a:cs typeface="Verdana"/>
              </a:rPr>
              <a:t>biggest </a:t>
            </a:r>
            <a:r>
              <a:rPr sz="2200" dirty="0">
                <a:latin typeface="Verdana"/>
                <a:cs typeface="Verdana"/>
              </a:rPr>
              <a:t> objection that 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people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have </a:t>
            </a:r>
            <a:r>
              <a:rPr sz="2200" spc="-10" dirty="0">
                <a:latin typeface="Verdana"/>
                <a:cs typeface="Verdana"/>
              </a:rPr>
              <a:t> raised </a:t>
            </a:r>
            <a:r>
              <a:rPr sz="2200" dirty="0">
                <a:latin typeface="Verdana"/>
                <a:cs typeface="Verdana"/>
              </a:rPr>
              <a:t>to Michael 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Porter’s	ideas 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about </a:t>
            </a:r>
            <a:r>
              <a:rPr sz="2200" spc="-5" dirty="0">
                <a:latin typeface="Verdana"/>
                <a:cs typeface="Verdana"/>
              </a:rPr>
              <a:t>strategy </a:t>
            </a:r>
            <a:r>
              <a:rPr sz="2200" spc="-15" dirty="0">
                <a:latin typeface="Verdana"/>
                <a:cs typeface="Verdana"/>
              </a:rPr>
              <a:t>in 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5" dirty="0">
                <a:latin typeface="Verdana"/>
                <a:cs typeface="Verdana"/>
              </a:rPr>
              <a:t>recent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years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have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 </a:t>
            </a:r>
            <a:r>
              <a:rPr sz="2200" spc="-5" dirty="0">
                <a:latin typeface="Verdana"/>
                <a:cs typeface="Verdana"/>
              </a:rPr>
              <a:t>do </a:t>
            </a:r>
            <a:r>
              <a:rPr sz="2200" spc="-10" dirty="0">
                <a:latin typeface="Verdana"/>
                <a:cs typeface="Verdana"/>
              </a:rPr>
              <a:t>with </a:t>
            </a:r>
            <a:r>
              <a:rPr sz="2200" spc="-5" dirty="0">
                <a:latin typeface="Verdana"/>
                <a:cs typeface="Verdana"/>
              </a:rPr>
              <a:t>their 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difficulty</a:t>
            </a:r>
            <a:r>
              <a:rPr sz="2200" spc="65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in </a:t>
            </a:r>
            <a:r>
              <a:rPr sz="2200" spc="-10" dirty="0">
                <a:latin typeface="Verdana"/>
                <a:cs typeface="Verdana"/>
              </a:rPr>
              <a:t> explaining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the 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5" dirty="0">
                <a:latin typeface="Verdana"/>
                <a:cs typeface="Verdana"/>
              </a:rPr>
              <a:t>success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5" dirty="0">
                <a:latin typeface="Verdana"/>
                <a:cs typeface="Verdana"/>
              </a:rPr>
              <a:t>of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certain</a:t>
            </a:r>
          </a:p>
          <a:p>
            <a:pPr marL="12700" algn="ctr">
              <a:lnSpc>
                <a:spcPts val="2515"/>
              </a:lnSpc>
            </a:pPr>
            <a:r>
              <a:rPr sz="3000" spc="-5" dirty="0">
                <a:latin typeface="Verdana"/>
                <a:cs typeface="Verdana"/>
              </a:rPr>
              <a:t>Japanese</a:t>
            </a:r>
            <a:endParaRPr sz="3000" dirty="0">
              <a:latin typeface="Verdana"/>
              <a:cs typeface="Verdana"/>
            </a:endParaRPr>
          </a:p>
          <a:p>
            <a:pPr marL="12700" algn="ctr">
              <a:lnSpc>
                <a:spcPts val="3240"/>
              </a:lnSpc>
            </a:pPr>
            <a:r>
              <a:rPr sz="3000" spc="-5" dirty="0">
                <a:latin typeface="Verdana"/>
                <a:cs typeface="Verdana"/>
              </a:rPr>
              <a:t>companies</a:t>
            </a:r>
            <a:endParaRPr sz="30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4815" y="0"/>
            <a:ext cx="5663184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37814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Mintzberg</a:t>
            </a:r>
            <a:r>
              <a:rPr spc="-120" dirty="0"/>
              <a:t> </a:t>
            </a:r>
            <a:r>
              <a:rPr spc="5" dirty="0"/>
              <a:t>Vs</a:t>
            </a:r>
            <a:r>
              <a:rPr spc="-25" dirty="0"/>
              <a:t> </a:t>
            </a:r>
            <a:r>
              <a:rPr spc="5" dirty="0"/>
              <a:t>Porter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1813941"/>
            <a:ext cx="7606665" cy="209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 algn="just">
              <a:spcBef>
                <a:spcPts val="105"/>
              </a:spcBef>
            </a:pPr>
            <a:r>
              <a:rPr sz="2800" spc="5" dirty="0">
                <a:solidFill>
                  <a:srgbClr val="C00000"/>
                </a:solidFill>
                <a:latin typeface="Verdana"/>
                <a:cs typeface="Verdana"/>
              </a:rPr>
              <a:t>Michael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 Porter:</a:t>
            </a:r>
            <a:r>
              <a:rPr sz="2800" spc="-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C00000"/>
                </a:solidFill>
                <a:latin typeface="Verdana"/>
                <a:cs typeface="Verdana"/>
              </a:rPr>
              <a:t>Ends,</a:t>
            </a:r>
            <a:r>
              <a:rPr sz="2800" spc="-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Verdana"/>
                <a:cs typeface="Verdana"/>
              </a:rPr>
              <a:t>ways,</a:t>
            </a:r>
            <a:r>
              <a:rPr sz="2800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Verdana"/>
                <a:cs typeface="Verdana"/>
              </a:rPr>
              <a:t>means</a:t>
            </a:r>
            <a:endParaRPr sz="2800" dirty="0">
              <a:latin typeface="Verdana"/>
              <a:cs typeface="Verdana"/>
            </a:endParaRPr>
          </a:p>
          <a:p>
            <a:pPr algn="just">
              <a:spcBef>
                <a:spcPts val="60"/>
              </a:spcBef>
            </a:pPr>
            <a:endParaRPr sz="3150" dirty="0">
              <a:latin typeface="Verdana"/>
              <a:cs typeface="Verdana"/>
            </a:endParaRPr>
          </a:p>
          <a:p>
            <a:pPr marL="12700" marR="5080" algn="just">
              <a:lnSpc>
                <a:spcPct val="89900"/>
              </a:lnSpc>
            </a:pPr>
            <a:r>
              <a:rPr sz="2100" dirty="0">
                <a:latin typeface="Verdana"/>
                <a:cs typeface="Verdana"/>
              </a:rPr>
              <a:t>Begin </a:t>
            </a:r>
            <a:r>
              <a:rPr sz="2100" spc="5" dirty="0">
                <a:latin typeface="Verdana"/>
                <a:cs typeface="Verdana"/>
              </a:rPr>
              <a:t>with what the ends are, the </a:t>
            </a:r>
            <a:r>
              <a:rPr sz="2100" dirty="0">
                <a:latin typeface="Verdana"/>
                <a:cs typeface="Verdana"/>
              </a:rPr>
              <a:t>position you'd </a:t>
            </a:r>
            <a:r>
              <a:rPr sz="2100" spc="-10" dirty="0">
                <a:latin typeface="Verdana"/>
                <a:cs typeface="Verdana"/>
              </a:rPr>
              <a:t>like </a:t>
            </a:r>
            <a:r>
              <a:rPr sz="2100" spc="5" dirty="0">
                <a:latin typeface="Verdana"/>
                <a:cs typeface="Verdana"/>
              </a:rPr>
              <a:t>to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achieve. </a:t>
            </a:r>
            <a:r>
              <a:rPr sz="2100" spc="5" dirty="0">
                <a:latin typeface="Verdana"/>
                <a:cs typeface="Verdana"/>
              </a:rPr>
              <a:t>Figure </a:t>
            </a:r>
            <a:r>
              <a:rPr sz="2100" dirty="0">
                <a:latin typeface="Verdana"/>
                <a:cs typeface="Verdana"/>
              </a:rPr>
              <a:t>out how you're going </a:t>
            </a:r>
            <a:r>
              <a:rPr sz="2100" spc="5" dirty="0">
                <a:latin typeface="Verdana"/>
                <a:cs typeface="Verdana"/>
              </a:rPr>
              <a:t>to do </a:t>
            </a:r>
            <a:r>
              <a:rPr sz="2100" dirty="0">
                <a:latin typeface="Verdana"/>
                <a:cs typeface="Verdana"/>
              </a:rPr>
              <a:t>it,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spc="5" dirty="0">
                <a:latin typeface="Verdana"/>
                <a:cs typeface="Verdana"/>
              </a:rPr>
              <a:t>then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the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means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would</a:t>
            </a:r>
            <a:r>
              <a:rPr sz="2100" spc="-4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be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what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are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the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skills</a:t>
            </a:r>
            <a:r>
              <a:rPr sz="2100" spc="-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that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you</a:t>
            </a:r>
            <a:r>
              <a:rPr sz="2100" spc="-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need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to </a:t>
            </a:r>
            <a:r>
              <a:rPr sz="2100" spc="-7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achieve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that</a:t>
            </a:r>
            <a:r>
              <a:rPr sz="2100" spc="-4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position?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37814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Mintzberg</a:t>
            </a:r>
            <a:r>
              <a:rPr spc="-120" dirty="0"/>
              <a:t> </a:t>
            </a:r>
            <a:r>
              <a:rPr spc="5" dirty="0"/>
              <a:t>Vs</a:t>
            </a:r>
            <a:r>
              <a:rPr spc="-25" dirty="0"/>
              <a:t> </a:t>
            </a:r>
            <a:r>
              <a:rPr spc="5" dirty="0"/>
              <a:t>Porter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1813941"/>
            <a:ext cx="7647305" cy="238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845" algn="just">
              <a:spcBef>
                <a:spcPts val="105"/>
              </a:spcBef>
            </a:pPr>
            <a:r>
              <a:rPr sz="2800" dirty="0">
                <a:solidFill>
                  <a:srgbClr val="C00000"/>
                </a:solidFill>
                <a:latin typeface="Verdana"/>
                <a:cs typeface="Verdana"/>
              </a:rPr>
              <a:t>Mintzberg:</a:t>
            </a:r>
            <a:r>
              <a:rPr sz="28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Verdana"/>
                <a:cs typeface="Verdana"/>
              </a:rPr>
              <a:t>Means,</a:t>
            </a:r>
            <a:r>
              <a:rPr sz="2800" spc="-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00000"/>
                </a:solidFill>
                <a:latin typeface="Verdana"/>
                <a:cs typeface="Verdana"/>
              </a:rPr>
              <a:t>ways,</a:t>
            </a:r>
            <a:r>
              <a:rPr sz="2800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800" spc="5" dirty="0">
                <a:solidFill>
                  <a:srgbClr val="C00000"/>
                </a:solidFill>
                <a:latin typeface="Verdana"/>
                <a:cs typeface="Verdana"/>
              </a:rPr>
              <a:t>ends </a:t>
            </a:r>
            <a:r>
              <a:rPr sz="2800" spc="10" dirty="0">
                <a:solidFill>
                  <a:srgbClr val="C00000"/>
                </a:solidFill>
                <a:latin typeface="Verdana"/>
                <a:cs typeface="Verdana"/>
              </a:rPr>
              <a:t>logic</a:t>
            </a:r>
            <a:endParaRPr sz="2800" dirty="0">
              <a:latin typeface="Verdana"/>
              <a:cs typeface="Verdana"/>
            </a:endParaRPr>
          </a:p>
          <a:p>
            <a:pPr algn="just">
              <a:spcBef>
                <a:spcPts val="55"/>
              </a:spcBef>
            </a:pPr>
            <a:endParaRPr sz="315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</a:pPr>
            <a:r>
              <a:rPr sz="2100" spc="5" dirty="0">
                <a:latin typeface="Verdana"/>
                <a:cs typeface="Verdana"/>
              </a:rPr>
              <a:t>Let's figure </a:t>
            </a:r>
            <a:r>
              <a:rPr sz="2100" dirty="0">
                <a:latin typeface="Verdana"/>
                <a:cs typeface="Verdana"/>
              </a:rPr>
              <a:t>out </a:t>
            </a:r>
            <a:r>
              <a:rPr sz="2100" spc="5" dirty="0">
                <a:latin typeface="Verdana"/>
                <a:cs typeface="Verdana"/>
              </a:rPr>
              <a:t>what we're </a:t>
            </a:r>
            <a:r>
              <a:rPr sz="2100" spc="-5" dirty="0">
                <a:latin typeface="Verdana"/>
                <a:cs typeface="Verdana"/>
              </a:rPr>
              <a:t>good </a:t>
            </a:r>
            <a:r>
              <a:rPr sz="2100" spc="5" dirty="0">
                <a:latin typeface="Verdana"/>
                <a:cs typeface="Verdana"/>
              </a:rPr>
              <a:t>at. </a:t>
            </a:r>
            <a:r>
              <a:rPr sz="2100" dirty="0">
                <a:latin typeface="Verdana"/>
                <a:cs typeface="Verdana"/>
              </a:rPr>
              <a:t>Then let's </a:t>
            </a:r>
            <a:r>
              <a:rPr sz="2100" spc="5" dirty="0">
                <a:latin typeface="Verdana"/>
                <a:cs typeface="Verdana"/>
              </a:rPr>
              <a:t>figure </a:t>
            </a:r>
            <a:r>
              <a:rPr sz="2100" dirty="0">
                <a:latin typeface="Verdana"/>
                <a:cs typeface="Verdana"/>
              </a:rPr>
              <a:t>out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where we can go with what we're </a:t>
            </a:r>
            <a:r>
              <a:rPr sz="2100" spc="-5" dirty="0">
                <a:latin typeface="Verdana"/>
                <a:cs typeface="Verdana"/>
              </a:rPr>
              <a:t>good </a:t>
            </a:r>
            <a:r>
              <a:rPr sz="2100" spc="5" dirty="0">
                <a:latin typeface="Verdana"/>
                <a:cs typeface="Verdana"/>
              </a:rPr>
              <a:t>at. And then,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only </a:t>
            </a:r>
            <a:r>
              <a:rPr sz="2100" spc="5" dirty="0">
                <a:latin typeface="Verdana"/>
                <a:cs typeface="Verdana"/>
              </a:rPr>
              <a:t>then, figure </a:t>
            </a:r>
            <a:r>
              <a:rPr sz="2100" dirty="0">
                <a:latin typeface="Verdana"/>
                <a:cs typeface="Verdana"/>
              </a:rPr>
              <a:t>out </a:t>
            </a:r>
            <a:r>
              <a:rPr sz="2100" spc="5" dirty="0">
                <a:latin typeface="Verdana"/>
                <a:cs typeface="Verdana"/>
              </a:rPr>
              <a:t>what </a:t>
            </a:r>
            <a:r>
              <a:rPr sz="2100" dirty="0">
                <a:latin typeface="Verdana"/>
                <a:cs typeface="Verdana"/>
              </a:rPr>
              <a:t>positions </a:t>
            </a:r>
            <a:r>
              <a:rPr sz="2100" spc="5" dirty="0">
                <a:latin typeface="Verdana"/>
                <a:cs typeface="Verdana"/>
              </a:rPr>
              <a:t>we might try to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achieve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within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an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20" dirty="0">
                <a:latin typeface="Verdana"/>
                <a:cs typeface="Verdana"/>
              </a:rPr>
              <a:t>industry.</a:t>
            </a:r>
            <a:r>
              <a:rPr sz="2100" spc="-90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So,</a:t>
            </a:r>
            <a:r>
              <a:rPr sz="2100" spc="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means-ways-ends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versus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ends-ways-means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76600" y="4724448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>
                <a:solidFill>
                  <a:schemeClr val="tx2"/>
                </a:solidFill>
                <a:latin typeface="Google Sans"/>
              </a:rPr>
              <a:t>Ways are actions. they are the methods and process executed to achieve the ends. More simply, they answer the question, How are you going to get to the end-state? Means are the resources required to execute the way.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552"/>
            <a:ext cx="270256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Honda</a:t>
            </a:r>
            <a:r>
              <a:rPr spc="-55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spc="-5" dirty="0"/>
              <a:t>USA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4019" y="2964000"/>
            <a:ext cx="4408001" cy="22979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543" y="725552"/>
            <a:ext cx="37814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3300" spc="5" dirty="0">
                <a:latin typeface="Georgia"/>
                <a:cs typeface="Georgia"/>
              </a:rPr>
              <a:t>Mintzberg</a:t>
            </a:r>
            <a:r>
              <a:rPr sz="3300" spc="-120" dirty="0">
                <a:latin typeface="Georgia"/>
                <a:cs typeface="Georgia"/>
              </a:rPr>
              <a:t> </a:t>
            </a:r>
            <a:r>
              <a:rPr sz="3300" spc="5" dirty="0">
                <a:latin typeface="Georgia"/>
                <a:cs typeface="Georgia"/>
              </a:rPr>
              <a:t>Vs</a:t>
            </a:r>
            <a:r>
              <a:rPr sz="3300" spc="-25" dirty="0">
                <a:latin typeface="Georgia"/>
                <a:cs typeface="Georgia"/>
              </a:rPr>
              <a:t> </a:t>
            </a:r>
            <a:r>
              <a:rPr sz="3300" spc="5" dirty="0">
                <a:latin typeface="Georgia"/>
                <a:cs typeface="Georgia"/>
              </a:rPr>
              <a:t>Porter</a:t>
            </a:r>
            <a:endParaRPr sz="33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542" y="1823086"/>
            <a:ext cx="7703820" cy="92392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60"/>
              </a:spcBef>
            </a:pPr>
            <a:r>
              <a:rPr sz="2100" spc="-5" dirty="0">
                <a:latin typeface="Verdana"/>
                <a:cs typeface="Verdana"/>
              </a:rPr>
              <a:t>https://</a:t>
            </a:r>
            <a:r>
              <a:rPr sz="2100" spc="-5" dirty="0">
                <a:latin typeface="Verdana"/>
                <a:cs typeface="Verdana"/>
                <a:hlinkClick r:id="rId2"/>
              </a:rPr>
              <a:t>www.forbes.com/sites/karlmoore/2011/03/28/po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rter-or-mintzberg-whose-view-of-strategy-is-the-most- </a:t>
            </a:r>
            <a:r>
              <a:rPr sz="2100" spc="-5" dirty="0">
                <a:latin typeface="Verdana"/>
                <a:cs typeface="Verdana"/>
              </a:rPr>
              <a:t> relevant-today/#7f60cf6e58ba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3" y="1727739"/>
            <a:ext cx="7713345" cy="273875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 algn="just">
              <a:spcBef>
                <a:spcPts val="815"/>
              </a:spcBef>
            </a:pPr>
            <a:r>
              <a:rPr sz="2600" spc="-5" dirty="0">
                <a:latin typeface="Verdana"/>
                <a:cs typeface="Verdana"/>
              </a:rPr>
              <a:t>Monopoly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Industries</a:t>
            </a:r>
            <a:endParaRPr sz="2600" dirty="0">
              <a:latin typeface="Verdana"/>
              <a:cs typeface="Verdana"/>
            </a:endParaRPr>
          </a:p>
          <a:p>
            <a:pPr marL="12700" marR="5080" algn="just">
              <a:lnSpc>
                <a:spcPct val="90100"/>
              </a:lnSpc>
              <a:spcBef>
                <a:spcPts val="790"/>
              </a:spcBef>
            </a:pPr>
            <a:r>
              <a:rPr sz="2000" spc="-5" dirty="0">
                <a:latin typeface="Verdana"/>
                <a:cs typeface="Verdana"/>
              </a:rPr>
              <a:t>A monopoly </a:t>
            </a:r>
            <a:r>
              <a:rPr sz="2000" spc="10" dirty="0">
                <a:latin typeface="Verdana"/>
                <a:cs typeface="Verdana"/>
              </a:rPr>
              <a:t>is </a:t>
            </a:r>
            <a:r>
              <a:rPr sz="2000" spc="-5" dirty="0">
                <a:latin typeface="Verdana"/>
                <a:cs typeface="Verdana"/>
              </a:rPr>
              <a:t>formally an industry </a:t>
            </a:r>
            <a:r>
              <a:rPr sz="2000" dirty="0">
                <a:latin typeface="Verdana"/>
                <a:cs typeface="Verdana"/>
              </a:rPr>
              <a:t>with </a:t>
            </a:r>
            <a:r>
              <a:rPr sz="2000" spc="-5" dirty="0">
                <a:latin typeface="Verdana"/>
                <a:cs typeface="Verdana"/>
              </a:rPr>
              <a:t>just </a:t>
            </a:r>
            <a:r>
              <a:rPr sz="2000" spc="-10" dirty="0">
                <a:latin typeface="Verdana"/>
                <a:cs typeface="Verdana"/>
              </a:rPr>
              <a:t>one </a:t>
            </a:r>
            <a:r>
              <a:rPr sz="2000" spc="-5" dirty="0">
                <a:latin typeface="Verdana"/>
                <a:cs typeface="Verdana"/>
              </a:rPr>
              <a:t>firm </a:t>
            </a:r>
            <a:r>
              <a:rPr sz="2000" dirty="0">
                <a:latin typeface="Verdana"/>
                <a:cs typeface="Verdana"/>
              </a:rPr>
              <a:t>with </a:t>
            </a:r>
            <a:r>
              <a:rPr sz="2000" spc="-5" dirty="0">
                <a:latin typeface="Verdana"/>
                <a:cs typeface="Verdana"/>
              </a:rPr>
              <a:t>a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unique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product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or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service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therefore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5" dirty="0">
                <a:latin typeface="Verdana"/>
                <a:cs typeface="Verdana"/>
              </a:rPr>
              <a:t> competitive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rivalry.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Because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lack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choice</a:t>
            </a:r>
            <a:r>
              <a:rPr sz="2000" spc="-15" dirty="0">
                <a:latin typeface="Verdana"/>
                <a:cs typeface="Verdana"/>
              </a:rPr>
              <a:t> between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rivals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few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entrants,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there</a:t>
            </a:r>
            <a:r>
              <a:rPr sz="2000" spc="5" dirty="0">
                <a:latin typeface="Verdana"/>
                <a:cs typeface="Verdana"/>
              </a:rPr>
              <a:t> 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potentially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very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great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power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over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buyers 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 suppliers</a:t>
            </a:r>
            <a:endParaRPr sz="2000" dirty="0">
              <a:latin typeface="Verdana"/>
              <a:cs typeface="Verdana"/>
            </a:endParaRPr>
          </a:p>
          <a:p>
            <a:pPr algn="just">
              <a:spcBef>
                <a:spcPts val="5"/>
              </a:spcBef>
            </a:pPr>
            <a:endParaRPr sz="2900" dirty="0">
              <a:latin typeface="Verdana"/>
              <a:cs typeface="Verdana"/>
            </a:endParaRPr>
          </a:p>
          <a:p>
            <a:pPr marL="12700" algn="just"/>
            <a:r>
              <a:rPr sz="2000" spc="-5" dirty="0">
                <a:latin typeface="Verdana"/>
                <a:cs typeface="Verdana"/>
              </a:rPr>
              <a:t>Examples?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1820037"/>
            <a:ext cx="7631430" cy="1344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600" spc="-5" dirty="0">
                <a:latin typeface="Verdana"/>
                <a:cs typeface="Verdana"/>
              </a:rPr>
              <a:t>Monopoly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Industries</a:t>
            </a:r>
            <a:endParaRPr sz="2600">
              <a:latin typeface="Verdana"/>
              <a:cs typeface="Verdana"/>
            </a:endParaRPr>
          </a:p>
          <a:p>
            <a:pPr marL="12700">
              <a:lnSpc>
                <a:spcPts val="2280"/>
              </a:lnSpc>
              <a:spcBef>
                <a:spcPts val="2715"/>
              </a:spcBef>
            </a:pPr>
            <a:r>
              <a:rPr sz="2000" spc="-5" dirty="0">
                <a:latin typeface="Verdana"/>
                <a:cs typeface="Verdana"/>
              </a:rPr>
              <a:t>Firms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can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still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have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monopoly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power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where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are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simply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280"/>
              </a:lnSpc>
            </a:pP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dominant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competitor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1215" y="4041381"/>
            <a:ext cx="1589115" cy="17470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1820037"/>
            <a:ext cx="5087620" cy="1070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2600" spc="-5" dirty="0">
                <a:latin typeface="Verdana"/>
                <a:cs typeface="Verdana"/>
              </a:rPr>
              <a:t>Monopoly</a:t>
            </a:r>
            <a:r>
              <a:rPr sz="2600" spc="-4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Industries</a:t>
            </a:r>
            <a:endParaRPr sz="2600" dirty="0">
              <a:latin typeface="Verdana"/>
              <a:cs typeface="Verdana"/>
            </a:endParaRPr>
          </a:p>
          <a:p>
            <a:pPr marL="2655570">
              <a:spcBef>
                <a:spcPts val="2715"/>
              </a:spcBef>
            </a:pPr>
            <a:r>
              <a:rPr sz="2000" spc="-10" dirty="0">
                <a:latin typeface="Verdana"/>
                <a:cs typeface="Verdana"/>
              </a:rPr>
              <a:t>Economies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scale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831" y="3200400"/>
            <a:ext cx="3369837" cy="2524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1820037"/>
            <a:ext cx="7682230" cy="37094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spcBef>
                <a:spcPts val="90"/>
              </a:spcBef>
            </a:pPr>
            <a:r>
              <a:rPr sz="2600" spc="-5" dirty="0">
                <a:latin typeface="Verdana"/>
                <a:cs typeface="Verdana"/>
              </a:rPr>
              <a:t>Oligopoly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industries</a:t>
            </a:r>
            <a:r>
              <a:rPr sz="2100" i="1" spc="-10" dirty="0"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  <a:p>
            <a:pPr algn="just">
              <a:spcBef>
                <a:spcPts val="45"/>
              </a:spcBef>
            </a:pPr>
            <a:endParaRPr sz="315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</a:pPr>
            <a:r>
              <a:rPr sz="2100" spc="5" dirty="0">
                <a:latin typeface="Verdana"/>
                <a:cs typeface="Verdana"/>
              </a:rPr>
              <a:t>An </a:t>
            </a:r>
            <a:r>
              <a:rPr sz="2100" spc="-5" dirty="0">
                <a:latin typeface="Verdana"/>
                <a:cs typeface="Verdana"/>
              </a:rPr>
              <a:t>oligopoly is </a:t>
            </a:r>
            <a:r>
              <a:rPr sz="2100" spc="5" dirty="0">
                <a:latin typeface="Verdana"/>
                <a:cs typeface="Verdana"/>
              </a:rPr>
              <a:t>where </a:t>
            </a:r>
            <a:r>
              <a:rPr sz="2100" dirty="0">
                <a:latin typeface="Verdana"/>
                <a:cs typeface="Verdana"/>
              </a:rPr>
              <a:t>just </a:t>
            </a:r>
            <a:r>
              <a:rPr sz="2100" spc="5" dirty="0">
                <a:latin typeface="Verdana"/>
                <a:cs typeface="Verdana"/>
              </a:rPr>
              <a:t>a </a:t>
            </a:r>
            <a:r>
              <a:rPr sz="2100" dirty="0">
                <a:latin typeface="Verdana"/>
                <a:cs typeface="Verdana"/>
              </a:rPr>
              <a:t>few </a:t>
            </a:r>
            <a:r>
              <a:rPr sz="2100" spc="5" dirty="0">
                <a:latin typeface="Verdana"/>
                <a:cs typeface="Verdana"/>
              </a:rPr>
              <a:t>often-large firms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dominate an </a:t>
            </a:r>
            <a:r>
              <a:rPr sz="2100" spc="-20" dirty="0">
                <a:latin typeface="Verdana"/>
                <a:cs typeface="Verdana"/>
              </a:rPr>
              <a:t>industry, </a:t>
            </a:r>
            <a:r>
              <a:rPr sz="2100" spc="5" dirty="0">
                <a:latin typeface="Verdana"/>
                <a:cs typeface="Verdana"/>
              </a:rPr>
              <a:t>with the </a:t>
            </a:r>
            <a:r>
              <a:rPr sz="2100" dirty="0">
                <a:latin typeface="Verdana"/>
                <a:cs typeface="Verdana"/>
              </a:rPr>
              <a:t>potential for limited 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rivalry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spc="5" dirty="0">
                <a:latin typeface="Verdana"/>
                <a:cs typeface="Verdana"/>
              </a:rPr>
              <a:t>threat </a:t>
            </a:r>
            <a:r>
              <a:rPr sz="2100" spc="-5" dirty="0">
                <a:latin typeface="Verdana"/>
                <a:cs typeface="Verdana"/>
              </a:rPr>
              <a:t>of </a:t>
            </a:r>
            <a:r>
              <a:rPr sz="2100" dirty="0">
                <a:latin typeface="Verdana"/>
                <a:cs typeface="Verdana"/>
              </a:rPr>
              <a:t>entrants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spc="5" dirty="0">
                <a:latin typeface="Verdana"/>
                <a:cs typeface="Verdana"/>
              </a:rPr>
              <a:t>great </a:t>
            </a:r>
            <a:r>
              <a:rPr sz="2100" dirty="0">
                <a:latin typeface="Verdana"/>
                <a:cs typeface="Verdana"/>
              </a:rPr>
              <a:t>power </a:t>
            </a:r>
            <a:r>
              <a:rPr sz="2100" spc="-15" dirty="0">
                <a:latin typeface="Verdana"/>
                <a:cs typeface="Verdana"/>
              </a:rPr>
              <a:t>over 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buyers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dirty="0">
                <a:latin typeface="Verdana"/>
                <a:cs typeface="Verdana"/>
              </a:rPr>
              <a:t>suppliers. </a:t>
            </a:r>
            <a:r>
              <a:rPr sz="2100" spc="5" dirty="0">
                <a:latin typeface="Verdana"/>
                <a:cs typeface="Verdana"/>
              </a:rPr>
              <a:t>With </a:t>
            </a:r>
            <a:r>
              <a:rPr sz="2100" dirty="0">
                <a:latin typeface="Verdana"/>
                <a:cs typeface="Verdana"/>
              </a:rPr>
              <a:t>only </a:t>
            </a:r>
            <a:r>
              <a:rPr sz="2100" spc="5" dirty="0">
                <a:latin typeface="Verdana"/>
                <a:cs typeface="Verdana"/>
              </a:rPr>
              <a:t>a </a:t>
            </a:r>
            <a:r>
              <a:rPr sz="2100" dirty="0">
                <a:latin typeface="Verdana"/>
                <a:cs typeface="Verdana"/>
              </a:rPr>
              <a:t>few competitors </a:t>
            </a:r>
            <a:r>
              <a:rPr sz="2100" spc="5" dirty="0">
                <a:latin typeface="Verdana"/>
                <a:cs typeface="Verdana"/>
              </a:rPr>
              <a:t>the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actions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of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any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one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firm</a:t>
            </a:r>
            <a:r>
              <a:rPr sz="2100" spc="-5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are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10" dirty="0">
                <a:latin typeface="Verdana"/>
                <a:cs typeface="Verdana"/>
              </a:rPr>
              <a:t>likely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highly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influential</a:t>
            </a:r>
            <a:r>
              <a:rPr sz="2100" spc="-7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on </a:t>
            </a:r>
            <a:r>
              <a:rPr sz="2100" spc="5" dirty="0">
                <a:latin typeface="Verdana"/>
                <a:cs typeface="Verdana"/>
              </a:rPr>
              <a:t>the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others: therefore, </a:t>
            </a:r>
            <a:r>
              <a:rPr sz="2100" spc="5" dirty="0">
                <a:latin typeface="Verdana"/>
                <a:cs typeface="Verdana"/>
              </a:rPr>
              <a:t>all firms </a:t>
            </a:r>
            <a:r>
              <a:rPr sz="2100" spc="10" dirty="0">
                <a:latin typeface="Verdana"/>
                <a:cs typeface="Verdana"/>
              </a:rPr>
              <a:t>must </a:t>
            </a:r>
            <a:r>
              <a:rPr sz="2100" dirty="0">
                <a:latin typeface="Verdana"/>
                <a:cs typeface="Verdana"/>
              </a:rPr>
              <a:t>carefully </a:t>
            </a:r>
            <a:r>
              <a:rPr sz="2100" spc="5" dirty="0">
                <a:latin typeface="Verdana"/>
                <a:cs typeface="Verdana"/>
              </a:rPr>
              <a:t>consider the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actions</a:t>
            </a:r>
            <a:r>
              <a:rPr sz="2100" spc="-45" dirty="0">
                <a:latin typeface="Verdana"/>
                <a:cs typeface="Verdana"/>
              </a:rPr>
              <a:t> </a:t>
            </a:r>
            <a:r>
              <a:rPr sz="2100" spc="-5" dirty="0" smtClean="0">
                <a:latin typeface="Verdana"/>
                <a:cs typeface="Verdana"/>
              </a:rPr>
              <a:t>of</a:t>
            </a:r>
            <a:r>
              <a:rPr lang="en-US" sz="2100" dirty="0">
                <a:latin typeface="Verdana"/>
                <a:cs typeface="Verdana"/>
              </a:rPr>
              <a:t> </a:t>
            </a:r>
            <a:r>
              <a:rPr sz="2100" dirty="0" smtClean="0">
                <a:latin typeface="Verdana"/>
                <a:cs typeface="Verdana"/>
              </a:rPr>
              <a:t>all</a:t>
            </a:r>
            <a:r>
              <a:rPr sz="2100" spc="-40" dirty="0" smtClean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others</a:t>
            </a:r>
          </a:p>
          <a:p>
            <a:pPr algn="just">
              <a:spcBef>
                <a:spcPts val="40"/>
              </a:spcBef>
            </a:pPr>
            <a:endParaRPr sz="2950" dirty="0">
              <a:latin typeface="Verdana"/>
              <a:cs typeface="Verdana"/>
            </a:endParaRPr>
          </a:p>
          <a:p>
            <a:pPr marL="12700" algn="just">
              <a:spcBef>
                <a:spcPts val="5"/>
              </a:spcBef>
            </a:pPr>
            <a:r>
              <a:rPr sz="2100" spc="5" dirty="0">
                <a:latin typeface="Verdana"/>
                <a:cs typeface="Verdana"/>
              </a:rPr>
              <a:t>Example?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ligopoly The challenge of analyzing interdependent strategic decisions. -  pp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477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1736467"/>
            <a:ext cx="7607300" cy="37001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algn="just">
              <a:spcBef>
                <a:spcPts val="715"/>
              </a:spcBef>
            </a:pPr>
            <a:r>
              <a:rPr sz="2800" dirty="0">
                <a:latin typeface="Verdana"/>
                <a:cs typeface="Verdana"/>
              </a:rPr>
              <a:t>Perfectly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Competitive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5" dirty="0">
                <a:latin typeface="Verdana"/>
                <a:cs typeface="Verdana"/>
              </a:rPr>
              <a:t>Industries</a:t>
            </a:r>
            <a:endParaRPr sz="2800" dirty="0">
              <a:latin typeface="Verdana"/>
              <a:cs typeface="Verdana"/>
            </a:endParaRPr>
          </a:p>
          <a:p>
            <a:pPr marL="12700" marR="5080" algn="just">
              <a:lnSpc>
                <a:spcPct val="89900"/>
              </a:lnSpc>
              <a:spcBef>
                <a:spcPts val="815"/>
              </a:spcBef>
            </a:pPr>
            <a:r>
              <a:rPr sz="2100" spc="-5" dirty="0">
                <a:latin typeface="Verdana"/>
                <a:cs typeface="Verdana"/>
              </a:rPr>
              <a:t>Perfect</a:t>
            </a:r>
            <a:r>
              <a:rPr sz="2100" spc="-4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competition</a:t>
            </a:r>
            <a:r>
              <a:rPr sz="2100" spc="-9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exists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where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barriers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entry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low</a:t>
            </a:r>
            <a:r>
              <a:rPr sz="2100" spc="-5" dirty="0">
                <a:latin typeface="Verdana"/>
                <a:cs typeface="Verdana"/>
              </a:rPr>
              <a:t>, </a:t>
            </a:r>
            <a:r>
              <a:rPr sz="2100" spc="5" dirty="0">
                <a:latin typeface="Verdana"/>
                <a:cs typeface="Verdana"/>
              </a:rPr>
              <a:t>there are </a:t>
            </a:r>
            <a:r>
              <a:rPr sz="2100" dirty="0">
                <a:latin typeface="Verdana"/>
                <a:cs typeface="Verdana"/>
              </a:rPr>
              <a:t>countless equal </a:t>
            </a:r>
            <a:r>
              <a:rPr sz="2100" spc="-5" dirty="0">
                <a:latin typeface="Verdana"/>
                <a:cs typeface="Verdana"/>
              </a:rPr>
              <a:t>rivals </a:t>
            </a:r>
            <a:r>
              <a:rPr sz="2100" spc="5" dirty="0">
                <a:latin typeface="Verdana"/>
                <a:cs typeface="Verdana"/>
              </a:rPr>
              <a:t>each with close to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identical </a:t>
            </a:r>
            <a:r>
              <a:rPr sz="2100" spc="5" dirty="0">
                <a:latin typeface="Verdana"/>
                <a:cs typeface="Verdana"/>
              </a:rPr>
              <a:t>products </a:t>
            </a:r>
            <a:r>
              <a:rPr sz="2100" spc="-5" dirty="0">
                <a:latin typeface="Verdana"/>
                <a:cs typeface="Verdana"/>
              </a:rPr>
              <a:t>or </a:t>
            </a:r>
            <a:r>
              <a:rPr sz="2100" dirty="0">
                <a:latin typeface="Verdana"/>
                <a:cs typeface="Verdana"/>
              </a:rPr>
              <a:t>services,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dirty="0">
                <a:latin typeface="Verdana"/>
                <a:cs typeface="Verdana"/>
              </a:rPr>
              <a:t>information </a:t>
            </a:r>
            <a:r>
              <a:rPr sz="2100" spc="5" dirty="0">
                <a:latin typeface="Verdana"/>
                <a:cs typeface="Verdana"/>
              </a:rPr>
              <a:t>about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prices,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products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100" spc="10" dirty="0">
                <a:latin typeface="Verdana"/>
                <a:cs typeface="Verdana"/>
              </a:rPr>
              <a:t>and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competitors</a:t>
            </a:r>
            <a:r>
              <a:rPr sz="2100" spc="-8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is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perfectly</a:t>
            </a:r>
            <a:r>
              <a:rPr sz="2100" spc="-7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available.</a:t>
            </a:r>
            <a:endParaRPr sz="2100" dirty="0">
              <a:latin typeface="Verdana"/>
              <a:cs typeface="Verdana"/>
            </a:endParaRPr>
          </a:p>
          <a:p>
            <a:pPr marL="12700" marR="5080" algn="just">
              <a:lnSpc>
                <a:spcPct val="90100"/>
              </a:lnSpc>
              <a:spcBef>
                <a:spcPts val="805"/>
              </a:spcBef>
            </a:pPr>
            <a:r>
              <a:rPr sz="2100" dirty="0">
                <a:latin typeface="Verdana"/>
                <a:cs typeface="Verdana"/>
              </a:rPr>
              <a:t>Competition </a:t>
            </a:r>
            <a:r>
              <a:rPr sz="2100" spc="5" dirty="0">
                <a:latin typeface="Verdana"/>
                <a:cs typeface="Verdana"/>
              </a:rPr>
              <a:t>focuses </a:t>
            </a:r>
            <a:r>
              <a:rPr sz="2100" dirty="0">
                <a:latin typeface="Verdana"/>
                <a:cs typeface="Verdana"/>
              </a:rPr>
              <a:t>heavily </a:t>
            </a:r>
            <a:r>
              <a:rPr sz="2100" spc="-5" dirty="0">
                <a:latin typeface="Verdana"/>
                <a:cs typeface="Verdana"/>
              </a:rPr>
              <a:t>on price, </a:t>
            </a:r>
            <a:r>
              <a:rPr sz="2100" spc="5" dirty="0">
                <a:latin typeface="Verdana"/>
                <a:cs typeface="Verdana"/>
              </a:rPr>
              <a:t>because products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are so </a:t>
            </a:r>
            <a:r>
              <a:rPr sz="2100" spc="-35" dirty="0">
                <a:latin typeface="Verdana"/>
                <a:cs typeface="Verdana"/>
              </a:rPr>
              <a:t>similar,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dirty="0">
                <a:latin typeface="Verdana"/>
                <a:cs typeface="Verdana"/>
              </a:rPr>
              <a:t>competitors </a:t>
            </a:r>
            <a:r>
              <a:rPr sz="2100" spc="5" dirty="0">
                <a:latin typeface="Verdana"/>
                <a:cs typeface="Verdana"/>
              </a:rPr>
              <a:t>typically cannot fund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major</a:t>
            </a:r>
            <a:r>
              <a:rPr sz="2100" spc="-4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innovations</a:t>
            </a:r>
            <a:r>
              <a:rPr sz="2100" spc="-6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or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marketing</a:t>
            </a:r>
            <a:r>
              <a:rPr sz="2100" spc="-7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initiatives</a:t>
            </a:r>
            <a:r>
              <a:rPr sz="2100" spc="-6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to</a:t>
            </a:r>
            <a:r>
              <a:rPr sz="2100" spc="-3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make</a:t>
            </a:r>
            <a:r>
              <a:rPr sz="2100" spc="-5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them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25" dirty="0">
                <a:latin typeface="Verdana"/>
                <a:cs typeface="Verdana"/>
              </a:rPr>
              <a:t>dissimilar. </a:t>
            </a:r>
            <a:r>
              <a:rPr sz="2100" dirty="0">
                <a:latin typeface="Verdana"/>
                <a:cs typeface="Verdana"/>
              </a:rPr>
              <a:t>Under </a:t>
            </a:r>
            <a:r>
              <a:rPr sz="2100" spc="5" dirty="0">
                <a:latin typeface="Verdana"/>
                <a:cs typeface="Verdana"/>
              </a:rPr>
              <a:t>these </a:t>
            </a:r>
            <a:r>
              <a:rPr sz="2100" dirty="0">
                <a:latin typeface="Verdana"/>
                <a:cs typeface="Verdana"/>
              </a:rPr>
              <a:t>conditions, </a:t>
            </a:r>
            <a:r>
              <a:rPr sz="2100" spc="5" dirty="0">
                <a:latin typeface="Verdana"/>
                <a:cs typeface="Verdana"/>
              </a:rPr>
              <a:t>firms are unable to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earn more </a:t>
            </a:r>
            <a:r>
              <a:rPr sz="2100" dirty="0">
                <a:latin typeface="Verdana"/>
                <a:cs typeface="Verdana"/>
              </a:rPr>
              <a:t>profit </a:t>
            </a:r>
            <a:r>
              <a:rPr sz="2100" spc="5" dirty="0">
                <a:latin typeface="Verdana"/>
                <a:cs typeface="Verdana"/>
              </a:rPr>
              <a:t>than the bare </a:t>
            </a:r>
            <a:r>
              <a:rPr sz="2100" dirty="0">
                <a:latin typeface="Verdana"/>
                <a:cs typeface="Verdana"/>
              </a:rPr>
              <a:t>minimum required </a:t>
            </a:r>
            <a:r>
              <a:rPr sz="2100" spc="5" dirty="0">
                <a:latin typeface="Verdana"/>
                <a:cs typeface="Verdana"/>
              </a:rPr>
              <a:t>to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survive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1542" y="2129769"/>
            <a:ext cx="7632700" cy="144081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algn="just">
              <a:spcBef>
                <a:spcPts val="730"/>
              </a:spcBef>
            </a:pPr>
            <a:r>
              <a:rPr sz="2400" spc="-10" dirty="0">
                <a:latin typeface="Verdana"/>
                <a:cs typeface="Verdana"/>
              </a:rPr>
              <a:t>Hypercompetitive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Industries</a:t>
            </a:r>
            <a:endParaRPr sz="2400" dirty="0">
              <a:latin typeface="Verdana"/>
              <a:cs typeface="Verdana"/>
            </a:endParaRPr>
          </a:p>
          <a:p>
            <a:pPr marL="12700" marR="5080" algn="just">
              <a:lnSpc>
                <a:spcPct val="90000"/>
              </a:lnSpc>
              <a:spcBef>
                <a:spcPts val="819"/>
              </a:spcBef>
            </a:pPr>
            <a:r>
              <a:rPr sz="2100" dirty="0">
                <a:latin typeface="Verdana"/>
                <a:cs typeface="Verdana"/>
              </a:rPr>
              <a:t>Hypercompetition occurs </a:t>
            </a:r>
            <a:r>
              <a:rPr sz="2100" spc="5" dirty="0">
                <a:latin typeface="Verdana"/>
                <a:cs typeface="Verdana"/>
              </a:rPr>
              <a:t>where the </a:t>
            </a:r>
            <a:r>
              <a:rPr sz="2100" spc="-15" dirty="0">
                <a:latin typeface="Verdana"/>
                <a:cs typeface="Verdana"/>
              </a:rPr>
              <a:t>frequency, </a:t>
            </a:r>
            <a:r>
              <a:rPr sz="2100" dirty="0">
                <a:latin typeface="Verdana"/>
                <a:cs typeface="Verdana"/>
              </a:rPr>
              <a:t>boldness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10" dirty="0">
                <a:latin typeface="Verdana"/>
                <a:cs typeface="Verdana"/>
              </a:rPr>
              <a:t>and </a:t>
            </a:r>
            <a:r>
              <a:rPr sz="2100" spc="5" dirty="0">
                <a:latin typeface="Verdana"/>
                <a:cs typeface="Verdana"/>
              </a:rPr>
              <a:t>aggression </a:t>
            </a:r>
            <a:r>
              <a:rPr sz="2100" spc="-5" dirty="0">
                <a:latin typeface="Verdana"/>
                <a:cs typeface="Verdana"/>
              </a:rPr>
              <a:t>of </a:t>
            </a:r>
            <a:r>
              <a:rPr sz="2100" dirty="0">
                <a:latin typeface="Verdana"/>
                <a:cs typeface="Verdana"/>
              </a:rPr>
              <a:t>competitor </a:t>
            </a:r>
            <a:r>
              <a:rPr sz="2100" spc="-5" dirty="0">
                <a:latin typeface="Verdana"/>
                <a:cs typeface="Verdana"/>
              </a:rPr>
              <a:t>interactions </a:t>
            </a:r>
            <a:r>
              <a:rPr sz="2100" dirty="0">
                <a:latin typeface="Verdana"/>
                <a:cs typeface="Verdana"/>
              </a:rPr>
              <a:t>accelerate </a:t>
            </a:r>
            <a:r>
              <a:rPr sz="2100" spc="5" dirty="0">
                <a:latin typeface="Verdana"/>
                <a:cs typeface="Verdana"/>
              </a:rPr>
              <a:t>to 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create</a:t>
            </a:r>
            <a:r>
              <a:rPr sz="2100" spc="-5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a </a:t>
            </a:r>
            <a:r>
              <a:rPr sz="2100" dirty="0">
                <a:latin typeface="Verdana"/>
                <a:cs typeface="Verdana"/>
              </a:rPr>
              <a:t>condition</a:t>
            </a:r>
            <a:r>
              <a:rPr sz="2100" spc="-5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of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constant</a:t>
            </a:r>
            <a:r>
              <a:rPr sz="2100" spc="-6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disequilibrium</a:t>
            </a:r>
            <a:r>
              <a:rPr sz="2100" spc="-80" dirty="0">
                <a:latin typeface="Verdana"/>
                <a:cs typeface="Verdana"/>
              </a:rPr>
              <a:t> </a:t>
            </a:r>
            <a:r>
              <a:rPr sz="2100" spc="10" dirty="0">
                <a:latin typeface="Verdana"/>
                <a:cs typeface="Verdana"/>
              </a:rPr>
              <a:t>and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spc="10" dirty="0">
                <a:latin typeface="Verdana"/>
                <a:cs typeface="Verdana"/>
              </a:rPr>
              <a:t>change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542" y="2129768"/>
            <a:ext cx="7285990" cy="115062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spcBef>
                <a:spcPts val="730"/>
              </a:spcBef>
            </a:pPr>
            <a:r>
              <a:rPr sz="2400" spc="-10" dirty="0">
                <a:latin typeface="Verdana"/>
                <a:cs typeface="Verdana"/>
              </a:rPr>
              <a:t>Hypercompetitive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Industries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ts val="2390"/>
              </a:lnSpc>
              <a:spcBef>
                <a:spcPts val="570"/>
              </a:spcBef>
            </a:pPr>
            <a:r>
              <a:rPr sz="2100" spc="-10" dirty="0">
                <a:latin typeface="Verdana"/>
                <a:cs typeface="Verdana"/>
              </a:rPr>
              <a:t>Read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more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about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this</a:t>
            </a:r>
            <a:r>
              <a:rPr sz="2100" spc="-50" dirty="0">
                <a:latin typeface="Verdana"/>
                <a:cs typeface="Verdana"/>
              </a:rPr>
              <a:t> </a:t>
            </a:r>
            <a:r>
              <a:rPr sz="2100" spc="5" dirty="0">
                <a:latin typeface="Verdana"/>
                <a:cs typeface="Verdana"/>
              </a:rPr>
              <a:t>type</a:t>
            </a:r>
            <a:r>
              <a:rPr sz="2100" spc="-4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of</a:t>
            </a:r>
            <a:r>
              <a:rPr sz="2100" spc="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competition</a:t>
            </a:r>
            <a:r>
              <a:rPr sz="2100" spc="-85" dirty="0">
                <a:latin typeface="Verdana"/>
                <a:cs typeface="Verdana"/>
              </a:rPr>
              <a:t> </a:t>
            </a:r>
            <a:r>
              <a:rPr sz="2100" spc="10" dirty="0">
                <a:latin typeface="Verdana"/>
                <a:cs typeface="Verdana"/>
              </a:rPr>
              <a:t>and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identify</a:t>
            </a:r>
            <a:endParaRPr sz="2100">
              <a:latin typeface="Verdana"/>
              <a:cs typeface="Verdana"/>
            </a:endParaRPr>
          </a:p>
          <a:p>
            <a:pPr marL="12700">
              <a:lnSpc>
                <a:spcPts val="2390"/>
              </a:lnSpc>
            </a:pPr>
            <a:r>
              <a:rPr sz="2100" spc="5" dirty="0">
                <a:latin typeface="Verdana"/>
                <a:cs typeface="Verdana"/>
              </a:rPr>
              <a:t>some</a:t>
            </a:r>
            <a:r>
              <a:rPr sz="2100" spc="-75" dirty="0">
                <a:latin typeface="Verdana"/>
                <a:cs typeface="Verdana"/>
              </a:rPr>
              <a:t> </a:t>
            </a:r>
            <a:r>
              <a:rPr sz="2100" spc="-15" dirty="0">
                <a:latin typeface="Verdana"/>
                <a:cs typeface="Verdana"/>
              </a:rPr>
              <a:t>industry….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3" y="725552"/>
            <a:ext cx="557212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pc="5" dirty="0"/>
              <a:t>Industry</a:t>
            </a:r>
            <a:r>
              <a:rPr spc="-90" dirty="0"/>
              <a:t> </a:t>
            </a:r>
            <a:r>
              <a:rPr spc="5" dirty="0"/>
              <a:t>Types</a:t>
            </a:r>
            <a:r>
              <a:rPr spc="-30" dirty="0"/>
              <a:t> </a:t>
            </a:r>
            <a:r>
              <a:rPr spc="10" dirty="0"/>
              <a:t>and</a:t>
            </a:r>
            <a:r>
              <a:rPr spc="-45" dirty="0"/>
              <a:t> </a:t>
            </a:r>
            <a:r>
              <a:rPr spc="5" dirty="0"/>
              <a:t>Dynamics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981200"/>
            <a:ext cx="9019032" cy="32217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552"/>
            <a:ext cx="434213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20" dirty="0"/>
              <a:t> </a:t>
            </a:r>
            <a:r>
              <a:rPr spc="5" dirty="0"/>
              <a:t>Industry</a:t>
            </a:r>
            <a:r>
              <a:rPr spc="-90" dirty="0"/>
              <a:t> </a:t>
            </a:r>
            <a:r>
              <a:rPr dirty="0"/>
              <a:t>Life</a:t>
            </a:r>
            <a:r>
              <a:rPr spc="-15" dirty="0"/>
              <a:t> </a:t>
            </a:r>
            <a:r>
              <a:rPr dirty="0"/>
              <a:t>Cycle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279" y="1691639"/>
            <a:ext cx="8360664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1542" y="725552"/>
            <a:ext cx="452501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spc="5" dirty="0"/>
              <a:t>Industry</a:t>
            </a:r>
            <a:r>
              <a:rPr spc="-90" dirty="0"/>
              <a:t> </a:t>
            </a:r>
            <a:r>
              <a:rPr dirty="0"/>
              <a:t>Life</a:t>
            </a:r>
            <a:r>
              <a:rPr spc="-10" dirty="0"/>
              <a:t> </a:t>
            </a:r>
            <a:r>
              <a:rPr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0" y="1600200"/>
            <a:ext cx="9503258" cy="39818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50000"/>
              </a:lnSpc>
              <a:spcBef>
                <a:spcPts val="90"/>
              </a:spcBef>
            </a:pPr>
            <a:r>
              <a:rPr sz="2000" spc="-10" dirty="0" smtClean="0">
                <a:latin typeface="Verdana"/>
                <a:cs typeface="Verdana"/>
              </a:rPr>
              <a:t>One</a:t>
            </a:r>
            <a:r>
              <a:rPr sz="2000" dirty="0" smtClean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stage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does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not </a:t>
            </a:r>
            <a:r>
              <a:rPr sz="2000" spc="-5" dirty="0" smtClean="0">
                <a:latin typeface="Verdana"/>
                <a:cs typeface="Verdana"/>
              </a:rPr>
              <a:t>follow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predictably</a:t>
            </a:r>
            <a:r>
              <a:rPr sz="2000" spc="-20" dirty="0" smtClean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after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 smtClean="0">
                <a:latin typeface="Verdana"/>
                <a:cs typeface="Verdana"/>
              </a:rPr>
              <a:t>another</a:t>
            </a:r>
            <a:endParaRPr lang="en-US" sz="2000" dirty="0">
              <a:latin typeface="Verdana"/>
              <a:cs typeface="Verdana"/>
            </a:endParaRPr>
          </a:p>
          <a:p>
            <a:pPr marL="12700" algn="just"/>
            <a:r>
              <a:rPr sz="3300" spc="-5" dirty="0" smtClean="0">
                <a:latin typeface="Verdana"/>
                <a:cs typeface="Verdana"/>
              </a:rPr>
              <a:t>First</a:t>
            </a:r>
            <a:r>
              <a:rPr sz="2000" spc="-5" dirty="0">
                <a:latin typeface="Verdana"/>
                <a:cs typeface="Verdana"/>
              </a:rPr>
              <a:t>,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industries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vary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widely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1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length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their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 smtClean="0">
                <a:latin typeface="Verdana"/>
                <a:cs typeface="Verdana"/>
              </a:rPr>
              <a:t>growth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stages.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lang="en-US" sz="2000" spc="-25" dirty="0" smtClean="0">
                <a:latin typeface="Verdana"/>
                <a:cs typeface="Verdana"/>
              </a:rPr>
              <a:t>F</a:t>
            </a:r>
            <a:r>
              <a:rPr sz="2000" spc="-25" dirty="0" smtClean="0">
                <a:latin typeface="Verdana"/>
                <a:cs typeface="Verdana"/>
              </a:rPr>
              <a:t>or</a:t>
            </a:r>
            <a:r>
              <a:rPr sz="2000" spc="5" dirty="0" smtClean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example,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many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internet-based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industries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have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matured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dirty="0" smtClean="0">
                <a:latin typeface="Verdana"/>
                <a:cs typeface="Verdana"/>
              </a:rPr>
              <a:t>quickly</a:t>
            </a:r>
            <a:r>
              <a:rPr sz="2000" spc="-35" dirty="0" smtClean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moved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through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stages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in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less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than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decade,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like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5" dirty="0" smtClean="0">
                <a:latin typeface="Verdana"/>
                <a:cs typeface="Verdana"/>
              </a:rPr>
              <a:t>online</a:t>
            </a:r>
            <a:r>
              <a:rPr lang="en-US" sz="2000" spc="-70" dirty="0">
                <a:latin typeface="Verdana"/>
                <a:cs typeface="Verdana"/>
              </a:rPr>
              <a:t> </a:t>
            </a:r>
            <a:r>
              <a:rPr sz="2000" spc="-25" dirty="0" smtClean="0">
                <a:latin typeface="Verdana"/>
                <a:cs typeface="Verdana"/>
              </a:rPr>
              <a:t>travel</a:t>
            </a:r>
            <a:r>
              <a:rPr sz="2000" spc="45" dirty="0" smtClean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services</a:t>
            </a:r>
            <a:r>
              <a:rPr sz="2000" spc="-10" dirty="0" smtClean="0">
                <a:latin typeface="Verdana"/>
                <a:cs typeface="Verdana"/>
              </a:rPr>
              <a:t>.</a:t>
            </a:r>
            <a:endParaRPr dirty="0">
              <a:latin typeface="Verdana"/>
              <a:cs typeface="Verdana"/>
            </a:endParaRPr>
          </a:p>
          <a:p>
            <a:pPr marL="12700" algn="just">
              <a:lnSpc>
                <a:spcPct val="150000"/>
              </a:lnSpc>
              <a:spcBef>
                <a:spcPts val="5"/>
              </a:spcBef>
            </a:pPr>
            <a:r>
              <a:rPr sz="3000" spc="-5" dirty="0">
                <a:latin typeface="Verdana"/>
                <a:cs typeface="Verdana"/>
              </a:rPr>
              <a:t>Second</a:t>
            </a:r>
            <a:r>
              <a:rPr sz="2000" spc="-5" dirty="0">
                <a:latin typeface="Verdana"/>
                <a:cs typeface="Verdana"/>
              </a:rPr>
              <a:t>,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some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industries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can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rapidly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‘</a:t>
            </a:r>
            <a:r>
              <a:rPr sz="2000" spc="-5" dirty="0" smtClean="0">
                <a:latin typeface="Verdana"/>
                <a:cs typeface="Verdana"/>
              </a:rPr>
              <a:t>de-mature’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spc="-10" dirty="0" smtClean="0">
                <a:latin typeface="Verdana"/>
                <a:cs typeface="Verdana"/>
              </a:rPr>
              <a:t>through</a:t>
            </a:r>
            <a:r>
              <a:rPr sz="2000" spc="5" dirty="0" smtClean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radical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 smtClean="0">
                <a:latin typeface="Verdana"/>
                <a:cs typeface="Verdana"/>
              </a:rPr>
              <a:t>innovation.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Thus</a:t>
            </a:r>
            <a:r>
              <a:rPr sz="2000" spc="-15" dirty="0" smtClean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" dirty="0">
                <a:latin typeface="Verdana"/>
                <a:cs typeface="Verdana"/>
              </a:rPr>
              <a:t> telephony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industry,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based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for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nearly 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century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10" dirty="0" smtClean="0">
                <a:latin typeface="Verdana"/>
                <a:cs typeface="Verdana"/>
              </a:rPr>
              <a:t>on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sz="2000" dirty="0" smtClean="0">
                <a:latin typeface="Verdana"/>
                <a:cs typeface="Verdana"/>
              </a:rPr>
              <a:t>fixed-line </a:t>
            </a:r>
            <a:r>
              <a:rPr sz="2000" spc="-10" dirty="0">
                <a:latin typeface="Verdana"/>
                <a:cs typeface="Verdana"/>
              </a:rPr>
              <a:t>telephones, rejuvenated </a:t>
            </a:r>
            <a:r>
              <a:rPr sz="2000" spc="-5" dirty="0">
                <a:latin typeface="Verdana"/>
                <a:cs typeface="Verdana"/>
              </a:rPr>
              <a:t>rapidly </a:t>
            </a:r>
            <a:r>
              <a:rPr sz="2000" dirty="0">
                <a:latin typeface="Verdana"/>
                <a:cs typeface="Verdana"/>
              </a:rPr>
              <a:t>with </a:t>
            </a: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introduction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of</a:t>
            </a:r>
            <a:r>
              <a:rPr sz="2000" spc="5" dirty="0">
                <a:latin typeface="Verdana"/>
                <a:cs typeface="Verdana"/>
              </a:rPr>
              <a:t> mobile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 internet </a:t>
            </a:r>
            <a:r>
              <a:rPr sz="2000" spc="-10" dirty="0">
                <a:latin typeface="Verdana"/>
                <a:cs typeface="Verdana"/>
              </a:rPr>
              <a:t>telephony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909</Words>
  <Application>Microsoft Office PowerPoint</Application>
  <PresentationFormat>Widescreen</PresentationFormat>
  <Paragraphs>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Georgia</vt:lpstr>
      <vt:lpstr>Google Sans</vt:lpstr>
      <vt:lpstr>Verdana</vt:lpstr>
      <vt:lpstr>Office Theme</vt:lpstr>
      <vt:lpstr>PowerPoint Presentation</vt:lpstr>
      <vt:lpstr>PowerPoint Presentation</vt:lpstr>
      <vt:lpstr>The Power of Suppliers</vt:lpstr>
      <vt:lpstr>PowerPoint Presentation</vt:lpstr>
      <vt:lpstr>The Power of Suppliers</vt:lpstr>
      <vt:lpstr>The Power of Suppliers</vt:lpstr>
      <vt:lpstr>The Power of Suppliers</vt:lpstr>
      <vt:lpstr>The Power of Suppliers</vt:lpstr>
      <vt:lpstr>Implications of the Competitive Five  Forces</vt:lpstr>
      <vt:lpstr>Implications of the Competitive Five  Forces</vt:lpstr>
      <vt:lpstr>Objections  on Porter’s  Model</vt:lpstr>
      <vt:lpstr>Mintzberg Vs Porter</vt:lpstr>
      <vt:lpstr>Mintzberg Vs Porter</vt:lpstr>
      <vt:lpstr>Honda in USA</vt:lpstr>
      <vt:lpstr>PowerPoint Presentation</vt:lpstr>
      <vt:lpstr>Industry Types and Dynamics</vt:lpstr>
      <vt:lpstr>Industry Types and Dynamics</vt:lpstr>
      <vt:lpstr>Industry Types and Dynamics</vt:lpstr>
      <vt:lpstr>Industry Types and Dynamics</vt:lpstr>
      <vt:lpstr>PowerPoint Presentation</vt:lpstr>
      <vt:lpstr>Industry Types and Dynamics</vt:lpstr>
      <vt:lpstr>Industry Types and Dynamics</vt:lpstr>
      <vt:lpstr>Industry Types and Dynamics</vt:lpstr>
      <vt:lpstr>Industry Types and Dynamics</vt:lpstr>
      <vt:lpstr>The Industry Life Cycle</vt:lpstr>
      <vt:lpstr>The Industry Life Cycles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Yasir Ahmad</dc:creator>
  <cp:lastModifiedBy>Microsoft account</cp:lastModifiedBy>
  <cp:revision>9</cp:revision>
  <dcterms:created xsi:type="dcterms:W3CDTF">2023-09-11T10:46:31Z</dcterms:created>
  <dcterms:modified xsi:type="dcterms:W3CDTF">2023-10-12T06:29:19Z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2021-04-19T00:00:00Z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2023-09-11T00:00:00Z</vt:filetime>
  </property>
</Properties>
</file>