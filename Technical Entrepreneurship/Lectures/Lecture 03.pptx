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9" r:id="rId19"/>
    <p:sldId id="290" r:id="rId20"/>
    <p:sldId id="291" r:id="rId21"/>
    <p:sldId id="293" r:id="rId22"/>
    <p:sldId id="294" r:id="rId23"/>
    <p:sldId id="297" r:id="rId24"/>
    <p:sldId id="298" r:id="rId25"/>
    <p:sldId id="300" r:id="rId26"/>
    <p:sldId id="302" r:id="rId27"/>
    <p:sldId id="303" r:id="rId28"/>
    <p:sldId id="304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5" r:id="rId38"/>
    <p:sldId id="316" r:id="rId39"/>
    <p:sldId id="317" r:id="rId4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0757" y="3026106"/>
            <a:ext cx="8730487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73453" y="4141165"/>
            <a:ext cx="724509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5173" y="3126740"/>
            <a:ext cx="1861651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3390" y="1820926"/>
            <a:ext cx="103052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aw.info/ArticleSummaries/ArtSumPorter96.ht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1" y="1600200"/>
            <a:ext cx="9143999" cy="3774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32199" y="3026106"/>
            <a:ext cx="29317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  <a:latin typeface="Georgia"/>
                <a:cs typeface="Georgia"/>
              </a:rPr>
              <a:t>Industry</a:t>
            </a:r>
            <a:endParaRPr sz="6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6839" y="4184651"/>
            <a:ext cx="861949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03985" marR="5080" indent="-139192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An </a:t>
            </a:r>
            <a:r>
              <a:rPr sz="2400" b="1" spc="-5" dirty="0">
                <a:solidFill>
                  <a:srgbClr val="FFFFFF"/>
                </a:solidFill>
                <a:latin typeface="Verdana"/>
                <a:cs typeface="Verdana"/>
              </a:rPr>
              <a:t>industry</a:t>
            </a:r>
            <a:r>
              <a:rPr sz="2400" b="1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 group</a:t>
            </a:r>
            <a:r>
              <a:rPr sz="24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firms</a:t>
            </a:r>
            <a:r>
              <a:rPr sz="24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producing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products</a:t>
            </a:r>
            <a:r>
              <a:rPr sz="24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services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essentially</a:t>
            </a:r>
            <a:r>
              <a:rPr sz="24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same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spcBef>
                <a:spcPts val="100"/>
              </a:spcBef>
            </a:pPr>
            <a:r>
              <a:rPr spc="-5" dirty="0"/>
              <a:t>Example</a:t>
            </a:r>
            <a:r>
              <a:rPr spc="-2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Industry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3997454" y="4141165"/>
            <a:ext cx="7245095" cy="94923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065" marR="5080" indent="-6350" algn="ctr">
              <a:lnSpc>
                <a:spcPct val="90000"/>
              </a:lnSpc>
              <a:spcBef>
                <a:spcPts val="490"/>
              </a:spcBef>
            </a:pPr>
            <a:r>
              <a:rPr spc="-5" dirty="0"/>
              <a:t>Automobile </a:t>
            </a:r>
            <a:r>
              <a:rPr spc="-10" dirty="0"/>
              <a:t>industry </a:t>
            </a:r>
            <a:r>
              <a:rPr dirty="0"/>
              <a:t>has </a:t>
            </a:r>
            <a:r>
              <a:rPr spc="5" dirty="0"/>
              <a:t> </a:t>
            </a:r>
            <a:r>
              <a:rPr spc="-5" dirty="0"/>
              <a:t>markets</a:t>
            </a:r>
            <a:r>
              <a:rPr spc="-20" dirty="0"/>
              <a:t> </a:t>
            </a:r>
            <a:r>
              <a:rPr spc="-10" dirty="0"/>
              <a:t>in</a:t>
            </a:r>
            <a:r>
              <a:rPr spc="-40" dirty="0"/>
              <a:t> </a:t>
            </a:r>
            <a:r>
              <a:rPr spc="-5" dirty="0"/>
              <a:t>North</a:t>
            </a:r>
            <a:r>
              <a:rPr spc="-30" dirty="0"/>
              <a:t> </a:t>
            </a:r>
            <a:r>
              <a:rPr dirty="0"/>
              <a:t>America, </a:t>
            </a:r>
            <a:r>
              <a:rPr spc="-1110" dirty="0"/>
              <a:t> </a:t>
            </a:r>
            <a:r>
              <a:rPr spc="-5" dirty="0"/>
              <a:t>Europe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Asia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4023359"/>
              <a:ext cx="8263255" cy="2263140"/>
            </a:xfrm>
            <a:custGeom>
              <a:avLst/>
              <a:gdLst/>
              <a:ahLst/>
              <a:cxnLst/>
              <a:rect l="l" t="t" r="r" b="b"/>
              <a:pathLst>
                <a:path w="8263255" h="2263140">
                  <a:moveTo>
                    <a:pt x="7477252" y="0"/>
                  </a:moveTo>
                  <a:lnTo>
                    <a:pt x="0" y="0"/>
                  </a:lnTo>
                  <a:lnTo>
                    <a:pt x="0" y="2263140"/>
                  </a:lnTo>
                  <a:lnTo>
                    <a:pt x="8263128" y="2263140"/>
                  </a:lnTo>
                  <a:lnTo>
                    <a:pt x="7477252" y="0"/>
                  </a:lnTo>
                  <a:close/>
                </a:path>
              </a:pathLst>
            </a:custGeom>
            <a:solidFill>
              <a:srgbClr val="252525">
                <a:alpha val="8784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066340" y="4213352"/>
            <a:ext cx="128524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100" spc="-10" dirty="0">
                <a:solidFill>
                  <a:srgbClr val="FFFFFF"/>
                </a:solidFill>
                <a:latin typeface="Georgia"/>
                <a:cs typeface="Georgia"/>
              </a:rPr>
              <a:t>Market</a:t>
            </a:r>
            <a:endParaRPr sz="3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6341" y="4857369"/>
            <a:ext cx="6396355" cy="8801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market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is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group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of customers for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specific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 products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services that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essentially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same </a:t>
            </a:r>
            <a:r>
              <a:rPr sz="2000" spc="-6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(e.g.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particular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geographical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 market)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4448" y="3008757"/>
            <a:ext cx="32778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Industry</a:t>
            </a:r>
            <a:r>
              <a:rPr spc="-50" dirty="0"/>
              <a:t> </a:t>
            </a:r>
            <a:r>
              <a:rPr spc="-5" dirty="0"/>
              <a:t>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7396" y="887985"/>
            <a:ext cx="3684270" cy="98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60"/>
              </a:lnSpc>
              <a:spcBef>
                <a:spcPts val="100"/>
              </a:spcBef>
            </a:pPr>
            <a:r>
              <a:rPr dirty="0"/>
              <a:t>Porter’s</a:t>
            </a:r>
            <a:r>
              <a:rPr spc="-45" dirty="0"/>
              <a:t> </a:t>
            </a:r>
            <a:r>
              <a:rPr spc="-5" dirty="0"/>
              <a:t>Five</a:t>
            </a:r>
            <a:r>
              <a:rPr spc="-45" dirty="0"/>
              <a:t> </a:t>
            </a:r>
            <a:r>
              <a:rPr spc="-5" dirty="0"/>
              <a:t>Forces</a:t>
            </a:r>
          </a:p>
          <a:p>
            <a:pPr marL="12700">
              <a:lnSpc>
                <a:spcPts val="3760"/>
              </a:lnSpc>
            </a:pPr>
            <a:r>
              <a:rPr spc="-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7397" y="2444624"/>
            <a:ext cx="4562475" cy="185673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113664">
              <a:lnSpc>
                <a:spcPts val="1839"/>
              </a:lnSpc>
              <a:spcBef>
                <a:spcPts val="330"/>
              </a:spcBef>
            </a:pPr>
            <a:r>
              <a:rPr sz="1700" dirty="0">
                <a:latin typeface="Verdana"/>
                <a:cs typeface="Verdana"/>
              </a:rPr>
              <a:t>Michael </a:t>
            </a:r>
            <a:r>
              <a:rPr sz="1700" spc="-5" dirty="0">
                <a:latin typeface="Verdana"/>
                <a:cs typeface="Verdana"/>
              </a:rPr>
              <a:t>Porter wrote two very </a:t>
            </a:r>
            <a:r>
              <a:rPr sz="1700" dirty="0">
                <a:latin typeface="Verdana"/>
                <a:cs typeface="Verdana"/>
              </a:rPr>
              <a:t>Influential </a:t>
            </a:r>
            <a:r>
              <a:rPr sz="1700" spc="-58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books</a:t>
            </a:r>
            <a:endParaRPr sz="1700">
              <a:latin typeface="Verdana"/>
              <a:cs typeface="Verdana"/>
            </a:endParaRPr>
          </a:p>
          <a:p>
            <a:pPr>
              <a:spcBef>
                <a:spcPts val="35"/>
              </a:spcBef>
            </a:pPr>
            <a:endParaRPr sz="2600">
              <a:latin typeface="Verdana"/>
              <a:cs typeface="Verdana"/>
            </a:endParaRPr>
          </a:p>
          <a:p>
            <a:pPr marL="12700"/>
            <a:r>
              <a:rPr sz="1700" spc="-5" dirty="0">
                <a:latin typeface="Verdana"/>
                <a:cs typeface="Verdana"/>
              </a:rPr>
              <a:t>Competitive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Strategy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published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in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1980</a:t>
            </a:r>
            <a:endParaRPr sz="1700">
              <a:latin typeface="Verdana"/>
              <a:cs typeface="Verdana"/>
            </a:endParaRPr>
          </a:p>
          <a:p>
            <a:pPr>
              <a:spcBef>
                <a:spcPts val="10"/>
              </a:spcBef>
            </a:pPr>
            <a:endParaRPr sz="2650">
              <a:latin typeface="Verdana"/>
              <a:cs typeface="Verdana"/>
            </a:endParaRPr>
          </a:p>
          <a:p>
            <a:pPr marL="12700"/>
            <a:r>
              <a:rPr sz="1700" spc="-5" dirty="0">
                <a:latin typeface="Verdana"/>
                <a:cs typeface="Verdana"/>
              </a:rPr>
              <a:t>Competitive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Advantage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published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in</a:t>
            </a:r>
            <a:r>
              <a:rPr sz="1700" dirty="0">
                <a:latin typeface="Verdana"/>
                <a:cs typeface="Verdana"/>
              </a:rPr>
              <a:t> 1985</a:t>
            </a:r>
            <a:endParaRPr sz="17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1" y="1"/>
            <a:ext cx="3476243" cy="685799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334761" y="2116073"/>
            <a:ext cx="4732020" cy="0"/>
          </a:xfrm>
          <a:custGeom>
            <a:avLst/>
            <a:gdLst/>
            <a:ahLst/>
            <a:cxnLst/>
            <a:rect l="l" t="t" r="r" b="b"/>
            <a:pathLst>
              <a:path w="4732020">
                <a:moveTo>
                  <a:pt x="0" y="0"/>
                </a:moveTo>
                <a:lnTo>
                  <a:pt x="4732020" y="0"/>
                </a:lnTo>
              </a:path>
            </a:pathLst>
          </a:custGeom>
          <a:ln w="19050">
            <a:solidFill>
              <a:srgbClr val="478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27800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Michael</a:t>
            </a:r>
            <a:r>
              <a:rPr spc="-70" dirty="0"/>
              <a:t> </a:t>
            </a:r>
            <a:r>
              <a:rPr dirty="0"/>
              <a:t>Porter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1814830"/>
            <a:ext cx="7528559" cy="30613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0"/>
              </a:spcBef>
            </a:pPr>
            <a:r>
              <a:rPr sz="2800" spc="-70" dirty="0">
                <a:latin typeface="Verdana"/>
                <a:cs typeface="Verdana"/>
              </a:rPr>
              <a:t>“A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company</a:t>
            </a:r>
            <a:r>
              <a:rPr sz="2800" spc="4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can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outperform</a:t>
            </a:r>
            <a:r>
              <a:rPr sz="2800" spc="5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its rivals</a:t>
            </a:r>
            <a:r>
              <a:rPr sz="2800" spc="4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only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if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it</a:t>
            </a:r>
            <a:r>
              <a:rPr sz="2800" spc="-5" dirty="0">
                <a:latin typeface="Verdana"/>
                <a:cs typeface="Verdana"/>
              </a:rPr>
              <a:t> can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establish</a:t>
            </a:r>
            <a:r>
              <a:rPr sz="2800" spc="4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difference</a:t>
            </a:r>
            <a:r>
              <a:rPr sz="2800" spc="4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that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it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can 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preserve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over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time”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400">
              <a:latin typeface="Verdana"/>
              <a:cs typeface="Verdana"/>
            </a:endParaRPr>
          </a:p>
          <a:p>
            <a:pPr>
              <a:spcBef>
                <a:spcPts val="50"/>
              </a:spcBef>
            </a:pPr>
            <a:endParaRPr sz="3550">
              <a:latin typeface="Verdana"/>
              <a:cs typeface="Verdana"/>
            </a:endParaRPr>
          </a:p>
          <a:p>
            <a:pPr marL="12700" marR="654050">
              <a:lnSpc>
                <a:spcPts val="3020"/>
              </a:lnSpc>
            </a:pPr>
            <a:r>
              <a:rPr sz="2800" spc="-5" dirty="0">
                <a:latin typeface="Verdana"/>
                <a:cs typeface="Verdana"/>
              </a:rPr>
              <a:t>A </a:t>
            </a:r>
            <a:r>
              <a:rPr sz="2800" spc="-10" dirty="0">
                <a:latin typeface="Verdana"/>
                <a:cs typeface="Verdana"/>
              </a:rPr>
              <a:t>difference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that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is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an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advantage</a:t>
            </a:r>
            <a:r>
              <a:rPr sz="2800" spc="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over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rivals</a:t>
            </a:r>
            <a:r>
              <a:rPr sz="2800" spc="4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and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that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is sustainable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6501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Porter’s</a:t>
            </a:r>
            <a:r>
              <a:rPr spc="-30" dirty="0"/>
              <a:t> </a:t>
            </a:r>
            <a:r>
              <a:rPr spc="-5" dirty="0"/>
              <a:t>Way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dirty="0"/>
              <a:t>Thinking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1188" y="1795273"/>
            <a:ext cx="3849624" cy="41165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6501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Porter’s</a:t>
            </a:r>
            <a:r>
              <a:rPr spc="-30" dirty="0"/>
              <a:t> </a:t>
            </a:r>
            <a:r>
              <a:rPr spc="-5" dirty="0"/>
              <a:t>Way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dirty="0"/>
              <a:t>Thinking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1814829"/>
            <a:ext cx="7600315" cy="37446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104775" algn="just">
              <a:lnSpc>
                <a:spcPts val="3020"/>
              </a:lnSpc>
              <a:spcBef>
                <a:spcPts val="480"/>
              </a:spcBef>
            </a:pPr>
            <a:r>
              <a:rPr sz="2800" spc="-5" dirty="0">
                <a:latin typeface="Verdana"/>
                <a:cs typeface="Verdana"/>
              </a:rPr>
              <a:t>An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important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idea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</a:t>
            </a:r>
            <a:r>
              <a:rPr sz="2800" spc="-15" dirty="0">
                <a:latin typeface="Verdana"/>
                <a:cs typeface="Verdana"/>
              </a:rPr>
              <a:t> Porter's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world,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is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the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idea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of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Verdana"/>
                <a:cs typeface="Verdana"/>
              </a:rPr>
              <a:t>position</a:t>
            </a:r>
            <a:endParaRPr sz="2800" dirty="0">
              <a:latin typeface="Verdana"/>
              <a:cs typeface="Verdana"/>
            </a:endParaRPr>
          </a:p>
          <a:p>
            <a:pPr marL="12700" marR="172720" algn="just">
              <a:lnSpc>
                <a:spcPts val="3020"/>
              </a:lnSpc>
              <a:spcBef>
                <a:spcPts val="800"/>
              </a:spcBef>
            </a:pPr>
            <a:r>
              <a:rPr sz="2800" spc="-20" dirty="0">
                <a:latin typeface="Verdana"/>
                <a:cs typeface="Verdana"/>
              </a:rPr>
              <a:t>Porter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defines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Position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as</a:t>
            </a:r>
            <a:r>
              <a:rPr sz="2800" spc="40" dirty="0"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8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Verdana"/>
                <a:cs typeface="Verdana"/>
              </a:rPr>
              <a:t>set</a:t>
            </a:r>
            <a:r>
              <a:rPr sz="280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8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Verdana"/>
                <a:cs typeface="Verdana"/>
              </a:rPr>
              <a:t>choices </a:t>
            </a:r>
            <a:r>
              <a:rPr sz="2800" spc="-96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Verdana"/>
                <a:cs typeface="Verdana"/>
              </a:rPr>
              <a:t>that</a:t>
            </a:r>
            <a:r>
              <a:rPr sz="28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8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Verdana"/>
                <a:cs typeface="Verdana"/>
              </a:rPr>
              <a:t>company</a:t>
            </a:r>
            <a:r>
              <a:rPr sz="28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Verdana"/>
                <a:cs typeface="Verdana"/>
              </a:rPr>
              <a:t>makes</a:t>
            </a:r>
            <a:endParaRPr sz="2800" dirty="0">
              <a:latin typeface="Verdana"/>
              <a:cs typeface="Verdana"/>
            </a:endParaRPr>
          </a:p>
          <a:p>
            <a:pPr marL="12700" marR="5080" algn="just">
              <a:lnSpc>
                <a:spcPct val="90000"/>
              </a:lnSpc>
              <a:spcBef>
                <a:spcPts val="765"/>
              </a:spcBef>
              <a:tabLst>
                <a:tab pos="3970654" algn="l"/>
              </a:tabLst>
            </a:pPr>
            <a:r>
              <a:rPr sz="2800" spc="-5" dirty="0">
                <a:latin typeface="Verdana"/>
                <a:cs typeface="Verdana"/>
              </a:rPr>
              <a:t>A set of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choices</a:t>
            </a:r>
            <a:r>
              <a:rPr sz="2800" spc="5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that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one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company</a:t>
            </a:r>
            <a:r>
              <a:rPr sz="2800" spc="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makes 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will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be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different</a:t>
            </a:r>
            <a:r>
              <a:rPr sz="2800" spc="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than	</a:t>
            </a:r>
            <a:r>
              <a:rPr sz="2800" spc="-5" dirty="0">
                <a:latin typeface="Verdana"/>
                <a:cs typeface="Verdana"/>
              </a:rPr>
              <a:t>a set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of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choices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that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another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company</a:t>
            </a:r>
            <a:r>
              <a:rPr sz="2800" spc="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makes,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and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therefore 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these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companies</a:t>
            </a:r>
            <a:r>
              <a:rPr sz="2800" spc="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will	</a:t>
            </a:r>
            <a:r>
              <a:rPr sz="2800" spc="-10" dirty="0" smtClean="0">
                <a:latin typeface="Verdana"/>
                <a:cs typeface="Verdana"/>
              </a:rPr>
              <a:t>occupy</a:t>
            </a:r>
            <a:r>
              <a:rPr lang="en-US" sz="2800" spc="45" dirty="0">
                <a:latin typeface="Verdana"/>
                <a:cs typeface="Verdana"/>
              </a:rPr>
              <a:t> </a:t>
            </a:r>
            <a:r>
              <a:rPr sz="2800" spc="-10" dirty="0" smtClean="0">
                <a:latin typeface="Verdana"/>
                <a:cs typeface="Verdana"/>
              </a:rPr>
              <a:t>different</a:t>
            </a:r>
            <a:r>
              <a:rPr lang="en-US" sz="2800" spc="-10" dirty="0" smtClean="0">
                <a:latin typeface="Verdana"/>
                <a:cs typeface="Verdana"/>
              </a:rPr>
              <a:t> </a:t>
            </a:r>
            <a:r>
              <a:rPr sz="2800" spc="-15" dirty="0" smtClean="0">
                <a:latin typeface="Verdana"/>
                <a:cs typeface="Verdana"/>
              </a:rPr>
              <a:t>positions</a:t>
            </a:r>
            <a:r>
              <a:rPr sz="2800" spc="55" dirty="0" smtClean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market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or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an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industry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543" y="725170"/>
            <a:ext cx="46501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300" dirty="0">
                <a:latin typeface="Georgia"/>
                <a:cs typeface="Georgia"/>
              </a:rPr>
              <a:t>Porter’s</a:t>
            </a:r>
            <a:r>
              <a:rPr sz="3300" spc="-30" dirty="0">
                <a:latin typeface="Georgia"/>
                <a:cs typeface="Georgia"/>
              </a:rPr>
              <a:t> </a:t>
            </a:r>
            <a:r>
              <a:rPr sz="3300" spc="-5" dirty="0">
                <a:latin typeface="Georgia"/>
                <a:cs typeface="Georgia"/>
              </a:rPr>
              <a:t>Way</a:t>
            </a:r>
            <a:r>
              <a:rPr sz="3300" spc="-20" dirty="0">
                <a:latin typeface="Georgia"/>
                <a:cs typeface="Georgia"/>
              </a:rPr>
              <a:t> </a:t>
            </a:r>
            <a:r>
              <a:rPr sz="3300" spc="-5" dirty="0">
                <a:latin typeface="Georgia"/>
                <a:cs typeface="Georgia"/>
              </a:rPr>
              <a:t>of</a:t>
            </a:r>
            <a:r>
              <a:rPr sz="3300" spc="-35" dirty="0">
                <a:latin typeface="Georgia"/>
                <a:cs typeface="Georgia"/>
              </a:rPr>
              <a:t> </a:t>
            </a:r>
            <a:r>
              <a:rPr sz="3300" dirty="0">
                <a:latin typeface="Georgia"/>
                <a:cs typeface="Georgia"/>
              </a:rPr>
              <a:t>Thinking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542" y="1820927"/>
            <a:ext cx="747014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Verdana"/>
                <a:cs typeface="Verdana"/>
              </a:rPr>
              <a:t>Another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very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important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idea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Michael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Porter,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5" dirty="0">
                <a:latin typeface="Verdana"/>
                <a:cs typeface="Verdana"/>
              </a:rPr>
              <a:t>idea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Verdana"/>
                <a:cs typeface="Verdana"/>
              </a:rPr>
              <a:t>tradeoffs</a:t>
            </a:r>
            <a:r>
              <a:rPr sz="2400" spc="-10" dirty="0"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8800" y="1752600"/>
            <a:ext cx="7369657" cy="39319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295275" algn="just">
              <a:lnSpc>
                <a:spcPts val="3020"/>
              </a:lnSpc>
              <a:spcBef>
                <a:spcPts val="480"/>
              </a:spcBef>
            </a:pPr>
            <a:r>
              <a:rPr sz="2800" spc="-5" dirty="0">
                <a:latin typeface="Calibri"/>
                <a:cs typeface="Calibri"/>
              </a:rPr>
              <a:t>Fit 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choices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makes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interact,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support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each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other.</a:t>
            </a:r>
            <a:endParaRPr sz="28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endParaRPr sz="3800" dirty="0">
              <a:latin typeface="Calibri"/>
              <a:cs typeface="Calibri"/>
            </a:endParaRPr>
          </a:p>
          <a:p>
            <a:pPr marL="12700" marR="535940" algn="just">
              <a:lnSpc>
                <a:spcPts val="3020"/>
              </a:lnSpc>
              <a:spcBef>
                <a:spcPts val="5"/>
              </a:spcBef>
            </a:pPr>
            <a:r>
              <a:rPr sz="2800" spc="-5" dirty="0">
                <a:latin typeface="Calibri"/>
                <a:cs typeface="Calibri"/>
              </a:rPr>
              <a:t>Fit 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because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discrete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 smtClean="0">
                <a:latin typeface="Calibri"/>
                <a:cs typeface="Calibri"/>
              </a:rPr>
              <a:t>activities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sz="2800" spc="-10" dirty="0" smtClean="0">
                <a:latin typeface="Calibri"/>
                <a:cs typeface="Calibri"/>
              </a:rPr>
              <a:t>often</a:t>
            </a:r>
            <a:r>
              <a:rPr lang="en-US" sz="2800" spc="-10" dirty="0" smtClean="0">
                <a:latin typeface="Calibri"/>
                <a:cs typeface="Calibri"/>
              </a:rPr>
              <a:t> </a:t>
            </a:r>
            <a:r>
              <a:rPr sz="2800" spc="-10" dirty="0" smtClean="0">
                <a:latin typeface="Calibri"/>
                <a:cs typeface="Calibri"/>
              </a:rPr>
              <a:t>influence</a:t>
            </a:r>
            <a:r>
              <a:rPr sz="2800" spc="20" dirty="0" smtClean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another.</a:t>
            </a:r>
            <a:endParaRPr sz="2800" dirty="0">
              <a:latin typeface="Calibri"/>
              <a:cs typeface="Calibri"/>
            </a:endParaRPr>
          </a:p>
          <a:p>
            <a:pPr algn="just">
              <a:spcBef>
                <a:spcPts val="30"/>
              </a:spcBef>
            </a:pPr>
            <a:endParaRPr sz="3450" dirty="0">
              <a:latin typeface="Calibri"/>
              <a:cs typeface="Calibri"/>
            </a:endParaRPr>
          </a:p>
          <a:p>
            <a:pPr marL="12700" algn="just">
              <a:lnSpc>
                <a:spcPts val="3190"/>
              </a:lnSpc>
            </a:pP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Fit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20" dirty="0">
                <a:latin typeface="Calibri"/>
                <a:cs typeface="Calibri"/>
              </a:rPr>
              <a:t>makes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company's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10" dirty="0" smtClean="0">
                <a:latin typeface="Calibri"/>
                <a:cs typeface="Calibri"/>
              </a:rPr>
              <a:t>of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spc="-5" dirty="0" smtClean="0">
                <a:latin typeface="Calibri"/>
                <a:cs typeface="Calibri"/>
              </a:rPr>
              <a:t>choices</a:t>
            </a:r>
            <a:r>
              <a:rPr sz="2800" spc="20" dirty="0" smtClean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better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strategically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company's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5" dirty="0">
                <a:latin typeface="Calibri"/>
                <a:cs typeface="Calibri"/>
              </a:rPr>
              <a:t>of choices.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6501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Porter’s</a:t>
            </a:r>
            <a:r>
              <a:rPr spc="-30" dirty="0"/>
              <a:t> </a:t>
            </a:r>
            <a:r>
              <a:rPr spc="-5" dirty="0"/>
              <a:t>Way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dirty="0"/>
              <a:t>Thinking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542" y="1825499"/>
            <a:ext cx="67373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5" dirty="0">
                <a:latin typeface="Verdana"/>
                <a:cs typeface="Verdana"/>
              </a:rPr>
              <a:t>Strategy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creating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among 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company's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activities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6501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Porter’s</a:t>
            </a:r>
            <a:r>
              <a:rPr spc="-30" dirty="0"/>
              <a:t> </a:t>
            </a:r>
            <a:r>
              <a:rPr spc="-5" dirty="0"/>
              <a:t>Way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dirty="0"/>
              <a:t>Thinking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1542" y="3138042"/>
            <a:ext cx="7244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Verdana"/>
                <a:cs typeface="Verdana"/>
                <a:hlinkClick r:id="rId2"/>
              </a:rPr>
              <a:t>http://www.maaw.info/ArticleSummaries/ArtSumPorter96.htm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2011" y="643127"/>
            <a:ext cx="7427976" cy="5571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Competitive</a:t>
            </a:r>
            <a:r>
              <a:rPr spc="-55" dirty="0"/>
              <a:t> </a:t>
            </a:r>
            <a:r>
              <a:rPr dirty="0"/>
              <a:t>Rivalry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1955" y="2572511"/>
            <a:ext cx="5334723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Competitive</a:t>
            </a:r>
            <a:r>
              <a:rPr spc="-55" dirty="0"/>
              <a:t> </a:t>
            </a:r>
            <a:r>
              <a:rPr dirty="0"/>
              <a:t>Rivalry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1816355"/>
            <a:ext cx="7675880" cy="2644698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15"/>
              </a:spcBef>
            </a:pPr>
            <a:r>
              <a:rPr sz="2600" spc="-5" dirty="0">
                <a:latin typeface="Verdana"/>
                <a:cs typeface="Verdana"/>
              </a:rPr>
              <a:t>Competitive </a:t>
            </a:r>
            <a:r>
              <a:rPr sz="2600" spc="-10" dirty="0">
                <a:latin typeface="Verdana"/>
                <a:cs typeface="Verdana"/>
              </a:rPr>
              <a:t>rivals </a:t>
            </a:r>
            <a:r>
              <a:rPr sz="2600" dirty="0">
                <a:latin typeface="Verdana"/>
                <a:cs typeface="Verdana"/>
              </a:rPr>
              <a:t>are </a:t>
            </a:r>
            <a:r>
              <a:rPr sz="2600" spc="-5" dirty="0">
                <a:latin typeface="Verdana"/>
                <a:cs typeface="Verdana"/>
              </a:rPr>
              <a:t>organizations </a:t>
            </a:r>
            <a:r>
              <a:rPr sz="2600" dirty="0">
                <a:latin typeface="Verdana"/>
                <a:cs typeface="Verdana"/>
              </a:rPr>
              <a:t>aiming at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 same </a:t>
            </a:r>
            <a:r>
              <a:rPr sz="2600" dirty="0">
                <a:latin typeface="Verdana"/>
                <a:cs typeface="Verdana"/>
              </a:rPr>
              <a:t>customer </a:t>
            </a:r>
            <a:r>
              <a:rPr sz="2600" spc="-5" dirty="0">
                <a:latin typeface="Verdana"/>
                <a:cs typeface="Verdana"/>
              </a:rPr>
              <a:t>groups and </a:t>
            </a:r>
            <a:r>
              <a:rPr sz="2600" dirty="0">
                <a:latin typeface="Verdana"/>
                <a:cs typeface="Verdana"/>
              </a:rPr>
              <a:t>with similar 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products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and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 smtClean="0">
                <a:latin typeface="Verdana"/>
                <a:cs typeface="Verdana"/>
              </a:rPr>
              <a:t>services</a:t>
            </a:r>
            <a:r>
              <a:rPr lang="en-US" sz="2600" dirty="0" smtClean="0">
                <a:latin typeface="Verdana"/>
                <a:cs typeface="Verdana"/>
              </a:rPr>
              <a:t>.</a:t>
            </a:r>
            <a:endParaRPr sz="3100" dirty="0">
              <a:latin typeface="Verdana"/>
              <a:cs typeface="Verdana"/>
            </a:endParaRPr>
          </a:p>
          <a:p>
            <a:pPr algn="just">
              <a:spcBef>
                <a:spcPts val="40"/>
              </a:spcBef>
            </a:pPr>
            <a:endParaRPr sz="2800" dirty="0">
              <a:latin typeface="Verdana"/>
              <a:cs typeface="Verdana"/>
            </a:endParaRPr>
          </a:p>
          <a:p>
            <a:pPr marL="12700" marR="481330" algn="just">
              <a:lnSpc>
                <a:spcPct val="90000"/>
              </a:lnSpc>
            </a:pPr>
            <a:r>
              <a:rPr sz="2600" dirty="0">
                <a:latin typeface="Verdana"/>
                <a:cs typeface="Verdana"/>
              </a:rPr>
              <a:t>In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5" dirty="0">
                <a:latin typeface="Verdana"/>
                <a:cs typeface="Verdana"/>
              </a:rPr>
              <a:t>the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European </a:t>
            </a:r>
            <a:r>
              <a:rPr sz="2600" spc="5" dirty="0">
                <a:latin typeface="Verdana"/>
                <a:cs typeface="Verdana"/>
              </a:rPr>
              <a:t>airline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spc="-30" dirty="0">
                <a:latin typeface="Verdana"/>
                <a:cs typeface="Verdana"/>
              </a:rPr>
              <a:t>industry,</a:t>
            </a:r>
            <a:r>
              <a:rPr sz="2600" spc="-5" dirty="0">
                <a:latin typeface="Verdana"/>
                <a:cs typeface="Verdana"/>
              </a:rPr>
              <a:t> Air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France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and </a:t>
            </a:r>
            <a:r>
              <a:rPr sz="2600" dirty="0">
                <a:latin typeface="Verdana"/>
                <a:cs typeface="Verdana"/>
              </a:rPr>
              <a:t>British </a:t>
            </a:r>
            <a:r>
              <a:rPr sz="2600" spc="-5" dirty="0">
                <a:latin typeface="Verdana"/>
                <a:cs typeface="Verdana"/>
              </a:rPr>
              <a:t>Airways </a:t>
            </a:r>
            <a:r>
              <a:rPr sz="2600" dirty="0">
                <a:latin typeface="Verdana"/>
                <a:cs typeface="Verdana"/>
              </a:rPr>
              <a:t>are </a:t>
            </a:r>
            <a:r>
              <a:rPr sz="2600" spc="-5" dirty="0">
                <a:latin typeface="Verdana"/>
                <a:cs typeface="Verdana"/>
              </a:rPr>
              <a:t>rivals; high-speed 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trains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are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‘substitute’</a:t>
            </a:r>
            <a:endParaRPr sz="26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543" y="1636649"/>
            <a:ext cx="6817359" cy="3052502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 marR="5080">
              <a:lnSpc>
                <a:spcPct val="93000"/>
              </a:lnSpc>
              <a:spcBef>
                <a:spcPts val="1260"/>
              </a:spcBef>
            </a:pPr>
            <a:r>
              <a:rPr sz="13800" spc="1125" dirty="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3200" spc="-165" dirty="0">
                <a:latin typeface="Verdana"/>
                <a:cs typeface="Verdana"/>
              </a:rPr>
              <a:t>F</a:t>
            </a:r>
            <a:r>
              <a:rPr sz="3200" dirty="0">
                <a:latin typeface="Verdana"/>
                <a:cs typeface="Verdana"/>
              </a:rPr>
              <a:t>act</a:t>
            </a:r>
            <a:r>
              <a:rPr sz="3200" spc="-10" dirty="0">
                <a:latin typeface="Verdana"/>
                <a:cs typeface="Verdana"/>
              </a:rPr>
              <a:t>o</a:t>
            </a:r>
            <a:r>
              <a:rPr sz="3200" dirty="0">
                <a:latin typeface="Verdana"/>
                <a:cs typeface="Verdana"/>
              </a:rPr>
              <a:t>rs</a:t>
            </a:r>
            <a:r>
              <a:rPr sz="3200" spc="-10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ten</a:t>
            </a:r>
            <a:r>
              <a:rPr sz="3200" dirty="0">
                <a:latin typeface="Verdana"/>
                <a:cs typeface="Verdana"/>
              </a:rPr>
              <a:t>d </a:t>
            </a:r>
            <a:r>
              <a:rPr sz="3200" spc="-10" dirty="0">
                <a:latin typeface="Verdana"/>
                <a:cs typeface="Verdana"/>
              </a:rPr>
              <a:t>t</a:t>
            </a:r>
            <a:r>
              <a:rPr sz="3200" dirty="0">
                <a:latin typeface="Verdana"/>
                <a:cs typeface="Verdana"/>
              </a:rPr>
              <a:t>o </a:t>
            </a:r>
            <a:r>
              <a:rPr sz="3200" spc="-5" dirty="0">
                <a:latin typeface="Verdana"/>
                <a:cs typeface="Verdana"/>
              </a:rPr>
              <a:t>defin</a:t>
            </a:r>
            <a:r>
              <a:rPr sz="3200" dirty="0">
                <a:latin typeface="Verdana"/>
                <a:cs typeface="Verdana"/>
              </a:rPr>
              <a:t>e </a:t>
            </a:r>
            <a:r>
              <a:rPr sz="3200" spc="-5" dirty="0">
                <a:latin typeface="Verdana"/>
                <a:cs typeface="Verdana"/>
              </a:rPr>
              <a:t>the  </a:t>
            </a:r>
            <a:r>
              <a:rPr sz="3200" dirty="0">
                <a:latin typeface="Verdana"/>
                <a:cs typeface="Verdana"/>
              </a:rPr>
              <a:t>extent of </a:t>
            </a:r>
            <a:r>
              <a:rPr sz="3200" spc="-10" dirty="0">
                <a:latin typeface="Verdana"/>
                <a:cs typeface="Verdana"/>
              </a:rPr>
              <a:t>rivalry in </a:t>
            </a:r>
            <a:r>
              <a:rPr sz="3200" dirty="0">
                <a:latin typeface="Verdana"/>
                <a:cs typeface="Verdana"/>
              </a:rPr>
              <a:t>an </a:t>
            </a:r>
            <a:r>
              <a:rPr sz="3200" spc="-5" dirty="0">
                <a:latin typeface="Verdana"/>
                <a:cs typeface="Verdana"/>
              </a:rPr>
              <a:t>industry </a:t>
            </a:r>
            <a:r>
              <a:rPr sz="3200" dirty="0">
                <a:latin typeface="Verdana"/>
                <a:cs typeface="Verdana"/>
              </a:rPr>
              <a:t>or </a:t>
            </a:r>
            <a:r>
              <a:rPr sz="3200" spc="-111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market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300" spc="-5" dirty="0">
                <a:latin typeface="Georgia"/>
                <a:cs typeface="Georgia"/>
              </a:rPr>
              <a:t>Competitive</a:t>
            </a:r>
            <a:r>
              <a:rPr sz="3300" spc="-55" dirty="0">
                <a:latin typeface="Georgia"/>
                <a:cs typeface="Georgia"/>
              </a:rPr>
              <a:t> </a:t>
            </a:r>
            <a:r>
              <a:rPr sz="3300" dirty="0">
                <a:latin typeface="Georgia"/>
                <a:cs typeface="Georgia"/>
              </a:rPr>
              <a:t>Rivalry</a:t>
            </a:r>
            <a:endParaRPr sz="33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Competitive</a:t>
            </a:r>
            <a:r>
              <a:rPr spc="-55" dirty="0"/>
              <a:t> </a:t>
            </a:r>
            <a:r>
              <a:rPr dirty="0"/>
              <a:t>Rivalry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4" name="object 4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31542" y="1727074"/>
            <a:ext cx="7468234" cy="432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315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 dirty="0">
              <a:latin typeface="Verdana"/>
              <a:cs typeface="Verdana"/>
            </a:endParaRPr>
          </a:p>
          <a:p>
            <a:pPr>
              <a:spcBef>
                <a:spcPts val="35"/>
              </a:spcBef>
            </a:pPr>
            <a:endParaRPr sz="2500" dirty="0">
              <a:latin typeface="Verdana"/>
              <a:cs typeface="Verdana"/>
            </a:endParaRPr>
          </a:p>
          <a:p>
            <a:pPr marL="12700" marR="1367155">
              <a:lnSpc>
                <a:spcPts val="3460"/>
              </a:lnSpc>
            </a:pPr>
            <a:r>
              <a:rPr sz="3200" spc="-10" dirty="0">
                <a:latin typeface="Verdana"/>
                <a:cs typeface="Verdana"/>
              </a:rPr>
              <a:t>Competitor</a:t>
            </a:r>
            <a:r>
              <a:rPr sz="3200" spc="-50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concentration</a:t>
            </a:r>
            <a:r>
              <a:rPr sz="3200" spc="-5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and </a:t>
            </a:r>
            <a:r>
              <a:rPr sz="3200" spc="-1110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balance</a:t>
            </a:r>
            <a:endParaRPr sz="3200" dirty="0">
              <a:latin typeface="Verdana"/>
              <a:cs typeface="Verdana"/>
            </a:endParaRPr>
          </a:p>
          <a:p>
            <a:pPr marL="12700" marR="5080" algn="just">
              <a:lnSpc>
                <a:spcPts val="2590"/>
              </a:lnSpc>
              <a:spcBef>
                <a:spcPts val="790"/>
              </a:spcBef>
            </a:pPr>
            <a:r>
              <a:rPr sz="2400" spc="-5" dirty="0">
                <a:latin typeface="Verdana"/>
                <a:cs typeface="Verdana"/>
              </a:rPr>
              <a:t>Where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competitors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 </a:t>
            </a:r>
            <a:r>
              <a:rPr sz="2400" dirty="0">
                <a:latin typeface="Verdana"/>
                <a:cs typeface="Verdana"/>
              </a:rPr>
              <a:t>numerous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 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roughly </a:t>
            </a:r>
            <a:r>
              <a:rPr sz="2400" dirty="0">
                <a:latin typeface="Verdana"/>
                <a:cs typeface="Verdana"/>
              </a:rPr>
              <a:t> equal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size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 </a:t>
            </a:r>
            <a:r>
              <a:rPr sz="2400" spc="-5" dirty="0">
                <a:latin typeface="Verdana"/>
                <a:cs typeface="Verdana"/>
              </a:rPr>
              <a:t>power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there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danger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intensely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rivalrous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behavior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competitors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attempt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gain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dominance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over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others,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through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aggressive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price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cuts</a:t>
            </a:r>
          </a:p>
          <a:p>
            <a:pPr>
              <a:spcBef>
                <a:spcPts val="55"/>
              </a:spcBef>
            </a:pPr>
            <a:endParaRPr sz="3150" dirty="0">
              <a:latin typeface="Verdana"/>
              <a:cs typeface="Verdana"/>
            </a:endParaRPr>
          </a:p>
          <a:p>
            <a:pPr marL="12700"/>
            <a:r>
              <a:rPr sz="2400" spc="-5" dirty="0">
                <a:latin typeface="Verdana"/>
                <a:cs typeface="Verdana"/>
              </a:rPr>
              <a:t>Examples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Pakistani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Context?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Competitive</a:t>
            </a:r>
            <a:r>
              <a:rPr spc="-55" dirty="0"/>
              <a:t> </a:t>
            </a:r>
            <a:r>
              <a:rPr dirty="0"/>
              <a:t>Rivalry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2754629"/>
            <a:ext cx="40087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dirty="0">
                <a:latin typeface="Verdana"/>
                <a:cs typeface="Verdana"/>
              </a:rPr>
              <a:t>Industry</a:t>
            </a:r>
            <a:r>
              <a:rPr sz="3000" spc="-4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growth</a:t>
            </a:r>
            <a:r>
              <a:rPr sz="3000" spc="-40" dirty="0">
                <a:latin typeface="Verdana"/>
                <a:cs typeface="Verdana"/>
              </a:rPr>
              <a:t> </a:t>
            </a:r>
            <a:r>
              <a:rPr sz="3000" spc="-15" dirty="0">
                <a:latin typeface="Verdana"/>
                <a:cs typeface="Verdana"/>
              </a:rPr>
              <a:t>rate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1542" y="3195321"/>
            <a:ext cx="778573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dirty="0">
                <a:latin typeface="Verdana"/>
                <a:cs typeface="Verdana"/>
              </a:rPr>
              <a:t>In</a:t>
            </a:r>
            <a:r>
              <a:rPr sz="2600" spc="-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situations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of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strong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growth,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an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organization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1542" y="3472689"/>
            <a:ext cx="76530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dirty="0">
                <a:latin typeface="Verdana"/>
                <a:cs typeface="Verdana"/>
              </a:rPr>
              <a:t>can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grow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with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 market,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but </a:t>
            </a:r>
            <a:r>
              <a:rPr sz="2600" dirty="0">
                <a:latin typeface="Verdana"/>
                <a:cs typeface="Verdana"/>
              </a:rPr>
              <a:t>in</a:t>
            </a:r>
            <a:r>
              <a:rPr sz="2600" spc="-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situations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of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1543" y="3750056"/>
            <a:ext cx="74987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Verdana"/>
                <a:cs typeface="Verdana"/>
              </a:rPr>
              <a:t>low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growth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or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decline,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any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growth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is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likely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</a:t>
            </a:r>
            <a:endParaRPr sz="26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1543" y="4027424"/>
            <a:ext cx="72180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" dirty="0">
                <a:latin typeface="Verdana"/>
                <a:cs typeface="Verdana"/>
              </a:rPr>
              <a:t>be</a:t>
            </a:r>
            <a:r>
              <a:rPr sz="2600" dirty="0">
                <a:latin typeface="Verdana"/>
                <a:cs typeface="Verdana"/>
              </a:rPr>
              <a:t> at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expense</a:t>
            </a:r>
            <a:r>
              <a:rPr sz="2600" spc="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of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10" dirty="0" smtClean="0">
                <a:latin typeface="Verdana"/>
                <a:cs typeface="Verdana"/>
              </a:rPr>
              <a:t>rival</a:t>
            </a:r>
            <a:r>
              <a:rPr lang="en-US" sz="2600" spc="-10" dirty="0" smtClean="0">
                <a:latin typeface="Verdana"/>
                <a:cs typeface="Verdana"/>
              </a:rPr>
              <a:t>.</a:t>
            </a:r>
            <a:endParaRPr sz="26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1543" y="5062474"/>
            <a:ext cx="67163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" dirty="0">
                <a:latin typeface="Verdana"/>
                <a:cs typeface="Verdana"/>
              </a:rPr>
              <a:t>Low-growth</a:t>
            </a:r>
            <a:r>
              <a:rPr sz="2600" spc="-4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markets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are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therefore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often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1543" y="5339893"/>
            <a:ext cx="69742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Verdana"/>
                <a:cs typeface="Verdana"/>
              </a:rPr>
              <a:t>associated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with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price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competition</a:t>
            </a:r>
            <a:r>
              <a:rPr sz="2600" spc="-4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and</a:t>
            </a:r>
            <a:r>
              <a:rPr sz="2600" spc="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low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31543" y="5617262"/>
            <a:ext cx="191388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" dirty="0">
                <a:latin typeface="Verdana"/>
                <a:cs typeface="Verdana"/>
              </a:rPr>
              <a:t>profitability</a:t>
            </a:r>
            <a:endParaRPr sz="2600" dirty="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13" name="object 13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Competitive</a:t>
            </a:r>
            <a:r>
              <a:rPr spc="-55" dirty="0"/>
              <a:t> </a:t>
            </a:r>
            <a:r>
              <a:rPr dirty="0"/>
              <a:t>Rivalry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3018283"/>
            <a:ext cx="67862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spc="-5" dirty="0">
                <a:latin typeface="Verdana"/>
                <a:cs typeface="Verdana"/>
              </a:rPr>
              <a:t>Industries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with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high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fixed </a:t>
            </a:r>
            <a:r>
              <a:rPr sz="2600" dirty="0">
                <a:latin typeface="Verdana"/>
                <a:cs typeface="Verdana"/>
              </a:rPr>
              <a:t>costs,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perhaps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1543" y="3295651"/>
            <a:ext cx="69018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spc="-5" dirty="0">
                <a:latin typeface="Verdana"/>
                <a:cs typeface="Verdana"/>
              </a:rPr>
              <a:t>because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they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require</a:t>
            </a:r>
            <a:r>
              <a:rPr sz="2600" spc="-5" dirty="0">
                <a:latin typeface="Verdana"/>
                <a:cs typeface="Verdana"/>
              </a:rPr>
              <a:t> high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investments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1543" y="3573018"/>
            <a:ext cx="74377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spc="-5" dirty="0">
                <a:latin typeface="Verdana"/>
                <a:cs typeface="Verdana"/>
              </a:rPr>
              <a:t>capital equipment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or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initial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research,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tend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to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1543" y="3831793"/>
            <a:ext cx="34905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Verdana"/>
                <a:cs typeface="Verdana"/>
              </a:rPr>
              <a:t>be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C55A11"/>
                </a:solidFill>
                <a:latin typeface="Verdana"/>
                <a:cs typeface="Verdana"/>
              </a:rPr>
              <a:t>highly</a:t>
            </a:r>
            <a:r>
              <a:rPr sz="3000" spc="-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C55A11"/>
                </a:solidFill>
                <a:latin typeface="Verdana"/>
                <a:cs typeface="Verdana"/>
              </a:rPr>
              <a:t>rivalrous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1543" y="4271265"/>
            <a:ext cx="77069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Verdana"/>
                <a:cs typeface="Verdana"/>
              </a:rPr>
              <a:t>Companies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will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seek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spread </a:t>
            </a:r>
            <a:r>
              <a:rPr sz="2600" spc="-5" dirty="0">
                <a:latin typeface="Verdana"/>
                <a:cs typeface="Verdana"/>
              </a:rPr>
              <a:t>their </a:t>
            </a:r>
            <a:r>
              <a:rPr sz="2600" dirty="0">
                <a:latin typeface="Verdana"/>
                <a:cs typeface="Verdana"/>
              </a:rPr>
              <a:t>costs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(i.e.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1542" y="4548633"/>
            <a:ext cx="62179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Verdana"/>
                <a:cs typeface="Verdana"/>
              </a:rPr>
              <a:t>reduce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unit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costs)</a:t>
            </a:r>
            <a:r>
              <a:rPr sz="2600" spc="-4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by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increasing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their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1543" y="4826001"/>
            <a:ext cx="69716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" dirty="0">
                <a:latin typeface="Verdana"/>
                <a:cs typeface="Verdana"/>
              </a:rPr>
              <a:t>volumes: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do </a:t>
            </a:r>
            <a:r>
              <a:rPr sz="2600" spc="-15" dirty="0">
                <a:latin typeface="Verdana"/>
                <a:cs typeface="Verdana"/>
              </a:rPr>
              <a:t>so, </a:t>
            </a:r>
            <a:r>
              <a:rPr sz="2600" spc="-5" dirty="0">
                <a:latin typeface="Verdana"/>
                <a:cs typeface="Verdana"/>
              </a:rPr>
              <a:t>they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typically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cut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their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1542" y="5103368"/>
            <a:ext cx="76530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Verdana"/>
                <a:cs typeface="Verdana"/>
              </a:rPr>
              <a:t>prices,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prompting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competitors</a:t>
            </a:r>
            <a:r>
              <a:rPr sz="2600" spc="-5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do</a:t>
            </a:r>
            <a:r>
              <a:rPr sz="2600" spc="-5" dirty="0">
                <a:latin typeface="Verdana"/>
                <a:cs typeface="Verdana"/>
              </a:rPr>
              <a:t> the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same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1542" y="5380432"/>
            <a:ext cx="706882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spc="-5" dirty="0">
                <a:latin typeface="Verdana"/>
                <a:cs typeface="Verdana"/>
              </a:rPr>
              <a:t>and </a:t>
            </a:r>
            <a:r>
              <a:rPr sz="2600" dirty="0">
                <a:latin typeface="Verdana"/>
                <a:cs typeface="Verdana"/>
              </a:rPr>
              <a:t>thereby</a:t>
            </a:r>
            <a:r>
              <a:rPr sz="2600" spc="-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triggering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price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wars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which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1542" y="5658409"/>
            <a:ext cx="53162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10" dirty="0">
                <a:latin typeface="Verdana"/>
                <a:cs typeface="Verdana"/>
              </a:rPr>
              <a:t>everyone </a:t>
            </a:r>
            <a:r>
              <a:rPr sz="2600" dirty="0">
                <a:latin typeface="Verdana"/>
                <a:cs typeface="Verdana"/>
              </a:rPr>
              <a:t>in</a:t>
            </a:r>
            <a:r>
              <a:rPr sz="2600" spc="-5" dirty="0">
                <a:latin typeface="Verdana"/>
                <a:cs typeface="Verdana"/>
              </a:rPr>
              <a:t> the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industry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suffers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14" name="object 14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31543" y="1727073"/>
            <a:ext cx="3065145" cy="1333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315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  <a:p>
            <a:pPr>
              <a:spcBef>
                <a:spcPts val="55"/>
              </a:spcBef>
            </a:pPr>
            <a:endParaRPr sz="2700">
              <a:latin typeface="Verdana"/>
              <a:cs typeface="Verdana"/>
            </a:endParaRPr>
          </a:p>
          <a:p>
            <a:pPr marL="12700">
              <a:spcBef>
                <a:spcPts val="5"/>
              </a:spcBef>
            </a:pPr>
            <a:r>
              <a:rPr sz="3000" dirty="0">
                <a:latin typeface="Verdana"/>
                <a:cs typeface="Verdana"/>
              </a:rPr>
              <a:t>High</a:t>
            </a:r>
            <a:r>
              <a:rPr sz="3000" spc="-5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fixed</a:t>
            </a:r>
            <a:r>
              <a:rPr sz="3000" spc="-4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costs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Competitive</a:t>
            </a:r>
            <a:r>
              <a:rPr spc="-55" dirty="0"/>
              <a:t> </a:t>
            </a:r>
            <a:r>
              <a:rPr dirty="0"/>
              <a:t>Rivalry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2688526"/>
            <a:ext cx="7629525" cy="34099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spcBef>
                <a:spcPts val="355"/>
              </a:spcBef>
            </a:pPr>
            <a:r>
              <a:rPr sz="2700" spc="-5" dirty="0">
                <a:latin typeface="Verdana"/>
                <a:cs typeface="Verdana"/>
              </a:rPr>
              <a:t>High</a:t>
            </a:r>
            <a:r>
              <a:rPr sz="2700" spc="-2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fixed</a:t>
            </a:r>
            <a:r>
              <a:rPr sz="2700" spc="-1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costs</a:t>
            </a:r>
            <a:endParaRPr sz="2700">
              <a:latin typeface="Verdana"/>
              <a:cs typeface="Verdana"/>
            </a:endParaRPr>
          </a:p>
          <a:p>
            <a:pPr marL="12700" marR="5080">
              <a:lnSpc>
                <a:spcPct val="80000"/>
              </a:lnSpc>
              <a:spcBef>
                <a:spcPts val="805"/>
              </a:spcBef>
            </a:pPr>
            <a:r>
              <a:rPr sz="2400" spc="-30" dirty="0">
                <a:latin typeface="Verdana"/>
                <a:cs typeface="Verdana"/>
              </a:rPr>
              <a:t>Similarly,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extra</a:t>
            </a:r>
            <a:r>
              <a:rPr sz="2400" spc="-5" dirty="0">
                <a:latin typeface="Verdana"/>
                <a:cs typeface="Verdana"/>
              </a:rPr>
              <a:t> capacity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 only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 </a:t>
            </a:r>
            <a:r>
              <a:rPr sz="2400" dirty="0">
                <a:latin typeface="Verdana"/>
                <a:cs typeface="Verdana"/>
              </a:rPr>
              <a:t>added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 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large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increments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(as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many manufacturing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sectors,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example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chemical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glass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factory),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competitor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making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such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addition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 </a:t>
            </a:r>
            <a:r>
              <a:rPr sz="2400" spc="-15" dirty="0">
                <a:latin typeface="Verdana"/>
                <a:cs typeface="Verdana"/>
              </a:rPr>
              <a:t>likely 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create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short-term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over-capacity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industry,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leading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increased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competition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capacity</a:t>
            </a:r>
            <a:endParaRPr sz="2400">
              <a:latin typeface="Verdana"/>
              <a:cs typeface="Verdana"/>
            </a:endParaRPr>
          </a:p>
          <a:p>
            <a:pPr>
              <a:spcBef>
                <a:spcPts val="55"/>
              </a:spcBef>
            </a:pPr>
            <a:endParaRPr sz="2700">
              <a:latin typeface="Verdana"/>
              <a:cs typeface="Verdana"/>
            </a:endParaRPr>
          </a:p>
          <a:p>
            <a:pPr marL="12700"/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Case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Automobile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Industry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Pakistan?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Competitive</a:t>
            </a:r>
            <a:r>
              <a:rPr spc="-55" dirty="0"/>
              <a:t> </a:t>
            </a:r>
            <a:r>
              <a:rPr dirty="0"/>
              <a:t>Rivalry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3009138"/>
            <a:ext cx="7614284" cy="265557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spcBef>
                <a:spcPts val="685"/>
              </a:spcBef>
            </a:pPr>
            <a:r>
              <a:rPr sz="3500" spc="-5" dirty="0">
                <a:latin typeface="Verdana"/>
                <a:cs typeface="Verdana"/>
              </a:rPr>
              <a:t>High</a:t>
            </a:r>
            <a:r>
              <a:rPr sz="3500" spc="-40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exit</a:t>
            </a:r>
            <a:r>
              <a:rPr sz="3500" spc="-30" dirty="0">
                <a:latin typeface="Verdana"/>
                <a:cs typeface="Verdana"/>
              </a:rPr>
              <a:t> </a:t>
            </a:r>
            <a:r>
              <a:rPr sz="3500" spc="-5" dirty="0">
                <a:latin typeface="Verdana"/>
                <a:cs typeface="Verdana"/>
              </a:rPr>
              <a:t>barriers</a:t>
            </a:r>
            <a:endParaRPr sz="3500" dirty="0">
              <a:latin typeface="Verdana"/>
              <a:cs typeface="Verdana"/>
            </a:endParaRPr>
          </a:p>
          <a:p>
            <a:pPr marL="12700" marR="5080">
              <a:lnSpc>
                <a:spcPct val="90000"/>
              </a:lnSpc>
              <a:spcBef>
                <a:spcPts val="800"/>
              </a:spcBef>
            </a:pPr>
            <a:r>
              <a:rPr sz="2800" spc="-10" dirty="0">
                <a:latin typeface="Verdana"/>
                <a:cs typeface="Verdana"/>
              </a:rPr>
              <a:t>Exit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barriers</a:t>
            </a:r>
            <a:r>
              <a:rPr sz="2800" spc="6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might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be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high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for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variety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of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reasons:</a:t>
            </a:r>
            <a:r>
              <a:rPr sz="2800" spc="5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for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example,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high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redundancy 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costs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or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high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investment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specific</a:t>
            </a:r>
            <a:r>
              <a:rPr sz="2800" spc="4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assets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such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as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plant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and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equipment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which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others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would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not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buy</a:t>
            </a:r>
            <a:endParaRPr sz="28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71665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Competitive</a:t>
            </a:r>
            <a:r>
              <a:rPr spc="-55" dirty="0"/>
              <a:t> </a:t>
            </a:r>
            <a:r>
              <a:rPr dirty="0"/>
              <a:t>Rivalry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3010233"/>
            <a:ext cx="7730490" cy="30340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spcBef>
                <a:spcPts val="305"/>
              </a:spcBef>
            </a:pPr>
            <a:r>
              <a:rPr sz="3000" dirty="0">
                <a:latin typeface="Verdana"/>
                <a:cs typeface="Verdana"/>
              </a:rPr>
              <a:t>Low</a:t>
            </a:r>
            <a:r>
              <a:rPr sz="3000" spc="-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differentiation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ct val="80000"/>
              </a:lnSpc>
              <a:spcBef>
                <a:spcPts val="810"/>
              </a:spcBef>
            </a:pPr>
            <a:r>
              <a:rPr sz="2600" dirty="0">
                <a:latin typeface="Verdana"/>
                <a:cs typeface="Verdana"/>
              </a:rPr>
              <a:t>In a commodity </a:t>
            </a:r>
            <a:r>
              <a:rPr sz="2600" spc="-5" dirty="0">
                <a:latin typeface="Verdana"/>
                <a:cs typeface="Verdana"/>
              </a:rPr>
              <a:t>market, where products </a:t>
            </a:r>
            <a:r>
              <a:rPr sz="2600" dirty="0">
                <a:latin typeface="Verdana"/>
                <a:cs typeface="Verdana"/>
              </a:rPr>
              <a:t>or 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services are poorly differentiated, </a:t>
            </a:r>
            <a:r>
              <a:rPr sz="2600" spc="-5" dirty="0">
                <a:latin typeface="Verdana"/>
                <a:cs typeface="Verdana"/>
              </a:rPr>
              <a:t>rivalry </a:t>
            </a:r>
            <a:r>
              <a:rPr sz="2600" dirty="0">
                <a:latin typeface="Verdana"/>
                <a:cs typeface="Verdana"/>
              </a:rPr>
              <a:t>is 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increased </a:t>
            </a:r>
            <a:r>
              <a:rPr sz="2600" spc="-5" dirty="0">
                <a:latin typeface="Verdana"/>
                <a:cs typeface="Verdana"/>
              </a:rPr>
              <a:t>because there is </a:t>
            </a:r>
            <a:r>
              <a:rPr sz="2600" dirty="0">
                <a:latin typeface="Verdana"/>
                <a:cs typeface="Verdana"/>
              </a:rPr>
              <a:t>little to stop 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customers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switching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between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competitors</a:t>
            </a:r>
            <a:r>
              <a:rPr sz="2600" spc="-5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and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 only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way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compete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is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on price.</a:t>
            </a:r>
            <a:endParaRPr sz="2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850">
              <a:latin typeface="Verdana"/>
              <a:cs typeface="Verdana"/>
            </a:endParaRPr>
          </a:p>
          <a:p>
            <a:pPr marL="12700">
              <a:spcBef>
                <a:spcPts val="5"/>
              </a:spcBef>
            </a:pPr>
            <a:r>
              <a:rPr sz="2600" spc="-5" dirty="0">
                <a:latin typeface="Verdana"/>
                <a:cs typeface="Verdana"/>
              </a:rPr>
              <a:t>Example: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Petrol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is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commodity</a:t>
            </a:r>
            <a:r>
              <a:rPr sz="2600" spc="-5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market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0226" y="2585484"/>
            <a:ext cx="7678420" cy="147604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 algn="just">
              <a:spcBef>
                <a:spcPts val="869"/>
              </a:spcBef>
            </a:pPr>
            <a:r>
              <a:rPr sz="2800" spc="-5" dirty="0">
                <a:latin typeface="Verdana"/>
                <a:cs typeface="Verdana"/>
              </a:rPr>
              <a:t>Scale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and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Experience</a:t>
            </a:r>
            <a:endParaRPr sz="2800" dirty="0">
              <a:latin typeface="Verdana"/>
              <a:cs typeface="Verdana"/>
            </a:endParaRPr>
          </a:p>
          <a:p>
            <a:pPr marL="12700" marR="5080" algn="just">
              <a:lnSpc>
                <a:spcPct val="90100"/>
              </a:lnSpc>
              <a:spcBef>
                <a:spcPts val="800"/>
              </a:spcBef>
            </a:pPr>
            <a:r>
              <a:rPr sz="2000" dirty="0">
                <a:latin typeface="Verdana"/>
                <a:cs typeface="Verdana"/>
              </a:rPr>
              <a:t>In some </a:t>
            </a:r>
            <a:r>
              <a:rPr sz="2000" spc="-5" dirty="0">
                <a:latin typeface="Verdana"/>
                <a:cs typeface="Verdana"/>
              </a:rPr>
              <a:t>industries, economies </a:t>
            </a:r>
            <a:r>
              <a:rPr sz="2000" dirty="0">
                <a:latin typeface="Verdana"/>
                <a:cs typeface="Verdana"/>
              </a:rPr>
              <a:t>of scale are </a:t>
            </a:r>
            <a:r>
              <a:rPr sz="2000" spc="-5" dirty="0" smtClean="0">
                <a:latin typeface="Verdana"/>
                <a:cs typeface="Verdana"/>
              </a:rPr>
              <a:t>extremely</a:t>
            </a:r>
            <a:r>
              <a:rPr lang="en-US" sz="2000" spc="-5" dirty="0" smtClean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important</a:t>
            </a:r>
            <a:r>
              <a:rPr sz="2000" spc="-5" dirty="0">
                <a:latin typeface="Verdana"/>
                <a:cs typeface="Verdana"/>
              </a:rPr>
              <a:t>: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5" dirty="0">
                <a:latin typeface="Verdana"/>
                <a:cs typeface="Verdana"/>
              </a:rPr>
              <a:t>example, in the production </a:t>
            </a:r>
            <a:r>
              <a:rPr sz="2000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automobiles </a:t>
            </a:r>
            <a:r>
              <a:rPr sz="2000" dirty="0">
                <a:latin typeface="Verdana"/>
                <a:cs typeface="Verdana"/>
              </a:rPr>
              <a:t>or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advertising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fast-moving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consumer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goods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0832" y="4280795"/>
            <a:ext cx="4589399" cy="24535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36760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Threat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5" dirty="0"/>
              <a:t>Entry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36760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Threat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5" dirty="0"/>
              <a:t>Entry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2798191"/>
            <a:ext cx="7395845" cy="1722908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972185" algn="just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latin typeface="Verdana"/>
                <a:cs typeface="Verdana"/>
              </a:rPr>
              <a:t>Access </a:t>
            </a:r>
            <a:r>
              <a:rPr sz="3200" spc="-5" dirty="0">
                <a:latin typeface="Verdana"/>
                <a:cs typeface="Verdana"/>
              </a:rPr>
              <a:t>to </a:t>
            </a:r>
            <a:r>
              <a:rPr sz="3200" dirty="0">
                <a:latin typeface="Verdana"/>
                <a:cs typeface="Verdana"/>
              </a:rPr>
              <a:t>supply or </a:t>
            </a:r>
            <a:r>
              <a:rPr sz="3200" spc="-5" dirty="0">
                <a:latin typeface="Verdana"/>
                <a:cs typeface="Verdana"/>
              </a:rPr>
              <a:t>distribution </a:t>
            </a:r>
            <a:r>
              <a:rPr sz="3200" spc="-111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channels</a:t>
            </a:r>
          </a:p>
          <a:p>
            <a:pPr marL="12700" algn="just">
              <a:lnSpc>
                <a:spcPts val="2735"/>
              </a:lnSpc>
              <a:spcBef>
                <a:spcPts val="455"/>
              </a:spcBef>
            </a:pP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many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industries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manufacturers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 smtClean="0">
                <a:latin typeface="Verdana"/>
                <a:cs typeface="Verdana"/>
              </a:rPr>
              <a:t>had</a:t>
            </a:r>
            <a:r>
              <a:rPr lang="en-US" sz="2400" dirty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control</a:t>
            </a:r>
            <a:r>
              <a:rPr sz="2400" spc="35" dirty="0" smtClean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over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supply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and/or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distribution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channels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129" y="4938430"/>
            <a:ext cx="2691384" cy="1714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5410200"/>
            <a:ext cx="2450781" cy="77095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7" name="object 7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36760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Threat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5" dirty="0"/>
              <a:t>Entry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3324422"/>
            <a:ext cx="7232650" cy="16897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algn="just">
              <a:spcBef>
                <a:spcPts val="785"/>
              </a:spcBef>
            </a:pPr>
            <a:r>
              <a:rPr sz="3200" dirty="0">
                <a:latin typeface="Verdana"/>
                <a:cs typeface="Verdana"/>
              </a:rPr>
              <a:t>Legislation</a:t>
            </a:r>
            <a:r>
              <a:rPr sz="3200" spc="-1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or</a:t>
            </a:r>
            <a:r>
              <a:rPr sz="3200" spc="-20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government</a:t>
            </a:r>
            <a:r>
              <a:rPr sz="3200" spc="-3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  <a:p>
            <a:pPr marL="12700" marR="5080" algn="just">
              <a:lnSpc>
                <a:spcPts val="2590"/>
              </a:lnSpc>
              <a:spcBef>
                <a:spcPts val="840"/>
              </a:spcBef>
            </a:pPr>
            <a:r>
              <a:rPr sz="2400" dirty="0">
                <a:latin typeface="Verdana"/>
                <a:cs typeface="Verdana"/>
              </a:rPr>
              <a:t>Legal </a:t>
            </a:r>
            <a:r>
              <a:rPr sz="2400" spc="-10" dirty="0">
                <a:latin typeface="Verdana"/>
                <a:cs typeface="Verdana"/>
              </a:rPr>
              <a:t>restraints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new entry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vary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from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patent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protection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(e.g.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pharmaceuticals)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direct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government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action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(e.g. </a:t>
            </a:r>
            <a:r>
              <a:rPr sz="2400" spc="-10" dirty="0">
                <a:latin typeface="Verdana"/>
                <a:cs typeface="Verdana"/>
              </a:rPr>
              <a:t>tariffs)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2800" spc="-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7059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Threat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Substitutes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9724" y="1825751"/>
            <a:ext cx="2892551" cy="4351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7059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Threat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Substitutes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2249804"/>
            <a:ext cx="7720330" cy="33041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16510" algn="just">
              <a:lnSpc>
                <a:spcPts val="2590"/>
              </a:lnSpc>
              <a:spcBef>
                <a:spcPts val="425"/>
              </a:spcBef>
            </a:pPr>
            <a:r>
              <a:rPr sz="2400" i="1" spc="-5" dirty="0">
                <a:latin typeface="Verdana"/>
                <a:cs typeface="Verdana"/>
              </a:rPr>
              <a:t>Substitutes</a:t>
            </a:r>
            <a:r>
              <a:rPr sz="2400" i="1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products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services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offer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same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similar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benefit</a:t>
            </a:r>
            <a:r>
              <a:rPr sz="2400" spc="9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industry’s 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products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 </a:t>
            </a:r>
            <a:r>
              <a:rPr sz="2400" spc="-5" dirty="0" smtClean="0">
                <a:latin typeface="Verdana"/>
                <a:cs typeface="Verdana"/>
              </a:rPr>
              <a:t>services</a:t>
            </a:r>
            <a:r>
              <a:rPr lang="en-US" sz="2400" spc="15" dirty="0" smtClean="0">
                <a:latin typeface="Verdana"/>
                <a:cs typeface="Verdana"/>
              </a:rPr>
              <a:t>.</a:t>
            </a:r>
          </a:p>
          <a:p>
            <a:pPr marL="12700" marR="16510" algn="just">
              <a:lnSpc>
                <a:spcPts val="2590"/>
              </a:lnSpc>
              <a:spcBef>
                <a:spcPts val="425"/>
              </a:spcBef>
            </a:pPr>
            <a:r>
              <a:rPr sz="2400" spc="-20" dirty="0" smtClean="0">
                <a:latin typeface="Verdana"/>
                <a:cs typeface="Verdana"/>
              </a:rPr>
              <a:t>For</a:t>
            </a:r>
            <a:r>
              <a:rPr sz="2400" dirty="0" smtClean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example,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aluminum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dirty="0">
                <a:latin typeface="Verdana"/>
                <a:cs typeface="Verdana"/>
              </a:rPr>
              <a:t> a </a:t>
            </a:r>
            <a:r>
              <a:rPr sz="2400" spc="-5" dirty="0">
                <a:latin typeface="Verdana"/>
                <a:cs typeface="Verdana"/>
              </a:rPr>
              <a:t>substitute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steel;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tablet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computer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dirty="0">
                <a:latin typeface="Verdana"/>
                <a:cs typeface="Verdana"/>
              </a:rPr>
              <a:t> a substitute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laptop</a:t>
            </a:r>
            <a:endParaRPr sz="2400" dirty="0">
              <a:latin typeface="Verdana"/>
              <a:cs typeface="Verdana"/>
            </a:endParaRPr>
          </a:p>
          <a:p>
            <a:pPr algn="just">
              <a:lnSpc>
                <a:spcPct val="100000"/>
              </a:lnSpc>
            </a:pPr>
            <a:endParaRPr sz="3450" dirty="0">
              <a:latin typeface="Verdana"/>
              <a:cs typeface="Verdana"/>
            </a:endParaRPr>
          </a:p>
          <a:p>
            <a:pPr marL="12700" marR="267335" algn="just">
              <a:lnSpc>
                <a:spcPts val="2590"/>
              </a:lnSpc>
            </a:pPr>
            <a:r>
              <a:rPr sz="2400" dirty="0">
                <a:latin typeface="Verdana"/>
                <a:cs typeface="Verdana"/>
              </a:rPr>
              <a:t>Managers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often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focus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their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competitors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 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their </a:t>
            </a:r>
            <a:r>
              <a:rPr sz="2400" dirty="0">
                <a:latin typeface="Verdana"/>
                <a:cs typeface="Verdana"/>
              </a:rPr>
              <a:t>own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industry,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neglect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threat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posed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by </a:t>
            </a:r>
            <a:r>
              <a:rPr sz="2400" dirty="0" smtClean="0">
                <a:latin typeface="Verdana"/>
                <a:cs typeface="Verdana"/>
              </a:rPr>
              <a:t>substitutes</a:t>
            </a:r>
            <a:r>
              <a:rPr lang="en-US" sz="2400" dirty="0" smtClean="0"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7059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Threat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Substitutes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2767966"/>
            <a:ext cx="6412865" cy="6508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71800"/>
              </a:lnSpc>
              <a:spcBef>
                <a:spcPts val="1010"/>
              </a:spcBef>
            </a:pPr>
            <a:r>
              <a:rPr sz="2700" spc="-5" dirty="0">
                <a:latin typeface="Verdana"/>
                <a:cs typeface="Verdana"/>
              </a:rPr>
              <a:t>Th</a:t>
            </a:r>
            <a:r>
              <a:rPr sz="2700" dirty="0">
                <a:latin typeface="Verdana"/>
                <a:cs typeface="Verdana"/>
              </a:rPr>
              <a:t>e</a:t>
            </a:r>
            <a:r>
              <a:rPr sz="2700" spc="5" dirty="0">
                <a:latin typeface="Verdana"/>
                <a:cs typeface="Verdana"/>
              </a:rPr>
              <a:t> </a:t>
            </a:r>
            <a:r>
              <a:rPr sz="2700" spc="-5" dirty="0">
                <a:latin typeface="Verdana"/>
                <a:cs typeface="Verdana"/>
              </a:rPr>
              <a:t>pri</a:t>
            </a:r>
            <a:r>
              <a:rPr sz="2700" spc="-10" dirty="0">
                <a:latin typeface="Verdana"/>
                <a:cs typeface="Verdana"/>
              </a:rPr>
              <a:t>c</a:t>
            </a:r>
            <a:r>
              <a:rPr sz="2700" dirty="0">
                <a:latin typeface="Verdana"/>
                <a:cs typeface="Verdana"/>
              </a:rPr>
              <a:t>e/per</a:t>
            </a:r>
            <a:r>
              <a:rPr sz="2700" spc="-10" dirty="0">
                <a:latin typeface="Verdana"/>
                <a:cs typeface="Verdana"/>
              </a:rPr>
              <a:t>f</a:t>
            </a:r>
            <a:r>
              <a:rPr sz="2700" dirty="0">
                <a:latin typeface="Verdana"/>
                <a:cs typeface="Verdana"/>
              </a:rPr>
              <a:t>ormance</a:t>
            </a:r>
            <a:r>
              <a:rPr sz="2700" spc="3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r</a:t>
            </a:r>
            <a:r>
              <a:rPr sz="2700" dirty="0">
                <a:latin typeface="Verdana"/>
                <a:cs typeface="Verdana"/>
              </a:rPr>
              <a:t>atio</a:t>
            </a:r>
            <a:r>
              <a:rPr sz="2700" spc="-2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spc="-5" dirty="0">
                <a:latin typeface="Verdana"/>
                <a:cs typeface="Verdana"/>
              </a:rPr>
              <a:t>it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  </a:t>
            </a:r>
            <a:r>
              <a:rPr sz="2000" dirty="0">
                <a:latin typeface="Verdana"/>
                <a:cs typeface="Verdana"/>
              </a:rPr>
              <a:t>substitution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threats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1543" y="3718941"/>
            <a:ext cx="64992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substitute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is still</a:t>
            </a:r>
            <a:r>
              <a:rPr sz="2000" dirty="0">
                <a:latin typeface="Verdana"/>
                <a:cs typeface="Verdana"/>
              </a:rPr>
              <a:t> an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effective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threat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even </a:t>
            </a:r>
            <a:r>
              <a:rPr sz="2000" spc="-5" dirty="0">
                <a:latin typeface="Verdana"/>
                <a:cs typeface="Verdana"/>
              </a:rPr>
              <a:t>if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1543" y="3932302"/>
            <a:ext cx="706485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expensive,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long</a:t>
            </a:r>
            <a:r>
              <a:rPr sz="2000" dirty="0">
                <a:latin typeface="Verdana"/>
                <a:cs typeface="Verdana"/>
              </a:rPr>
              <a:t> 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it </a:t>
            </a:r>
            <a:r>
              <a:rPr sz="2000" dirty="0">
                <a:latin typeface="Verdana"/>
                <a:cs typeface="Verdana"/>
              </a:rPr>
              <a:t>offers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performance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advantages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that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33369" y="4242432"/>
            <a:ext cx="21120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customers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value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1542" y="4664859"/>
            <a:ext cx="7349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latin typeface="Verdana"/>
                <a:cs typeface="Verdana"/>
              </a:rPr>
              <a:t>Aluminum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is more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expensive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than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steel</a:t>
            </a:r>
            <a:r>
              <a:rPr sz="2000" spc="-5" dirty="0">
                <a:latin typeface="Verdana"/>
                <a:cs typeface="Verdana"/>
              </a:rPr>
              <a:t>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but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its</a:t>
            </a:r>
            <a:r>
              <a:rPr sz="2000" spc="-5" dirty="0">
                <a:latin typeface="Verdana"/>
                <a:cs typeface="Verdana"/>
              </a:rPr>
              <a:t> relative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1543" y="4988815"/>
            <a:ext cx="64966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lightness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10" dirty="0">
                <a:latin typeface="Verdana"/>
                <a:cs typeface="Verdana"/>
              </a:rPr>
              <a:t> its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resistance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corrosion</a:t>
            </a:r>
            <a:r>
              <a:rPr sz="2000" spc="-10" dirty="0">
                <a:latin typeface="Verdana"/>
                <a:cs typeface="Verdana"/>
              </a:rPr>
              <a:t> gives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31542" y="5287645"/>
            <a:ext cx="758570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advantage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in </a:t>
            </a:r>
            <a:r>
              <a:rPr sz="2000" dirty="0">
                <a:latin typeface="Verdana"/>
                <a:cs typeface="Verdana"/>
              </a:rPr>
              <a:t>some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automobile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manufacturing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applications.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1543" y="5831841"/>
            <a:ext cx="741425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It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ratio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of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price to performance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that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matters,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rather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1542" y="6045201"/>
            <a:ext cx="2225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than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simple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price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13" name="object 13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7059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Threat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Substitutes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2736545"/>
            <a:ext cx="7578725" cy="316230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30"/>
              </a:spcBef>
            </a:pPr>
            <a:r>
              <a:rPr sz="2600" dirty="0">
                <a:latin typeface="Verdana"/>
                <a:cs typeface="Verdana"/>
              </a:rPr>
              <a:t>The </a:t>
            </a:r>
            <a:r>
              <a:rPr sz="2600" spc="-10" dirty="0">
                <a:latin typeface="Verdana"/>
                <a:cs typeface="Verdana"/>
              </a:rPr>
              <a:t>value </a:t>
            </a:r>
            <a:r>
              <a:rPr sz="2600" dirty="0">
                <a:latin typeface="Verdana"/>
                <a:cs typeface="Verdana"/>
              </a:rPr>
              <a:t>of the substitution concept is </a:t>
            </a:r>
            <a:r>
              <a:rPr sz="2600" spc="-5" dirty="0">
                <a:latin typeface="Verdana"/>
                <a:cs typeface="Verdana"/>
              </a:rPr>
              <a:t>to </a:t>
            </a:r>
            <a:r>
              <a:rPr sz="2600" dirty="0">
                <a:latin typeface="Verdana"/>
                <a:cs typeface="Verdana"/>
              </a:rPr>
              <a:t> force managers </a:t>
            </a:r>
            <a:r>
              <a:rPr sz="2600" spc="-5" dirty="0">
                <a:latin typeface="Verdana"/>
                <a:cs typeface="Verdana"/>
              </a:rPr>
              <a:t>to </a:t>
            </a:r>
            <a:r>
              <a:rPr sz="2600" dirty="0">
                <a:latin typeface="Verdana"/>
                <a:cs typeface="Verdana"/>
              </a:rPr>
              <a:t>look outside </a:t>
            </a:r>
            <a:r>
              <a:rPr sz="2600" spc="-5" dirty="0">
                <a:latin typeface="Verdana"/>
                <a:cs typeface="Verdana"/>
              </a:rPr>
              <a:t>their </a:t>
            </a:r>
            <a:r>
              <a:rPr sz="2600" dirty="0">
                <a:latin typeface="Verdana"/>
                <a:cs typeface="Verdana"/>
              </a:rPr>
              <a:t>own 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industry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consider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more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distant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threats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and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constraints.</a:t>
            </a:r>
            <a:endParaRPr sz="2600" dirty="0">
              <a:latin typeface="Verdana"/>
              <a:cs typeface="Verdana"/>
            </a:endParaRPr>
          </a:p>
          <a:p>
            <a:pPr algn="just">
              <a:spcBef>
                <a:spcPts val="55"/>
              </a:spcBef>
            </a:pPr>
            <a:endParaRPr sz="3300" dirty="0">
              <a:latin typeface="Verdana"/>
              <a:cs typeface="Verdana"/>
            </a:endParaRPr>
          </a:p>
          <a:p>
            <a:pPr marL="12700" marR="221615" algn="just">
              <a:lnSpc>
                <a:spcPts val="2500"/>
              </a:lnSpc>
              <a:spcBef>
                <a:spcPts val="5"/>
              </a:spcBef>
            </a:pPr>
            <a:r>
              <a:rPr sz="2600" dirty="0">
                <a:latin typeface="Verdana"/>
                <a:cs typeface="Verdana"/>
              </a:rPr>
              <a:t>If </a:t>
            </a:r>
            <a:r>
              <a:rPr sz="2600" spc="5" dirty="0">
                <a:latin typeface="Verdana"/>
                <a:cs typeface="Verdana"/>
              </a:rPr>
              <a:t>the </a:t>
            </a:r>
            <a:r>
              <a:rPr sz="2600" spc="-5" dirty="0">
                <a:latin typeface="Verdana"/>
                <a:cs typeface="Verdana"/>
              </a:rPr>
              <a:t>buyers’ </a:t>
            </a:r>
            <a:r>
              <a:rPr sz="2600" dirty="0">
                <a:latin typeface="Verdana"/>
                <a:cs typeface="Verdana"/>
              </a:rPr>
              <a:t>switching costs for </a:t>
            </a:r>
            <a:r>
              <a:rPr sz="2600" spc="-5" dirty="0">
                <a:latin typeface="Verdana"/>
                <a:cs typeface="Verdana"/>
              </a:rPr>
              <a:t>the </a:t>
            </a:r>
            <a:r>
              <a:rPr sz="2600" dirty="0">
                <a:latin typeface="Verdana"/>
                <a:cs typeface="Verdana"/>
              </a:rPr>
              <a:t> substitute are low </a:t>
            </a:r>
            <a:r>
              <a:rPr sz="2600" spc="-5" dirty="0">
                <a:latin typeface="Verdana"/>
                <a:cs typeface="Verdana"/>
              </a:rPr>
              <a:t>the threat </a:t>
            </a:r>
            <a:r>
              <a:rPr sz="2600" dirty="0">
                <a:latin typeface="Verdana"/>
                <a:cs typeface="Verdana"/>
              </a:rPr>
              <a:t>increases </a:t>
            </a:r>
            <a:r>
              <a:rPr sz="2600" spc="-5" dirty="0">
                <a:latin typeface="Verdana"/>
                <a:cs typeface="Verdana"/>
              </a:rPr>
              <a:t>and 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 higher the threat, the </a:t>
            </a:r>
            <a:r>
              <a:rPr sz="2600" spc="-10" dirty="0">
                <a:latin typeface="Verdana"/>
                <a:cs typeface="Verdana"/>
              </a:rPr>
              <a:t>less </a:t>
            </a:r>
            <a:r>
              <a:rPr sz="2600" spc="-5" dirty="0">
                <a:latin typeface="Verdana"/>
                <a:cs typeface="Verdana"/>
              </a:rPr>
              <a:t>attractive the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industry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is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likely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be</a:t>
            </a:r>
            <a:endParaRPr sz="26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8417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spc="-5" dirty="0"/>
              <a:t>Power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Buyers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7651" y="1895094"/>
            <a:ext cx="4171187" cy="4728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8417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spc="-5" dirty="0"/>
              <a:t>Power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Buyers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43000" y="1905000"/>
            <a:ext cx="10305220" cy="121853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30"/>
              </a:spcBef>
            </a:pPr>
            <a:r>
              <a:rPr sz="2800" spc="-10" dirty="0"/>
              <a:t>Buyers</a:t>
            </a:r>
            <a:r>
              <a:rPr sz="2800" spc="35" dirty="0"/>
              <a:t> </a:t>
            </a:r>
            <a:r>
              <a:rPr sz="2800" spc="-5" dirty="0"/>
              <a:t>are the organization's</a:t>
            </a:r>
            <a:r>
              <a:rPr sz="2800" spc="45" dirty="0"/>
              <a:t> </a:t>
            </a:r>
            <a:r>
              <a:rPr sz="2800" spc="-20" dirty="0"/>
              <a:t>immediate </a:t>
            </a:r>
            <a:r>
              <a:rPr sz="2800" spc="-969" dirty="0"/>
              <a:t> </a:t>
            </a:r>
            <a:r>
              <a:rPr sz="2800" spc="-10" dirty="0" smtClean="0"/>
              <a:t>customers</a:t>
            </a:r>
            <a:r>
              <a:rPr lang="en-US" sz="2800" spc="-10" dirty="0" smtClean="0"/>
              <a:t>. </a:t>
            </a:r>
            <a:r>
              <a:rPr sz="2800" dirty="0" smtClean="0"/>
              <a:t>If </a:t>
            </a:r>
            <a:r>
              <a:rPr sz="2800" spc="-10" dirty="0"/>
              <a:t>buyers</a:t>
            </a:r>
            <a:r>
              <a:rPr sz="2800" spc="30" dirty="0"/>
              <a:t> </a:t>
            </a:r>
            <a:r>
              <a:rPr sz="2800" spc="-5" dirty="0"/>
              <a:t>are</a:t>
            </a:r>
            <a:r>
              <a:rPr sz="2800" dirty="0"/>
              <a:t> </a:t>
            </a:r>
            <a:r>
              <a:rPr sz="2800" spc="-10" dirty="0"/>
              <a:t>powerful,</a:t>
            </a:r>
            <a:r>
              <a:rPr sz="2800" spc="35" dirty="0"/>
              <a:t> </a:t>
            </a:r>
            <a:r>
              <a:rPr sz="2800" spc="-10" dirty="0"/>
              <a:t>then </a:t>
            </a:r>
            <a:r>
              <a:rPr sz="2800" spc="-969" dirty="0"/>
              <a:t> </a:t>
            </a:r>
            <a:r>
              <a:rPr sz="2800" spc="-10" dirty="0"/>
              <a:t>they</a:t>
            </a:r>
            <a:r>
              <a:rPr sz="2800" dirty="0"/>
              <a:t> </a:t>
            </a:r>
            <a:r>
              <a:rPr sz="2800" spc="-5" dirty="0"/>
              <a:t>can</a:t>
            </a:r>
            <a:r>
              <a:rPr sz="2800" spc="20" dirty="0"/>
              <a:t> </a:t>
            </a:r>
            <a:r>
              <a:rPr sz="2800" spc="-10" dirty="0"/>
              <a:t>demand</a:t>
            </a:r>
            <a:r>
              <a:rPr sz="2800" spc="25" dirty="0"/>
              <a:t> </a:t>
            </a:r>
            <a:r>
              <a:rPr sz="2800" spc="-15" dirty="0"/>
              <a:t>low</a:t>
            </a:r>
            <a:r>
              <a:rPr sz="2800" spc="5" dirty="0"/>
              <a:t> </a:t>
            </a:r>
            <a:r>
              <a:rPr sz="2800" spc="-10" dirty="0"/>
              <a:t>prices</a:t>
            </a:r>
            <a:r>
              <a:rPr sz="2800" spc="35" dirty="0"/>
              <a:t> </a:t>
            </a:r>
            <a:r>
              <a:rPr sz="2800" spc="-5" dirty="0"/>
              <a:t>or</a:t>
            </a:r>
            <a:r>
              <a:rPr sz="2800" spc="10" dirty="0"/>
              <a:t> </a:t>
            </a:r>
            <a:r>
              <a:rPr sz="2800" spc="-5" dirty="0"/>
              <a:t>costly </a:t>
            </a:r>
            <a:r>
              <a:rPr sz="2800" dirty="0"/>
              <a:t> </a:t>
            </a:r>
            <a:r>
              <a:rPr sz="2800" spc="-10" dirty="0"/>
              <a:t>product</a:t>
            </a:r>
            <a:r>
              <a:rPr sz="2800" spc="50" dirty="0"/>
              <a:t> </a:t>
            </a:r>
            <a:r>
              <a:rPr sz="2800" spc="-5" dirty="0"/>
              <a:t>or</a:t>
            </a:r>
            <a:r>
              <a:rPr sz="2800" spc="5" dirty="0"/>
              <a:t> </a:t>
            </a:r>
            <a:r>
              <a:rPr sz="2800" spc="-5" dirty="0"/>
              <a:t>service</a:t>
            </a:r>
            <a:r>
              <a:rPr sz="2800" spc="35" dirty="0"/>
              <a:t> </a:t>
            </a:r>
            <a:r>
              <a:rPr sz="2800" spc="-15" dirty="0"/>
              <a:t>improvements</a:t>
            </a:r>
            <a:endParaRPr sz="28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2003" y="3777995"/>
            <a:ext cx="3015996" cy="3080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8417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spc="-5" dirty="0"/>
              <a:t>Power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Buyers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4" name="object 4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31543" y="1727074"/>
            <a:ext cx="7503795" cy="3262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315" algn="just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 dirty="0">
              <a:latin typeface="Verdana"/>
              <a:cs typeface="Verdana"/>
            </a:endParaRPr>
          </a:p>
          <a:p>
            <a:pPr algn="just">
              <a:spcBef>
                <a:spcPts val="35"/>
              </a:spcBef>
            </a:pPr>
            <a:endParaRPr sz="3400" dirty="0">
              <a:latin typeface="Verdana"/>
              <a:cs typeface="Verdana"/>
            </a:endParaRPr>
          </a:p>
          <a:p>
            <a:pPr marL="12700" algn="just"/>
            <a:r>
              <a:rPr sz="3500" spc="-10" dirty="0">
                <a:latin typeface="Verdana"/>
                <a:cs typeface="Verdana"/>
              </a:rPr>
              <a:t>Concentrated</a:t>
            </a:r>
            <a:r>
              <a:rPr sz="3500" spc="-80" dirty="0">
                <a:latin typeface="Verdana"/>
                <a:cs typeface="Verdana"/>
              </a:rPr>
              <a:t> </a:t>
            </a:r>
            <a:r>
              <a:rPr sz="3500" spc="-5" dirty="0">
                <a:latin typeface="Verdana"/>
                <a:cs typeface="Verdana"/>
              </a:rPr>
              <a:t>Buyers</a:t>
            </a:r>
            <a:endParaRPr sz="3500" dirty="0">
              <a:latin typeface="Verdana"/>
              <a:cs typeface="Verdana"/>
            </a:endParaRPr>
          </a:p>
          <a:p>
            <a:pPr marL="12700" marR="5080" algn="just">
              <a:lnSpc>
                <a:spcPct val="90000"/>
              </a:lnSpc>
              <a:spcBef>
                <a:spcPts val="800"/>
              </a:spcBef>
            </a:pPr>
            <a:r>
              <a:rPr sz="2400" dirty="0">
                <a:latin typeface="Verdana"/>
                <a:cs typeface="Verdana"/>
              </a:rPr>
              <a:t>Where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few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large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customers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account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majority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sales,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buyer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power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increased.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This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 the</a:t>
            </a:r>
            <a:r>
              <a:rPr sz="2400" dirty="0">
                <a:latin typeface="Verdana"/>
                <a:cs typeface="Verdana"/>
              </a:rPr>
              <a:t> case</a:t>
            </a:r>
            <a:r>
              <a:rPr sz="2400" spc="-5" dirty="0">
                <a:latin typeface="Verdana"/>
                <a:cs typeface="Verdana"/>
              </a:rPr>
              <a:t> 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items</a:t>
            </a:r>
            <a:r>
              <a:rPr sz="2400" dirty="0">
                <a:latin typeface="Verdana"/>
                <a:cs typeface="Verdana"/>
              </a:rPr>
              <a:t> such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 </a:t>
            </a:r>
            <a:r>
              <a:rPr sz="2400" spc="-10" dirty="0">
                <a:latin typeface="Verdana"/>
                <a:cs typeface="Verdana"/>
              </a:rPr>
              <a:t>milk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grocery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sector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many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European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countries,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where</a:t>
            </a:r>
            <a:r>
              <a:rPr sz="2400" dirty="0">
                <a:latin typeface="Verdana"/>
                <a:cs typeface="Verdana"/>
              </a:rPr>
              <a:t> just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few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retailers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dominate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market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8417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spc="-5" dirty="0"/>
              <a:t>Power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Buyers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2873458"/>
            <a:ext cx="7455534" cy="20798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 algn="just">
              <a:spcBef>
                <a:spcPts val="850"/>
              </a:spcBef>
            </a:pPr>
            <a:r>
              <a:rPr sz="3500" spc="-10" dirty="0">
                <a:latin typeface="Verdana"/>
                <a:cs typeface="Verdana"/>
              </a:rPr>
              <a:t>Concentrated</a:t>
            </a:r>
            <a:r>
              <a:rPr sz="3500" spc="-80" dirty="0">
                <a:latin typeface="Verdana"/>
                <a:cs typeface="Verdana"/>
              </a:rPr>
              <a:t> </a:t>
            </a:r>
            <a:r>
              <a:rPr sz="3500" spc="-5" dirty="0">
                <a:latin typeface="Verdana"/>
                <a:cs typeface="Verdana"/>
              </a:rPr>
              <a:t>Buyers</a:t>
            </a:r>
            <a:endParaRPr sz="3500" dirty="0">
              <a:latin typeface="Verdana"/>
              <a:cs typeface="Verdana"/>
            </a:endParaRPr>
          </a:p>
          <a:p>
            <a:pPr marL="12700" marR="5080" algn="just">
              <a:lnSpc>
                <a:spcPct val="90000"/>
              </a:lnSpc>
              <a:spcBef>
                <a:spcPts val="800"/>
              </a:spcBef>
            </a:pPr>
            <a:r>
              <a:rPr sz="2400" spc="-10" dirty="0">
                <a:latin typeface="Verdana"/>
                <a:cs typeface="Verdana"/>
              </a:rPr>
              <a:t>If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product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service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accounts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high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percentage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total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purchases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buyer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their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power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also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likely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increase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more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likely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‘shop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around’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get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best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price</a:t>
            </a:r>
            <a:r>
              <a:rPr lang="en-US" sz="2400" spc="-5" dirty="0" smtClean="0"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8417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spc="-5" dirty="0"/>
              <a:t>Power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Buyers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2924785"/>
            <a:ext cx="7214870" cy="209232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 algn="just">
              <a:spcBef>
                <a:spcPts val="880"/>
              </a:spcBef>
            </a:pPr>
            <a:r>
              <a:rPr sz="3600" dirty="0">
                <a:latin typeface="Verdana"/>
                <a:cs typeface="Verdana"/>
              </a:rPr>
              <a:t>Low</a:t>
            </a:r>
            <a:r>
              <a:rPr sz="3600" spc="-20" dirty="0">
                <a:latin typeface="Verdana"/>
                <a:cs typeface="Verdana"/>
              </a:rPr>
              <a:t> </a:t>
            </a:r>
            <a:r>
              <a:rPr sz="3600" spc="-10" dirty="0">
                <a:latin typeface="Verdana"/>
                <a:cs typeface="Verdana"/>
              </a:rPr>
              <a:t>Switching</a:t>
            </a:r>
            <a:r>
              <a:rPr sz="3600" spc="-30" dirty="0">
                <a:latin typeface="Verdana"/>
                <a:cs typeface="Verdana"/>
              </a:rPr>
              <a:t> </a:t>
            </a:r>
            <a:r>
              <a:rPr sz="3600" spc="-5" dirty="0">
                <a:latin typeface="Verdana"/>
                <a:cs typeface="Verdana"/>
              </a:rPr>
              <a:t>Costs</a:t>
            </a:r>
            <a:endParaRPr sz="3600" dirty="0">
              <a:latin typeface="Verdana"/>
              <a:cs typeface="Verdana"/>
            </a:endParaRPr>
          </a:p>
          <a:p>
            <a:pPr marL="12700" marR="5080" algn="just">
              <a:lnSpc>
                <a:spcPts val="2590"/>
              </a:lnSpc>
              <a:spcBef>
                <a:spcPts val="844"/>
              </a:spcBef>
            </a:pPr>
            <a:r>
              <a:rPr sz="2400" spc="-5" dirty="0">
                <a:latin typeface="Verdana"/>
                <a:cs typeface="Verdana"/>
              </a:rPr>
              <a:t>Where buyers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 </a:t>
            </a:r>
            <a:r>
              <a:rPr sz="2400" spc="-10" dirty="0">
                <a:latin typeface="Verdana"/>
                <a:cs typeface="Verdana"/>
              </a:rPr>
              <a:t>easily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switch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between one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supplier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another,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strong </a:t>
            </a:r>
            <a:r>
              <a:rPr sz="2400" dirty="0">
                <a:latin typeface="Verdana"/>
                <a:cs typeface="Verdana"/>
              </a:rPr>
              <a:t> negotiating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position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can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squeeze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suppliers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who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desperate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their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business</a:t>
            </a:r>
            <a:r>
              <a:rPr lang="en-US" sz="2400" spc="-5" dirty="0"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8417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spc="-5" dirty="0"/>
              <a:t>Power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Buyers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2848584"/>
            <a:ext cx="7644130" cy="24218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 algn="just">
              <a:spcBef>
                <a:spcPts val="880"/>
              </a:spcBef>
            </a:pPr>
            <a:r>
              <a:rPr sz="3600" dirty="0">
                <a:latin typeface="Verdana"/>
                <a:cs typeface="Verdana"/>
              </a:rPr>
              <a:t>Low</a:t>
            </a:r>
            <a:r>
              <a:rPr sz="3600" spc="-20" dirty="0">
                <a:latin typeface="Verdana"/>
                <a:cs typeface="Verdana"/>
              </a:rPr>
              <a:t> </a:t>
            </a:r>
            <a:r>
              <a:rPr sz="3600" spc="-10" dirty="0">
                <a:latin typeface="Verdana"/>
                <a:cs typeface="Verdana"/>
              </a:rPr>
              <a:t>Switching</a:t>
            </a:r>
            <a:r>
              <a:rPr sz="3600" spc="-30" dirty="0">
                <a:latin typeface="Verdana"/>
                <a:cs typeface="Verdana"/>
              </a:rPr>
              <a:t> </a:t>
            </a:r>
            <a:r>
              <a:rPr sz="3600" spc="-5" dirty="0">
                <a:latin typeface="Verdana"/>
                <a:cs typeface="Verdana"/>
              </a:rPr>
              <a:t>Costs</a:t>
            </a:r>
            <a:endParaRPr sz="3600" dirty="0">
              <a:latin typeface="Verdana"/>
              <a:cs typeface="Verdana"/>
            </a:endParaRPr>
          </a:p>
          <a:p>
            <a:pPr marL="12700" marR="5080" algn="just">
              <a:lnSpc>
                <a:spcPct val="90000"/>
              </a:lnSpc>
              <a:spcBef>
                <a:spcPts val="805"/>
              </a:spcBef>
            </a:pPr>
            <a:r>
              <a:rPr sz="2400" spc="-10" dirty="0">
                <a:latin typeface="Verdana"/>
                <a:cs typeface="Verdana"/>
              </a:rPr>
              <a:t>Switching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costs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typically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low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standardized </a:t>
            </a:r>
            <a:r>
              <a:rPr sz="2400" i="1" spc="-8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and</a:t>
            </a:r>
            <a:r>
              <a:rPr sz="2400" i="1" spc="-5" dirty="0">
                <a:latin typeface="Verdana"/>
                <a:cs typeface="Verdana"/>
              </a:rPr>
              <a:t> undifferentiated</a:t>
            </a:r>
            <a:r>
              <a:rPr sz="2400" i="1" spc="25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products</a:t>
            </a:r>
            <a:r>
              <a:rPr sz="2400" i="1" spc="5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like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commodities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such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5" dirty="0">
                <a:latin typeface="Verdana"/>
                <a:cs typeface="Verdana"/>
              </a:rPr>
              <a:t> steel.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They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also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likely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low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when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buyers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fully</a:t>
            </a:r>
            <a:r>
              <a:rPr sz="2400" i="1" spc="15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informed</a:t>
            </a:r>
            <a:r>
              <a:rPr sz="2400" i="1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about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prices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product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performance</a:t>
            </a:r>
            <a:endParaRPr sz="24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170"/>
            <a:ext cx="38417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spc="-5" dirty="0"/>
              <a:t>Power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Buyers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2895092"/>
            <a:ext cx="7663815" cy="300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spcBef>
                <a:spcPts val="95"/>
              </a:spcBef>
              <a:spcAft>
                <a:spcPts val="100"/>
              </a:spcAft>
            </a:pPr>
            <a:r>
              <a:rPr sz="2800" spc="-10" dirty="0">
                <a:latin typeface="Verdana"/>
                <a:cs typeface="Verdana"/>
              </a:rPr>
              <a:t>Buyer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Competition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Threat</a:t>
            </a:r>
            <a:endParaRPr sz="2800" dirty="0">
              <a:latin typeface="Verdana"/>
              <a:cs typeface="Verdana"/>
            </a:endParaRPr>
          </a:p>
          <a:p>
            <a:pPr marL="12700" algn="just">
              <a:lnSpc>
                <a:spcPts val="2245"/>
              </a:lnSpc>
              <a:spcBef>
                <a:spcPts val="10"/>
              </a:spcBef>
              <a:spcAft>
                <a:spcPts val="100"/>
              </a:spcAft>
            </a:pPr>
            <a:r>
              <a:rPr sz="2200" dirty="0">
                <a:latin typeface="Verdana"/>
                <a:cs typeface="Verdana"/>
              </a:rPr>
              <a:t>If</a:t>
            </a:r>
            <a:r>
              <a:rPr sz="2200" spc="-10" dirty="0">
                <a:latin typeface="Verdana"/>
                <a:cs typeface="Verdana"/>
              </a:rPr>
              <a:t> the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buyer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has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the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capability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 supply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itself,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or</a:t>
            </a:r>
            <a:r>
              <a:rPr sz="2200" dirty="0">
                <a:latin typeface="Verdana"/>
                <a:cs typeface="Verdana"/>
              </a:rPr>
              <a:t> if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 smtClean="0">
                <a:latin typeface="Verdana"/>
                <a:cs typeface="Verdana"/>
              </a:rPr>
              <a:t>it</a:t>
            </a:r>
            <a:r>
              <a:rPr lang="en-US" sz="2200" dirty="0" smtClean="0">
                <a:latin typeface="Verdana"/>
                <a:cs typeface="Verdana"/>
              </a:rPr>
              <a:t> </a:t>
            </a:r>
            <a:r>
              <a:rPr sz="2200" spc="-5" dirty="0" smtClean="0">
                <a:latin typeface="Verdana"/>
                <a:cs typeface="Verdana"/>
              </a:rPr>
              <a:t>has </a:t>
            </a:r>
            <a:r>
              <a:rPr sz="2200" spc="-10" dirty="0">
                <a:latin typeface="Verdana"/>
                <a:cs typeface="Verdana"/>
              </a:rPr>
              <a:t>the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possibility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of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acquiring </a:t>
            </a:r>
            <a:r>
              <a:rPr sz="2200" spc="-5" dirty="0">
                <a:latin typeface="Verdana"/>
                <a:cs typeface="Verdana"/>
              </a:rPr>
              <a:t>such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a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capability,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 smtClean="0">
                <a:latin typeface="Verdana"/>
                <a:cs typeface="Verdana"/>
              </a:rPr>
              <a:t>it</a:t>
            </a:r>
            <a:r>
              <a:rPr lang="en-US" sz="2200" dirty="0" smtClean="0">
                <a:latin typeface="Verdana"/>
                <a:cs typeface="Verdana"/>
              </a:rPr>
              <a:t> </a:t>
            </a:r>
            <a:r>
              <a:rPr sz="2200" spc="-10" dirty="0" smtClean="0">
                <a:latin typeface="Verdana"/>
                <a:cs typeface="Verdana"/>
              </a:rPr>
              <a:t>tends</a:t>
            </a:r>
            <a:r>
              <a:rPr sz="2200" spc="15" dirty="0" smtClean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to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be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powerful.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negotiation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with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its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suppliers,</a:t>
            </a:r>
            <a:endParaRPr sz="2200" dirty="0">
              <a:latin typeface="Verdana"/>
              <a:cs typeface="Verdana"/>
            </a:endParaRPr>
          </a:p>
          <a:p>
            <a:pPr marL="12700" algn="just">
              <a:lnSpc>
                <a:spcPts val="1850"/>
              </a:lnSpc>
              <a:spcAft>
                <a:spcPts val="100"/>
              </a:spcAft>
            </a:pPr>
            <a:r>
              <a:rPr sz="2200" dirty="0">
                <a:latin typeface="Verdana"/>
                <a:cs typeface="Verdana"/>
              </a:rPr>
              <a:t>it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can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raise </a:t>
            </a:r>
            <a:r>
              <a:rPr sz="2200" spc="-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threat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of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doing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the suppliers’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10" dirty="0" smtClean="0">
                <a:latin typeface="Verdana"/>
                <a:cs typeface="Verdana"/>
              </a:rPr>
              <a:t>job</a:t>
            </a:r>
            <a:r>
              <a:rPr lang="en-US" sz="2200" dirty="0">
                <a:latin typeface="Verdana"/>
                <a:cs typeface="Verdana"/>
              </a:rPr>
              <a:t> </a:t>
            </a:r>
            <a:r>
              <a:rPr sz="2200" spc="-10" dirty="0" smtClean="0">
                <a:latin typeface="Verdana"/>
                <a:cs typeface="Verdana"/>
              </a:rPr>
              <a:t>themselves</a:t>
            </a:r>
            <a:endParaRPr sz="2200" dirty="0">
              <a:latin typeface="Verdana"/>
              <a:cs typeface="Verdana"/>
            </a:endParaRPr>
          </a:p>
          <a:p>
            <a:pPr algn="just">
              <a:spcBef>
                <a:spcPts val="40"/>
              </a:spcBef>
              <a:spcAft>
                <a:spcPts val="100"/>
              </a:spcAft>
            </a:pPr>
            <a:endParaRPr sz="2150" dirty="0">
              <a:latin typeface="Verdana"/>
              <a:cs typeface="Verdana"/>
            </a:endParaRPr>
          </a:p>
          <a:p>
            <a:pPr marL="12700" algn="just">
              <a:lnSpc>
                <a:spcPts val="2245"/>
              </a:lnSpc>
              <a:spcAft>
                <a:spcPts val="100"/>
              </a:spcAft>
            </a:pPr>
            <a:r>
              <a:rPr sz="2200" spc="-5" dirty="0">
                <a:latin typeface="Verdana"/>
                <a:cs typeface="Verdana"/>
              </a:rPr>
              <a:t>Example: Some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steel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companies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have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gained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10" dirty="0" smtClean="0">
                <a:latin typeface="Verdana"/>
                <a:cs typeface="Verdana"/>
              </a:rPr>
              <a:t>power</a:t>
            </a:r>
            <a:r>
              <a:rPr lang="en-US" sz="2200" dirty="0">
                <a:latin typeface="Verdana"/>
                <a:cs typeface="Verdana"/>
              </a:rPr>
              <a:t> </a:t>
            </a:r>
            <a:r>
              <a:rPr sz="2200" spc="-15" dirty="0" smtClean="0">
                <a:latin typeface="Verdana"/>
                <a:cs typeface="Verdana"/>
              </a:rPr>
              <a:t>over</a:t>
            </a:r>
            <a:r>
              <a:rPr sz="2200" spc="20" dirty="0" smtClean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their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iron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ore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suppliers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as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they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have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acquired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iron </a:t>
            </a:r>
            <a:r>
              <a:rPr sz="2200" spc="-10" dirty="0">
                <a:latin typeface="Verdana"/>
                <a:cs typeface="Verdana"/>
              </a:rPr>
              <a:t>ore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sources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for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themselves</a:t>
            </a:r>
            <a:endParaRPr sz="22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1" y="1453641"/>
            <a:ext cx="993140" cy="1000760"/>
            <a:chOff x="813561" y="1453641"/>
            <a:chExt cx="993140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489966" y="0"/>
                  </a:moveTo>
                  <a:lnTo>
                    <a:pt x="442779" y="2260"/>
                  </a:lnTo>
                  <a:lnTo>
                    <a:pt x="396861" y="8904"/>
                  </a:lnTo>
                  <a:lnTo>
                    <a:pt x="352418" y="19725"/>
                  </a:lnTo>
                  <a:lnTo>
                    <a:pt x="309654" y="34515"/>
                  </a:lnTo>
                  <a:lnTo>
                    <a:pt x="268775" y="53067"/>
                  </a:lnTo>
                  <a:lnTo>
                    <a:pt x="229987" y="75174"/>
                  </a:lnTo>
                  <a:lnTo>
                    <a:pt x="193494" y="100629"/>
                  </a:lnTo>
                  <a:lnTo>
                    <a:pt x="159502" y="129225"/>
                  </a:lnTo>
                  <a:lnTo>
                    <a:pt x="128216" y="160756"/>
                  </a:lnTo>
                  <a:lnTo>
                    <a:pt x="99842" y="195013"/>
                  </a:lnTo>
                  <a:lnTo>
                    <a:pt x="74585" y="231790"/>
                  </a:lnTo>
                  <a:lnTo>
                    <a:pt x="52651" y="270880"/>
                  </a:lnTo>
                  <a:lnTo>
                    <a:pt x="34244" y="312076"/>
                  </a:lnTo>
                  <a:lnTo>
                    <a:pt x="19570" y="355170"/>
                  </a:lnTo>
                  <a:lnTo>
                    <a:pt x="8834" y="399956"/>
                  </a:lnTo>
                  <a:lnTo>
                    <a:pt x="2242" y="446227"/>
                  </a:lnTo>
                  <a:lnTo>
                    <a:pt x="0" y="493775"/>
                  </a:lnTo>
                  <a:lnTo>
                    <a:pt x="2242" y="541324"/>
                  </a:lnTo>
                  <a:lnTo>
                    <a:pt x="8834" y="587595"/>
                  </a:lnTo>
                  <a:lnTo>
                    <a:pt x="19570" y="632381"/>
                  </a:lnTo>
                  <a:lnTo>
                    <a:pt x="34244" y="675475"/>
                  </a:lnTo>
                  <a:lnTo>
                    <a:pt x="52651" y="716671"/>
                  </a:lnTo>
                  <a:lnTo>
                    <a:pt x="74585" y="755761"/>
                  </a:lnTo>
                  <a:lnTo>
                    <a:pt x="99842" y="792538"/>
                  </a:lnTo>
                  <a:lnTo>
                    <a:pt x="128216" y="826795"/>
                  </a:lnTo>
                  <a:lnTo>
                    <a:pt x="159502" y="858326"/>
                  </a:lnTo>
                  <a:lnTo>
                    <a:pt x="193494" y="886922"/>
                  </a:lnTo>
                  <a:lnTo>
                    <a:pt x="229987" y="912377"/>
                  </a:lnTo>
                  <a:lnTo>
                    <a:pt x="268775" y="934484"/>
                  </a:lnTo>
                  <a:lnTo>
                    <a:pt x="309654" y="953036"/>
                  </a:lnTo>
                  <a:lnTo>
                    <a:pt x="352418" y="967826"/>
                  </a:lnTo>
                  <a:lnTo>
                    <a:pt x="396861" y="978647"/>
                  </a:lnTo>
                  <a:lnTo>
                    <a:pt x="442779" y="985291"/>
                  </a:lnTo>
                  <a:lnTo>
                    <a:pt x="489966" y="987552"/>
                  </a:lnTo>
                  <a:lnTo>
                    <a:pt x="537158" y="985291"/>
                  </a:lnTo>
                  <a:lnTo>
                    <a:pt x="583080" y="978647"/>
                  </a:lnTo>
                  <a:lnTo>
                    <a:pt x="627527" y="967826"/>
                  </a:lnTo>
                  <a:lnTo>
                    <a:pt x="670293" y="953036"/>
                  </a:lnTo>
                  <a:lnTo>
                    <a:pt x="711173" y="934484"/>
                  </a:lnTo>
                  <a:lnTo>
                    <a:pt x="749961" y="912377"/>
                  </a:lnTo>
                  <a:lnTo>
                    <a:pt x="786454" y="886922"/>
                  </a:lnTo>
                  <a:lnTo>
                    <a:pt x="820444" y="858326"/>
                  </a:lnTo>
                  <a:lnTo>
                    <a:pt x="851728" y="826795"/>
                  </a:lnTo>
                  <a:lnTo>
                    <a:pt x="880100" y="792538"/>
                  </a:lnTo>
                  <a:lnTo>
                    <a:pt x="905355" y="755761"/>
                  </a:lnTo>
                  <a:lnTo>
                    <a:pt x="927287" y="716671"/>
                  </a:lnTo>
                  <a:lnTo>
                    <a:pt x="945692" y="675475"/>
                  </a:lnTo>
                  <a:lnTo>
                    <a:pt x="960364" y="632381"/>
                  </a:lnTo>
                  <a:lnTo>
                    <a:pt x="971098" y="587595"/>
                  </a:lnTo>
                  <a:lnTo>
                    <a:pt x="977689" y="541324"/>
                  </a:lnTo>
                  <a:lnTo>
                    <a:pt x="979932" y="493775"/>
                  </a:lnTo>
                  <a:lnTo>
                    <a:pt x="977689" y="446227"/>
                  </a:lnTo>
                  <a:lnTo>
                    <a:pt x="971098" y="399956"/>
                  </a:lnTo>
                  <a:lnTo>
                    <a:pt x="960364" y="355170"/>
                  </a:lnTo>
                  <a:lnTo>
                    <a:pt x="945692" y="312076"/>
                  </a:lnTo>
                  <a:lnTo>
                    <a:pt x="927287" y="270880"/>
                  </a:lnTo>
                  <a:lnTo>
                    <a:pt x="905355" y="231790"/>
                  </a:lnTo>
                  <a:lnTo>
                    <a:pt x="880100" y="195013"/>
                  </a:lnTo>
                  <a:lnTo>
                    <a:pt x="851728" y="160756"/>
                  </a:lnTo>
                  <a:lnTo>
                    <a:pt x="820444" y="129225"/>
                  </a:lnTo>
                  <a:lnTo>
                    <a:pt x="786454" y="100629"/>
                  </a:lnTo>
                  <a:lnTo>
                    <a:pt x="749961" y="75174"/>
                  </a:lnTo>
                  <a:lnTo>
                    <a:pt x="711173" y="53067"/>
                  </a:lnTo>
                  <a:lnTo>
                    <a:pt x="670293" y="34515"/>
                  </a:lnTo>
                  <a:lnTo>
                    <a:pt x="627527" y="19725"/>
                  </a:lnTo>
                  <a:lnTo>
                    <a:pt x="583080" y="8904"/>
                  </a:lnTo>
                  <a:lnTo>
                    <a:pt x="537158" y="226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80440" cy="988060"/>
            </a:xfrm>
            <a:custGeom>
              <a:avLst/>
              <a:gdLst/>
              <a:ahLst/>
              <a:cxnLst/>
              <a:rect l="l" t="t" r="r" b="b"/>
              <a:pathLst>
                <a:path w="980439" h="988060">
                  <a:moveTo>
                    <a:pt x="0" y="493775"/>
                  </a:moveTo>
                  <a:lnTo>
                    <a:pt x="2242" y="446227"/>
                  </a:lnTo>
                  <a:lnTo>
                    <a:pt x="8834" y="399956"/>
                  </a:lnTo>
                  <a:lnTo>
                    <a:pt x="19570" y="355170"/>
                  </a:lnTo>
                  <a:lnTo>
                    <a:pt x="34244" y="312076"/>
                  </a:lnTo>
                  <a:lnTo>
                    <a:pt x="52651" y="270880"/>
                  </a:lnTo>
                  <a:lnTo>
                    <a:pt x="74585" y="231790"/>
                  </a:lnTo>
                  <a:lnTo>
                    <a:pt x="99842" y="195013"/>
                  </a:lnTo>
                  <a:lnTo>
                    <a:pt x="128216" y="160756"/>
                  </a:lnTo>
                  <a:lnTo>
                    <a:pt x="159502" y="129225"/>
                  </a:lnTo>
                  <a:lnTo>
                    <a:pt x="193494" y="100629"/>
                  </a:lnTo>
                  <a:lnTo>
                    <a:pt x="229987" y="75174"/>
                  </a:lnTo>
                  <a:lnTo>
                    <a:pt x="268775" y="53067"/>
                  </a:lnTo>
                  <a:lnTo>
                    <a:pt x="309654" y="34515"/>
                  </a:lnTo>
                  <a:lnTo>
                    <a:pt x="352418" y="19725"/>
                  </a:lnTo>
                  <a:lnTo>
                    <a:pt x="396861" y="8904"/>
                  </a:lnTo>
                  <a:lnTo>
                    <a:pt x="442779" y="2260"/>
                  </a:lnTo>
                  <a:lnTo>
                    <a:pt x="489966" y="0"/>
                  </a:lnTo>
                  <a:lnTo>
                    <a:pt x="537158" y="2260"/>
                  </a:lnTo>
                  <a:lnTo>
                    <a:pt x="583080" y="8904"/>
                  </a:lnTo>
                  <a:lnTo>
                    <a:pt x="627527" y="19725"/>
                  </a:lnTo>
                  <a:lnTo>
                    <a:pt x="670293" y="34515"/>
                  </a:lnTo>
                  <a:lnTo>
                    <a:pt x="711173" y="53067"/>
                  </a:lnTo>
                  <a:lnTo>
                    <a:pt x="749961" y="75174"/>
                  </a:lnTo>
                  <a:lnTo>
                    <a:pt x="786454" y="100629"/>
                  </a:lnTo>
                  <a:lnTo>
                    <a:pt x="820444" y="129225"/>
                  </a:lnTo>
                  <a:lnTo>
                    <a:pt x="851728" y="160756"/>
                  </a:lnTo>
                  <a:lnTo>
                    <a:pt x="880100" y="195013"/>
                  </a:lnTo>
                  <a:lnTo>
                    <a:pt x="905355" y="231790"/>
                  </a:lnTo>
                  <a:lnTo>
                    <a:pt x="927287" y="270880"/>
                  </a:lnTo>
                  <a:lnTo>
                    <a:pt x="945692" y="312076"/>
                  </a:lnTo>
                  <a:lnTo>
                    <a:pt x="960364" y="355170"/>
                  </a:lnTo>
                  <a:lnTo>
                    <a:pt x="971098" y="399956"/>
                  </a:lnTo>
                  <a:lnTo>
                    <a:pt x="977689" y="446227"/>
                  </a:lnTo>
                  <a:lnTo>
                    <a:pt x="979932" y="493775"/>
                  </a:lnTo>
                  <a:lnTo>
                    <a:pt x="977689" y="541324"/>
                  </a:lnTo>
                  <a:lnTo>
                    <a:pt x="971098" y="587595"/>
                  </a:lnTo>
                  <a:lnTo>
                    <a:pt x="960364" y="632381"/>
                  </a:lnTo>
                  <a:lnTo>
                    <a:pt x="945692" y="675475"/>
                  </a:lnTo>
                  <a:lnTo>
                    <a:pt x="927287" y="716671"/>
                  </a:lnTo>
                  <a:lnTo>
                    <a:pt x="905355" y="755761"/>
                  </a:lnTo>
                  <a:lnTo>
                    <a:pt x="880100" y="792538"/>
                  </a:lnTo>
                  <a:lnTo>
                    <a:pt x="851728" y="826795"/>
                  </a:lnTo>
                  <a:lnTo>
                    <a:pt x="820444" y="858326"/>
                  </a:lnTo>
                  <a:lnTo>
                    <a:pt x="786454" y="886922"/>
                  </a:lnTo>
                  <a:lnTo>
                    <a:pt x="749961" y="912377"/>
                  </a:lnTo>
                  <a:lnTo>
                    <a:pt x="711173" y="934484"/>
                  </a:lnTo>
                  <a:lnTo>
                    <a:pt x="670293" y="953036"/>
                  </a:lnTo>
                  <a:lnTo>
                    <a:pt x="627527" y="967826"/>
                  </a:lnTo>
                  <a:lnTo>
                    <a:pt x="583080" y="978647"/>
                  </a:lnTo>
                  <a:lnTo>
                    <a:pt x="537158" y="985291"/>
                  </a:lnTo>
                  <a:lnTo>
                    <a:pt x="489966" y="987552"/>
                  </a:lnTo>
                  <a:lnTo>
                    <a:pt x="442779" y="985291"/>
                  </a:lnTo>
                  <a:lnTo>
                    <a:pt x="396861" y="978647"/>
                  </a:lnTo>
                  <a:lnTo>
                    <a:pt x="352418" y="967826"/>
                  </a:lnTo>
                  <a:lnTo>
                    <a:pt x="309654" y="953036"/>
                  </a:lnTo>
                  <a:lnTo>
                    <a:pt x="268775" y="934484"/>
                  </a:lnTo>
                  <a:lnTo>
                    <a:pt x="229987" y="912377"/>
                  </a:lnTo>
                  <a:lnTo>
                    <a:pt x="193494" y="886922"/>
                  </a:lnTo>
                  <a:lnTo>
                    <a:pt x="159502" y="858326"/>
                  </a:lnTo>
                  <a:lnTo>
                    <a:pt x="128216" y="826795"/>
                  </a:lnTo>
                  <a:lnTo>
                    <a:pt x="99842" y="792538"/>
                  </a:lnTo>
                  <a:lnTo>
                    <a:pt x="74585" y="755761"/>
                  </a:lnTo>
                  <a:lnTo>
                    <a:pt x="52651" y="716671"/>
                  </a:lnTo>
                  <a:lnTo>
                    <a:pt x="34244" y="675475"/>
                  </a:lnTo>
                  <a:lnTo>
                    <a:pt x="19570" y="632381"/>
                  </a:lnTo>
                  <a:lnTo>
                    <a:pt x="8834" y="587595"/>
                  </a:lnTo>
                  <a:lnTo>
                    <a:pt x="2242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39" y="1727073"/>
            <a:ext cx="25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5662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Important</a:t>
            </a:r>
            <a:r>
              <a:rPr spc="-45" dirty="0"/>
              <a:t> </a:t>
            </a:r>
            <a:r>
              <a:rPr spc="-5" dirty="0"/>
              <a:t>to</a:t>
            </a:r>
            <a:r>
              <a:rPr spc="-50" dirty="0"/>
              <a:t> </a:t>
            </a:r>
            <a:r>
              <a:rPr dirty="0"/>
              <a:t>Remember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1807211"/>
            <a:ext cx="7623175" cy="381630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493395" algn="just">
              <a:lnSpc>
                <a:spcPts val="3460"/>
              </a:lnSpc>
              <a:spcBef>
                <a:spcPts val="535"/>
              </a:spcBef>
            </a:pP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importan</a:t>
            </a:r>
            <a:r>
              <a:rPr sz="2400" dirty="0">
                <a:latin typeface="Verdana"/>
                <a:cs typeface="Verdana"/>
              </a:rPr>
              <a:t>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hat</a:t>
            </a:r>
            <a:r>
              <a:rPr sz="2400" spc="130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bu</a:t>
            </a:r>
            <a:r>
              <a:rPr sz="3200" spc="-30" dirty="0">
                <a:latin typeface="Verdana"/>
                <a:cs typeface="Verdana"/>
              </a:rPr>
              <a:t>y</a:t>
            </a:r>
            <a:r>
              <a:rPr sz="3200" dirty="0">
                <a:latin typeface="Verdana"/>
                <a:cs typeface="Verdana"/>
              </a:rPr>
              <a:t>ers</a:t>
            </a:r>
            <a:r>
              <a:rPr sz="3200" spc="-2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  </a:t>
            </a:r>
            <a:r>
              <a:rPr sz="2400" spc="-5" dirty="0">
                <a:latin typeface="Verdana"/>
                <a:cs typeface="Verdana"/>
              </a:rPr>
              <a:t>distinguished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from</a:t>
            </a:r>
            <a:r>
              <a:rPr lang="en-US" sz="2400" spc="-5" dirty="0" smtClean="0">
                <a:latin typeface="Verdana"/>
                <a:cs typeface="Verdana"/>
              </a:rPr>
              <a:t> </a:t>
            </a:r>
            <a:r>
              <a:rPr sz="3200" dirty="0" smtClean="0">
                <a:latin typeface="Verdana"/>
                <a:cs typeface="Verdana"/>
              </a:rPr>
              <a:t>consumers</a:t>
            </a:r>
            <a:r>
              <a:rPr sz="2400" dirty="0">
                <a:latin typeface="Verdana"/>
                <a:cs typeface="Verdana"/>
              </a:rPr>
              <a:t>.</a:t>
            </a:r>
          </a:p>
          <a:p>
            <a:pPr algn="just">
              <a:spcBef>
                <a:spcPts val="10"/>
              </a:spcBef>
            </a:pPr>
            <a:endParaRPr sz="3400" dirty="0">
              <a:latin typeface="Verdana"/>
              <a:cs typeface="Verdana"/>
            </a:endParaRPr>
          </a:p>
          <a:p>
            <a:pPr marL="12700" marR="210820" algn="just">
              <a:lnSpc>
                <a:spcPct val="90000"/>
              </a:lnSpc>
            </a:pPr>
            <a:r>
              <a:rPr sz="2400" spc="-5" dirty="0">
                <a:latin typeface="Verdana"/>
                <a:cs typeface="Verdana"/>
              </a:rPr>
              <a:t>Thus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companies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like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Procter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&amp;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Gamble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Unilever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(makers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shampoo,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washing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powders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on), their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buyers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-10" dirty="0">
                <a:latin typeface="Verdana"/>
                <a:cs typeface="Verdana"/>
              </a:rPr>
              <a:t> retailers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such as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Carrefour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 </a:t>
            </a:r>
            <a:r>
              <a:rPr sz="2400" spc="-55" dirty="0">
                <a:latin typeface="Verdana"/>
                <a:cs typeface="Verdana"/>
              </a:rPr>
              <a:t>Tesco,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ordinary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consumers.</a:t>
            </a:r>
            <a:r>
              <a:rPr lang="en-US" sz="2400" dirty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Carrefour</a:t>
            </a:r>
            <a:r>
              <a:rPr sz="2400" spc="20" dirty="0" smtClean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5" dirty="0">
                <a:latin typeface="Verdana"/>
                <a:cs typeface="Verdana"/>
              </a:rPr>
              <a:t>Tesco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much more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negotiating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power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ordinary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consumer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would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have.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170"/>
            <a:ext cx="45662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Important</a:t>
            </a:r>
            <a:r>
              <a:rPr spc="-45" dirty="0"/>
              <a:t> </a:t>
            </a:r>
            <a:r>
              <a:rPr spc="-5" dirty="0"/>
              <a:t>to</a:t>
            </a:r>
            <a:r>
              <a:rPr spc="-50" dirty="0"/>
              <a:t> </a:t>
            </a:r>
            <a:r>
              <a:rPr dirty="0"/>
              <a:t>Remember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19200" y="1828800"/>
            <a:ext cx="10305220" cy="35718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85"/>
              </a:spcBef>
            </a:pPr>
            <a:r>
              <a:rPr spc="-5" dirty="0"/>
              <a:t>The </a:t>
            </a:r>
            <a:r>
              <a:rPr dirty="0"/>
              <a:t>high</a:t>
            </a:r>
            <a:r>
              <a:rPr spc="15" dirty="0"/>
              <a:t> </a:t>
            </a:r>
            <a:r>
              <a:rPr spc="-5" dirty="0"/>
              <a:t>buying</a:t>
            </a:r>
            <a:r>
              <a:rPr spc="30" dirty="0"/>
              <a:t> </a:t>
            </a:r>
            <a:r>
              <a:rPr spc="-5" dirty="0"/>
              <a:t>power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such</a:t>
            </a:r>
            <a:r>
              <a:rPr spc="5" dirty="0"/>
              <a:t> </a:t>
            </a:r>
            <a:r>
              <a:rPr spc="-5" dirty="0"/>
              <a:t>supermarkets</a:t>
            </a:r>
            <a:r>
              <a:rPr spc="10" dirty="0"/>
              <a:t> </a:t>
            </a:r>
            <a:r>
              <a:rPr spc="-5" dirty="0"/>
              <a:t>is </a:t>
            </a:r>
            <a:r>
              <a:rPr dirty="0"/>
              <a:t>a </a:t>
            </a:r>
            <a:r>
              <a:rPr spc="-825" dirty="0"/>
              <a:t> </a:t>
            </a:r>
            <a:r>
              <a:rPr spc="-5" dirty="0"/>
              <a:t>strategic</a:t>
            </a:r>
            <a:r>
              <a:rPr spc="10" dirty="0"/>
              <a:t> </a:t>
            </a:r>
            <a:r>
              <a:rPr spc="-5" dirty="0"/>
              <a:t>issue</a:t>
            </a:r>
            <a:r>
              <a:rPr spc="15" dirty="0"/>
              <a:t> </a:t>
            </a:r>
            <a:r>
              <a:rPr spc="-5" dirty="0"/>
              <a:t>for</a:t>
            </a:r>
            <a:r>
              <a:rPr spc="2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companies</a:t>
            </a:r>
            <a:r>
              <a:rPr spc="25" dirty="0"/>
              <a:t> </a:t>
            </a:r>
            <a:r>
              <a:rPr spc="-10" dirty="0"/>
              <a:t>supplying</a:t>
            </a:r>
            <a:r>
              <a:rPr spc="35" dirty="0"/>
              <a:t> </a:t>
            </a:r>
            <a:r>
              <a:rPr spc="-5" dirty="0"/>
              <a:t>them. </a:t>
            </a:r>
            <a:r>
              <a:rPr spc="-830" dirty="0"/>
              <a:t> </a:t>
            </a:r>
            <a:r>
              <a:rPr spc="-10" dirty="0"/>
              <a:t>It</a:t>
            </a:r>
            <a:r>
              <a:rPr spc="110" dirty="0"/>
              <a:t> </a:t>
            </a:r>
            <a:r>
              <a:rPr spc="-5" dirty="0"/>
              <a:t>is</a:t>
            </a:r>
            <a:r>
              <a:rPr spc="110" dirty="0"/>
              <a:t> </a:t>
            </a:r>
            <a:r>
              <a:rPr spc="-5" dirty="0"/>
              <a:t>often</a:t>
            </a:r>
            <a:r>
              <a:rPr spc="110" dirty="0"/>
              <a:t> </a:t>
            </a:r>
            <a:r>
              <a:rPr spc="-5" dirty="0"/>
              <a:t>useful</a:t>
            </a:r>
            <a:r>
              <a:rPr spc="120" dirty="0"/>
              <a:t> </a:t>
            </a:r>
            <a:r>
              <a:rPr spc="-5" dirty="0"/>
              <a:t>therefore</a:t>
            </a:r>
            <a:r>
              <a:rPr spc="114" dirty="0"/>
              <a:t> </a:t>
            </a:r>
            <a:r>
              <a:rPr spc="-5" dirty="0"/>
              <a:t>to</a:t>
            </a:r>
            <a:r>
              <a:rPr spc="105" dirty="0"/>
              <a:t> </a:t>
            </a:r>
            <a:r>
              <a:rPr spc="-5" dirty="0"/>
              <a:t>distinguish </a:t>
            </a:r>
            <a:r>
              <a:rPr dirty="0"/>
              <a:t> </a:t>
            </a:r>
            <a:r>
              <a:rPr spc="-5" dirty="0"/>
              <a:t>‘</a:t>
            </a:r>
            <a:r>
              <a:rPr i="1" spc="-5" dirty="0"/>
              <a:t>strategic</a:t>
            </a:r>
            <a:r>
              <a:rPr i="1" spc="5" dirty="0"/>
              <a:t> </a:t>
            </a:r>
            <a:r>
              <a:rPr i="1" spc="-25" dirty="0"/>
              <a:t>customers</a:t>
            </a:r>
            <a:r>
              <a:rPr spc="-25" dirty="0"/>
              <a:t>’,</a:t>
            </a:r>
            <a:r>
              <a:rPr spc="20" dirty="0"/>
              <a:t> </a:t>
            </a:r>
            <a:r>
              <a:rPr spc="-5" dirty="0"/>
              <a:t>powerful</a:t>
            </a:r>
            <a:r>
              <a:rPr spc="30" dirty="0"/>
              <a:t> </a:t>
            </a:r>
            <a:r>
              <a:rPr spc="-10" dirty="0"/>
              <a:t>buyers</a:t>
            </a:r>
            <a:r>
              <a:rPr spc="20" dirty="0"/>
              <a:t> </a:t>
            </a:r>
            <a:r>
              <a:rPr spc="-5" dirty="0"/>
              <a:t>(such</a:t>
            </a:r>
            <a:r>
              <a:rPr spc="5" dirty="0"/>
              <a:t> </a:t>
            </a:r>
            <a:r>
              <a:rPr dirty="0"/>
              <a:t>as </a:t>
            </a:r>
            <a:r>
              <a:rPr spc="5"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retailers)</a:t>
            </a:r>
            <a:r>
              <a:rPr spc="25" dirty="0"/>
              <a:t> </a:t>
            </a:r>
            <a:r>
              <a:rPr spc="-10" dirty="0"/>
              <a:t>towards</a:t>
            </a:r>
            <a:r>
              <a:rPr spc="10" dirty="0"/>
              <a:t> </a:t>
            </a:r>
            <a:r>
              <a:rPr dirty="0"/>
              <a:t>whom </a:t>
            </a:r>
            <a:r>
              <a:rPr spc="-5" dirty="0"/>
              <a:t>the strategy</a:t>
            </a:r>
            <a:r>
              <a:rPr spc="5" dirty="0"/>
              <a:t> </a:t>
            </a:r>
            <a:r>
              <a:rPr dirty="0"/>
              <a:t>should </a:t>
            </a:r>
            <a:r>
              <a:rPr spc="5" dirty="0"/>
              <a:t> </a:t>
            </a:r>
            <a:r>
              <a:rPr spc="-5" dirty="0"/>
              <a:t>be</a:t>
            </a:r>
            <a:r>
              <a:rPr dirty="0"/>
              <a:t> </a:t>
            </a:r>
            <a:r>
              <a:rPr spc="-10" dirty="0"/>
              <a:t>primarily</a:t>
            </a:r>
            <a:r>
              <a:rPr spc="50" dirty="0"/>
              <a:t> </a:t>
            </a:r>
            <a:r>
              <a:rPr spc="-5" dirty="0"/>
              <a:t>orientated.</a:t>
            </a:r>
          </a:p>
          <a:p>
            <a:pPr algn="just">
              <a:lnSpc>
                <a:spcPct val="100000"/>
              </a:lnSpc>
            </a:pPr>
            <a:endParaRPr sz="3450" dirty="0"/>
          </a:p>
          <a:p>
            <a:pPr marL="12700" marR="260985" algn="just">
              <a:lnSpc>
                <a:spcPct val="90000"/>
              </a:lnSpc>
            </a:pPr>
            <a:r>
              <a:rPr spc="-10" dirty="0"/>
              <a:t>In</a:t>
            </a:r>
            <a:r>
              <a:rPr spc="1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public</a:t>
            </a:r>
            <a:r>
              <a:rPr spc="35" dirty="0"/>
              <a:t> </a:t>
            </a:r>
            <a:r>
              <a:rPr spc="-55" dirty="0"/>
              <a:t>sector,</a:t>
            </a:r>
            <a:r>
              <a:rPr spc="20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10" dirty="0"/>
              <a:t>strategic</a:t>
            </a:r>
            <a:r>
              <a:rPr spc="20" dirty="0"/>
              <a:t> </a:t>
            </a:r>
            <a:r>
              <a:rPr dirty="0"/>
              <a:t>customer</a:t>
            </a:r>
            <a:r>
              <a:rPr spc="10" dirty="0"/>
              <a:t> </a:t>
            </a:r>
            <a:r>
              <a:rPr spc="-10" dirty="0"/>
              <a:t>is </a:t>
            </a:r>
            <a:r>
              <a:rPr spc="-5" dirty="0"/>
              <a:t> </a:t>
            </a:r>
            <a:r>
              <a:rPr spc="-10" dirty="0"/>
              <a:t>typically</a:t>
            </a:r>
            <a:r>
              <a:rPr spc="55" dirty="0"/>
              <a:t> </a:t>
            </a:r>
            <a:r>
              <a:rPr spc="-5" dirty="0"/>
              <a:t>the provider</a:t>
            </a:r>
            <a:r>
              <a:rPr spc="35" dirty="0"/>
              <a:t> </a:t>
            </a:r>
            <a:r>
              <a:rPr dirty="0"/>
              <a:t>of funds,</a:t>
            </a:r>
            <a:r>
              <a:rPr spc="15" dirty="0"/>
              <a:t> </a:t>
            </a:r>
            <a:r>
              <a:rPr spc="-10" dirty="0"/>
              <a:t>rather</a:t>
            </a:r>
            <a:r>
              <a:rPr spc="-5" dirty="0"/>
              <a:t> </a:t>
            </a:r>
            <a:r>
              <a:rPr dirty="0"/>
              <a:t>than</a:t>
            </a:r>
            <a:r>
              <a:rPr spc="5" dirty="0"/>
              <a:t> </a:t>
            </a:r>
            <a:r>
              <a:rPr dirty="0"/>
              <a:t>the </a:t>
            </a:r>
            <a:r>
              <a:rPr spc="5" dirty="0"/>
              <a:t> </a:t>
            </a:r>
            <a:r>
              <a:rPr dirty="0"/>
              <a:t>consumer of</a:t>
            </a:r>
            <a:r>
              <a:rPr spc="15" dirty="0"/>
              <a:t> </a:t>
            </a:r>
            <a:r>
              <a:rPr spc="-5" dirty="0"/>
              <a:t>services:</a:t>
            </a:r>
            <a:r>
              <a:rPr spc="25" dirty="0"/>
              <a:t> </a:t>
            </a:r>
            <a:r>
              <a:rPr spc="-5" dirty="0"/>
              <a:t>for</a:t>
            </a:r>
            <a:r>
              <a:rPr spc="15" dirty="0"/>
              <a:t> </a:t>
            </a:r>
            <a:r>
              <a:rPr dirty="0"/>
              <a:t>a</a:t>
            </a:r>
            <a:r>
              <a:rPr spc="-5" dirty="0"/>
              <a:t> pharmaceutical </a:t>
            </a:r>
            <a:r>
              <a:rPr dirty="0"/>
              <a:t> </a:t>
            </a:r>
            <a:r>
              <a:rPr spc="-35" dirty="0"/>
              <a:t>company,</a:t>
            </a:r>
            <a:r>
              <a:rPr spc="2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strategic</a:t>
            </a:r>
            <a:r>
              <a:rPr spc="5" dirty="0"/>
              <a:t> </a:t>
            </a:r>
            <a:r>
              <a:rPr dirty="0"/>
              <a:t>customer</a:t>
            </a:r>
            <a:r>
              <a:rPr spc="5" dirty="0"/>
              <a:t> </a:t>
            </a:r>
            <a:r>
              <a:rPr spc="-5" dirty="0"/>
              <a:t>is the</a:t>
            </a:r>
            <a:r>
              <a:rPr dirty="0"/>
              <a:t> </a:t>
            </a:r>
            <a:r>
              <a:rPr spc="-5" dirty="0"/>
              <a:t>hospital, </a:t>
            </a:r>
            <a:r>
              <a:rPr spc="-825" dirty="0"/>
              <a:t> </a:t>
            </a:r>
            <a:r>
              <a:rPr dirty="0"/>
              <a:t>not</a:t>
            </a:r>
            <a:r>
              <a:rPr spc="15" dirty="0"/>
              <a:t> </a:t>
            </a:r>
            <a:r>
              <a:rPr spc="-5" dirty="0"/>
              <a:t>the</a:t>
            </a:r>
            <a:r>
              <a:rPr dirty="0"/>
              <a:t> patient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800" y="2819400"/>
            <a:ext cx="31242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spcBef>
                <a:spcPts val="100"/>
              </a:spcBef>
            </a:pPr>
            <a:r>
              <a:rPr lang="en-US" sz="6000" dirty="0" smtClean="0">
                <a:latin typeface="Brush Script MT" panose="03060802040406070304" pitchFamily="66" charset="0"/>
              </a:rPr>
              <a:t>Thank you</a:t>
            </a:r>
            <a:endParaRPr sz="6000" dirty="0">
              <a:latin typeface="Brush Script MT" panose="030608020404060703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1349</Words>
  <Application>Microsoft Office PowerPoint</Application>
  <PresentationFormat>Widescreen</PresentationFormat>
  <Paragraphs>159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Brush Script MT</vt:lpstr>
      <vt:lpstr>Calibri</vt:lpstr>
      <vt:lpstr>Georgia</vt:lpstr>
      <vt:lpstr>Verdana</vt:lpstr>
      <vt:lpstr>Office Theme</vt:lpstr>
      <vt:lpstr>PowerPoint Presentation</vt:lpstr>
      <vt:lpstr>PowerPoint Presentation</vt:lpstr>
      <vt:lpstr>Example - Industry</vt:lpstr>
      <vt:lpstr>PowerPoint Presentation</vt:lpstr>
      <vt:lpstr>Industry Analysis</vt:lpstr>
      <vt:lpstr>Porter’s Five Forces Model</vt:lpstr>
      <vt:lpstr>Michael Porter</vt:lpstr>
      <vt:lpstr>Porter’s Way of Thinking</vt:lpstr>
      <vt:lpstr>Porter’s Way of Thinking</vt:lpstr>
      <vt:lpstr>PowerPoint Presentation</vt:lpstr>
      <vt:lpstr>Porter’s Way of Thinking</vt:lpstr>
      <vt:lpstr>Porter’s Way of Thinking</vt:lpstr>
      <vt:lpstr>PowerPoint Presentation</vt:lpstr>
      <vt:lpstr>Competitive Rivalry</vt:lpstr>
      <vt:lpstr>Competitive Rivalry</vt:lpstr>
      <vt:lpstr>PowerPoint Presentation</vt:lpstr>
      <vt:lpstr>Competitive Rivalry</vt:lpstr>
      <vt:lpstr>Competitive Rivalry</vt:lpstr>
      <vt:lpstr>Competitive Rivalry</vt:lpstr>
      <vt:lpstr>Competitive Rivalry</vt:lpstr>
      <vt:lpstr>Competitive Rivalry</vt:lpstr>
      <vt:lpstr>Competitive Rivalry</vt:lpstr>
      <vt:lpstr>The Threat of Entry</vt:lpstr>
      <vt:lpstr>The Threat of Entry</vt:lpstr>
      <vt:lpstr>The Threat of Entry</vt:lpstr>
      <vt:lpstr>The Threat of Substitutes</vt:lpstr>
      <vt:lpstr>The Threat of Substitutes</vt:lpstr>
      <vt:lpstr>The Threat of Substitutes</vt:lpstr>
      <vt:lpstr>The Threat of Substitutes</vt:lpstr>
      <vt:lpstr>The Power of Buyers</vt:lpstr>
      <vt:lpstr>The Power of Buyers</vt:lpstr>
      <vt:lpstr>The Power of Buyers</vt:lpstr>
      <vt:lpstr>The Power of Buyers</vt:lpstr>
      <vt:lpstr>The Power of Buyers</vt:lpstr>
      <vt:lpstr>The Power of Buyers</vt:lpstr>
      <vt:lpstr>The Power of Buyers</vt:lpstr>
      <vt:lpstr>Important to Remember</vt:lpstr>
      <vt:lpstr>Important to Remember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Yasir Ahmad</dc:creator>
  <cp:lastModifiedBy>Microsoft account</cp:lastModifiedBy>
  <cp:revision>11</cp:revision>
  <dcterms:created xsi:type="dcterms:W3CDTF">2023-09-11T10:42:19Z</dcterms:created>
  <dcterms:modified xsi:type="dcterms:W3CDTF">2023-10-05T06:32:42Z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2021-04-09T00:00:00Z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2023-09-11T00:00:00Z</vt:filetime>
  </property>
</Properties>
</file>